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6" r:id="rId6"/>
    <p:sldId id="261" r:id="rId7"/>
    <p:sldId id="262" r:id="rId8"/>
    <p:sldId id="277" r:id="rId9"/>
    <p:sldId id="264" r:id="rId10"/>
    <p:sldId id="265" r:id="rId11"/>
    <p:sldId id="278" r:id="rId12"/>
    <p:sldId id="267" r:id="rId13"/>
    <p:sldId id="268" r:id="rId14"/>
    <p:sldId id="27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0B07"/>
    <a:srgbClr val="FF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8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2010E-7A22-4DC0-BB95-7BB6D285A31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F004C-A066-42E9-A455-52F437A77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0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F004C-A066-42E9-A455-52F437A77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12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31520" y="627889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Playfair Display"/>
              </a:defRPr>
            </a:pPr>
            <a:r>
              <a:rPr dirty="0"/>
              <a:t>From Insight to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292" y="1687717"/>
            <a:ext cx="10186417" cy="2409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Playfair Display"/>
              </a:defRPr>
            </a:pPr>
            <a:r>
              <a:rPr sz="9600" dirty="0"/>
              <a:t>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292" y="3033677"/>
            <a:ext cx="8830056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 i="0">
                <a:solidFill>
                  <a:srgbClr val="FF5723"/>
                </a:solidFill>
                <a:latin typeface="Playfair Display"/>
              </a:defRPr>
            </a:pPr>
            <a:r>
              <a:rPr sz="9600" dirty="0"/>
              <a:t>GUIDELINES</a:t>
            </a:r>
          </a:p>
        </p:txBody>
      </p:sp>
      <p:pic>
        <p:nvPicPr>
          <p:cNvPr id="8" name="Picture 7" descr="naqla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-1226262"/>
            <a:ext cx="4815838" cy="48158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5026457"/>
            <a:ext cx="4114800" cy="2743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naqla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80176"/>
            <a:ext cx="877824" cy="877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0" y="63093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A Complete Guideline for Brand Naqla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09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Version 1.0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358544"/>
            <a:ext cx="4133088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5723"/>
                </a:solidFill>
                <a:latin typeface="Playfair Display"/>
              </a:defRPr>
            </a:pPr>
            <a:r>
              <a:rPr sz="7200" dirty="0">
                <a:latin typeface="+mj-lt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CA8431-1E55-84ED-EEBA-E5F4A0731530}"/>
              </a:ext>
            </a:extLst>
          </p:cNvPr>
          <p:cNvGrpSpPr/>
          <p:nvPr/>
        </p:nvGrpSpPr>
        <p:grpSpPr>
          <a:xfrm>
            <a:off x="4229607" y="637337"/>
            <a:ext cx="7751064" cy="5677189"/>
            <a:chOff x="4117848" y="273405"/>
            <a:chExt cx="7909560" cy="594725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EEA2822-CC84-6B7C-72F0-784484070ACD}"/>
                </a:ext>
              </a:extLst>
            </p:cNvPr>
            <p:cNvGrpSpPr/>
            <p:nvPr/>
          </p:nvGrpSpPr>
          <p:grpSpPr>
            <a:xfrm>
              <a:off x="4117848" y="273405"/>
              <a:ext cx="7909560" cy="5947258"/>
              <a:chOff x="731520" y="1389888"/>
              <a:chExt cx="6309360" cy="4572000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554480" y="1645920"/>
                <a:ext cx="3657600" cy="3200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defRPr sz="1800" b="1" i="0">
                    <a:solidFill>
                      <a:srgbClr val="FFFFFF"/>
                    </a:solidFill>
                    <a:latin typeface="Playfair Display"/>
                  </a:defRPr>
                </a:pPr>
                <a:r>
                  <a:t>Brand Overview</a:t>
                </a: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6F700910-F06C-01C4-4834-8DE7AEC41230}"/>
                  </a:ext>
                </a:extLst>
              </p:cNvPr>
              <p:cNvGrpSpPr/>
              <p:nvPr/>
            </p:nvGrpSpPr>
            <p:grpSpPr>
              <a:xfrm>
                <a:off x="731520" y="1389888"/>
                <a:ext cx="6309360" cy="4572000"/>
                <a:chOff x="731520" y="1389888"/>
                <a:chExt cx="6309360" cy="4572000"/>
              </a:xfrm>
            </p:grpSpPr>
            <p:sp>
              <p:nvSpPr>
                <p:cNvPr id="4" name="TextBox 3"/>
                <p:cNvSpPr txBox="1"/>
                <p:nvPr/>
              </p:nvSpPr>
              <p:spPr>
                <a:xfrm>
                  <a:off x="731520" y="1441137"/>
                  <a:ext cx="731520" cy="709817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2400" b="1" i="0">
                      <a:solidFill>
                        <a:srgbClr val="FF5723"/>
                      </a:solidFill>
                      <a:latin typeface="Playfair Display"/>
                    </a:defRPr>
                  </a:pPr>
                  <a:r>
                    <a:rPr sz="5400" dirty="0">
                      <a:latin typeface="+mj-lt"/>
                    </a:rPr>
                    <a:t>01</a:t>
                  </a:r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1554480" y="1965960"/>
                  <a:ext cx="5486400" cy="27432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1100" b="0" i="0">
                      <a:solidFill>
                        <a:srgbClr val="9CA3AF"/>
                      </a:solidFill>
                      <a:latin typeface="Tajawal"/>
                    </a:defRPr>
                  </a:pPr>
                  <a:r>
                    <a:t>نظرة عامة على العلامة التجارية</a:t>
                  </a:r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1554480" y="2331720"/>
                  <a:ext cx="5486400" cy="2743"/>
                </a:xfrm>
                <a:prstGeom prst="rect">
                  <a:avLst/>
                </a:prstGeom>
                <a:solidFill>
                  <a:srgbClr val="3A3B3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731520" y="2342459"/>
                  <a:ext cx="731520" cy="709817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2400" b="1" i="0">
                      <a:solidFill>
                        <a:srgbClr val="FF5723"/>
                      </a:solidFill>
                      <a:latin typeface="Playfair Display"/>
                    </a:defRPr>
                  </a:pPr>
                  <a:r>
                    <a:rPr sz="5400" b="1" dirty="0">
                      <a:solidFill>
                        <a:srgbClr val="FF5723"/>
                      </a:solidFill>
                      <a:latin typeface="+mj-lt"/>
                    </a:rPr>
                    <a:t>02</a:t>
                  </a:r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1554480" y="2514600"/>
                  <a:ext cx="3657600" cy="32004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1800" b="1" i="0">
                      <a:solidFill>
                        <a:srgbClr val="FFFFFF"/>
                      </a:solidFill>
                      <a:latin typeface="Playfair Display"/>
                    </a:defRPr>
                  </a:pPr>
                  <a:r>
                    <a:t>Logo Guidelines</a:t>
                  </a: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1554480" y="2834640"/>
                  <a:ext cx="5486400" cy="27432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1100" b="0" i="0">
                      <a:solidFill>
                        <a:srgbClr val="9CA3AF"/>
                      </a:solidFill>
                      <a:latin typeface="Tajawal"/>
                    </a:defRPr>
                  </a:pPr>
                  <a:r>
                    <a:rPr dirty="0" err="1"/>
                    <a:t>قواعد</a:t>
                  </a:r>
                  <a:r>
                    <a:rPr dirty="0"/>
                    <a:t> </a:t>
                  </a:r>
                  <a:r>
                    <a:rPr dirty="0" err="1"/>
                    <a:t>استخدام</a:t>
                  </a:r>
                  <a:r>
                    <a:rPr dirty="0"/>
                    <a:t> </a:t>
                  </a:r>
                  <a:r>
                    <a:rPr dirty="0" err="1"/>
                    <a:t>الشعار</a:t>
                  </a:r>
                  <a:endParaRPr dirty="0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1554480" y="3200400"/>
                  <a:ext cx="5486400" cy="2743"/>
                </a:xfrm>
                <a:prstGeom prst="rect">
                  <a:avLst/>
                </a:prstGeom>
                <a:solidFill>
                  <a:srgbClr val="3A3B3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1554480" y="3383280"/>
                  <a:ext cx="3657600" cy="32004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1800" b="1" i="0">
                      <a:solidFill>
                        <a:srgbClr val="FFFFFF"/>
                      </a:solidFill>
                      <a:latin typeface="Playfair Display"/>
                    </a:defRPr>
                  </a:pPr>
                  <a:r>
                    <a:t>Color Palette</a:t>
                  </a: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1554480" y="3703320"/>
                  <a:ext cx="5486400" cy="27432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1100" b="0" i="0">
                      <a:solidFill>
                        <a:srgbClr val="9CA3AF"/>
                      </a:solidFill>
                      <a:latin typeface="Tajawal"/>
                    </a:defRPr>
                  </a:pPr>
                  <a:r>
                    <a:t>الألوان الأساسية</a:t>
                  </a:r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1554480" y="4069080"/>
                  <a:ext cx="5486400" cy="2743"/>
                </a:xfrm>
                <a:prstGeom prst="rect">
                  <a:avLst/>
                </a:prstGeom>
                <a:solidFill>
                  <a:srgbClr val="3A3B3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1554480" y="4251959"/>
                  <a:ext cx="3657600" cy="32004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1800" b="1" i="0">
                      <a:solidFill>
                        <a:srgbClr val="FFFFFF"/>
                      </a:solidFill>
                      <a:latin typeface="Playfair Display"/>
                    </a:defRPr>
                  </a:pPr>
                  <a:r>
                    <a:t>Typography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1554480" y="4571999"/>
                  <a:ext cx="5486400" cy="27432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1100" b="0" i="0">
                      <a:solidFill>
                        <a:srgbClr val="9CA3AF"/>
                      </a:solidFill>
                      <a:latin typeface="Tajawal"/>
                    </a:defRPr>
                  </a:pPr>
                  <a:r>
                    <a:t>الخطوط</a:t>
                  </a:r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1554480" y="4937759"/>
                  <a:ext cx="5486400" cy="2743"/>
                </a:xfrm>
                <a:prstGeom prst="rect">
                  <a:avLst/>
                </a:prstGeom>
                <a:solidFill>
                  <a:srgbClr val="3A3B3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1554480" y="5120640"/>
                  <a:ext cx="3657600" cy="32004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1800" b="1" i="0">
                      <a:solidFill>
                        <a:srgbClr val="FFFFFF"/>
                      </a:solidFill>
                      <a:latin typeface="Playfair Display"/>
                    </a:defRPr>
                  </a:pPr>
                  <a:r>
                    <a:t>Visual Identity</a:t>
                  </a: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1554480" y="5440679"/>
                  <a:ext cx="5486400" cy="274320"/>
                </a:xfrm>
                <a:prstGeom prst="rect">
                  <a:avLst/>
                </a:prstGeom>
                <a:noFill/>
              </p:spPr>
              <p:txBody>
                <a:bodyPr wrap="square" anchor="t">
                  <a:spAutoFit/>
                </a:bodyPr>
                <a:lstStyle/>
                <a:p>
                  <a:pPr algn="l">
                    <a:defRPr sz="1100" b="0" i="0">
                      <a:solidFill>
                        <a:srgbClr val="9CA3AF"/>
                      </a:solidFill>
                      <a:latin typeface="Tajawal"/>
                    </a:defRPr>
                  </a:pPr>
                  <a:r>
                    <a:t>الهوية البصرية</a:t>
                  </a:r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7038137" y="1389888"/>
                  <a:ext cx="2743" cy="4572000"/>
                </a:xfrm>
                <a:prstGeom prst="rect">
                  <a:avLst/>
                </a:prstGeom>
                <a:solidFill>
                  <a:srgbClr val="FF5723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11F667-E2CD-28A7-96A8-B19D7943CB76}"/>
                </a:ext>
              </a:extLst>
            </p:cNvPr>
            <p:cNvSpPr txBox="1"/>
            <p:nvPr/>
          </p:nvSpPr>
          <p:spPr>
            <a:xfrm>
              <a:off x="4132690" y="2515515"/>
              <a:ext cx="917050" cy="92333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400" b="1" i="0">
                  <a:solidFill>
                    <a:srgbClr val="FF5723"/>
                  </a:solidFill>
                  <a:latin typeface="Playfair Display"/>
                </a:defRPr>
              </a:pPr>
              <a:r>
                <a:rPr sz="5400" b="1" dirty="0">
                  <a:solidFill>
                    <a:srgbClr val="FF5723"/>
                  </a:solidFill>
                  <a:latin typeface="+mj-lt"/>
                </a:rPr>
                <a:t>0</a:t>
              </a:r>
              <a:r>
                <a:rPr lang="en-US" sz="5400" b="1" dirty="0">
                  <a:solidFill>
                    <a:srgbClr val="FF5723"/>
                  </a:solidFill>
                  <a:latin typeface="+mj-lt"/>
                </a:rPr>
                <a:t>3</a:t>
              </a:r>
              <a:endParaRPr sz="5400" b="1" dirty="0">
                <a:solidFill>
                  <a:srgbClr val="FF5723"/>
                </a:solidFill>
                <a:latin typeface="+mj-lt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58445B-D94F-BA2D-104D-77A5F01FAB83}"/>
                </a:ext>
              </a:extLst>
            </p:cNvPr>
            <p:cNvSpPr txBox="1"/>
            <p:nvPr/>
          </p:nvSpPr>
          <p:spPr>
            <a:xfrm>
              <a:off x="4132690" y="5035493"/>
              <a:ext cx="917050" cy="92333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400" b="1" i="0">
                  <a:solidFill>
                    <a:srgbClr val="FF5723"/>
                  </a:solidFill>
                  <a:latin typeface="Playfair Display"/>
                </a:defRPr>
              </a:pPr>
              <a:r>
                <a:rPr sz="5400" b="1" dirty="0">
                  <a:solidFill>
                    <a:srgbClr val="FF5723"/>
                  </a:solidFill>
                  <a:latin typeface="+mj-lt"/>
                </a:rPr>
                <a:t>0</a:t>
              </a:r>
              <a:r>
                <a:rPr lang="en-US" sz="5400" b="1" dirty="0">
                  <a:solidFill>
                    <a:srgbClr val="FF5723"/>
                  </a:solidFill>
                  <a:latin typeface="+mj-lt"/>
                </a:rPr>
                <a:t>5</a:t>
              </a:r>
              <a:endParaRPr sz="5400" b="1" dirty="0">
                <a:solidFill>
                  <a:srgbClr val="FF5723"/>
                </a:solidFill>
                <a:latin typeface="+mj-lt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33077BF-80F5-C8FE-934F-C63766BB03BA}"/>
                </a:ext>
              </a:extLst>
            </p:cNvPr>
            <p:cNvSpPr txBox="1"/>
            <p:nvPr/>
          </p:nvSpPr>
          <p:spPr>
            <a:xfrm>
              <a:off x="4117848" y="3835518"/>
              <a:ext cx="917050" cy="92333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400" b="1" i="0">
                  <a:solidFill>
                    <a:srgbClr val="FF5723"/>
                  </a:solidFill>
                  <a:latin typeface="Playfair Display"/>
                </a:defRPr>
              </a:pPr>
              <a:r>
                <a:rPr sz="5400" b="1" dirty="0">
                  <a:solidFill>
                    <a:srgbClr val="FF5723"/>
                  </a:solidFill>
                  <a:latin typeface="+mj-lt"/>
                </a:rPr>
                <a:t>0</a:t>
              </a:r>
              <a:r>
                <a:rPr lang="en-US" sz="5400" b="1" dirty="0">
                  <a:solidFill>
                    <a:srgbClr val="FF5723"/>
                  </a:solidFill>
                  <a:latin typeface="+mj-lt"/>
                </a:rPr>
                <a:t>4</a:t>
              </a:r>
              <a:endParaRPr sz="5400" b="1" dirty="0">
                <a:solidFill>
                  <a:srgbClr val="FF5723"/>
                </a:solidFill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94320" y="785400"/>
            <a:ext cx="3928872" cy="43242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0" b="1" i="0">
                <a:solidFill>
                  <a:srgbClr val="FF5723"/>
                </a:solidFill>
                <a:latin typeface="Playfair Display"/>
              </a:defRPr>
            </a:pPr>
            <a:r>
              <a:rPr sz="27500" dirty="0">
                <a:effectLst>
                  <a:reflection blurRad="6350" stA="60000" endA="900" endPos="58000" dir="5400000" sy="-100000" algn="bl" rotWithShape="0"/>
                </a:effectLst>
                <a:latin typeface="+mj-lt"/>
              </a:rPr>
              <a:t>0</a:t>
            </a:r>
            <a:r>
              <a:rPr lang="en-US" sz="27500" dirty="0">
                <a:effectLst>
                  <a:reflection blurRad="6350" stA="60000" endA="900" endPos="58000" dir="5400000" sy="-100000" algn="bl" rotWithShape="0"/>
                </a:effectLst>
                <a:latin typeface="+mj-lt"/>
              </a:rPr>
              <a:t>1</a:t>
            </a:r>
            <a:endParaRPr sz="27500" dirty="0">
              <a:effectLst>
                <a:reflection blurRad="6350" stA="60000" endA="900" endPos="58000" dir="5400000" sy="-100000" algn="bl" rotWithShape="0"/>
              </a:effectLst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82A7A37-FA90-5D8A-FD71-1EADA0D0646C}"/>
              </a:ext>
            </a:extLst>
          </p:cNvPr>
          <p:cNvGrpSpPr/>
          <p:nvPr/>
        </p:nvGrpSpPr>
        <p:grpSpPr>
          <a:xfrm>
            <a:off x="579120" y="2168217"/>
            <a:ext cx="7467600" cy="1815882"/>
            <a:chOff x="3008376" y="1646813"/>
            <a:chExt cx="7467600" cy="1815882"/>
          </a:xfrm>
        </p:grpSpPr>
        <p:sp>
          <p:nvSpPr>
            <p:cNvPr id="3" name="TextBox 2"/>
            <p:cNvSpPr txBox="1"/>
            <p:nvPr/>
          </p:nvSpPr>
          <p:spPr>
            <a:xfrm>
              <a:off x="3008376" y="1646813"/>
              <a:ext cx="7315200" cy="110799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>
                <a:defRPr sz="2800" b="1" i="0">
                  <a:solidFill>
                    <a:srgbClr val="FFFFFF"/>
                  </a:solidFill>
                  <a:latin typeface="Playfair Display"/>
                </a:defRPr>
              </a:pPr>
              <a:r>
                <a:rPr sz="6600" dirty="0"/>
                <a:t>Brand </a:t>
              </a:r>
              <a:r>
                <a:rPr sz="6600" dirty="0">
                  <a:solidFill>
                    <a:srgbClr val="FF5723"/>
                  </a:solidFill>
                </a:rPr>
                <a:t>Overview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160776" y="2754809"/>
              <a:ext cx="7315200" cy="70788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200" b="0" i="0">
                  <a:solidFill>
                    <a:srgbClr val="9CA3AF"/>
                  </a:solidFill>
                  <a:latin typeface="Inter"/>
                </a:defRPr>
              </a:pPr>
              <a:r>
                <a:rPr sz="4000" dirty="0" err="1"/>
                <a:t>نظرة</a:t>
              </a:r>
              <a:r>
                <a:rPr sz="4000" dirty="0"/>
                <a:t> </a:t>
              </a:r>
              <a:r>
                <a:rPr sz="4000" dirty="0" err="1"/>
                <a:t>عامة</a:t>
              </a:r>
              <a:r>
                <a:rPr sz="4000" dirty="0"/>
                <a:t> </a:t>
              </a:r>
              <a:r>
                <a:rPr sz="4000" dirty="0" err="1"/>
                <a:t>على</a:t>
              </a:r>
              <a:r>
                <a:rPr sz="4000" dirty="0"/>
                <a:t> </a:t>
              </a:r>
              <a:r>
                <a:rPr sz="4000" dirty="0" err="1"/>
                <a:t>العلامة</a:t>
              </a:r>
              <a:r>
                <a:rPr sz="4000" dirty="0"/>
                <a:t> </a:t>
              </a:r>
              <a:r>
                <a:rPr sz="4000" dirty="0" err="1"/>
                <a:t>التجارية</a:t>
              </a:r>
              <a:endParaRPr sz="4000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NAQLA TRAINING CENTER  · 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3200B1-DE0C-94A5-B39E-04237DA5787E}"/>
              </a:ext>
            </a:extLst>
          </p:cNvPr>
          <p:cNvSpPr/>
          <p:nvPr/>
        </p:nvSpPr>
        <p:spPr>
          <a:xfrm>
            <a:off x="841249" y="4391752"/>
            <a:ext cx="4114800" cy="2743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72827"/>
                </a:solidFill>
                <a:latin typeface="Playfair Display"/>
              </a:defRPr>
            </a:pPr>
            <a:r>
              <a:t>About Naqla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61888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Inter"/>
              </a:defRPr>
            </a:pPr>
            <a:r>
              <a:rPr sz="1600" dirty="0" err="1"/>
              <a:t>Naqla</a:t>
            </a:r>
            <a:r>
              <a:rPr sz="1600" dirty="0"/>
              <a:t> Training Center was founded in Tripoli, Libya with a mission to bridge the digital skills gap. We provide world-class IT training to empower Libyan professionals with globally recognized certifications.</a:t>
            </a:r>
            <a:br>
              <a:rPr sz="1600" dirty="0"/>
            </a:br>
            <a:br>
              <a:rPr sz="1600" dirty="0"/>
            </a:br>
            <a:r>
              <a:rPr sz="1600" dirty="0"/>
              <a:t>Our name '</a:t>
            </a:r>
            <a:r>
              <a:rPr sz="1600" dirty="0" err="1"/>
              <a:t>Naqla</a:t>
            </a:r>
            <a:r>
              <a:rPr sz="1600" dirty="0"/>
              <a:t>' (</a:t>
            </a:r>
            <a:r>
              <a:rPr sz="1600" dirty="0" err="1"/>
              <a:t>نقلة</a:t>
            </a:r>
            <a:r>
              <a:rPr sz="1600" dirty="0"/>
              <a:t>) means 'a leap forward' — representing transformation, progress, and the quantum leap in skills our students experience.</a:t>
            </a:r>
            <a:br>
              <a:rPr sz="1600" dirty="0"/>
            </a:br>
            <a:br>
              <a:rPr sz="1600" dirty="0"/>
            </a:br>
            <a:r>
              <a:rPr sz="1600" dirty="0"/>
              <a:t>"</a:t>
            </a:r>
            <a:r>
              <a:rPr sz="1600" dirty="0" err="1"/>
              <a:t>نقلة</a:t>
            </a:r>
            <a:r>
              <a:rPr sz="1600" dirty="0"/>
              <a:t>" </a:t>
            </a:r>
            <a:r>
              <a:rPr sz="1600" dirty="0" err="1"/>
              <a:t>تعني</a:t>
            </a:r>
            <a:r>
              <a:rPr sz="1600" dirty="0"/>
              <a:t> </a:t>
            </a:r>
            <a:r>
              <a:rPr sz="1600" dirty="0" err="1"/>
              <a:t>تحريك</a:t>
            </a:r>
            <a:r>
              <a:rPr sz="1600" dirty="0"/>
              <a:t> </a:t>
            </a:r>
            <a:r>
              <a:rPr sz="1600" dirty="0" err="1"/>
              <a:t>شيء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مكان</a:t>
            </a:r>
            <a:r>
              <a:rPr sz="1600" dirty="0"/>
              <a:t> </a:t>
            </a:r>
            <a:r>
              <a:rPr sz="1600" dirty="0" err="1"/>
              <a:t>إلى</a:t>
            </a:r>
            <a:r>
              <a:rPr sz="1600" dirty="0"/>
              <a:t> </a:t>
            </a:r>
            <a:r>
              <a:rPr sz="1600" dirty="0" err="1"/>
              <a:t>آخر</a:t>
            </a:r>
            <a:r>
              <a:rPr sz="1600" dirty="0"/>
              <a:t> — </a:t>
            </a:r>
            <a:r>
              <a:rPr sz="1600" dirty="0" err="1"/>
              <a:t>انتقال</a:t>
            </a:r>
            <a:r>
              <a:rPr sz="1600" dirty="0"/>
              <a:t> </a:t>
            </a:r>
            <a:r>
              <a:rPr sz="1600" dirty="0" err="1"/>
              <a:t>من</a:t>
            </a:r>
            <a:r>
              <a:rPr sz="1600" dirty="0"/>
              <a:t> </a:t>
            </a:r>
            <a:r>
              <a:rPr sz="1600" dirty="0" err="1"/>
              <a:t>الجهل</a:t>
            </a:r>
            <a:r>
              <a:rPr sz="1600" dirty="0"/>
              <a:t> </a:t>
            </a:r>
            <a:r>
              <a:rPr sz="1600" dirty="0" err="1"/>
              <a:t>إلى</a:t>
            </a:r>
            <a:r>
              <a:rPr sz="1600" dirty="0"/>
              <a:t> </a:t>
            </a:r>
            <a:r>
              <a:rPr sz="1600" dirty="0" err="1"/>
              <a:t>نور</a:t>
            </a:r>
            <a:r>
              <a:rPr sz="1600" dirty="0"/>
              <a:t> </a:t>
            </a:r>
            <a:r>
              <a:rPr sz="1600" dirty="0" err="1"/>
              <a:t>العلم</a:t>
            </a:r>
            <a:r>
              <a:rPr sz="1600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3474720" cy="137160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Founded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FFFFFF"/>
                </a:solidFill>
                <a:latin typeface="Playfair Display"/>
              </a:defRPr>
            </a:pPr>
            <a:r>
              <a:t>Tripoli, Libya</a:t>
            </a:r>
            <a:br/>
            <a:r>
              <a:t>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572000"/>
            <a:ext cx="3474720" cy="137160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47548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029200"/>
            <a:ext cx="29260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FFFFFF"/>
                </a:solidFill>
                <a:latin typeface="Playfair Display"/>
              </a:defRPr>
            </a:pPr>
            <a:r>
              <a:rPr dirty="0"/>
              <a:t>IT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572000"/>
            <a:ext cx="3474720" cy="137160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47548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02920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1">
                <a:solidFill>
                  <a:srgbClr val="FFFFFF"/>
                </a:solidFill>
                <a:latin typeface="Playfair Display"/>
              </a:defRPr>
            </a:pPr>
            <a:r>
              <a:t>Digital Skills</a:t>
            </a:r>
            <a:br/>
            <a:r>
              <a:t>Bridging the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NAQLA TRAINING CENTER  · 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4</a:t>
            </a:r>
          </a:p>
        </p:txBody>
      </p:sp>
      <p:pic>
        <p:nvPicPr>
          <p:cNvPr id="19" name="Picture 18" descr="naqla_logo_official.png">
            <a:extLst>
              <a:ext uri="{FF2B5EF4-FFF2-40B4-BE49-F238E27FC236}">
                <a16:creationId xmlns:a16="http://schemas.microsoft.com/office/drawing/2014/main" id="{95D995C7-A157-7A4F-CD28-AB2419AA8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626" y="33225"/>
            <a:ext cx="4815838" cy="48158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25AB8-F79F-33F4-0B11-3D91892F8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1564D-045D-82B1-D762-ADF24D7F23C9}"/>
              </a:ext>
            </a:extLst>
          </p:cNvPr>
          <p:cNvSpPr txBox="1"/>
          <p:nvPr/>
        </p:nvSpPr>
        <p:spPr>
          <a:xfrm>
            <a:off x="7894320" y="785400"/>
            <a:ext cx="3928872" cy="43242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0" b="1" i="0">
                <a:solidFill>
                  <a:srgbClr val="FF5723"/>
                </a:solidFill>
                <a:latin typeface="Playfair Display"/>
              </a:defRPr>
            </a:pPr>
            <a:r>
              <a:rPr sz="27500" dirty="0">
                <a:effectLst>
                  <a:reflection blurRad="6350" stA="60000" endA="900" endPos="58000" dir="5400000" sy="-100000" algn="bl" rotWithShape="0"/>
                </a:effectLst>
                <a:latin typeface="+mj-lt"/>
              </a:rPr>
              <a:t>0</a:t>
            </a:r>
            <a:r>
              <a:rPr lang="ar-EG" sz="27500" dirty="0">
                <a:effectLst>
                  <a:reflection blurRad="6350" stA="60000" endA="900" endPos="58000" dir="5400000" sy="-100000" algn="bl" rotWithShape="0"/>
                </a:effectLst>
                <a:latin typeface="+mj-lt"/>
              </a:rPr>
              <a:t>2</a:t>
            </a:r>
            <a:endParaRPr sz="27500" dirty="0">
              <a:effectLst>
                <a:reflection blurRad="6350" stA="60000" endA="900" endPos="58000" dir="5400000" sy="-100000" algn="bl" rotWithShape="0"/>
              </a:effectLst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D793E6-1710-52C1-7FBD-E8CB50801131}"/>
              </a:ext>
            </a:extLst>
          </p:cNvPr>
          <p:cNvGrpSpPr/>
          <p:nvPr/>
        </p:nvGrpSpPr>
        <p:grpSpPr>
          <a:xfrm>
            <a:off x="-438912" y="2168217"/>
            <a:ext cx="8333232" cy="1904579"/>
            <a:chOff x="1990344" y="1646813"/>
            <a:chExt cx="8333232" cy="190457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9EF0E60-CA37-37A4-3457-F4892D69B05C}"/>
                </a:ext>
              </a:extLst>
            </p:cNvPr>
            <p:cNvSpPr txBox="1"/>
            <p:nvPr/>
          </p:nvSpPr>
          <p:spPr>
            <a:xfrm>
              <a:off x="3008376" y="1646813"/>
              <a:ext cx="7315200" cy="110799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2800" b="1" i="0">
                  <a:solidFill>
                    <a:srgbClr val="FFFFFF"/>
                  </a:solidFill>
                  <a:latin typeface="Playfair Display"/>
                </a:defRPr>
              </a:pPr>
              <a:r>
                <a:rPr lang="en-US" sz="6600" dirty="0"/>
                <a:t>Logo </a:t>
              </a:r>
              <a:r>
                <a:rPr lang="en-US" sz="6600" dirty="0">
                  <a:solidFill>
                    <a:srgbClr val="FF5723"/>
                  </a:solidFill>
                </a:rPr>
                <a:t>Guidelines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E829B56-189D-B26D-CEDF-3C0B81769A90}"/>
                </a:ext>
              </a:extLst>
            </p:cNvPr>
            <p:cNvSpPr txBox="1"/>
            <p:nvPr/>
          </p:nvSpPr>
          <p:spPr>
            <a:xfrm>
              <a:off x="1990344" y="2843506"/>
              <a:ext cx="7315200" cy="70788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200" b="0" i="0">
                  <a:solidFill>
                    <a:srgbClr val="9CA3AF"/>
                  </a:solidFill>
                  <a:latin typeface="Inter"/>
                </a:defRPr>
              </a:pPr>
              <a:r>
                <a:rPr lang="ar-EG" sz="4000" dirty="0"/>
                <a:t>قواعد استخدام الشعار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A79FDC2-DCAC-0F55-D7B8-63D62679372B}"/>
              </a:ext>
            </a:extLst>
          </p:cNvPr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6D9D4-5B3F-BFA5-F498-766E81955AC6}"/>
              </a:ext>
            </a:extLst>
          </p:cNvPr>
          <p:cNvSpPr txBox="1"/>
          <p:nvPr/>
        </p:nvSpPr>
        <p:spPr>
          <a:xfrm>
            <a:off x="731520" y="6309360"/>
            <a:ext cx="73152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rPr dirty="0"/>
              <a:t>NAQLA TRAINING CENTER  ·  0</a:t>
            </a:r>
            <a:r>
              <a:rPr lang="ar-EG" dirty="0"/>
              <a:t>2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AE6E6-D557-9B43-18BF-6E2615E83178}"/>
              </a:ext>
            </a:extLst>
          </p:cNvPr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C9A987-969A-D5A9-8D9C-C0CC3C191DE6}"/>
              </a:ext>
            </a:extLst>
          </p:cNvPr>
          <p:cNvSpPr/>
          <p:nvPr/>
        </p:nvSpPr>
        <p:spPr>
          <a:xfrm>
            <a:off x="841249" y="4391752"/>
            <a:ext cx="4114800" cy="2743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20637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72827"/>
                </a:solidFill>
                <a:latin typeface="Playfair Display"/>
              </a:defRPr>
            </a:pPr>
            <a:r>
              <a:t>Logo Variations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383280" cy="3200400"/>
          </a:xfrm>
          <a:prstGeom prst="rect">
            <a:avLst/>
          </a:prstGeom>
          <a:solidFill>
            <a:srgbClr val="E8E2D9"/>
          </a:solidFill>
          <a:ln w="635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54864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2103120"/>
            <a:ext cx="2834640" cy="1463040"/>
          </a:xfrm>
          <a:prstGeom prst="rect">
            <a:avLst/>
          </a:prstGeom>
          <a:solidFill>
            <a:srgbClr val="27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272827"/>
                </a:solidFill>
                <a:latin typeface="Playfair Display"/>
              </a:defRPr>
            </a:pPr>
            <a:r>
              <a:t>Primary Logo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FF5723"/>
                </a:solidFill>
                <a:latin typeface="Tajawal"/>
              </a:defRPr>
            </a:pPr>
            <a:r>
              <a:t>الشعار الرئيسي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97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Inter"/>
              </a:defRPr>
            </a:pPr>
            <a:r>
              <a:t>Icon + NAQLA lockup (horizontal)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828800"/>
            <a:ext cx="3383280" cy="3200400"/>
          </a:xfrm>
          <a:prstGeom prst="rect">
            <a:avLst/>
          </a:prstGeom>
          <a:solidFill>
            <a:srgbClr val="E8E2D9"/>
          </a:solidFill>
          <a:ln w="635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1828800"/>
            <a:ext cx="3383280" cy="54864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79" y="2103120"/>
            <a:ext cx="2834640" cy="1463040"/>
          </a:xfrm>
          <a:prstGeom prst="rect">
            <a:avLst/>
          </a:prstGeom>
          <a:solidFill>
            <a:srgbClr val="27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naqla_logo_official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7800" r="90000">
                        <a14:foregroundMark x1="7800" y1="37200" x2="10400" y2="40000"/>
                        <a14:foregroundMark x1="25000" y1="60000" x2="14800" y2="37600"/>
                        <a14:foregroundMark x1="19600" y1="48400" x2="23600" y2="588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26610" y="1380744"/>
            <a:ext cx="2828239" cy="28282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79" y="3749039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272827"/>
                </a:solidFill>
                <a:latin typeface="Playfair Display"/>
              </a:defRPr>
            </a:pPr>
            <a:r>
              <a:t>Icon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402336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FF5723"/>
                </a:solidFill>
                <a:latin typeface="Tajawal"/>
              </a:defRPr>
            </a:pPr>
            <a:r>
              <a:t>أيقونة فقط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297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Inter"/>
              </a:defRPr>
            </a:pPr>
            <a:r>
              <a:rPr dirty="0"/>
              <a:t>Geometric N icon mark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28800"/>
            <a:ext cx="3383280" cy="3200400"/>
          </a:xfrm>
          <a:prstGeom prst="rect">
            <a:avLst/>
          </a:prstGeom>
          <a:solidFill>
            <a:srgbClr val="E8E2D9"/>
          </a:solidFill>
          <a:ln w="635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383280" cy="54864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03920" y="2103120"/>
            <a:ext cx="2834640" cy="1463040"/>
          </a:xfrm>
          <a:prstGeom prst="rect">
            <a:avLst/>
          </a:prstGeom>
          <a:solidFill>
            <a:srgbClr val="27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3749039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272827"/>
                </a:solidFill>
                <a:latin typeface="Playfair Display"/>
              </a:defRPr>
            </a:pPr>
            <a:r>
              <a:t>Text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02336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FF5723"/>
                </a:solidFill>
                <a:latin typeface="Tajawal"/>
              </a:defRPr>
            </a:pPr>
            <a:r>
              <a:t>نص فقط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297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Inter"/>
              </a:defRPr>
            </a:pPr>
            <a:r>
              <a:rPr dirty="0"/>
              <a:t>NAQLA wordmark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CA3AF"/>
                </a:solidFill>
                <a:latin typeface="Inter"/>
              </a:defRPr>
            </a:pPr>
            <a:r>
              <a:t>Minimum sizes: Full 80px/25mm  ·  Icon-only 32px/10mm  ·  Text-only 40px/14mm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NAQLA TRAINING CENTER  · 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6</a:t>
            </a:r>
          </a:p>
        </p:txBody>
      </p:sp>
      <p:pic>
        <p:nvPicPr>
          <p:cNvPr id="29" name="Picture 28" descr="naqla_logo_official.png">
            <a:extLst>
              <a:ext uri="{FF2B5EF4-FFF2-40B4-BE49-F238E27FC236}">
                <a16:creationId xmlns:a16="http://schemas.microsoft.com/office/drawing/2014/main" id="{B911275D-CB40-C8A7-5630-57152FDC4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574291"/>
            <a:ext cx="2468880" cy="2468880"/>
          </a:xfrm>
          <a:prstGeom prst="rect">
            <a:avLst/>
          </a:prstGeom>
        </p:spPr>
      </p:pic>
      <p:pic>
        <p:nvPicPr>
          <p:cNvPr id="7" name="Picture 6" descr="naqla_logo_official.png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4400">
                        <a14:foregroundMark x1="33200" y1="48800" x2="94400" y2="58600"/>
                        <a14:backgroundMark x1="8000" y1="37800" x2="10200" y2="59200"/>
                        <a14:backgroundMark x1="10600" y1="58200" x2="23600" y2="44000"/>
                        <a14:backgroundMark x1="14000" y1="36000" x2="23600" y2="40800"/>
                        <a14:backgroundMark x1="19800" y1="39200" x2="9800" y2="55600"/>
                        <a14:backgroundMark x1="7200" y1="38200" x2="19200" y2="62200"/>
                        <a14:backgroundMark x1="22800" y1="38200" x2="7600" y2="674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61250" y="1618488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Playfair Display"/>
              </a:defRPr>
            </a:pPr>
            <a:r>
              <a:t>Clear Space &amp;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5723"/>
                </a:solidFill>
                <a:latin typeface="Shamel Family"/>
              </a:defRPr>
            </a:pPr>
            <a:r>
              <a:t>مساحة الأمان والحماية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943600" cy="3657600"/>
          </a:xfrm>
          <a:prstGeom prst="rect">
            <a:avLst/>
          </a:prstGeom>
          <a:noFill/>
          <a:ln w="19050">
            <a:solidFill>
              <a:srgbClr val="FF5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463040" y="2377440"/>
            <a:ext cx="4480560" cy="2468880"/>
          </a:xfrm>
          <a:prstGeom prst="rect">
            <a:avLst/>
          </a:prstGeom>
          <a:noFill/>
          <a:ln w="25400">
            <a:solidFill>
              <a:srgbClr val="FF5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naqla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920240"/>
            <a:ext cx="3291840" cy="3291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66928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5723"/>
                </a:solidFill>
                <a:latin typeface="Inter"/>
              </a:defRPr>
            </a:pPr>
            <a:r>
              <a:rPr dirty="0"/>
              <a:t>Clear Space = Height of Letter 'N'  |  </a:t>
            </a:r>
            <a:r>
              <a:rPr dirty="0" err="1"/>
              <a:t>مساحة</a:t>
            </a:r>
            <a:r>
              <a:rPr dirty="0"/>
              <a:t> </a:t>
            </a:r>
            <a:r>
              <a:rPr dirty="0" err="1"/>
              <a:t>الأمان</a:t>
            </a:r>
            <a:r>
              <a:rPr dirty="0"/>
              <a:t> = </a:t>
            </a:r>
            <a:r>
              <a:rPr dirty="0" err="1"/>
              <a:t>ارتفاع</a:t>
            </a:r>
            <a:r>
              <a:rPr dirty="0"/>
              <a:t> </a:t>
            </a:r>
            <a:r>
              <a:rPr dirty="0" err="1"/>
              <a:t>حرف</a:t>
            </a:r>
            <a:r>
              <a:rPr dirty="0"/>
              <a:t>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28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FF5723"/>
                </a:solidFill>
                <a:latin typeface="Playfair Display"/>
              </a:defRPr>
            </a:pPr>
            <a:r>
              <a:t>Minimum Sizes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377440"/>
            <a:ext cx="36576" cy="292608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0" y="239572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Inter"/>
              </a:defRPr>
            </a:pPr>
            <a:r>
              <a:t>Full Lockup (print)  —  25mm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788920"/>
            <a:ext cx="36576" cy="292608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28072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Inter"/>
              </a:defRPr>
            </a:pPr>
            <a:r>
              <a:t>Full Lockup (digital)  —  80px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200400"/>
            <a:ext cx="36576" cy="292608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32186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Inter"/>
              </a:defRPr>
            </a:pPr>
            <a:r>
              <a:t>Icon-only (digital)  —  32px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3611880"/>
            <a:ext cx="36576" cy="292608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363016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Inter"/>
              </a:defRPr>
            </a:pPr>
            <a:r>
              <a:t>Icon-only (print)  —  10mm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4023360"/>
            <a:ext cx="36576" cy="292608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404164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Inter"/>
              </a:defRPr>
            </a:pPr>
            <a:r>
              <a:t>Clear Space  —  Height of 'N'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572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FF5723"/>
                </a:solidFill>
                <a:latin typeface="Playfair Display"/>
              </a:defRPr>
            </a:pPr>
            <a:r>
              <a:t>Prohibited 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98348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✕  Do not stretch or distort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27608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rPr dirty="0"/>
              <a:t>✕  Do not change the color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568696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✕  Do not rotate or add effects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861304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9CA3AF"/>
                </a:solidFill>
                <a:latin typeface="Inter"/>
              </a:defRPr>
            </a:pPr>
            <a:r>
              <a:t>✕  Do not place on busy bg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NAQLA TRAINING CENTER  · 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3EB82-41EE-05AD-3A5C-87DAAB61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6B8B9D-A2A0-4D46-0EF4-EC1DD49D87AA}"/>
              </a:ext>
            </a:extLst>
          </p:cNvPr>
          <p:cNvSpPr txBox="1"/>
          <p:nvPr/>
        </p:nvSpPr>
        <p:spPr>
          <a:xfrm>
            <a:off x="7894320" y="785400"/>
            <a:ext cx="3901440" cy="43242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0" b="1" i="0">
                <a:solidFill>
                  <a:srgbClr val="FF5723"/>
                </a:solidFill>
                <a:latin typeface="Playfair Display"/>
              </a:defRPr>
            </a:pPr>
            <a:r>
              <a:rPr lang="en-US" sz="27500" dirty="0">
                <a:effectLst>
                  <a:reflection blurRad="6350" stA="60000" endA="900" endPos="58000" dir="5400000" sy="-100000" algn="bl" rotWithShape="0"/>
                </a:effectLst>
                <a:latin typeface="+mj-lt"/>
              </a:rPr>
              <a:t>0</a:t>
            </a:r>
            <a:r>
              <a:rPr lang="ar-EG" sz="27500" b="1" dirty="0">
                <a:solidFill>
                  <a:srgbClr val="FF5723"/>
                </a:solidFill>
                <a:effectLst>
                  <a:reflection blurRad="6350" stA="60000" endA="900" endPos="58000" dir="5400000" sy="-100000" algn="bl" rotWithShape="0"/>
                </a:effectLst>
                <a:latin typeface="+mj-lt"/>
              </a:rPr>
              <a:t>3</a:t>
            </a:r>
            <a:endParaRPr sz="27500" b="1" dirty="0">
              <a:solidFill>
                <a:srgbClr val="FF5723"/>
              </a:solidFill>
              <a:effectLst>
                <a:reflection blurRad="6350" stA="60000" endA="900" endPos="58000" dir="5400000" sy="-100000" algn="bl" rotWithShape="0"/>
              </a:effectLst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6B2496-931C-812E-D116-C36053462256}"/>
              </a:ext>
            </a:extLst>
          </p:cNvPr>
          <p:cNvGrpSpPr/>
          <p:nvPr/>
        </p:nvGrpSpPr>
        <p:grpSpPr>
          <a:xfrm>
            <a:off x="252614" y="2168217"/>
            <a:ext cx="9040368" cy="2043398"/>
            <a:chOff x="3008376" y="1646813"/>
            <a:chExt cx="9040368" cy="204339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DCF59B-1332-E343-29C2-CEFF6FD78423}"/>
                </a:ext>
              </a:extLst>
            </p:cNvPr>
            <p:cNvSpPr txBox="1"/>
            <p:nvPr/>
          </p:nvSpPr>
          <p:spPr>
            <a:xfrm>
              <a:off x="3008376" y="1646813"/>
              <a:ext cx="7315200" cy="110799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2800" b="1" i="0">
                  <a:solidFill>
                    <a:srgbClr val="FFFFFF"/>
                  </a:solidFill>
                  <a:latin typeface="Playfair Display"/>
                </a:defRPr>
              </a:pPr>
              <a:r>
                <a:rPr lang="en-US" sz="6600" dirty="0"/>
                <a:t>Color </a:t>
              </a:r>
              <a:r>
                <a:rPr lang="en-US" sz="6600" dirty="0">
                  <a:solidFill>
                    <a:srgbClr val="FF5723"/>
                  </a:solidFill>
                </a:rPr>
                <a:t>Palette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3E001EC-2993-F064-2AE3-AE187F390844}"/>
                </a:ext>
              </a:extLst>
            </p:cNvPr>
            <p:cNvSpPr txBox="1"/>
            <p:nvPr/>
          </p:nvSpPr>
          <p:spPr>
            <a:xfrm>
              <a:off x="4733544" y="2982325"/>
              <a:ext cx="7315200" cy="70788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0" i="0">
                  <a:solidFill>
                    <a:srgbClr val="9CA3AF"/>
                  </a:solidFill>
                  <a:latin typeface="Inter"/>
                </a:defRPr>
              </a:pPr>
              <a:r>
                <a:rPr lang="ar-EG" sz="4000" dirty="0"/>
                <a:t>الألوان الأساسية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C358A8D-1155-A088-F15E-FEDCA96078A4}"/>
              </a:ext>
            </a:extLst>
          </p:cNvPr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7E240D-3075-8A38-82BD-BBAFC991A655}"/>
              </a:ext>
            </a:extLst>
          </p:cNvPr>
          <p:cNvSpPr txBox="1"/>
          <p:nvPr/>
        </p:nvSpPr>
        <p:spPr>
          <a:xfrm>
            <a:off x="731520" y="6309360"/>
            <a:ext cx="73152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rPr dirty="0"/>
              <a:t>NAQLA TRAINING CENTER  ·  0</a:t>
            </a:r>
            <a:r>
              <a:rPr lang="ar-EG" dirty="0"/>
              <a:t>3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F951F-3635-6E3B-51D9-28EA9B01A678}"/>
              </a:ext>
            </a:extLst>
          </p:cNvPr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D71575-DD9F-BC52-666B-12BBBBF3184F}"/>
              </a:ext>
            </a:extLst>
          </p:cNvPr>
          <p:cNvSpPr/>
          <p:nvPr/>
        </p:nvSpPr>
        <p:spPr>
          <a:xfrm>
            <a:off x="841249" y="4391752"/>
            <a:ext cx="4114800" cy="2743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EB0E79-1759-B44E-E39E-7649A699B559}"/>
              </a:ext>
            </a:extLst>
          </p:cNvPr>
          <p:cNvGrpSpPr/>
          <p:nvPr/>
        </p:nvGrpSpPr>
        <p:grpSpPr>
          <a:xfrm>
            <a:off x="841249" y="4623780"/>
            <a:ext cx="4315967" cy="1502702"/>
            <a:chOff x="7315200" y="2743200"/>
            <a:chExt cx="4517136" cy="174182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066AB0-CD10-DC9D-B3C2-2A688CEFE5C5}"/>
                </a:ext>
              </a:extLst>
            </p:cNvPr>
            <p:cNvSpPr/>
            <p:nvPr/>
          </p:nvSpPr>
          <p:spPr>
            <a:xfrm>
              <a:off x="7315200" y="2743200"/>
              <a:ext cx="1188720" cy="1188720"/>
            </a:xfrm>
            <a:prstGeom prst="rect">
              <a:avLst/>
            </a:prstGeom>
            <a:solidFill>
              <a:srgbClr val="FF572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A0531E-77DB-DBE0-6FDC-820826986A3A}"/>
                </a:ext>
              </a:extLst>
            </p:cNvPr>
            <p:cNvSpPr txBox="1"/>
            <p:nvPr/>
          </p:nvSpPr>
          <p:spPr>
            <a:xfrm>
              <a:off x="7315200" y="3988698"/>
              <a:ext cx="1188720" cy="4616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800" b="1" i="0">
                  <a:solidFill>
                    <a:srgbClr val="FF5723"/>
                  </a:solidFill>
                  <a:latin typeface="Inter"/>
                </a:defRPr>
              </a:pPr>
              <a:r>
                <a:rPr sz="2400" dirty="0"/>
                <a:t>Orange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84C4B81-239C-9F99-0D3E-DD645F2119D2}"/>
                </a:ext>
              </a:extLst>
            </p:cNvPr>
            <p:cNvSpPr/>
            <p:nvPr/>
          </p:nvSpPr>
          <p:spPr>
            <a:xfrm>
              <a:off x="8778240" y="2743200"/>
              <a:ext cx="1188720" cy="1188720"/>
            </a:xfrm>
            <a:prstGeom prst="rect">
              <a:avLst/>
            </a:prstGeom>
            <a:solidFill>
              <a:srgbClr val="2728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02D5E6-35AF-14F7-F384-435F06615AC8}"/>
                </a:ext>
              </a:extLst>
            </p:cNvPr>
            <p:cNvSpPr txBox="1"/>
            <p:nvPr/>
          </p:nvSpPr>
          <p:spPr>
            <a:xfrm>
              <a:off x="8908612" y="4023360"/>
              <a:ext cx="932688" cy="4616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800" b="1" i="0">
                  <a:solidFill>
                    <a:srgbClr val="272827"/>
                  </a:solidFill>
                  <a:latin typeface="Inter"/>
                </a:defRPr>
              </a:pPr>
              <a:r>
                <a:rPr sz="24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Black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83AF445-E1F6-7159-951B-6D8193B3BDE2}"/>
                </a:ext>
              </a:extLst>
            </p:cNvPr>
            <p:cNvSpPr/>
            <p:nvPr/>
          </p:nvSpPr>
          <p:spPr>
            <a:xfrm>
              <a:off x="10241280" y="2743200"/>
              <a:ext cx="1188720" cy="1188720"/>
            </a:xfrm>
            <a:prstGeom prst="rect">
              <a:avLst/>
            </a:prstGeom>
            <a:solidFill>
              <a:srgbClr val="E8E2D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284C266-0AFE-C8BC-91BE-8CCAE11FF1C1}"/>
                </a:ext>
              </a:extLst>
            </p:cNvPr>
            <p:cNvSpPr txBox="1"/>
            <p:nvPr/>
          </p:nvSpPr>
          <p:spPr>
            <a:xfrm>
              <a:off x="9838944" y="4018034"/>
              <a:ext cx="1993392" cy="46166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800" b="1" i="0">
                  <a:solidFill>
                    <a:srgbClr val="E8E2D9"/>
                  </a:solidFill>
                  <a:latin typeface="Inter"/>
                </a:defRPr>
              </a:pPr>
              <a:r>
                <a:rPr sz="2400" dirty="0"/>
                <a:t>White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6532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72827"/>
                </a:solidFill>
                <a:latin typeface="Playfair Display"/>
              </a:defRPr>
            </a:pPr>
            <a:r>
              <a:t>Brand Colors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9CA3AF"/>
                </a:solidFill>
                <a:latin typeface="Inter"/>
              </a:defRPr>
            </a:pPr>
            <a:r>
              <a:t>60/30/10 Color Ratio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274320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Playfair Display"/>
              </a:defRPr>
            </a:pPr>
            <a:r>
              <a:t>#FF5723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Inter"/>
              </a:defRPr>
            </a:pPr>
            <a:r>
              <a:t>Brand Orange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Tajawal"/>
              </a:defRPr>
            </a:pPr>
            <a:r>
              <a:t>برتقالي العلامة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Inter"/>
              </a:defRPr>
            </a:pPr>
            <a:r>
              <a:t>Primary brand identity</a:t>
            </a:r>
            <a:br/>
            <a:r>
              <a:t>Power · Energy · Movement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3383280" cy="2743200"/>
          </a:xfrm>
          <a:prstGeom prst="rect">
            <a:avLst/>
          </a:prstGeom>
          <a:solidFill>
            <a:srgbClr val="27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79" y="22860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Playfair Display"/>
              </a:defRPr>
            </a:pPr>
            <a:r>
              <a:t>#272827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8346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Inter"/>
              </a:defRPr>
            </a:pPr>
            <a:r>
              <a:t>Rich Black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1089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Tajawal"/>
              </a:defRPr>
            </a:pPr>
            <a:r>
              <a:t>أسود غني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5661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Inter"/>
              </a:defRPr>
            </a:pPr>
            <a:r>
              <a:t>Depth · Dignity</a:t>
            </a:r>
            <a:br/>
            <a:r>
              <a:t>Premium backgrounds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3383280" cy="274320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272827"/>
                </a:solidFill>
                <a:latin typeface="Playfair Display"/>
              </a:defRPr>
            </a:pPr>
            <a:r>
              <a:t>#E8E2D9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83464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272827"/>
                </a:solidFill>
                <a:latin typeface="Inter"/>
              </a:defRPr>
            </a:pPr>
            <a:r>
              <a:t>Warm White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089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272827"/>
                </a:solidFill>
                <a:latin typeface="Tajawal"/>
              </a:defRPr>
            </a:pPr>
            <a:r>
              <a:t>أبيض دافئ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566160"/>
            <a:ext cx="2834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272827"/>
                </a:solidFill>
                <a:latin typeface="Inter"/>
              </a:defRPr>
            </a:pPr>
            <a:r>
              <a:t>Purity · Balance</a:t>
            </a:r>
            <a:br/>
            <a:r>
              <a:t>Content backgrounds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272827"/>
                </a:solidFill>
                <a:latin typeface="Playfair Display"/>
              </a:defRPr>
            </a:pPr>
            <a:r>
              <a:t>Color Distribution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6583680" cy="5486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6583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Inter"/>
              </a:defRPr>
            </a:pPr>
            <a:r>
              <a:t>60%  Brand Orange  •  الطاقة والحركة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5394960"/>
            <a:ext cx="3200400" cy="548640"/>
          </a:xfrm>
          <a:prstGeom prst="rect">
            <a:avLst/>
          </a:prstGeom>
          <a:solidFill>
            <a:srgbClr val="27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0" y="539496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FFFFFF"/>
                </a:solidFill>
                <a:latin typeface="Inter"/>
              </a:defRPr>
            </a:pPr>
            <a:r>
              <a:t>30%  Rich Black  •  العمق والثقة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0" y="5394960"/>
            <a:ext cx="914400" cy="54864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0" y="5394960"/>
            <a:ext cx="914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272827"/>
                </a:solidFill>
                <a:latin typeface="Inter"/>
              </a:defRPr>
            </a:pPr>
            <a:r>
              <a:t>10%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NAQLA TRAINING CENTER  · 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72827"/>
                </a:solidFill>
                <a:latin typeface="Playfair Display"/>
              </a:defRPr>
            </a:pPr>
            <a:r>
              <a:t>Color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394960" cy="1188720"/>
          </a:xfrm>
          <a:prstGeom prst="rect">
            <a:avLst/>
          </a:prstGeom>
          <a:solidFill>
            <a:srgbClr val="E8E2D9"/>
          </a:solidFill>
          <a:ln w="635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457200" cy="118872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272827"/>
                </a:solidFill>
                <a:latin typeface="Playfair Display"/>
              </a:defRPr>
            </a:pPr>
            <a:r>
              <a:t>Brand 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Inter"/>
              </a:defRPr>
            </a:pPr>
            <a:r>
              <a:t>Logo, headlines, brand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CA3AF"/>
                </a:solidFill>
                <a:latin typeface="Tajawal"/>
              </a:defRPr>
            </a:pPr>
            <a:r>
              <a:t>الشعار، العناوين، التميز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737360"/>
            <a:ext cx="5394960" cy="1188720"/>
          </a:xfrm>
          <a:prstGeom prst="rect">
            <a:avLst/>
          </a:prstGeom>
          <a:solidFill>
            <a:srgbClr val="E8E2D9"/>
          </a:solidFill>
          <a:ln w="635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92240" y="1737360"/>
            <a:ext cx="457200" cy="1188720"/>
          </a:xfrm>
          <a:prstGeom prst="rect">
            <a:avLst/>
          </a:prstGeom>
          <a:solidFill>
            <a:srgbClr val="27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272827"/>
                </a:solidFill>
                <a:latin typeface="Playfair Display"/>
              </a:defRPr>
            </a:pPr>
            <a:r>
              <a:t>Rich Black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28600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Inter"/>
              </a:defRPr>
            </a:pPr>
            <a:r>
              <a:t>Premium backgrounds, depth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51460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CA3AF"/>
                </a:solidFill>
                <a:latin typeface="Tajawal"/>
              </a:defRPr>
            </a:pPr>
            <a:r>
              <a:t>الخلفيات الفاخرة، العمق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5394960" cy="1188720"/>
          </a:xfrm>
          <a:prstGeom prst="rect">
            <a:avLst/>
          </a:prstGeom>
          <a:solidFill>
            <a:srgbClr val="E8E2D9"/>
          </a:solidFill>
          <a:ln w="635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457200" cy="1188720"/>
          </a:xfrm>
          <a:prstGeom prst="rect">
            <a:avLst/>
          </a:prstGeom>
          <a:solidFill>
            <a:srgbClr val="E8E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338328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272827"/>
                </a:solidFill>
                <a:latin typeface="Playfair Display"/>
              </a:defRPr>
            </a:pPr>
            <a:r>
              <a:t>Warm White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49039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Inter"/>
              </a:defRPr>
            </a:pPr>
            <a:r>
              <a:t>Content backgrounds, purity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77639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CA3AF"/>
                </a:solidFill>
                <a:latin typeface="Tajawal"/>
              </a:defRPr>
            </a:pPr>
            <a:r>
              <a:t>الخلفيات الأساسية، النقاء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200400"/>
            <a:ext cx="5394960" cy="1188720"/>
          </a:xfrm>
          <a:prstGeom prst="rect">
            <a:avLst/>
          </a:prstGeom>
          <a:solidFill>
            <a:srgbClr val="E8E2D9"/>
          </a:solidFill>
          <a:ln w="635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92240" y="3200400"/>
            <a:ext cx="457200" cy="118872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338328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272827"/>
                </a:solidFill>
                <a:latin typeface="Playfair Display"/>
              </a:defRPr>
            </a:pPr>
            <a:r>
              <a:t>Orange 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749039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Inter"/>
              </a:defRPr>
            </a:pPr>
            <a:r>
              <a:t>rgba(255,87,35,0.15) on photos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977639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CA3AF"/>
                </a:solidFill>
                <a:latin typeface="Tajawal"/>
              </a:defRPr>
            </a:pPr>
            <a:r>
              <a:t>تأثير برتقالي على الصور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NAQLA TRAINING CENTER  · 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BD664-35A2-D8EE-D614-CC6962E48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843B68-E087-70D0-42F1-D7907AB90CA4}"/>
              </a:ext>
            </a:extLst>
          </p:cNvPr>
          <p:cNvSpPr txBox="1"/>
          <p:nvPr/>
        </p:nvSpPr>
        <p:spPr>
          <a:xfrm>
            <a:off x="7894320" y="785400"/>
            <a:ext cx="3901440" cy="43242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0" b="1" i="0">
                <a:solidFill>
                  <a:srgbClr val="FF5723"/>
                </a:solidFill>
                <a:latin typeface="Playfair Display"/>
              </a:defRPr>
            </a:pPr>
            <a:r>
              <a:rPr lang="en-US" sz="27500" dirty="0">
                <a:effectLst>
                  <a:reflection blurRad="6350" stA="60000" endA="900" endPos="58000" dir="5400000" sy="-100000" algn="bl" rotWithShape="0"/>
                </a:effectLst>
                <a:latin typeface="+mj-lt"/>
              </a:rPr>
              <a:t>0</a:t>
            </a:r>
            <a:r>
              <a:rPr lang="ar-EG" sz="27500" b="1" dirty="0">
                <a:solidFill>
                  <a:srgbClr val="FF5723"/>
                </a:solidFill>
                <a:effectLst>
                  <a:reflection blurRad="6350" stA="60000" endA="900" endPos="58000" dir="5400000" sy="-100000" algn="bl" rotWithShape="0"/>
                </a:effectLst>
                <a:latin typeface="+mj-lt"/>
              </a:rPr>
              <a:t>4</a:t>
            </a:r>
            <a:endParaRPr sz="27500" b="1" dirty="0">
              <a:solidFill>
                <a:srgbClr val="FF5723"/>
              </a:solidFill>
              <a:effectLst>
                <a:reflection blurRad="6350" stA="60000" endA="900" endPos="58000" dir="5400000" sy="-100000" algn="bl" rotWithShape="0"/>
              </a:effectLst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2C7B4-AE92-EE11-C078-91C85149CA23}"/>
              </a:ext>
            </a:extLst>
          </p:cNvPr>
          <p:cNvGrpSpPr/>
          <p:nvPr/>
        </p:nvGrpSpPr>
        <p:grpSpPr>
          <a:xfrm>
            <a:off x="252614" y="2168217"/>
            <a:ext cx="10549128" cy="2107508"/>
            <a:chOff x="3008376" y="1646813"/>
            <a:chExt cx="10549128" cy="21075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3DCEC0C-81CF-0D2E-68A1-B2A8CCE56C29}"/>
                </a:ext>
              </a:extLst>
            </p:cNvPr>
            <p:cNvSpPr txBox="1"/>
            <p:nvPr/>
          </p:nvSpPr>
          <p:spPr>
            <a:xfrm>
              <a:off x="3008376" y="1646813"/>
              <a:ext cx="7315200" cy="110799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2800" b="1" i="0">
                  <a:solidFill>
                    <a:srgbClr val="FFFFFF"/>
                  </a:solidFill>
                  <a:latin typeface="Playfair Display"/>
                </a:defRPr>
              </a:pPr>
              <a:r>
                <a:rPr lang="en-US" sz="6600" dirty="0"/>
                <a:t>Typography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05D639A-860A-2B54-ECEA-623A846C648A}"/>
                </a:ext>
              </a:extLst>
            </p:cNvPr>
            <p:cNvSpPr txBox="1"/>
            <p:nvPr/>
          </p:nvSpPr>
          <p:spPr>
            <a:xfrm>
              <a:off x="6242304" y="3046435"/>
              <a:ext cx="7315200" cy="70788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1200" b="0" i="0">
                  <a:solidFill>
                    <a:srgbClr val="9CA3AF"/>
                  </a:solidFill>
                  <a:latin typeface="Inter"/>
                </a:defRPr>
              </a:pPr>
              <a:r>
                <a:rPr lang="ar-EG" sz="4000" dirty="0"/>
                <a:t>الخطوط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752A2F8-78B9-D8C2-E627-C646C01AF4E1}"/>
              </a:ext>
            </a:extLst>
          </p:cNvPr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C8FC30-C788-99A5-A7AA-3AE1391274C9}"/>
              </a:ext>
            </a:extLst>
          </p:cNvPr>
          <p:cNvSpPr txBox="1"/>
          <p:nvPr/>
        </p:nvSpPr>
        <p:spPr>
          <a:xfrm>
            <a:off x="731520" y="6309360"/>
            <a:ext cx="73152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rPr dirty="0"/>
              <a:t>NAQLA TRAINING CENTER  ·  0</a:t>
            </a:r>
            <a:r>
              <a:rPr lang="ar-EG" dirty="0"/>
              <a:t>4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BF6370-1BE2-FF8B-2375-3BCB1FB01DB2}"/>
              </a:ext>
            </a:extLst>
          </p:cNvPr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044FA3-9451-4912-EF2F-C8F81F92BA69}"/>
              </a:ext>
            </a:extLst>
          </p:cNvPr>
          <p:cNvSpPr/>
          <p:nvPr/>
        </p:nvSpPr>
        <p:spPr>
          <a:xfrm>
            <a:off x="841249" y="4391752"/>
            <a:ext cx="4114800" cy="2743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07BDAE-3B89-F87D-D66D-A0D7BA9EDCF4}"/>
              </a:ext>
            </a:extLst>
          </p:cNvPr>
          <p:cNvGrpSpPr/>
          <p:nvPr/>
        </p:nvGrpSpPr>
        <p:grpSpPr>
          <a:xfrm>
            <a:off x="1069849" y="4510522"/>
            <a:ext cx="3657600" cy="1645920"/>
            <a:chOff x="7772400" y="2286000"/>
            <a:chExt cx="3657600" cy="164592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F0A1D7A-F967-65BB-62E0-6B42F1059A89}"/>
                </a:ext>
              </a:extLst>
            </p:cNvPr>
            <p:cNvSpPr txBox="1"/>
            <p:nvPr/>
          </p:nvSpPr>
          <p:spPr>
            <a:xfrm>
              <a:off x="7772400" y="2286000"/>
              <a:ext cx="3657600" cy="13716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7200" b="1" i="1">
                  <a:solidFill>
                    <a:srgbClr val="FFFFFF"/>
                  </a:solidFill>
                  <a:latin typeface="Playfair Display"/>
                </a:defRPr>
              </a:pPr>
              <a:r>
                <a:rPr dirty="0"/>
                <a:t>Aa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02E7D7-98E3-057E-6C9A-2E8C47D60526}"/>
                </a:ext>
              </a:extLst>
            </p:cNvPr>
            <p:cNvSpPr txBox="1"/>
            <p:nvPr/>
          </p:nvSpPr>
          <p:spPr>
            <a:xfrm>
              <a:off x="7772400" y="3657600"/>
              <a:ext cx="365760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>
                <a:defRPr sz="1100" b="0" i="0">
                  <a:solidFill>
                    <a:srgbClr val="9CA3AF"/>
                  </a:solidFill>
                  <a:latin typeface="Inter"/>
                </a:defRPr>
              </a:pPr>
              <a:r>
                <a:rPr dirty="0"/>
                <a:t>Playfair Display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509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72827"/>
                </a:solidFill>
                <a:latin typeface="Playfair Display"/>
              </a:defRPr>
            </a:pPr>
            <a:r>
              <a:t>English Typography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486400" cy="3931920"/>
          </a:xfrm>
          <a:prstGeom prst="rect">
            <a:avLst/>
          </a:prstGeom>
          <a:solidFill>
            <a:srgbClr val="E8E2D9"/>
          </a:solidFill>
          <a:ln w="635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486400" cy="54864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1">
                <a:solidFill>
                  <a:srgbClr val="272827"/>
                </a:solidFill>
                <a:latin typeface="Playfair Display"/>
              </a:defRPr>
            </a:pPr>
            <a:r>
              <a:t>Playfair 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FF5723"/>
                </a:solidFill>
                <a:latin typeface="Tajawal"/>
              </a:defRPr>
            </a:pPr>
            <a:r>
              <a:t>English Headings · العناوين الإنجليزية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000" b="1" i="1">
                <a:solidFill>
                  <a:srgbClr val="272827"/>
                </a:solidFill>
                <a:latin typeface="Playfair Display"/>
              </a:defRPr>
            </a:pPr>
            <a:r>
              <a:t>Aa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743200"/>
            <a:ext cx="118872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274320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Black Italic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743200"/>
            <a:ext cx="118872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Bold Italic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246120"/>
            <a:ext cx="118872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324612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SemiBold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246120"/>
            <a:ext cx="118872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24612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1">
                <a:solidFill>
                  <a:srgbClr val="6B7280"/>
                </a:solidFill>
                <a:latin typeface="Playfair Display"/>
              </a:defRPr>
            </a:pPr>
            <a:r>
              <a:t>A B C D E F G H I J K L M</a:t>
            </a:r>
            <a:br/>
            <a:r>
              <a:t>N O P Q R S T U V W X Y Z</a:t>
            </a:r>
            <a:br/>
            <a:r>
              <a:t>a b c d e f g h i j k l m n o p q r s t u v w x y 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1828800"/>
            <a:ext cx="4572000" cy="3931920"/>
          </a:xfrm>
          <a:prstGeom prst="rect">
            <a:avLst/>
          </a:prstGeom>
          <a:solidFill>
            <a:srgbClr val="E8E2D9"/>
          </a:solidFill>
          <a:ln w="635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0" y="1828800"/>
            <a:ext cx="4572000" cy="54864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272827"/>
                </a:solidFill>
                <a:latin typeface="Playfair Display"/>
              </a:defRPr>
            </a:pPr>
            <a:r>
              <a:t>Inter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468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FF5723"/>
                </a:solidFill>
                <a:latin typeface="Tajawal"/>
              </a:defRPr>
            </a:pPr>
            <a:r>
              <a:t>English Body · النصوص الإنجليزية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92608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600" b="0" i="0">
                <a:solidFill>
                  <a:srgbClr val="272827"/>
                </a:solidFill>
                <a:latin typeface="Inter"/>
              </a:defRPr>
            </a:pPr>
            <a:r>
              <a:t>Aa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743200"/>
            <a:ext cx="118872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274320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Regular 400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2743200"/>
            <a:ext cx="118872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0" y="274320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Medium 500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246120"/>
            <a:ext cx="118872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0" y="324612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SemiBold 600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3246120"/>
            <a:ext cx="118872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3246120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0" i="0">
                <a:solidFill>
                  <a:srgbClr val="FFFFFF"/>
                </a:solidFill>
                <a:latin typeface="Inter"/>
              </a:defRPr>
            </a:pPr>
            <a:r>
              <a:t>Bold 700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114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7280"/>
                </a:solidFill>
                <a:latin typeface="Inter"/>
              </a:defRPr>
            </a:pPr>
            <a:r>
              <a:t>A B C D E F G H I J K L M N O P</a:t>
            </a:r>
            <a:br/>
            <a:r>
              <a:t>Q R S T U V W X Y Z</a:t>
            </a:r>
            <a:br/>
            <a:r>
              <a:t>a b c d e f g h i j k l m n o p q r s t u v w x y 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NAQLA TRAINING CENTER  ·  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72827"/>
                </a:solidFill>
                <a:latin typeface="Playfair Display"/>
              </a:defRPr>
            </a:pPr>
            <a:r>
              <a:t>Arabic Typography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029200" cy="3931920"/>
          </a:xfrm>
          <a:prstGeom prst="rect">
            <a:avLst/>
          </a:prstGeom>
          <a:solidFill>
            <a:srgbClr val="E8E2D9"/>
          </a:solidFill>
          <a:ln w="6350">
            <a:solidFill>
              <a:srgbClr val="FF5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272827"/>
                </a:solidFill>
                <a:latin typeface="Playfair Display"/>
              </a:defRPr>
            </a:pPr>
            <a:r>
              <a:t>Shamel 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FF5723"/>
                </a:solidFill>
                <a:latin typeface="Tajawal"/>
              </a:defRPr>
            </a:pPr>
            <a:r>
              <a:t>Arabic Headings · العناوين العربية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 i="0">
                <a:solidFill>
                  <a:srgbClr val="272827"/>
                </a:solidFill>
                <a:latin typeface="Shamel Family"/>
              </a:defRPr>
            </a:pPr>
            <a:r>
              <a:t>نقلة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840480"/>
            <a:ext cx="137160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Shamel Bold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3840480"/>
            <a:ext cx="137160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38404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Shamel Black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840480"/>
            <a:ext cx="137160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38404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Shamel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572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272827"/>
                </a:solidFill>
                <a:latin typeface="Shamel Family"/>
              </a:defRPr>
            </a:pPr>
            <a:r>
              <a:t>نقل المعرفة — نحو الغد</a:t>
            </a:r>
            <a:br/>
            <a:r>
              <a:t>مركز تدريب نقلة للتدريب التقني</a:t>
            </a:r>
            <a:br/>
            <a:r>
              <a:t>تمكين المستقبل الرقمي في ليبيا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5029200" cy="3931920"/>
          </a:xfrm>
          <a:prstGeom prst="rect">
            <a:avLst/>
          </a:prstGeom>
          <a:solidFill>
            <a:srgbClr val="E8E2D9"/>
          </a:solidFill>
          <a:ln w="6350">
            <a:solidFill>
              <a:srgbClr val="FF5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272827"/>
                </a:solidFill>
                <a:latin typeface="Playfair Display"/>
              </a:defRPr>
            </a:pPr>
            <a:r>
              <a:t>Tajawal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FF5723"/>
                </a:solidFill>
                <a:latin typeface="Tajawal"/>
              </a:defRPr>
            </a:pPr>
            <a:r>
              <a:t>Arabic Body · النصوص العربية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92608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272827"/>
                </a:solidFill>
                <a:latin typeface="Tajawal"/>
              </a:defRPr>
            </a:pPr>
            <a:r>
              <a:t>يقدم مركز تدريب نقلة دورات متخصصة في مجال تقنية المعلومات</a:t>
            </a:r>
            <a:br/>
            <a:r>
              <a:t>نحن نؤمن بأن التدريب العملي هو الطريق الأمثل لاكتساب المهارات</a:t>
            </a:r>
            <a:br/>
            <a:r>
              <a:t>انضم إلينا وكن جزءاً من مستقبل التقنية في ليبيا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389120"/>
            <a:ext cx="201168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Tajawal Regular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4389120"/>
            <a:ext cx="2011680" cy="320040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0" y="43891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  <a:latin typeface="Inter"/>
              </a:defRPr>
            </a:pPr>
            <a:r>
              <a:t>Tajawal Bold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NAQLA TRAINING CENTER  · 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9E2AFC-A74C-FAF7-FBC4-8E0A4839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E13A06-8013-E7B7-C498-33702EA4650D}"/>
              </a:ext>
            </a:extLst>
          </p:cNvPr>
          <p:cNvSpPr txBox="1"/>
          <p:nvPr/>
        </p:nvSpPr>
        <p:spPr>
          <a:xfrm>
            <a:off x="7894320" y="785400"/>
            <a:ext cx="3901440" cy="43242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0" b="1" i="0">
                <a:solidFill>
                  <a:srgbClr val="FF5723"/>
                </a:solidFill>
                <a:latin typeface="Playfair Display"/>
              </a:defRPr>
            </a:pPr>
            <a:r>
              <a:rPr lang="en-US" sz="27500" dirty="0">
                <a:effectLst>
                  <a:reflection blurRad="6350" stA="60000" endA="900" endPos="58000" dir="5400000" sy="-100000" algn="bl" rotWithShape="0"/>
                </a:effectLst>
                <a:latin typeface="+mj-lt"/>
              </a:rPr>
              <a:t>0</a:t>
            </a:r>
            <a:r>
              <a:rPr lang="ar-EG" sz="27500" b="1" dirty="0">
                <a:solidFill>
                  <a:srgbClr val="FF5723"/>
                </a:solidFill>
                <a:effectLst>
                  <a:reflection blurRad="6350" stA="60000" endA="900" endPos="58000" dir="5400000" sy="-100000" algn="bl" rotWithShape="0"/>
                </a:effectLst>
                <a:latin typeface="+mj-lt"/>
              </a:rPr>
              <a:t>5</a:t>
            </a:r>
            <a:endParaRPr sz="27500" b="1" dirty="0">
              <a:solidFill>
                <a:srgbClr val="FF5723"/>
              </a:solidFill>
              <a:effectLst>
                <a:reflection blurRad="6350" stA="60000" endA="900" endPos="58000" dir="5400000" sy="-100000" algn="bl" rotWithShape="0"/>
              </a:effectLst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FABC5E5-8FCE-CDAE-51B6-CBC1D3005507}"/>
              </a:ext>
            </a:extLst>
          </p:cNvPr>
          <p:cNvGrpSpPr/>
          <p:nvPr/>
        </p:nvGrpSpPr>
        <p:grpSpPr>
          <a:xfrm>
            <a:off x="1069849" y="2335684"/>
            <a:ext cx="6340571" cy="1918982"/>
            <a:chOff x="4478036" y="1814280"/>
            <a:chExt cx="13711807" cy="191898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3981473-B4FF-AAFC-E381-3F766CC5E38A}"/>
                </a:ext>
              </a:extLst>
            </p:cNvPr>
            <p:cNvSpPr txBox="1"/>
            <p:nvPr/>
          </p:nvSpPr>
          <p:spPr>
            <a:xfrm>
              <a:off x="4478036" y="1814280"/>
              <a:ext cx="7315200" cy="110799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defRPr sz="2800" b="1" i="0">
                  <a:solidFill>
                    <a:srgbClr val="FFFFFF"/>
                  </a:solidFill>
                  <a:latin typeface="Playfair Display"/>
                </a:defRPr>
              </a:pPr>
              <a:r>
                <a:rPr lang="en-US" sz="6600" dirty="0"/>
                <a:t>Pattern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13B98D9-7FF3-AF84-215B-A552D7869A3C}"/>
                </a:ext>
              </a:extLst>
            </p:cNvPr>
            <p:cNvSpPr txBox="1"/>
            <p:nvPr/>
          </p:nvSpPr>
          <p:spPr>
            <a:xfrm>
              <a:off x="10874643" y="3025376"/>
              <a:ext cx="7315200" cy="70788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rtl="1"/>
              <a:r>
                <a:rPr lang="en-US" sz="4000" dirty="0" err="1">
                  <a:solidFill>
                    <a:srgbClr val="9CA3AF"/>
                  </a:solidFill>
                  <a:latin typeface="Inter"/>
                </a:rPr>
                <a:t>نمط</a:t>
              </a:r>
              <a:endParaRPr lang="en-US" sz="4000" dirty="0">
                <a:solidFill>
                  <a:srgbClr val="9CA3AF"/>
                </a:solidFill>
                <a:latin typeface="Inter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203FE57-0FAA-C713-8EB7-AA01DFEC599A}"/>
              </a:ext>
            </a:extLst>
          </p:cNvPr>
          <p:cNvSpPr/>
          <p:nvPr/>
        </p:nvSpPr>
        <p:spPr>
          <a:xfrm>
            <a:off x="731520" y="6217920"/>
            <a:ext cx="10698480" cy="2743"/>
          </a:xfrm>
          <a:prstGeom prst="rect">
            <a:avLst/>
          </a:prstGeom>
          <a:solidFill>
            <a:srgbClr val="3A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3451C-F81F-EF92-8125-89E231E2BB4C}"/>
              </a:ext>
            </a:extLst>
          </p:cNvPr>
          <p:cNvSpPr txBox="1"/>
          <p:nvPr/>
        </p:nvSpPr>
        <p:spPr>
          <a:xfrm>
            <a:off x="731520" y="6309360"/>
            <a:ext cx="73152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rPr dirty="0"/>
              <a:t>NAQLA TRAINING CENTER  ·  0</a:t>
            </a:r>
            <a:r>
              <a:rPr lang="ar-EG" dirty="0"/>
              <a:t>4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32770-D7ED-8720-D9F9-A23711130858}"/>
              </a:ext>
            </a:extLst>
          </p:cNvPr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A17775-434B-FAFD-ADED-F9DBD0221700}"/>
              </a:ext>
            </a:extLst>
          </p:cNvPr>
          <p:cNvSpPr/>
          <p:nvPr/>
        </p:nvSpPr>
        <p:spPr>
          <a:xfrm>
            <a:off x="841249" y="4391752"/>
            <a:ext cx="4114800" cy="2743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68125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2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272827"/>
                </a:solidFill>
                <a:latin typeface="Playfair Display"/>
              </a:defRPr>
            </a:pPr>
            <a:r>
              <a:t>Visual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36576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Tajawal"/>
              </a:defRPr>
            </a:pPr>
            <a:r>
              <a:rPr dirty="0" err="1"/>
              <a:t>اثنان</a:t>
            </a:r>
            <a:r>
              <a:rPr dirty="0"/>
              <a:t> </a:t>
            </a:r>
            <a:r>
              <a:rPr dirty="0" err="1"/>
              <a:t>من</a:t>
            </a:r>
            <a:r>
              <a:rPr dirty="0"/>
              <a:t> </a:t>
            </a:r>
            <a:r>
              <a:rPr dirty="0" err="1"/>
              <a:t>الصور</a:t>
            </a:r>
            <a:r>
              <a:rPr dirty="0"/>
              <a:t> </a:t>
            </a:r>
            <a:r>
              <a:rPr dirty="0" err="1"/>
              <a:t>واثنان</a:t>
            </a:r>
            <a:r>
              <a:rPr dirty="0"/>
              <a:t> </a:t>
            </a:r>
            <a:r>
              <a:rPr dirty="0" err="1"/>
              <a:t>من</a:t>
            </a:r>
            <a:r>
              <a:rPr dirty="0"/>
              <a:t> </a:t>
            </a:r>
            <a:r>
              <a:rPr dirty="0" err="1"/>
              <a:t>التصاميم</a:t>
            </a:r>
            <a:r>
              <a:rPr dirty="0"/>
              <a:t> </a:t>
            </a:r>
            <a:r>
              <a:rPr dirty="0" err="1"/>
              <a:t>الهندسية</a:t>
            </a:r>
            <a:r>
              <a:rPr dirty="0"/>
              <a:t>، </a:t>
            </a:r>
            <a:r>
              <a:rPr dirty="0" err="1"/>
              <a:t>للاستخدام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ورش</a:t>
            </a:r>
            <a:r>
              <a:rPr dirty="0"/>
              <a:t> </a:t>
            </a:r>
            <a:r>
              <a:rPr dirty="0" err="1"/>
              <a:t>العمل</a:t>
            </a:r>
            <a:r>
              <a:rPr dirty="0"/>
              <a:t> </a:t>
            </a:r>
            <a:r>
              <a:rPr dirty="0" err="1"/>
              <a:t>والإعلانات</a:t>
            </a:r>
            <a:r>
              <a:rPr dirty="0"/>
              <a:t> </a:t>
            </a:r>
            <a:r>
              <a:rPr dirty="0" err="1"/>
              <a:t>والعروض</a:t>
            </a:r>
            <a:r>
              <a:rPr dirty="0"/>
              <a:t> </a:t>
            </a:r>
            <a:r>
              <a:rPr dirty="0" err="1"/>
              <a:t>الرقمية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9CA3AF"/>
                </a:solidFill>
                <a:latin typeface="Inter"/>
              </a:defRPr>
            </a:pPr>
            <a:r>
              <a:rPr dirty="0"/>
              <a:t>official visual patterns — two from photos and two from engineering designs.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377440"/>
            <a:ext cx="5394960" cy="54864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432304"/>
            <a:ext cx="5394960" cy="3694176"/>
          </a:xfrm>
          <a:prstGeom prst="rect">
            <a:avLst/>
          </a:prstGeom>
          <a:solidFill>
            <a:srgbClr val="E8E2D9"/>
          </a:solidFill>
          <a:ln w="6350">
            <a:solidFill>
              <a:srgbClr val="FF5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377440"/>
            <a:ext cx="5394960" cy="54864"/>
          </a:xfrm>
          <a:prstGeom prst="rect">
            <a:avLst/>
          </a:prstGeom>
          <a:solidFill>
            <a:srgbClr val="FF5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92240" y="2432304"/>
            <a:ext cx="5394960" cy="3694176"/>
          </a:xfrm>
          <a:prstGeom prst="rect">
            <a:avLst/>
          </a:prstGeom>
          <a:solidFill>
            <a:srgbClr val="100B07"/>
          </a:solidFill>
          <a:ln w="6350">
            <a:solidFill>
              <a:srgbClr val="FF5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naqla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897880"/>
            <a:ext cx="365760" cy="3657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0160" y="59436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272827"/>
                </a:solidFill>
                <a:latin typeface="Inter"/>
              </a:defRPr>
            </a:pPr>
            <a:r>
              <a:rPr dirty="0"/>
              <a:t>NAQLA TRAINING CENTER  ·  </a:t>
            </a:r>
            <a:r>
              <a:rPr dirty="0" err="1"/>
              <a:t>نـقـلـة</a:t>
            </a:r>
            <a:r>
              <a:rPr dirty="0"/>
              <a:t>  ·  </a:t>
            </a:r>
            <a:r>
              <a:rPr dirty="0" err="1"/>
              <a:t>Nofleen</a:t>
            </a:r>
            <a:r>
              <a:rPr dirty="0"/>
              <a:t>, Tripoli — Libya  ·  contact@naqlaa.ly  ·  naqlaa.ly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 i="0">
                <a:solidFill>
                  <a:srgbClr val="9CA3AF"/>
                </a:solidFill>
                <a:latin typeface="Inter"/>
              </a:defRPr>
            </a:pPr>
            <a:r>
              <a:t>Brand Identity Designed with Passion  |  Version 1.0  ·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9CA3AF"/>
                </a:solidFill>
                <a:latin typeface="Inter"/>
              </a:defRPr>
            </a:pPr>
            <a:r>
              <a:t>16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A1C58E4-7B2F-31D3-E9C6-68538A97E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77" y="2452598"/>
            <a:ext cx="5410201" cy="34838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4F28351-A0E8-7EE4-814C-80A0D110C42D}"/>
              </a:ext>
            </a:extLst>
          </p:cNvPr>
          <p:cNvSpPr txBox="1"/>
          <p:nvPr/>
        </p:nvSpPr>
        <p:spPr>
          <a:xfrm>
            <a:off x="7379208" y="5929324"/>
            <a:ext cx="73152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272827"/>
                </a:solidFill>
                <a:latin typeface="Inter"/>
              </a:defRPr>
            </a:pPr>
            <a:r>
              <a:rPr dirty="0">
                <a:solidFill>
                  <a:schemeClr val="bg1"/>
                </a:solidFill>
              </a:rPr>
              <a:t>NAQLA TRAINING CENTER  ·  </a:t>
            </a:r>
            <a:r>
              <a:rPr dirty="0" err="1">
                <a:solidFill>
                  <a:schemeClr val="bg1"/>
                </a:solidFill>
              </a:rPr>
              <a:t>نـقـلـة</a:t>
            </a:r>
            <a:r>
              <a:rPr dirty="0">
                <a:solidFill>
                  <a:schemeClr val="bg1"/>
                </a:solidFill>
              </a:rPr>
              <a:t>  ·  </a:t>
            </a:r>
            <a:r>
              <a:rPr dirty="0" err="1">
                <a:solidFill>
                  <a:schemeClr val="bg1"/>
                </a:solidFill>
              </a:rPr>
              <a:t>Nofleen</a:t>
            </a:r>
            <a:r>
              <a:rPr dirty="0">
                <a:solidFill>
                  <a:schemeClr val="bg1"/>
                </a:solidFill>
              </a:rPr>
              <a:t>, Tripoli — Libya  ·  contact@naqlaa.ly  ·  naqlaa.ly</a:t>
            </a:r>
          </a:p>
        </p:txBody>
      </p:sp>
      <p:pic>
        <p:nvPicPr>
          <p:cNvPr id="34" name="Picture 33" descr="naqla_logo_official.png">
            <a:extLst>
              <a:ext uri="{FF2B5EF4-FFF2-40B4-BE49-F238E27FC236}">
                <a16:creationId xmlns:a16="http://schemas.microsoft.com/office/drawing/2014/main" id="{A78B8410-E7E4-7FD2-0AC3-76055ED18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5867400"/>
            <a:ext cx="365760" cy="36576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2BE186B-8A89-594D-224E-28545ED7F5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0" y="2452598"/>
            <a:ext cx="5394960" cy="3502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2832</TotalTime>
  <Words>796</Words>
  <Application>Microsoft Office PowerPoint</Application>
  <PresentationFormat>Widescreen</PresentationFormat>
  <Paragraphs>167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shehab albelazi</dc:creator>
  <cp:keywords/>
  <dc:description>generated using python-pptx</dc:description>
  <cp:lastModifiedBy>shehab albelazi</cp:lastModifiedBy>
  <cp:revision>2</cp:revision>
  <dcterms:created xsi:type="dcterms:W3CDTF">2013-01-27T09:14:16Z</dcterms:created>
  <dcterms:modified xsi:type="dcterms:W3CDTF">2026-06-27T13:22:30Z</dcterms:modified>
  <cp:category/>
</cp:coreProperties>
</file>