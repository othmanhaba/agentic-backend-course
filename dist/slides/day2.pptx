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2bc23a3-7fcf-f45b-631b-ea39b7ee7163}">
          <p14:sldIdLst>
            <p14:sldId id="256"/>
            <p14:sldId id="257"/>
            <p14:sldId id="258"/>
          </p14:sldIdLst>
        </p14:section>
        <p14:section name="Session A" id="{11de0838-b88c-5d7c-75f5-32d37424ab4d}">
          <p14:sldIdLst>
            <p14:sldId id="259"/>
            <p14:sldId id="260"/>
            <p14:sldId id="261"/>
            <p14:sldId id="262"/>
            <p14:sldId id="263"/>
            <p14:sldId id="264"/>
            <p14:sldId id="265"/>
            <p14:sldId id="266"/>
            <p14:sldId id="267"/>
            <p14:sldId id="268"/>
            <p14:sldId id="269"/>
          </p14:sldIdLst>
        </p14:section>
        <p14:section name="Lab 2.1" id="{f1fc2963-cb59-227e-46b8-949f4783d143}">
          <p14:sldIdLst>
            <p14:sldId id="270"/>
          </p14:sldIdLst>
        </p14:section>
        <p14:section name="Session B" id="{b61d39ba-0dfa-c936-5eee-5df5b210ef01}">
          <p14:sldIdLst>
            <p14:sldId id="271"/>
            <p14:sldId id="272"/>
            <p14:sldId id="273"/>
            <p14:sldId id="274"/>
            <p14:sldId id="275"/>
            <p14:sldId id="276"/>
            <p14:sldId id="277"/>
            <p14:sldId id="278"/>
            <p14:sldId id="279"/>
            <p14:sldId id="280"/>
            <p14:sldId id="281"/>
            <p14:sldId id="282"/>
            <p14:sldId id="283"/>
            <p14:sldId id="284"/>
          </p14:sldIdLst>
        </p14:section>
        <p14:section name="Lab 2.2" id="{bc721702-e0b5-68b3-15cc-d6556310fd02}">
          <p14:sldIdLst>
            <p14:sldId id="285"/>
          </p14:sldIdLst>
        </p14:section>
        <p14:section name="Wrap-up" id="{b7090e62-3ec2-1dfe-151a-f4ec2ecf6abf}">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Yesterday we built the Shahna domain: tables, models, enums and a seeder. Today it becomes a real API that customers can use: quotes, bookings, auth and authorization, all driven by tests. We also make the agent write tests first, and we review its code with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day. Same rhythm every day: about 40% lecture, 60% hands-on. Orange blocks are lecture + live demo, dark blocks are lab time. Point out where the checkpoint tag lands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Tell students the exit ticket at 15:45 checks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A is API design. The big idea: the HTTP boundary is where untrusted input enters our system, so we decide carefully what we accept, who may do what, and what shape we send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Shahna API table from the spec. Ask: why use the reference in the URL instead of id 42? Sequential ids leak how many shipments we have and invite guessing. Cancel is a POST to a sub-resource because it is a state transition with rules, not an arbitrary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test we will write today. Discuss 403 versus 404 for someone else's shipment: returning 404 hides that the reference exists, which is a valid choice; we use 403 via the policy to keep it simple, and mention the trade-off. Note that Shahna uses 422 for every business-rule rejection today: an expired or already-booked quote is a validation error on quote_id, and an invalid cancel is a validation error on status, both in Laravel's default JSON error shape. The only 409 in the project arrives on Day 3, when a request with the same Idempotency-Key is still being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auth:sanctum protects everything except register, login and the public cities list; {shipment:reference} binds by the public reference; a missing shipment is a 404 for free; check with sail artisan route:list --path=api. Every route the spec lists for Day 2, in fifteen lines. Route model binding with :reference means the controller receives a Shipment model already loaded, or Laravel returns 404. Ask the agent to generate this from the spec table, then compare it line by line against the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return Eloquent models directly from an API: a new column such as an internal note would leak the day someone adds it. Resources are the contract, and they nest: origin and destination are CityResources with id, code, name_en and name_ar. Show ShipmentResource::collection($request-&gt;user()-&gt;shipments()-&gt;latest()-&gt;paginate(15)) and the links and meta block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invalid input never reaches the controller, the client gets 422 with errors; Rule::enum ties validation to the VehicleType enum; weight is capped at 25000 kg; the controller reads typed, validated values, never all(); price and expiry are computed on the server. Type-hint the FormRequest and Laravel validates before your method runs. The controller is three lines: validated data in, service call, resource out. The service, injected by the container, owns the business rule. Point out that the client never sends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attack: post a quote with price_lyd 0.01 to a controller that uses request all. Then fix it. Agents often write $request-&gt;all() or unguard models because it is shorter, so this is a top item on our review checklist. Real example from Shahna: role is deliberately not in User's $fillable, so AuthController::register sets $user-&gt;role = UserRole::Customer explicitly. A client cannot register itself as an admin, and the register response returns role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three failing requests: no token stops at Sanctum with 401; a negative weight stops at the FormRequest with 422; a customer viewing another customer's shipment stops at the policy with 403. Each early exit is a feature test. Note that the policy check happens in the controller via Gate::authorize, after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keep permission logic out of controllers and make it testable. The spec says owner or dispatcher; in Shahna that is User::isStaff(), which is true for dispatchers and admins, the support roles. Agents tend to add bypasses nobody asked for, so every rule here should trace back to the spec and have a test: a customer gets 403 on someone else's shipment, a dispatcher gets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0.1 + 0.2 in php artisan tinker. Then explain why the decimal cast returns a string: it keeps exact digits, so our tests compare '322.00' as a string. For time, always store UTC; Postgres timestamps plus Carbon handle conversion. The quote expiry is a business rule we test with Carbon's travel helpers.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in plan mode. Then review the output together: check that an invalid cancel returns 422 with an error on status, that an expired or already-booked quote returns 422 on quote_id, that show uses the policy, and that quotes return 201. If the plan proposes 409 for any of these, discuss it, then follow the project's convention. Every error status in this plan becomes a feature test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seeing a red test before any implementation. Walk the room and check: is the price a string with two decimals? Does same-city pricing use 0 km? Is user_id taken from the token, not the body? Does register return role customer even if the body sends role admin? Early finishers can add a test for an unknown vehicle_type.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B is about trust. Tests are how we trust the agent's code, and database constraints are how we trust our data even when the code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addition for agents is the Review step between red and green. If the test is wrong, the code will be confidently wrong too. Also check the test fails for the right reason: a missing class error is not the same as a wrong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are fast and pinpoint failures; feature tests prove the HTTP contract, including auth and validation, with a real database. In Laravel, feature tests are cheap enough that we write many of them. End-to-end checks are few and slow; on Day 3 our k6 load test plays that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pricing lives in PricingService: the controller never computes a price, and on Day 4 the agent's get_quote tool calls the same service. price() looks up the distance through distanceKm, which returns 0 for the same city and otherwise reads city_distances. createQuote saves the Quote with expires_at 15 minutes from now. The constants are public so tests and docs can refer to them. Agents tend to mix all of this into the controller; push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one row on the board with the class: Tripoli to Misrata is 210 km in the seeder, so a 1000 kg box truck is 50 + 252 + 20 = 322.00. The expected values must come from the spec and the seeded distances, not from running the code, otherwise the test just copies whatever the code does. city() is a small Pest helper in tests/Pest.php that finds a seeded city by code. If the agent produced these numbers, recompute one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red step as a prompt. When the agent shows the failing output, read the failure message: it should be a missing class or wrong value, not a syntax error in the test. Then say: now implement the minimum to make these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tests send real HTTP requests through the whole stack against a test database. Add a 422 test with assertJsonValidationErrors for weight_kg, and a 403 test for viewing another customer's shipment. These tests are what let us refactor safely on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protects the HTTP path, but data also arrives from seeders, jobs, tinker and, from Day 4, an AI agent's tools. Constraints are the last line of defence. On PostgreSQL, Laravel's enum() column is a varchar plus a CHECK constraint, so a typo in a status string fails at the database. The composite index matches the query for GET /shipments: where user_id order by created_at desc. Range rules such as weight 1 to 25000 kg live in StoreQuoteRequest; if you want them enforced for every writer, a raw CHECK is the next step, but guard it for the SQLite test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one example of each from yesterday's schema. Mention that indexes are not free: they slow writes and use space, so add them for real queries. On Day 3 we will find a missing index and an N+1 query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is thin: it passes the user, quote_id and pickup_at to BookingService::book. The most important line is the scoped, locked lookup: Quote::whereBelongsTo($user) means a customer cannot book a quote id they guessed; another customer's quote simply is not found. Every rejection is a ValidationException on quote_id, so the client gets 422 in Laravel's normal error shape. A successful booking writes two events, 'Booking received.' as pending and 'Booking confirmed.' as confirmed, and returns status confirmed. The UNIQUE constraint on quote_id backs up the exists check; Day 3 adds idempotency keys for client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beats re-implementation: the transition rules live in one place, the enum, and are already tested. Shipment::transitionTo is the only way statuses change, and it always writes a ShipmentEvent, inside BookingService's transaction, so we never have a cancelled shipment without its event. An invalid transition is a ValidationException on status, so the client gets 422 with a message such as 'A picked_up shipment cannot move to cancelled.' Tests to write: owner cancels a confirmed shipment gives 200, owner cancels an in-transit one gives 422 with an error on status, another customer gives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students use in the afternoon lab and in the capstone code review. Have pairs swap laptops and review each other's agent-written diff against these six boxes. Each finding is either fixed or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appear regularly in agent-written Laravel code. The second one is a real-world vulnerability class called insecure direct object reference. Ask students to grep their code for findOrFail calls that are not scoped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can write tests that always pass, for example asserting on a mock they configured themselves. Seeing the test fail first is your proof that it actually checks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test-first rhythm: for each endpoint the agent writes the feature tests, you review them, then it implements. Teams that fall behind can check out day2-end at 15:40. Collect one good review finding per team for tomorrow's standup.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then the exit ticket. The teaser answer is B: authorization is the policy's job. Validation checks input shape, resources shape output, and rate limits control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Make sure every team has pushed and can check out day2-end. Tomorrow we break the API under load, then fix it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Q Cover">
    <p:bg>
      <p:bgPr>
        <a:solidFill>
          <a:srgbClr val="2728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Q Dark">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02</a:t>
            </a:r>
            <a:endParaRPr lang="en-US" sz="9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Q Dark Title">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02</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FFFFFF"/>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Q Light Title">
    <p:bg>
      <p:bgPr>
        <a:solidFill>
          <a:srgbClr val="E8E2D9"/>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6B7280"/>
                </a:solidFill>
                <a:latin typeface="Inter" pitchFamily="34" charset="0"/>
                <a:ea typeface="Inter" pitchFamily="34" charset="-122"/>
                <a:cs typeface="Inter" pitchFamily="34" charset="-120"/>
              </a:rPr>
              <a:t>NAQLA TRAINING CENTER · 02</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272827"/>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58368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AGENTIC BACKEND ENGINEERING</a:t>
            </a:r>
            <a:endParaRPr lang="en-US" sz="1300" dirty="0"/>
          </a:p>
        </p:txBody>
      </p:sp>
      <p:sp>
        <p:nvSpPr>
          <p:cNvPr id="5" name="Text 1"/>
          <p:cNvSpPr txBox="1"/>
          <p:nvPr/>
        </p:nvSpPr>
        <p:spPr>
          <a:xfrm>
            <a:off x="548640" y="2240280"/>
            <a:ext cx="6675120" cy="1920240"/>
          </a:xfrm>
          <a:prstGeom prst="rect">
            <a:avLst/>
          </a:prstGeom>
          <a:noFill/>
          <a:ln/>
        </p:spPr>
        <p:txBody>
          <a:bodyPr wrap="square" lIns="0" tIns="0" rIns="0" bIns="0" rtlCol="0" anchor="t"/>
          <a:lstStyle/>
          <a:p>
            <a:pPr indent="0" marL="0">
              <a:buNone/>
            </a:pPr>
            <a:r>
              <a:rPr lang="en-US" sz="3600" b="1" dirty="0">
                <a:solidFill>
                  <a:srgbClr val="FF5723"/>
                </a:solidFill>
                <a:latin typeface="Playfair Display" pitchFamily="34" charset="0"/>
                <a:ea typeface="Playfair Display" pitchFamily="34" charset="-122"/>
                <a:cs typeface="Playfair Display" pitchFamily="34" charset="-120"/>
              </a:rPr>
              <a:t>Day 2</a:t>
            </a:r>
            <a:endParaRPr lang="en-US" sz="3600" dirty="0"/>
          </a:p>
          <a:p>
            <a:pPr indent="0" marL="0">
              <a:buNone/>
            </a:pPr>
            <a:r>
              <a:rPr lang="en-US" sz="3600" b="1" dirty="0">
                <a:solidFill>
                  <a:srgbClr val="FFFFFF"/>
                </a:solidFill>
                <a:latin typeface="Playfair Display" pitchFamily="34" charset="0"/>
                <a:ea typeface="Playfair Display" pitchFamily="34" charset="-122"/>
                <a:cs typeface="Playfair Display" pitchFamily="34" charset="-120"/>
              </a:rPr>
              <a:t>APIs and Data, Done Right</a:t>
            </a:r>
            <a:endParaRPr lang="en-US" sz="3600" dirty="0"/>
          </a:p>
        </p:txBody>
      </p:sp>
      <p:sp>
        <p:nvSpPr>
          <p:cNvPr id="6" name="Text 2"/>
          <p:cNvSpPr txBox="1"/>
          <p:nvPr/>
        </p:nvSpPr>
        <p:spPr>
          <a:xfrm>
            <a:off x="548640" y="4251960"/>
            <a:ext cx="6675120" cy="502920"/>
          </a:xfrm>
          <a:prstGeom prst="rect">
            <a:avLst/>
          </a:prstGeom>
          <a:noFill/>
          <a:ln/>
        </p:spPr>
        <p:txBody>
          <a:bodyPr wrap="square" lIns="0" tIns="0" rIns="0" bIns="0" rtlCol="0" anchor="t"/>
          <a:lstStyle/>
          <a:p>
            <a:pPr rtl="1" algn="l" indent="0" marL="0">
              <a:buNone/>
            </a:pPr>
            <a:r>
              <a:rPr lang="ar-LY" altLang="en-US" sz="2600" dirty="0">
                <a:solidFill>
                  <a:srgbClr val="D0CBC0"/>
                </a:solidFill>
                <a:latin typeface="Tajawal ExtraBold" pitchFamily="34" charset="0"/>
                <a:ea typeface="Tajawal ExtraBold" pitchFamily="34" charset="-122"/>
                <a:cs typeface="Tajawal ExtraBold" pitchFamily="34" charset="-120"/>
              </a:rPr>
              <a:t>واجهات البرمجة والبيانات بالطريقة الصحيحة</a:t>
            </a:r>
            <a:endParaRPr lang="ar-LY" sz="2600" dirty="0"/>
          </a:p>
        </p:txBody>
      </p:sp>
      <p:sp>
        <p:nvSpPr>
          <p:cNvPr id="7" name="Text 3"/>
          <p:cNvSpPr txBox="1"/>
          <p:nvPr/>
        </p:nvSpPr>
        <p:spPr>
          <a:xfrm>
            <a:off x="548640" y="4892040"/>
            <a:ext cx="6675120" cy="320040"/>
          </a:xfrm>
          <a:prstGeom prst="rect">
            <a:avLst/>
          </a:prstGeom>
          <a:noFill/>
          <a:ln/>
        </p:spPr>
        <p:txBody>
          <a:bodyPr wrap="square" lIns="0" tIns="0" rIns="0" bIns="0" rtlCol="0" anchor="ctr"/>
          <a:lstStyle/>
          <a:p>
            <a:pPr indent="0" marL="0">
              <a:buNone/>
            </a:pPr>
            <a:r>
              <a:rPr lang="en-US" sz="1500" dirty="0">
                <a:solidFill>
                  <a:srgbClr val="9CA3AF"/>
                </a:solidFill>
                <a:latin typeface="Inter" pitchFamily="34" charset="0"/>
                <a:ea typeface="Inter" pitchFamily="34" charset="-122"/>
                <a:cs typeface="Inter" pitchFamily="34" charset="-120"/>
              </a:rPr>
              <a:t>Build Scalable Backends With and For AI Agents</a:t>
            </a:r>
            <a:endParaRPr lang="en-US" sz="1500" dirty="0"/>
          </a:p>
        </p:txBody>
      </p:sp>
      <p:sp>
        <p:nvSpPr>
          <p:cNvPr id="8" name="Text 4"/>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Tripoli  ·  naqlaa.ly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Today's rhythm</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إيقاع اليوم</a:t>
            </a:r>
            <a:endParaRPr lang="ar-LY" sz="1700" dirty="0"/>
          </a:p>
        </p:txBody>
      </p:sp>
      <p:sp>
        <p:nvSpPr>
          <p:cNvPr id="4" name="Shape 2"/>
          <p:cNvSpPr/>
          <p:nvPr/>
        </p:nvSpPr>
        <p:spPr>
          <a:xfrm>
            <a:off x="548640" y="1783080"/>
            <a:ext cx="765026" cy="201168"/>
          </a:xfrm>
          <a:prstGeom prst="rect">
            <a:avLst/>
          </a:prstGeom>
          <a:solidFill>
            <a:srgbClr val="9CA3AF"/>
          </a:solidFill>
          <a:ln w="12700">
            <a:solidFill>
              <a:srgbClr val="9CA3AF"/>
            </a:solidFill>
            <a:prstDash val="solid"/>
          </a:ln>
        </p:spPr>
      </p:sp>
      <p:sp>
        <p:nvSpPr>
          <p:cNvPr id="5" name="Shape 3"/>
          <p:cNvSpPr/>
          <p:nvPr/>
        </p:nvSpPr>
        <p:spPr>
          <a:xfrm>
            <a:off x="1341098" y="1783080"/>
            <a:ext cx="1953714" cy="201168"/>
          </a:xfrm>
          <a:prstGeom prst="rect">
            <a:avLst/>
          </a:prstGeom>
          <a:solidFill>
            <a:srgbClr val="FF5723"/>
          </a:solidFill>
          <a:ln w="12700">
            <a:solidFill>
              <a:srgbClr val="FF5723"/>
            </a:solidFill>
            <a:prstDash val="solid"/>
          </a:ln>
        </p:spPr>
      </p:sp>
      <p:sp>
        <p:nvSpPr>
          <p:cNvPr id="6" name="Shape 4"/>
          <p:cNvSpPr/>
          <p:nvPr/>
        </p:nvSpPr>
        <p:spPr>
          <a:xfrm>
            <a:off x="3322244" y="1783080"/>
            <a:ext cx="368797" cy="201168"/>
          </a:xfrm>
          <a:prstGeom prst="rect">
            <a:avLst/>
          </a:prstGeom>
          <a:solidFill>
            <a:srgbClr val="D0CBC0"/>
          </a:solidFill>
          <a:ln w="12700">
            <a:solidFill>
              <a:srgbClr val="D0CBC0"/>
            </a:solidFill>
            <a:prstDash val="solid"/>
          </a:ln>
        </p:spPr>
      </p:sp>
      <p:sp>
        <p:nvSpPr>
          <p:cNvPr id="7" name="Shape 5"/>
          <p:cNvSpPr/>
          <p:nvPr/>
        </p:nvSpPr>
        <p:spPr>
          <a:xfrm>
            <a:off x="3718473" y="1783080"/>
            <a:ext cx="2349943" cy="201168"/>
          </a:xfrm>
          <a:prstGeom prst="rect">
            <a:avLst/>
          </a:prstGeom>
          <a:solidFill>
            <a:srgbClr val="272827"/>
          </a:solidFill>
          <a:ln w="12700">
            <a:solidFill>
              <a:srgbClr val="272827"/>
            </a:solidFill>
            <a:prstDash val="solid"/>
          </a:ln>
        </p:spPr>
      </p:sp>
      <p:sp>
        <p:nvSpPr>
          <p:cNvPr id="8" name="Shape 6"/>
          <p:cNvSpPr/>
          <p:nvPr/>
        </p:nvSpPr>
        <p:spPr>
          <a:xfrm>
            <a:off x="6095848" y="1783080"/>
            <a:ext cx="1557484" cy="201168"/>
          </a:xfrm>
          <a:prstGeom prst="rect">
            <a:avLst/>
          </a:prstGeom>
          <a:solidFill>
            <a:srgbClr val="D0CBC0"/>
          </a:solidFill>
          <a:ln w="12700">
            <a:solidFill>
              <a:srgbClr val="D0CBC0"/>
            </a:solidFill>
            <a:prstDash val="solid"/>
          </a:ln>
        </p:spPr>
      </p:sp>
      <p:sp>
        <p:nvSpPr>
          <p:cNvPr id="9" name="Shape 7"/>
          <p:cNvSpPr/>
          <p:nvPr/>
        </p:nvSpPr>
        <p:spPr>
          <a:xfrm>
            <a:off x="7680764" y="1783080"/>
            <a:ext cx="1161255" cy="201168"/>
          </a:xfrm>
          <a:prstGeom prst="rect">
            <a:avLst/>
          </a:prstGeom>
          <a:solidFill>
            <a:srgbClr val="FF5723"/>
          </a:solidFill>
          <a:ln w="12700">
            <a:solidFill>
              <a:srgbClr val="FF5723"/>
            </a:solidFill>
            <a:prstDash val="solid"/>
          </a:ln>
        </p:spPr>
      </p:sp>
      <p:sp>
        <p:nvSpPr>
          <p:cNvPr id="10" name="Shape 8"/>
          <p:cNvSpPr/>
          <p:nvPr/>
        </p:nvSpPr>
        <p:spPr>
          <a:xfrm>
            <a:off x="8869451" y="1783080"/>
            <a:ext cx="2349943" cy="201168"/>
          </a:xfrm>
          <a:prstGeom prst="rect">
            <a:avLst/>
          </a:prstGeom>
          <a:solidFill>
            <a:srgbClr val="272827"/>
          </a:solidFill>
          <a:ln w="12700">
            <a:solidFill>
              <a:srgbClr val="272827"/>
            </a:solidFill>
            <a:prstDash val="solid"/>
          </a:ln>
        </p:spPr>
      </p:sp>
      <p:sp>
        <p:nvSpPr>
          <p:cNvPr id="11" name="Shape 9"/>
          <p:cNvSpPr/>
          <p:nvPr/>
        </p:nvSpPr>
        <p:spPr>
          <a:xfrm>
            <a:off x="11246826" y="1783080"/>
            <a:ext cx="368797" cy="201168"/>
          </a:xfrm>
          <a:prstGeom prst="rect">
            <a:avLst/>
          </a:prstGeom>
          <a:solidFill>
            <a:srgbClr val="9CA3AF"/>
          </a:solidFill>
          <a:ln w="12700">
            <a:solidFill>
              <a:srgbClr val="9CA3AF"/>
            </a:solidFill>
            <a:prstDash val="solid"/>
          </a:ln>
        </p:spPr>
      </p:sp>
      <p:sp>
        <p:nvSpPr>
          <p:cNvPr id="12" name="Text 10"/>
          <p:cNvSpPr txBox="1"/>
          <p:nvPr/>
        </p:nvSpPr>
        <p:spPr>
          <a:xfrm>
            <a:off x="548640" y="2020824"/>
            <a:ext cx="914400" cy="228600"/>
          </a:xfrm>
          <a:prstGeom prst="rect">
            <a:avLst/>
          </a:prstGeom>
          <a:noFill/>
          <a:ln/>
        </p:spPr>
        <p:txBody>
          <a:bodyPr wrap="square" lIns="0" tIns="0" rIns="0" bIns="0" rtlCol="0" anchor="ctr"/>
          <a:lstStyle/>
          <a:p>
            <a:pPr algn="l" indent="0" marL="0">
              <a:buNone/>
            </a:pPr>
            <a:r>
              <a:rPr lang="en-US" sz="1000" dirty="0">
                <a:solidFill>
                  <a:srgbClr val="6B7280"/>
                </a:solidFill>
                <a:latin typeface="Inter" pitchFamily="34" charset="0"/>
                <a:ea typeface="Inter" pitchFamily="34" charset="-122"/>
                <a:cs typeface="Inter" pitchFamily="34" charset="-120"/>
              </a:rPr>
              <a:t>09:00</a:t>
            </a:r>
            <a:endParaRPr lang="en-US" sz="1000" dirty="0"/>
          </a:p>
        </p:txBody>
      </p:sp>
      <p:sp>
        <p:nvSpPr>
          <p:cNvPr id="13" name="Text 11"/>
          <p:cNvSpPr txBox="1"/>
          <p:nvPr/>
        </p:nvSpPr>
        <p:spPr>
          <a:xfrm>
            <a:off x="4846189" y="2020824"/>
            <a:ext cx="914400" cy="228600"/>
          </a:xfrm>
          <a:prstGeom prst="rect">
            <a:avLst/>
          </a:prstGeom>
          <a:noFill/>
          <a:ln/>
        </p:spPr>
        <p:txBody>
          <a:bodyPr wrap="square" lIns="0" tIns="0" rIns="0" bIns="0" rtlCol="0" anchor="ctr"/>
          <a:lstStyle/>
          <a:p>
            <a:pPr algn="ctr" indent="0" marL="0">
              <a:buNone/>
            </a:pPr>
            <a:r>
              <a:rPr lang="en-US" sz="1000" dirty="0">
                <a:solidFill>
                  <a:srgbClr val="6B7280"/>
                </a:solidFill>
                <a:latin typeface="Inter" pitchFamily="34" charset="0"/>
                <a:ea typeface="Inter" pitchFamily="34" charset="-122"/>
                <a:cs typeface="Inter" pitchFamily="34" charset="-120"/>
              </a:rPr>
              <a:t>12:00</a:t>
            </a:r>
            <a:endParaRPr lang="en-US" sz="1000" dirty="0"/>
          </a:p>
        </p:txBody>
      </p:sp>
      <p:sp>
        <p:nvSpPr>
          <p:cNvPr id="14" name="Text 12"/>
          <p:cNvSpPr txBox="1"/>
          <p:nvPr/>
        </p:nvSpPr>
        <p:spPr>
          <a:xfrm>
            <a:off x="10728655" y="2020824"/>
            <a:ext cx="914400" cy="228600"/>
          </a:xfrm>
          <a:prstGeom prst="rect">
            <a:avLst/>
          </a:prstGeom>
          <a:noFill/>
          <a:ln/>
        </p:spPr>
        <p:txBody>
          <a:bodyPr wrap="square" lIns="0" tIns="0" rIns="0" bIns="0" rtlCol="0" anchor="ctr"/>
          <a:lstStyle/>
          <a:p>
            <a:pPr algn="r" indent="0" marL="0">
              <a:buNone/>
            </a:pPr>
            <a:r>
              <a:rPr lang="en-US" sz="1000" dirty="0">
                <a:solidFill>
                  <a:srgbClr val="6B7280"/>
                </a:solidFill>
                <a:latin typeface="Inter" pitchFamily="34" charset="0"/>
                <a:ea typeface="Inter" pitchFamily="34" charset="-122"/>
                <a:cs typeface="Inter" pitchFamily="34" charset="-120"/>
              </a:rPr>
              <a:t>16:00</a:t>
            </a:r>
            <a:endParaRPr lang="en-US" sz="1000" dirty="0"/>
          </a:p>
        </p:txBody>
      </p:sp>
      <p:sp>
        <p:nvSpPr>
          <p:cNvPr id="15" name="Shape 13"/>
          <p:cNvSpPr/>
          <p:nvPr/>
        </p:nvSpPr>
        <p:spPr>
          <a:xfrm>
            <a:off x="548640" y="2606040"/>
            <a:ext cx="2567864" cy="1691640"/>
          </a:xfrm>
          <a:prstGeom prst="roundRect">
            <a:avLst>
              <a:gd name="adj" fmla="val 4324"/>
            </a:avLst>
          </a:prstGeom>
          <a:solidFill>
            <a:srgbClr val="F6F3EE"/>
          </a:solidFill>
          <a:ln w="12700">
            <a:solidFill>
              <a:srgbClr val="D0CBC0"/>
            </a:solidFill>
            <a:prstDash val="solid"/>
          </a:ln>
        </p:spPr>
      </p:sp>
      <p:sp>
        <p:nvSpPr>
          <p:cNvPr id="16" name="Text 14"/>
          <p:cNvSpPr txBox="1"/>
          <p:nvPr/>
        </p:nvSpPr>
        <p:spPr>
          <a:xfrm>
            <a:off x="731520"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09:00–09:30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Recap &amp; standup</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Quiz on yesterday</a:t>
            </a:r>
            <a:endParaRPr lang="en-US" sz="1200" dirty="0"/>
          </a:p>
        </p:txBody>
      </p:sp>
      <p:sp>
        <p:nvSpPr>
          <p:cNvPr id="17" name="Shape 15"/>
          <p:cNvSpPr/>
          <p:nvPr/>
        </p:nvSpPr>
        <p:spPr>
          <a:xfrm>
            <a:off x="3390824" y="2606040"/>
            <a:ext cx="2567864" cy="1691640"/>
          </a:xfrm>
          <a:prstGeom prst="roundRect">
            <a:avLst>
              <a:gd name="adj" fmla="val 4324"/>
            </a:avLst>
          </a:prstGeom>
          <a:solidFill>
            <a:srgbClr val="FF5723"/>
          </a:solidFill>
          <a:ln w="12700">
            <a:solidFill>
              <a:srgbClr val="FF5723"/>
            </a:solidFill>
            <a:prstDash val="solid"/>
          </a:ln>
        </p:spPr>
      </p:sp>
      <p:sp>
        <p:nvSpPr>
          <p:cNvPr id="18" name="Text 16"/>
          <p:cNvSpPr txBox="1"/>
          <p:nvPr/>
        </p:nvSpPr>
        <p:spPr>
          <a:xfrm>
            <a:off x="3573704"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09:30–10:45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A</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Resources, rules and boundaries</a:t>
            </a:r>
            <a:endParaRPr lang="en-US" sz="1200" dirty="0"/>
          </a:p>
        </p:txBody>
      </p:sp>
      <p:sp>
        <p:nvSpPr>
          <p:cNvPr id="19" name="Shape 17"/>
          <p:cNvSpPr/>
          <p:nvPr/>
        </p:nvSpPr>
        <p:spPr>
          <a:xfrm>
            <a:off x="6233008" y="2606040"/>
            <a:ext cx="2567864" cy="1691640"/>
          </a:xfrm>
          <a:prstGeom prst="roundRect">
            <a:avLst>
              <a:gd name="adj" fmla="val 4324"/>
            </a:avLst>
          </a:prstGeom>
          <a:solidFill>
            <a:srgbClr val="F6F3EE"/>
          </a:solidFill>
          <a:ln w="12700">
            <a:solidFill>
              <a:srgbClr val="D0CBC0"/>
            </a:solidFill>
            <a:prstDash val="solid"/>
          </a:ln>
        </p:spPr>
      </p:sp>
      <p:sp>
        <p:nvSpPr>
          <p:cNvPr id="20" name="Text 18"/>
          <p:cNvSpPr txBox="1"/>
          <p:nvPr/>
        </p:nvSpPr>
        <p:spPr>
          <a:xfrm>
            <a:off x="6415888"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10:45–11:00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Break</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1" name="Shape 19"/>
          <p:cNvSpPr/>
          <p:nvPr/>
        </p:nvSpPr>
        <p:spPr>
          <a:xfrm>
            <a:off x="9075191" y="2606040"/>
            <a:ext cx="2567864" cy="1691640"/>
          </a:xfrm>
          <a:prstGeom prst="roundRect">
            <a:avLst>
              <a:gd name="adj" fmla="val 4324"/>
            </a:avLst>
          </a:prstGeom>
          <a:solidFill>
            <a:srgbClr val="272827"/>
          </a:solidFill>
          <a:ln w="12700">
            <a:solidFill>
              <a:srgbClr val="272827"/>
            </a:solidFill>
            <a:prstDash val="solid"/>
          </a:ln>
        </p:spPr>
      </p:sp>
      <p:sp>
        <p:nvSpPr>
          <p:cNvPr id="22" name="Text 20"/>
          <p:cNvSpPr txBox="1"/>
          <p:nvPr/>
        </p:nvSpPr>
        <p:spPr>
          <a:xfrm>
            <a:off x="9258071"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11:00–12:30</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1</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The Booking API</a:t>
            </a:r>
            <a:endParaRPr lang="en-US" sz="1200" dirty="0"/>
          </a:p>
        </p:txBody>
      </p:sp>
      <p:sp>
        <p:nvSpPr>
          <p:cNvPr id="23" name="Shape 21"/>
          <p:cNvSpPr/>
          <p:nvPr/>
        </p:nvSpPr>
        <p:spPr>
          <a:xfrm>
            <a:off x="548640" y="4572000"/>
            <a:ext cx="2567864" cy="1691640"/>
          </a:xfrm>
          <a:prstGeom prst="roundRect">
            <a:avLst>
              <a:gd name="adj" fmla="val 4324"/>
            </a:avLst>
          </a:prstGeom>
          <a:solidFill>
            <a:srgbClr val="F6F3EE"/>
          </a:solidFill>
          <a:ln w="12700">
            <a:solidFill>
              <a:srgbClr val="D0CBC0"/>
            </a:solidFill>
            <a:prstDash val="solid"/>
          </a:ln>
        </p:spPr>
      </p:sp>
      <p:sp>
        <p:nvSpPr>
          <p:cNvPr id="24" name="Text 22"/>
          <p:cNvSpPr txBox="1"/>
          <p:nvPr/>
        </p:nvSpPr>
        <p:spPr>
          <a:xfrm>
            <a:off x="731520"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12:30–13:30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Lunch</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5" name="Shape 23"/>
          <p:cNvSpPr/>
          <p:nvPr/>
        </p:nvSpPr>
        <p:spPr>
          <a:xfrm>
            <a:off x="3390824" y="4572000"/>
            <a:ext cx="2567864" cy="1691640"/>
          </a:xfrm>
          <a:prstGeom prst="roundRect">
            <a:avLst>
              <a:gd name="adj" fmla="val 4324"/>
            </a:avLst>
          </a:prstGeom>
          <a:solidFill>
            <a:srgbClr val="FF5723"/>
          </a:solidFill>
          <a:ln w="12700">
            <a:solidFill>
              <a:srgbClr val="FF5723"/>
            </a:solidFill>
            <a:prstDash val="solid"/>
          </a:ln>
        </p:spPr>
      </p:sp>
      <p:sp>
        <p:nvSpPr>
          <p:cNvPr id="26" name="Text 24"/>
          <p:cNvSpPr txBox="1"/>
          <p:nvPr/>
        </p:nvSpPr>
        <p:spPr>
          <a:xfrm>
            <a:off x="3573704"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13:30–14:15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B</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Tests first, then code</a:t>
            </a:r>
            <a:endParaRPr lang="en-US" sz="1200" dirty="0"/>
          </a:p>
        </p:txBody>
      </p:sp>
      <p:sp>
        <p:nvSpPr>
          <p:cNvPr id="27" name="Shape 25"/>
          <p:cNvSpPr/>
          <p:nvPr/>
        </p:nvSpPr>
        <p:spPr>
          <a:xfrm>
            <a:off x="6233008" y="4572000"/>
            <a:ext cx="2567864" cy="1691640"/>
          </a:xfrm>
          <a:prstGeom prst="roundRect">
            <a:avLst>
              <a:gd name="adj" fmla="val 4324"/>
            </a:avLst>
          </a:prstGeom>
          <a:solidFill>
            <a:srgbClr val="272827"/>
          </a:solidFill>
          <a:ln w="12700">
            <a:solidFill>
              <a:srgbClr val="272827"/>
            </a:solidFill>
            <a:prstDash val="solid"/>
          </a:ln>
        </p:spPr>
      </p:sp>
      <p:sp>
        <p:nvSpPr>
          <p:cNvPr id="28" name="Text 26"/>
          <p:cNvSpPr txBox="1"/>
          <p:nvPr/>
        </p:nvSpPr>
        <p:spPr>
          <a:xfrm>
            <a:off x="6415888"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14:15–15:45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2</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The Booking API</a:t>
            </a:r>
            <a:endParaRPr lang="en-US" sz="1200" dirty="0"/>
          </a:p>
        </p:txBody>
      </p:sp>
      <p:sp>
        <p:nvSpPr>
          <p:cNvPr id="29" name="Shape 27"/>
          <p:cNvSpPr/>
          <p:nvPr/>
        </p:nvSpPr>
        <p:spPr>
          <a:xfrm>
            <a:off x="9075191" y="4572000"/>
            <a:ext cx="2567864" cy="1691640"/>
          </a:xfrm>
          <a:prstGeom prst="roundRect">
            <a:avLst>
              <a:gd name="adj" fmla="val 4324"/>
            </a:avLst>
          </a:prstGeom>
          <a:solidFill>
            <a:srgbClr val="F6F3EE"/>
          </a:solidFill>
          <a:ln w="12700">
            <a:solidFill>
              <a:srgbClr val="D0CBC0"/>
            </a:solidFill>
            <a:prstDash val="solid"/>
          </a:ln>
        </p:spPr>
      </p:sp>
      <p:sp>
        <p:nvSpPr>
          <p:cNvPr id="30" name="Text 28"/>
          <p:cNvSpPr txBox="1"/>
          <p:nvPr/>
        </p:nvSpPr>
        <p:spPr>
          <a:xfrm>
            <a:off x="9258071"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15:45–16:00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Demos, retro, exit ticket</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Show, reflect, exit ticket</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By the end of today you can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أهداف اليوم</a:t>
            </a:r>
            <a:endParaRPr lang="ar-LY" sz="1700" dirty="0"/>
          </a:p>
        </p:txBody>
      </p:sp>
      <p:sp>
        <p:nvSpPr>
          <p:cNvPr id="4" name="Shape 2"/>
          <p:cNvSpPr/>
          <p:nvPr/>
        </p:nvSpPr>
        <p:spPr>
          <a:xfrm>
            <a:off x="548640"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01</a:t>
            </a:r>
            <a:endParaRPr lang="en-US" sz="2800" dirty="0"/>
          </a:p>
        </p:txBody>
      </p:sp>
      <p:sp>
        <p:nvSpPr>
          <p:cNvPr id="6" name="Text 4"/>
          <p:cNvSpPr txBox="1"/>
          <p:nvPr/>
        </p:nvSpPr>
        <p:spPr>
          <a:xfrm>
            <a:off x="777240"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Design </a:t>
            </a:r>
            <a:pPr indent="0" marL="0">
              <a:buNone/>
            </a:pPr>
            <a:r>
              <a:rPr lang="en-US" sz="1600" b="1" dirty="0">
                <a:solidFill>
                  <a:srgbClr val="272827"/>
                </a:solidFill>
                <a:latin typeface="Inter" pitchFamily="34" charset="0"/>
                <a:ea typeface="Inter" pitchFamily="34" charset="-122"/>
                <a:cs typeface="Inter" pitchFamily="34" charset="-120"/>
              </a:rPr>
              <a:t>REST resources</a:t>
            </a:r>
            <a:pPr indent="0" marL="0">
              <a:buNone/>
            </a:pPr>
            <a:r>
              <a:rPr lang="en-US" sz="1600" dirty="0">
                <a:solidFill>
                  <a:srgbClr val="272827"/>
                </a:solidFill>
                <a:latin typeface="Inter" pitchFamily="34" charset="0"/>
                <a:ea typeface="Inter" pitchFamily="34" charset="-122"/>
                <a:cs typeface="Inter" pitchFamily="34" charset="-120"/>
              </a:rPr>
              <a:t> with the right status codes and response shapes</a:t>
            </a:r>
            <a:endParaRPr lang="en-US" sz="1600" dirty="0"/>
          </a:p>
        </p:txBody>
      </p:sp>
      <p:sp>
        <p:nvSpPr>
          <p:cNvPr id="7" name="Shape 5"/>
          <p:cNvSpPr/>
          <p:nvPr/>
        </p:nvSpPr>
        <p:spPr>
          <a:xfrm>
            <a:off x="4338218"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66818"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02</a:t>
            </a:r>
            <a:endParaRPr lang="en-US" sz="2800" dirty="0"/>
          </a:p>
        </p:txBody>
      </p:sp>
      <p:sp>
        <p:nvSpPr>
          <p:cNvPr id="9" name="Text 7"/>
          <p:cNvSpPr txBox="1"/>
          <p:nvPr/>
        </p:nvSpPr>
        <p:spPr>
          <a:xfrm>
            <a:off x="4566818"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Validate at the boundary with </a:t>
            </a:r>
            <a:pPr indent="0" marL="0">
              <a:buNone/>
            </a:pPr>
            <a:r>
              <a:rPr lang="en-US" sz="1600" b="1" dirty="0">
                <a:solidFill>
                  <a:srgbClr val="272827"/>
                </a:solidFill>
                <a:latin typeface="Inter" pitchFamily="34" charset="0"/>
                <a:ea typeface="Inter" pitchFamily="34" charset="-122"/>
                <a:cs typeface="Inter" pitchFamily="34" charset="-120"/>
              </a:rPr>
              <a:t>FormRequests</a:t>
            </a:r>
            <a:pPr indent="0" marL="0">
              <a:buNone/>
            </a:pPr>
            <a:r>
              <a:rPr lang="en-US" sz="1600" dirty="0">
                <a:solidFill>
                  <a:srgbClr val="272827"/>
                </a:solidFill>
                <a:latin typeface="Inter" pitchFamily="34" charset="0"/>
                <a:ea typeface="Inter" pitchFamily="34" charset="-122"/>
                <a:cs typeface="Inter" pitchFamily="34" charset="-120"/>
              </a:rPr>
              <a:t>; stop mass assignment</a:t>
            </a:r>
            <a:endParaRPr lang="en-US" sz="1600" dirty="0"/>
          </a:p>
        </p:txBody>
      </p:sp>
      <p:sp>
        <p:nvSpPr>
          <p:cNvPr id="10" name="Shape 8"/>
          <p:cNvSpPr/>
          <p:nvPr/>
        </p:nvSpPr>
        <p:spPr>
          <a:xfrm>
            <a:off x="8127797"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356397"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03</a:t>
            </a:r>
            <a:endParaRPr lang="en-US" sz="2800" dirty="0"/>
          </a:p>
        </p:txBody>
      </p:sp>
      <p:sp>
        <p:nvSpPr>
          <p:cNvPr id="12" name="Text 10"/>
          <p:cNvSpPr txBox="1"/>
          <p:nvPr/>
        </p:nvSpPr>
        <p:spPr>
          <a:xfrm>
            <a:off x="8356397"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Authenticate with </a:t>
            </a:r>
            <a:pPr indent="0" marL="0">
              <a:buNone/>
            </a:pPr>
            <a:r>
              <a:rPr lang="en-US" sz="1600" b="1" dirty="0">
                <a:solidFill>
                  <a:srgbClr val="272827"/>
                </a:solidFill>
                <a:latin typeface="Inter" pitchFamily="34" charset="0"/>
                <a:ea typeface="Inter" pitchFamily="34" charset="-122"/>
                <a:cs typeface="Inter" pitchFamily="34" charset="-120"/>
              </a:rPr>
              <a:t>Sanctum</a:t>
            </a:r>
            <a:pPr indent="0" marL="0">
              <a:buNone/>
            </a:pPr>
            <a:r>
              <a:rPr lang="en-US" sz="1600" dirty="0">
                <a:solidFill>
                  <a:srgbClr val="272827"/>
                </a:solidFill>
                <a:latin typeface="Inter" pitchFamily="34" charset="0"/>
                <a:ea typeface="Inter" pitchFamily="34" charset="-122"/>
                <a:cs typeface="Inter" pitchFamily="34" charset="-120"/>
              </a:rPr>
              <a:t> and authorize with </a:t>
            </a:r>
            <a:pPr indent="0" marL="0">
              <a:buNone/>
            </a:pPr>
            <a:r>
              <a:rPr lang="en-US" sz="1600" b="1" dirty="0">
                <a:solidFill>
                  <a:srgbClr val="272827"/>
                </a:solidFill>
                <a:latin typeface="Inter" pitchFamily="34" charset="0"/>
                <a:ea typeface="Inter" pitchFamily="34" charset="-122"/>
                <a:cs typeface="Inter" pitchFamily="34" charset="-120"/>
              </a:rPr>
              <a:t>Policies</a:t>
            </a:r>
            <a:endParaRPr lang="en-US" sz="1600" dirty="0"/>
          </a:p>
        </p:txBody>
      </p:sp>
      <p:sp>
        <p:nvSpPr>
          <p:cNvPr id="13" name="Shape 11"/>
          <p:cNvSpPr/>
          <p:nvPr/>
        </p:nvSpPr>
        <p:spPr>
          <a:xfrm>
            <a:off x="548640"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77240"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04</a:t>
            </a:r>
            <a:endParaRPr lang="en-US" sz="2800" dirty="0"/>
          </a:p>
        </p:txBody>
      </p:sp>
      <p:sp>
        <p:nvSpPr>
          <p:cNvPr id="15" name="Text 13"/>
          <p:cNvSpPr txBox="1"/>
          <p:nvPr/>
        </p:nvSpPr>
        <p:spPr>
          <a:xfrm>
            <a:off x="777240"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Model data in PostgreSQL: keys, constraints, indexes, </a:t>
            </a:r>
            <a:pPr indent="0" marL="0">
              <a:buNone/>
            </a:pPr>
            <a:r>
              <a:rPr lang="en-US" sz="1600" b="1" dirty="0">
                <a:solidFill>
                  <a:srgbClr val="272827"/>
                </a:solidFill>
                <a:latin typeface="Inter" pitchFamily="34" charset="0"/>
                <a:ea typeface="Inter" pitchFamily="34" charset="-122"/>
                <a:cs typeface="Inter" pitchFamily="34" charset="-120"/>
              </a:rPr>
              <a:t>decimals for money</a:t>
            </a:r>
            <a:endParaRPr lang="en-US" sz="1600" dirty="0"/>
          </a:p>
        </p:txBody>
      </p:sp>
      <p:sp>
        <p:nvSpPr>
          <p:cNvPr id="16" name="Shape 14"/>
          <p:cNvSpPr/>
          <p:nvPr/>
        </p:nvSpPr>
        <p:spPr>
          <a:xfrm>
            <a:off x="4338218"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566818"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05</a:t>
            </a:r>
            <a:endParaRPr lang="en-US" sz="2800" dirty="0"/>
          </a:p>
        </p:txBody>
      </p:sp>
      <p:sp>
        <p:nvSpPr>
          <p:cNvPr id="18" name="Text 16"/>
          <p:cNvSpPr txBox="1"/>
          <p:nvPr/>
        </p:nvSpPr>
        <p:spPr>
          <a:xfrm>
            <a:off x="4566818"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Work test-first with </a:t>
            </a:r>
            <a:pPr indent="0" marL="0">
              <a:buNone/>
            </a:pPr>
            <a:r>
              <a:rPr lang="en-US" sz="1600" b="1" dirty="0">
                <a:solidFill>
                  <a:srgbClr val="272827"/>
                </a:solidFill>
                <a:latin typeface="Inter" pitchFamily="34" charset="0"/>
                <a:ea typeface="Inter" pitchFamily="34" charset="-122"/>
                <a:cs typeface="Inter" pitchFamily="34" charset="-120"/>
              </a:rPr>
              <a:t>Pest</a:t>
            </a:r>
            <a:pPr indent="0" marL="0">
              <a:buNone/>
            </a:pPr>
            <a:r>
              <a:rPr lang="en-US" sz="1600" dirty="0">
                <a:solidFill>
                  <a:srgbClr val="272827"/>
                </a:solidFill>
                <a:latin typeface="Inter" pitchFamily="34" charset="0"/>
                <a:ea typeface="Inter" pitchFamily="34" charset="-122"/>
                <a:cs typeface="Inter" pitchFamily="34" charset="-120"/>
              </a:rPr>
              <a:t>: the agent writes the test, then the code</a:t>
            </a:r>
            <a:endParaRPr lang="en-US" sz="1600" dirty="0"/>
          </a:p>
        </p:txBody>
      </p:sp>
      <p:sp>
        <p:nvSpPr>
          <p:cNvPr id="19" name="Shape 17"/>
          <p:cNvSpPr/>
          <p:nvPr/>
        </p:nvSpPr>
        <p:spPr>
          <a:xfrm>
            <a:off x="8127797"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8356397"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06</a:t>
            </a:r>
            <a:endParaRPr lang="en-US" sz="2800" dirty="0"/>
          </a:p>
        </p:txBody>
      </p:sp>
      <p:sp>
        <p:nvSpPr>
          <p:cNvPr id="21" name="Text 19"/>
          <p:cNvSpPr txBox="1"/>
          <p:nvPr/>
        </p:nvSpPr>
        <p:spPr>
          <a:xfrm>
            <a:off x="8356397"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Review AI code with a </a:t>
            </a:r>
            <a:pPr indent="0" marL="0">
              <a:buNone/>
            </a:pPr>
            <a:r>
              <a:rPr lang="en-US" sz="1600" b="1" dirty="0">
                <a:solidFill>
                  <a:srgbClr val="272827"/>
                </a:solidFill>
                <a:latin typeface="Inter" pitchFamily="34" charset="0"/>
                <a:ea typeface="Inter" pitchFamily="34" charset="-122"/>
                <a:cs typeface="Inter" pitchFamily="34" charset="-120"/>
              </a:rPr>
              <a:t>checklist</a:t>
            </a:r>
            <a:pPr indent="0" marL="0">
              <a:buNone/>
            </a:pPr>
            <a:r>
              <a:rPr lang="en-US" sz="1600" dirty="0">
                <a:solidFill>
                  <a:srgbClr val="272827"/>
                </a:solidFill>
                <a:latin typeface="Inter" pitchFamily="34" charset="0"/>
                <a:ea typeface="Inter" pitchFamily="34" charset="-122"/>
                <a:cs typeface="Inter" pitchFamily="34" charset="-120"/>
              </a:rPr>
              <a:t>, not a feeling</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A · 09:30–10:45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Resources, rules and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boundaries</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الموارد والقواعد والحدود</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REST design   ·   Status codes   ·   API Resources   ·   Pagination   ·   Validation   ·   Mass assignment   ·   Auth vs authz   ·   Money &amp; time</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01</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REST: resources, not actions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REST: موارد لا أفعال</a:t>
            </a:r>
            <a:endParaRPr lang="ar-LY" sz="1700" dirty="0"/>
          </a:p>
        </p:txBody>
      </p:sp>
      <p:sp>
        <p:nvSpPr>
          <p:cNvPr id="4" name="Text 2"/>
          <p:cNvSpPr txBox="1"/>
          <p:nvPr/>
        </p:nvSpPr>
        <p:spPr>
          <a:xfrm>
            <a:off x="548640" y="1828800"/>
            <a:ext cx="6583680" cy="434340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URLs name </a:t>
            </a:r>
            <a:pPr indent="0" marL="0">
              <a:buNone/>
            </a:pPr>
            <a:r>
              <a:rPr lang="en-US" sz="1900" b="1" dirty="0">
                <a:solidFill>
                  <a:srgbClr val="272827"/>
                </a:solidFill>
                <a:latin typeface="Inter" pitchFamily="34" charset="0"/>
                <a:ea typeface="Inter" pitchFamily="34" charset="-122"/>
                <a:cs typeface="Inter" pitchFamily="34" charset="-120"/>
              </a:rPr>
              <a:t>things</a:t>
            </a:r>
            <a:pPr indent="0" marL="0">
              <a:buNone/>
            </a:pPr>
            <a:r>
              <a:rPr lang="en-US" sz="1900" dirty="0">
                <a:solidFill>
                  <a:srgbClr val="272827"/>
                </a:solidFill>
                <a:latin typeface="Inter" pitchFamily="34" charset="0"/>
                <a:ea typeface="Inter" pitchFamily="34" charset="-122"/>
                <a:cs typeface="Inter" pitchFamily="34" charset="-120"/>
              </a:rPr>
              <a:t>: </a:t>
            </a:r>
            <a:pPr indent="0" marL="0">
              <a:buNone/>
            </a:pPr>
            <a:r>
              <a:rPr lang="en-US" sz="1900" dirty="0">
                <a:solidFill>
                  <a:srgbClr val="C2410C"/>
                </a:solidFill>
                <a:latin typeface="JetBrains Mono" pitchFamily="34" charset="0"/>
                <a:ea typeface="JetBrains Mono" pitchFamily="34" charset="-122"/>
                <a:cs typeface="JetBrains Mono" pitchFamily="34" charset="-120"/>
              </a:rPr>
              <a:t>/quotes</a:t>
            </a:r>
            <a:pPr indent="0" marL="0">
              <a:buNone/>
            </a:pPr>
            <a:r>
              <a:rPr lang="en-US" sz="1900" dirty="0">
                <a:solidFill>
                  <a:srgbClr val="272827"/>
                </a:solidFill>
                <a:latin typeface="Inter" pitchFamily="34" charset="0"/>
                <a:ea typeface="Inter" pitchFamily="34" charset="-122"/>
                <a:cs typeface="Inter" pitchFamily="34" charset="-120"/>
              </a:rPr>
              <a:t>, </a:t>
            </a:r>
            <a:pPr indent="0" marL="0">
              <a:buNone/>
            </a:pPr>
            <a:r>
              <a:rPr lang="en-US" sz="1900" dirty="0">
                <a:solidFill>
                  <a:srgbClr val="C2410C"/>
                </a:solidFill>
                <a:latin typeface="JetBrains Mono" pitchFamily="34" charset="0"/>
                <a:ea typeface="JetBrains Mono" pitchFamily="34" charset="-122"/>
                <a:cs typeface="JetBrains Mono" pitchFamily="34" charset="-120"/>
              </a:rPr>
              <a:t>/shipments/{reference}</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HTTP methods are the verbs: </a:t>
            </a:r>
            <a:pPr indent="0" marL="0">
              <a:buNone/>
            </a:pPr>
            <a:r>
              <a:rPr lang="en-US" sz="1900" b="1" dirty="0">
                <a:solidFill>
                  <a:srgbClr val="272827"/>
                </a:solidFill>
                <a:latin typeface="Inter" pitchFamily="34" charset="0"/>
                <a:ea typeface="Inter" pitchFamily="34" charset="-122"/>
                <a:cs typeface="Inter" pitchFamily="34" charset="-120"/>
              </a:rPr>
              <a:t>GET</a:t>
            </a:r>
            <a:pPr indent="0" marL="0">
              <a:buNone/>
            </a:pPr>
            <a:r>
              <a:rPr lang="en-US" sz="1900" dirty="0">
                <a:solidFill>
                  <a:srgbClr val="272827"/>
                </a:solidFill>
                <a:latin typeface="Inter" pitchFamily="34" charset="0"/>
                <a:ea typeface="Inter" pitchFamily="34" charset="-122"/>
                <a:cs typeface="Inter" pitchFamily="34" charset="-120"/>
              </a:rPr>
              <a:t> reads, </a:t>
            </a:r>
            <a:pPr indent="0" marL="0">
              <a:buNone/>
            </a:pPr>
            <a:r>
              <a:rPr lang="en-US" sz="1900" b="1" dirty="0">
                <a:solidFill>
                  <a:srgbClr val="272827"/>
                </a:solidFill>
                <a:latin typeface="Inter" pitchFamily="34" charset="0"/>
                <a:ea typeface="Inter" pitchFamily="34" charset="-122"/>
                <a:cs typeface="Inter" pitchFamily="34" charset="-120"/>
              </a:rPr>
              <a:t>POST</a:t>
            </a:r>
            <a:pPr indent="0" marL="0">
              <a:buNone/>
            </a:pPr>
            <a:r>
              <a:rPr lang="en-US" sz="1900" dirty="0">
                <a:solidFill>
                  <a:srgbClr val="272827"/>
                </a:solidFill>
                <a:latin typeface="Inter" pitchFamily="34" charset="0"/>
                <a:ea typeface="Inter" pitchFamily="34" charset="-122"/>
                <a:cs typeface="Inter" pitchFamily="34" charset="-120"/>
              </a:rPr>
              <a:t> creates or triggers</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State changes that are not plain CRUD get a sub-resource: </a:t>
            </a:r>
            <a:pPr indent="0" marL="0">
              <a:buNone/>
            </a:pPr>
            <a:r>
              <a:rPr lang="en-US" sz="1900" dirty="0">
                <a:solidFill>
                  <a:srgbClr val="C2410C"/>
                </a:solidFill>
                <a:latin typeface="JetBrains Mono" pitchFamily="34" charset="0"/>
                <a:ea typeface="JetBrains Mono" pitchFamily="34" charset="-122"/>
                <a:cs typeface="JetBrains Mono" pitchFamily="34" charset="-120"/>
              </a:rPr>
              <a:t>/shipments/{ref}/cancel</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Use the public </a:t>
            </a:r>
            <a:pPr indent="0" marL="0">
              <a:buNone/>
            </a:pPr>
            <a:r>
              <a:rPr lang="en-US" sz="1900" b="1" dirty="0">
                <a:solidFill>
                  <a:srgbClr val="272827"/>
                </a:solidFill>
                <a:latin typeface="Inter" pitchFamily="34" charset="0"/>
                <a:ea typeface="Inter" pitchFamily="34" charset="-122"/>
                <a:cs typeface="Inter" pitchFamily="34" charset="-120"/>
              </a:rPr>
              <a:t>reference</a:t>
            </a:r>
            <a:pPr indent="0" marL="0">
              <a:buNone/>
            </a:pPr>
            <a:r>
              <a:rPr lang="en-US" sz="1900" dirty="0">
                <a:solidFill>
                  <a:srgbClr val="272827"/>
                </a:solidFill>
                <a:latin typeface="Inter" pitchFamily="34" charset="0"/>
                <a:ea typeface="Inter" pitchFamily="34" charset="-122"/>
                <a:cs typeface="Inter" pitchFamily="34" charset="-120"/>
              </a:rPr>
              <a:t> (</a:t>
            </a:r>
            <a:pPr indent="0" marL="0">
              <a:buNone/>
            </a:pPr>
            <a:r>
              <a:rPr lang="en-US" sz="1900" dirty="0">
                <a:solidFill>
                  <a:srgbClr val="C2410C"/>
                </a:solidFill>
                <a:latin typeface="JetBrains Mono" pitchFamily="34" charset="0"/>
                <a:ea typeface="JetBrains Mono" pitchFamily="34" charset="-122"/>
                <a:cs typeface="JetBrains Mono" pitchFamily="34" charset="-120"/>
              </a:rPr>
              <a:t>SHN-7K2Q9X</a:t>
            </a:r>
            <a:pPr indent="0" marL="0">
              <a:buNone/>
            </a:pPr>
            <a:r>
              <a:rPr lang="en-US" sz="1900" dirty="0">
                <a:solidFill>
                  <a:srgbClr val="272827"/>
                </a:solidFill>
                <a:latin typeface="Inter" pitchFamily="34" charset="0"/>
                <a:ea typeface="Inter" pitchFamily="34" charset="-122"/>
                <a:cs typeface="Inter" pitchFamily="34" charset="-120"/>
              </a:rPr>
              <a:t>) in URLs, not the database id</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JSON in, JSON out; one consistent shape for data and errors</a:t>
            </a:r>
            <a:endParaRPr lang="en-US" sz="1900" dirty="0"/>
          </a:p>
        </p:txBody>
      </p:sp>
      <p:sp>
        <p:nvSpPr>
          <p:cNvPr id="5" name="Shape 3"/>
          <p:cNvSpPr/>
          <p:nvPr/>
        </p:nvSpPr>
        <p:spPr>
          <a:xfrm>
            <a:off x="7589520" y="1783080"/>
            <a:ext cx="4053535" cy="4206240"/>
          </a:xfrm>
          <a:prstGeom prst="roundRect">
            <a:avLst>
              <a:gd name="adj" fmla="val 2256"/>
            </a:avLst>
          </a:prstGeom>
          <a:solidFill>
            <a:srgbClr val="272827"/>
          </a:solidFill>
          <a:ln w="12700">
            <a:solidFill>
              <a:srgbClr val="272827"/>
            </a:solidFill>
            <a:prstDash val="solid"/>
          </a:ln>
        </p:spPr>
      </p:sp>
      <p:sp>
        <p:nvSpPr>
          <p:cNvPr id="6" name="Text 4"/>
          <p:cNvSpPr txBox="1"/>
          <p:nvPr/>
        </p:nvSpPr>
        <p:spPr>
          <a:xfrm>
            <a:off x="7909560" y="2057400"/>
            <a:ext cx="3413455" cy="274320"/>
          </a:xfrm>
          <a:prstGeom prst="rect">
            <a:avLst/>
          </a:prstGeom>
          <a:noFill/>
          <a:ln/>
        </p:spPr>
        <p:txBody>
          <a:bodyPr wrap="square" lIns="0" tIns="0" rIns="0" bIns="0" rtlCol="0" anchor="ctr"/>
          <a:lstStyle/>
          <a:p>
            <a:pPr indent="0" marL="0">
              <a:buNone/>
            </a:pPr>
            <a:r>
              <a:rPr lang="en-US" sz="1100" b="1" spc="300" kern="0" dirty="0">
                <a:solidFill>
                  <a:srgbClr val="9CA3AF"/>
                </a:solidFill>
                <a:latin typeface="Inter" pitchFamily="34" charset="0"/>
                <a:ea typeface="Inter" pitchFamily="34" charset="-122"/>
                <a:cs typeface="Inter" pitchFamily="34" charset="-120"/>
              </a:rPr>
              <a:t>KEY IDEA</a:t>
            </a:r>
            <a:endParaRPr lang="en-US" sz="1100" dirty="0"/>
          </a:p>
        </p:txBody>
      </p:sp>
      <p:sp>
        <p:nvSpPr>
          <p:cNvPr id="7" name="Text 5"/>
          <p:cNvSpPr txBox="1"/>
          <p:nvPr/>
        </p:nvSpPr>
        <p:spPr>
          <a:xfrm>
            <a:off x="7909560" y="2423160"/>
            <a:ext cx="3413455" cy="1737360"/>
          </a:xfrm>
          <a:prstGeom prst="rect">
            <a:avLst/>
          </a:prstGeom>
          <a:noFill/>
          <a:ln/>
        </p:spPr>
        <p:txBody>
          <a:bodyPr wrap="square" lIns="0" tIns="0" rIns="0" bIns="0" rtlCol="0" anchor="t"/>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Nouns in the URL, verbs in the method</a:t>
            </a:r>
            <a:endParaRPr lang="en-US" sz="2800" dirty="0"/>
          </a:p>
        </p:txBody>
      </p:sp>
      <p:sp>
        <p:nvSpPr>
          <p:cNvPr id="8" name="Text 6"/>
          <p:cNvSpPr txBox="1"/>
          <p:nvPr/>
        </p:nvSpPr>
        <p:spPr>
          <a:xfrm>
            <a:off x="7909560" y="4251960"/>
            <a:ext cx="3413455" cy="146304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A client developer should guess your next endpoint </a:t>
            </a:r>
            <a:pPr indent="0" marL="0">
              <a:buNone/>
            </a:pPr>
            <a:r>
              <a:rPr lang="en-US" sz="1500" b="1" dirty="0">
                <a:solidFill>
                  <a:srgbClr val="E8E2D9"/>
                </a:solidFill>
                <a:latin typeface="Inter" pitchFamily="34" charset="0"/>
                <a:ea typeface="Inter" pitchFamily="34" charset="-122"/>
                <a:cs typeface="Inter" pitchFamily="34" charset="-120"/>
              </a:rPr>
              <a:t>before</a:t>
            </a:r>
            <a:pPr indent="0" marL="0">
              <a:buNone/>
            </a:pPr>
            <a:r>
              <a:rPr lang="en-US" sz="1500" dirty="0">
                <a:solidFill>
                  <a:srgbClr val="E8E2D9"/>
                </a:solidFill>
                <a:latin typeface="Inter" pitchFamily="34" charset="0"/>
                <a:ea typeface="Inter" pitchFamily="34" charset="-122"/>
                <a:cs typeface="Inter" pitchFamily="34" charset="-120"/>
              </a:rPr>
              <a:t> reading the docs.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Status codes that tell the truth</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رموز حالة تقول الحقيقة</a:t>
            </a:r>
            <a:endParaRPr lang="ar-LY" sz="1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188720"/>
                <a:gridCol w="2743200"/>
                <a:gridCol w="7159752"/>
              </a:tblGrid>
              <a:tr h="0">
                <a:tc>
                  <a:txBody>
                    <a:bodyPr/>
                    <a:lstStyle/>
                    <a:p>
                      <a:pPr indent="0" marL="0">
                        <a:buNone/>
                      </a:pPr>
                      <a:r>
                        <a:rPr lang="en-US" sz="1400" b="1" dirty="0">
                          <a:solidFill>
                            <a:srgbClr val="FFFFFF"/>
                          </a:solidFill>
                          <a:latin typeface="Inter" pitchFamily="34" charset="0"/>
                          <a:ea typeface="Inter" pitchFamily="34" charset="-122"/>
                          <a:cs typeface="Inter" pitchFamily="34" charset="-120"/>
                        </a:rPr>
                        <a:t>Code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Meaning</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Shahna example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200</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OK</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GET /api/shipments/SHN-7K2Q9X</a:t>
                      </a:r>
                      <a:pPr indent="0" marL="0">
                        <a:buNone/>
                      </a:pPr>
                      <a:r>
                        <a:rPr lang="en-US" sz="1400" dirty="0">
                          <a:solidFill>
                            <a:srgbClr val="272827"/>
                          </a:solidFill>
                          <a:latin typeface="Inter" pitchFamily="34" charset="0"/>
                          <a:ea typeface="Inter" pitchFamily="34" charset="-122"/>
                          <a:cs typeface="Inter" pitchFamily="34" charset="-120"/>
                        </a:rPr>
                        <a:t> returns the shipment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201</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Created</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POST /api/quotes</a:t>
                      </a:r>
                      <a:pPr indent="0" marL="0">
                        <a:buNone/>
                      </a:pPr>
                      <a:r>
                        <a:rPr lang="en-US" sz="1400" dirty="0">
                          <a:solidFill>
                            <a:srgbClr val="272827"/>
                          </a:solidFill>
                          <a:latin typeface="Inter" pitchFamily="34" charset="0"/>
                          <a:ea typeface="Inter" pitchFamily="34" charset="-122"/>
                          <a:cs typeface="Inter" pitchFamily="34" charset="-120"/>
                        </a:rPr>
                        <a:t> returns the new quote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401</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Unauthenticated</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Missing or invalid bearer token</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403</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Forbidden</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A customer opens someone else's shipment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404</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Not Found</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Unknown reference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422</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Unprocessable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Bad input (</a:t>
                      </a:r>
                      <a:pPr indent="0" marL="0">
                        <a:buNone/>
                      </a:pPr>
                      <a:r>
                        <a:rPr lang="en-US" sz="1400" dirty="0">
                          <a:solidFill>
                            <a:srgbClr val="C2410C"/>
                          </a:solidFill>
                          <a:latin typeface="JetBrains Mono" pitchFamily="34" charset="0"/>
                          <a:ea typeface="JetBrains Mono" pitchFamily="34" charset="-122"/>
                          <a:cs typeface="JetBrains Mono" pitchFamily="34" charset="-120"/>
                        </a:rPr>
                        <a:t>weight_kg</a:t>
                      </a:r>
                      <a:pPr indent="0" marL="0">
                        <a:buNone/>
                      </a:pPr>
                      <a:r>
                        <a:rPr lang="en-US" sz="1400" dirty="0">
                          <a:solidFill>
                            <a:srgbClr val="272827"/>
                          </a:solidFill>
                          <a:latin typeface="Inter" pitchFamily="34" charset="0"/>
                          <a:ea typeface="Inter" pitchFamily="34" charset="-122"/>
                          <a:cs typeface="Inter" pitchFamily="34" charset="-120"/>
                        </a:rPr>
                        <a:t>), expired or booked quote (</a:t>
                      </a:r>
                      <a:pPr indent="0" marL="0">
                        <a:buNone/>
                      </a:pPr>
                      <a:r>
                        <a:rPr lang="en-US" sz="1400" dirty="0">
                          <a:solidFill>
                            <a:srgbClr val="C2410C"/>
                          </a:solidFill>
                          <a:latin typeface="JetBrains Mono" pitchFamily="34" charset="0"/>
                          <a:ea typeface="JetBrains Mono" pitchFamily="34" charset="-122"/>
                          <a:cs typeface="JetBrains Mono" pitchFamily="34" charset="-120"/>
                        </a:rPr>
                        <a:t>quote_id</a:t>
                      </a:r>
                      <a:pPr indent="0" marL="0">
                        <a:buNone/>
                      </a:pPr>
                      <a:r>
                        <a:rPr lang="en-US" sz="1400" dirty="0">
                          <a:solidFill>
                            <a:srgbClr val="272827"/>
                          </a:solidFill>
                          <a:latin typeface="Inter" pitchFamily="34" charset="0"/>
                          <a:ea typeface="Inter" pitchFamily="34" charset="-122"/>
                          <a:cs typeface="Inter" pitchFamily="34" charset="-120"/>
                        </a:rPr>
                        <a:t>), invalid cancel (</a:t>
                      </a:r>
                      <a:pPr indent="0" marL="0">
                        <a:buNone/>
                      </a:pPr>
                      <a:r>
                        <a:rPr lang="en-US" sz="1400" dirty="0">
                          <a:solidFill>
                            <a:srgbClr val="C2410C"/>
                          </a:solidFill>
                          <a:latin typeface="JetBrains Mono" pitchFamily="34" charset="0"/>
                          <a:ea typeface="JetBrains Mono" pitchFamily="34" charset="-122"/>
                          <a:cs typeface="JetBrains Mono" pitchFamily="34" charset="-120"/>
                        </a:rPr>
                        <a:t>status</a:t>
                      </a:r>
                      <a:pPr indent="0" marL="0">
                        <a:buNone/>
                      </a:pPr>
                      <a:r>
                        <a:rPr lang="en-US" sz="1400" dirty="0">
                          <a:solidFill>
                            <a:srgbClr val="272827"/>
                          </a:solidFill>
                          <a:latin typeface="Inter" pitchFamily="34" charset="0"/>
                          <a:ea typeface="Inter" pitchFamily="34" charset="-122"/>
                          <a:cs typeface="Inter" pitchFamily="34" charset="-120"/>
                        </a:rPr>
                        <a: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409</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Conflict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Day 3: the same </a:t>
                      </a:r>
                      <a:pPr indent="0" marL="0">
                        <a:buNone/>
                      </a:pPr>
                      <a:r>
                        <a:rPr lang="en-US" sz="1400" dirty="0">
                          <a:solidFill>
                            <a:srgbClr val="C2410C"/>
                          </a:solidFill>
                          <a:latin typeface="JetBrains Mono" pitchFamily="34" charset="0"/>
                          <a:ea typeface="JetBrains Mono" pitchFamily="34" charset="-122"/>
                          <a:cs typeface="JetBrains Mono" pitchFamily="34" charset="-120"/>
                        </a:rPr>
                        <a:t>Idempotency-Key</a:t>
                      </a:r>
                      <a:pPr indent="0" marL="0">
                        <a:buNone/>
                      </a:pPr>
                      <a:r>
                        <a:rPr lang="en-US" sz="1400" dirty="0">
                          <a:solidFill>
                            <a:srgbClr val="272827"/>
                          </a:solidFill>
                          <a:latin typeface="Inter" pitchFamily="34" charset="0"/>
                          <a:ea typeface="Inter" pitchFamily="34" charset="-122"/>
                          <a:cs typeface="Inter" pitchFamily="34" charset="-120"/>
                        </a:rPr>
                        <a:t> is still in flight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429</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Too Many Requests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Rate limit hit (Day 3)</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bl>
          </a:graphicData>
        </a:graphic>
      </p:graphicFrame>
      <p:sp>
        <p:nvSpPr>
          <p:cNvPr id="5" name="Text 2"/>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Clients and tests depend on these codes. </a:t>
            </a:r>
            <a:pPr indent="0" marL="0">
              <a:buNone/>
            </a:pPr>
            <a:r>
              <a:rPr lang="en-US" sz="1400" i="1" dirty="0">
                <a:solidFill>
                  <a:srgbClr val="C2410C"/>
                </a:solidFill>
                <a:latin typeface="JetBrains Mono" pitchFamily="34" charset="0"/>
                <a:ea typeface="JetBrains Mono" pitchFamily="34" charset="-122"/>
                <a:cs typeface="JetBrains Mono" pitchFamily="34" charset="-120"/>
              </a:rPr>
              <a:t>200</a:t>
            </a:r>
            <a:pPr indent="0" marL="0">
              <a:buNone/>
            </a:pPr>
            <a:r>
              <a:rPr lang="en-US" sz="1400" i="1" dirty="0">
                <a:solidFill>
                  <a:srgbClr val="3A3B3A"/>
                </a:solidFill>
                <a:latin typeface="Inter" pitchFamily="34" charset="0"/>
                <a:ea typeface="Inter" pitchFamily="34" charset="-122"/>
                <a:cs typeface="Inter" pitchFamily="34" charset="-120"/>
              </a:rPr>
              <a:t> with </a:t>
            </a:r>
            <a:pPr indent="0" marL="0">
              <a:buNone/>
            </a:pPr>
            <a:r>
              <a:rPr lang="en-US" sz="1400" i="1" dirty="0">
                <a:solidFill>
                  <a:srgbClr val="C2410C"/>
                </a:solidFill>
                <a:latin typeface="JetBrains Mono" pitchFamily="34" charset="0"/>
                <a:ea typeface="JetBrains Mono" pitchFamily="34" charset="-122"/>
                <a:cs typeface="JetBrains Mono" pitchFamily="34" charset="-120"/>
              </a:rPr>
              <a:t>{"error": …}</a:t>
            </a:r>
            <a:pPr indent="0" marL="0">
              <a:buNone/>
            </a:pPr>
            <a:r>
              <a:rPr lang="en-US" sz="1400" i="1" dirty="0">
                <a:solidFill>
                  <a:srgbClr val="3A3B3A"/>
                </a:solidFill>
                <a:latin typeface="Inter" pitchFamily="34" charset="0"/>
                <a:ea typeface="Inter" pitchFamily="34" charset="-122"/>
                <a:cs typeface="Inter" pitchFamily="34" charset="-120"/>
              </a:rPr>
              <a:t> inside is a bug.</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Routes: one group, one guard</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المسارات: مجموعة واحدة وحارس واحد</a:t>
            </a:r>
            <a:endParaRPr lang="ar-LY" sz="1700" dirty="0"/>
          </a:p>
        </p:txBody>
      </p:sp>
      <p:sp>
        <p:nvSpPr>
          <p:cNvPr id="4" name="Shape 2"/>
          <p:cNvSpPr/>
          <p:nvPr/>
        </p:nvSpPr>
        <p:spPr>
          <a:xfrm>
            <a:off x="548640" y="1691640"/>
            <a:ext cx="11094415"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10545775"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routes/api.php</a:t>
            </a:r>
            <a:endParaRPr lang="en-US" sz="1100" dirty="0"/>
          </a:p>
        </p:txBody>
      </p:sp>
      <p:sp>
        <p:nvSpPr>
          <p:cNvPr id="6" name="Shape 4"/>
          <p:cNvSpPr/>
          <p:nvPr/>
        </p:nvSpPr>
        <p:spPr>
          <a:xfrm>
            <a:off x="822960" y="2194560"/>
            <a:ext cx="10545775" cy="0"/>
          </a:xfrm>
          <a:prstGeom prst="line">
            <a:avLst/>
          </a:prstGeom>
          <a:noFill/>
          <a:ln w="12700">
            <a:solidFill>
              <a:srgbClr val="3A3B3A"/>
            </a:solidFill>
            <a:prstDash val="solid"/>
          </a:ln>
        </p:spPr>
      </p:sp>
      <p:sp>
        <p:nvSpPr>
          <p:cNvPr id="7" name="Text 5"/>
          <p:cNvSpPr txBox="1"/>
          <p:nvPr/>
        </p:nvSpPr>
        <p:spPr>
          <a:xfrm>
            <a:off x="822960" y="2331720"/>
            <a:ext cx="10637215" cy="3657600"/>
          </a:xfrm>
          <a:prstGeom prst="rect">
            <a:avLst/>
          </a:prstGeom>
          <a:noFill/>
          <a:ln/>
        </p:spPr>
        <p:txBody>
          <a:bodyPr wrap="square" lIns="0" tIns="0" rIns="0" bIns="0" rtlCol="0" anchor="t"/>
          <a:lstStyle/>
          <a:p>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'/auth/register'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AuthController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'register'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'/auth/login'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AuthController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'login'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'/cities'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CityController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'index'</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F2EDE6"/>
                </a:solidFill>
                <a:highlight>
                  <a:srgbClr val="4A3A33"/>
                </a:highlight>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middleware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'auth:sanctum'</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group</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b="1" dirty="0">
                <a:solidFill>
                  <a:srgbClr val="FF5723"/>
                </a:solidFill>
                <a:highlight>
                  <a:srgbClr val="4A3A33"/>
                </a:highlight>
                <a:latin typeface="JetBrains Mono" pitchFamily="34" charset="0"/>
                <a:ea typeface="JetBrains Mono" pitchFamily="34" charset="-122"/>
                <a:cs typeface="JetBrains Mono" pitchFamily="34" charset="-120"/>
              </a:rPr>
              <a:t>function</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'/quotes'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QuoteController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'store'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'/shipments'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ShipmentController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'index'</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'/shipments'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ShipmentController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'store'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'/shipments/{shipment:reference}'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ShipmentController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'show'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'/shipments/{shipment:reference}/cancel'</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ShipmentController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'cancel'</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'/shipments/{shipment:reference}/tracking'</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ShipmentController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'tracking'</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API Resources shape the response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موارد API تحدد شكل الاستجابة</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app/Http/Resources/QuoteResource.php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QuoteResource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extends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JsonResource</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toArray</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Request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array</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'origin'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CityResource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origin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'destination'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CityResource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destination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vehicle_type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weight_kg</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'price_lyd'</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=&gt; </a:t>
            </a:r>
            <a:pPr indent="0" marL="0">
              <a:lnSpc>
                <a:spcPct val="105000"/>
              </a:lnSpc>
              <a:buNone/>
            </a:pPr>
            <a:r>
              <a:rPr lang="en-US" sz="1200" dirty="0">
                <a:solidFill>
                  <a:srgbClr val="F5C9A8"/>
                </a:solidFill>
                <a:highlight>
                  <a:srgbClr val="4A3A33"/>
                </a:highlight>
                <a:latin typeface="JetBrains Mono" pitchFamily="34" charset="0"/>
                <a:ea typeface="JetBrains Mono" pitchFamily="34" charset="-122"/>
                <a:cs typeface="JetBrains Mono" pitchFamily="34" charset="-120"/>
              </a:rPr>
              <a:t>$this</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price_lyd</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8B8F97"/>
                </a:solidFill>
                <a:highlight>
                  <a:srgbClr val="4A3A33"/>
                </a:highlight>
                <a:latin typeface="JetBrains Mono" pitchFamily="34" charset="0"/>
                <a:ea typeface="JetBrains Mono" pitchFamily="34" charset="-122"/>
                <a:cs typeface="JetBrains Mono" pitchFamily="34" charset="-120"/>
              </a:rPr>
              <a:t>// "322.00" as a string</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'expires_at'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expires_at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 </a:t>
            </a:r>
            <a:pPr indent="0" marL="0">
              <a:buNone/>
            </a:pPr>
            <a:r>
              <a:rPr lang="en-US" sz="1500" b="1" dirty="0">
                <a:solidFill>
                  <a:srgbClr val="272827"/>
                </a:solidFill>
                <a:latin typeface="Inter" pitchFamily="34" charset="0"/>
                <a:ea typeface="Inter" pitchFamily="34" charset="-122"/>
                <a:cs typeface="Inter" pitchFamily="34" charset="-120"/>
              </a:rPr>
              <a:t>whitelist</a:t>
            </a:r>
            <a:pPr indent="0" marL="0">
              <a:buNone/>
            </a:pPr>
            <a:r>
              <a:rPr lang="en-US" sz="1500" dirty="0">
                <a:solidFill>
                  <a:srgbClr val="272827"/>
                </a:solidFill>
                <a:latin typeface="Inter" pitchFamily="34" charset="0"/>
                <a:ea typeface="Inter" pitchFamily="34" charset="-122"/>
                <a:cs typeface="Inter" pitchFamily="34" charset="-120"/>
              </a:rPr>
              <a:t> of fields: nothing leaks by accident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Wrapped in </a:t>
            </a:r>
            <a:pPr indent="0" marL="0">
              <a:buNone/>
            </a:pPr>
            <a:r>
              <a:rPr lang="en-US" sz="1500" dirty="0">
                <a:solidFill>
                  <a:srgbClr val="C2410C"/>
                </a:solidFill>
                <a:latin typeface="JetBrains Mono" pitchFamily="34" charset="0"/>
                <a:ea typeface="JetBrains Mono" pitchFamily="34" charset="-122"/>
                <a:cs typeface="JetBrains Mono" pitchFamily="34" charset="-120"/>
              </a:rPr>
              <a:t>data</a:t>
            </a:r>
            <a:pPr indent="0" marL="0">
              <a:buNone/>
            </a:pPr>
            <a:r>
              <a:rPr lang="en-US" sz="1500" dirty="0">
                <a:solidFill>
                  <a:srgbClr val="272827"/>
                </a:solidFill>
                <a:latin typeface="Inter" pitchFamily="34" charset="0"/>
                <a:ea typeface="Inter" pitchFamily="34" charset="-122"/>
                <a:cs typeface="Inter" pitchFamily="34" charset="-120"/>
              </a:rPr>
              <a:t>; collections get pagination </a:t>
            </a:r>
            <a:pPr indent="0" marL="0">
              <a:buNone/>
            </a:pPr>
            <a:r>
              <a:rPr lang="en-US" sz="1500" dirty="0">
                <a:solidFill>
                  <a:srgbClr val="C2410C"/>
                </a:solidFill>
                <a:latin typeface="JetBrains Mono" pitchFamily="34" charset="0"/>
                <a:ea typeface="JetBrains Mono" pitchFamily="34" charset="-122"/>
                <a:cs typeface="JetBrains Mono" pitchFamily="34" charset="-120"/>
              </a:rPr>
              <a:t>links</a:t>
            </a:r>
            <a:pPr indent="0" marL="0">
              <a:buNone/>
            </a:pPr>
            <a:r>
              <a:rPr lang="en-US" sz="1500" dirty="0">
                <a:solidFill>
                  <a:srgbClr val="272827"/>
                </a:solidFill>
                <a:latin typeface="Inter" pitchFamily="34" charset="0"/>
                <a:ea typeface="Inter" pitchFamily="34" charset="-122"/>
                <a:cs typeface="Inter" pitchFamily="34" charset="-120"/>
              </a:rPr>
              <a:t> and </a:t>
            </a:r>
            <a:pPr indent="0" marL="0">
              <a:buNone/>
            </a:pPr>
            <a:r>
              <a:rPr lang="en-US" sz="1500" dirty="0">
                <a:solidFill>
                  <a:srgbClr val="C2410C"/>
                </a:solidFill>
                <a:latin typeface="JetBrains Mono" pitchFamily="34" charset="0"/>
                <a:ea typeface="JetBrains Mono" pitchFamily="34" charset="-122"/>
                <a:cs typeface="JetBrains Mono" pitchFamily="34" charset="-120"/>
              </a:rPr>
              <a:t>meta</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New model → </a:t>
            </a:r>
            <a:pPr indent="0" marL="0">
              <a:buNone/>
            </a:pPr>
            <a:r>
              <a:rPr lang="en-US" sz="1500" b="1" dirty="0">
                <a:solidFill>
                  <a:srgbClr val="272827"/>
                </a:solidFill>
                <a:latin typeface="Inter" pitchFamily="34" charset="0"/>
                <a:ea typeface="Inter" pitchFamily="34" charset="-122"/>
                <a:cs typeface="Inter" pitchFamily="34" charset="-120"/>
              </a:rPr>
              <a:t>201</a:t>
            </a:r>
            <a:pPr indent="0" marL="0">
              <a:buNone/>
            </a:pPr>
            <a:r>
              <a:rPr lang="en-US" sz="1500" dirty="0">
                <a:solidFill>
                  <a:srgbClr val="272827"/>
                </a:solidFill>
                <a:latin typeface="Inter" pitchFamily="34" charset="0"/>
                <a:ea typeface="Inter" pitchFamily="34" charset="-122"/>
                <a:cs typeface="Inter" pitchFamily="34" charset="-120"/>
              </a:rPr>
              <a:t> automatically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Money as a string keeps every decimal exact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Validate at the boundary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التحقق عند الحدود</a:t>
            </a:r>
            <a:endParaRPr lang="ar-LY" sz="1700" dirty="0"/>
          </a:p>
        </p:txBody>
      </p:sp>
      <p:sp>
        <p:nvSpPr>
          <p:cNvPr id="4" name="Shape 2"/>
          <p:cNvSpPr/>
          <p:nvPr/>
        </p:nvSpPr>
        <p:spPr>
          <a:xfrm>
            <a:off x="548640" y="1691640"/>
            <a:ext cx="11094415"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10545775"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app/Http/Requests/StoreQuoteRequest.php</a:t>
            </a:r>
            <a:endParaRPr lang="en-US" sz="1100" dirty="0"/>
          </a:p>
        </p:txBody>
      </p:sp>
      <p:sp>
        <p:nvSpPr>
          <p:cNvPr id="6" name="Shape 4"/>
          <p:cNvSpPr/>
          <p:nvPr/>
        </p:nvSpPr>
        <p:spPr>
          <a:xfrm>
            <a:off x="822960" y="2194560"/>
            <a:ext cx="10545775" cy="0"/>
          </a:xfrm>
          <a:prstGeom prst="line">
            <a:avLst/>
          </a:prstGeom>
          <a:noFill/>
          <a:ln w="12700">
            <a:solidFill>
              <a:srgbClr val="3A3B3A"/>
            </a:solidFill>
            <a:prstDash val="solid"/>
          </a:ln>
        </p:spPr>
      </p:sp>
      <p:sp>
        <p:nvSpPr>
          <p:cNvPr id="7" name="Text 5"/>
          <p:cNvSpPr txBox="1"/>
          <p:nvPr/>
        </p:nvSpPr>
        <p:spPr>
          <a:xfrm>
            <a:off x="822960" y="2331720"/>
            <a:ext cx="10637215"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StoreQuoteRequest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extends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FormRequest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rules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array</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'origin_city_id'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'required'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'integer'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'exists:cities,id'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'destination_city_id'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'required'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'integer'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'exists:cities,id'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'required'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Rule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enum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'required'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'integer'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'min:1'</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'max:25000'</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app/Http/Controllers/Api/QuoteController.php</a:t>
            </a:r>
            <a:endParaRPr lang="en-US" sz="1050" dirty="0"/>
          </a:p>
          <a:p>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store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StoreQuoteRequest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$request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PricingService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$pricing</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$pricing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createQuote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integer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'origin_city_id'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integer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'destination_city_id'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enum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integer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QuoteResource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Mass assignment: who decides the fields?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الإسناد الجماعي: من يحدد الحقول؟</a:t>
            </a:r>
            <a:endParaRPr lang="ar-LY" sz="1700" dirty="0"/>
          </a:p>
        </p:txBody>
      </p:sp>
      <p:sp>
        <p:nvSpPr>
          <p:cNvPr id="4" name="Shape 2"/>
          <p:cNvSpPr/>
          <p:nvPr/>
        </p:nvSpPr>
        <p:spPr>
          <a:xfrm>
            <a:off x="548640" y="1737360"/>
            <a:ext cx="5364328" cy="3639312"/>
          </a:xfrm>
          <a:prstGeom prst="roundRect">
            <a:avLst>
              <a:gd name="adj" fmla="val 201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1965960"/>
            <a:ext cx="4724248" cy="411480"/>
          </a:xfrm>
          <a:prstGeom prst="rect">
            <a:avLst/>
          </a:prstGeom>
          <a:noFill/>
          <a:ln/>
        </p:spPr>
        <p:txBody>
          <a:bodyPr wrap="square" lIns="0" tIns="0" rIns="0" bIns="0" rtlCol="0" anchor="ctr"/>
          <a:lstStyle/>
          <a:p>
            <a:pPr indent="0" marL="0">
              <a:buNone/>
            </a:pPr>
            <a:r>
              <a:rPr lang="en-US" sz="2200" b="1" dirty="0">
                <a:solidFill>
                  <a:srgbClr val="272827"/>
                </a:solidFill>
                <a:latin typeface="Playfair Display" pitchFamily="34" charset="0"/>
                <a:ea typeface="Playfair Display" pitchFamily="34" charset="-122"/>
                <a:cs typeface="Playfair Display" pitchFamily="34" charset="-120"/>
              </a:rPr>
              <a:t>Trust the request</a:t>
            </a:r>
            <a:endParaRPr lang="en-US" sz="2200" dirty="0"/>
          </a:p>
        </p:txBody>
      </p:sp>
      <p:sp>
        <p:nvSpPr>
          <p:cNvPr id="6" name="Text 4"/>
          <p:cNvSpPr txBox="1"/>
          <p:nvPr/>
        </p:nvSpPr>
        <p:spPr>
          <a:xfrm>
            <a:off x="868680" y="2560320"/>
            <a:ext cx="4724248" cy="26334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C2410C"/>
                </a:solidFill>
                <a:latin typeface="JetBrains Mono" pitchFamily="34" charset="0"/>
                <a:ea typeface="JetBrains Mono" pitchFamily="34" charset="-122"/>
                <a:cs typeface="JetBrains Mono" pitchFamily="34" charset="-120"/>
              </a:rPr>
              <a:t>Quote::create($request-&gt;all())</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Client sends </a:t>
            </a:r>
            <a:pPr indent="0" marL="0">
              <a:buNone/>
            </a:pPr>
            <a:r>
              <a:rPr lang="en-US" sz="1600" dirty="0">
                <a:solidFill>
                  <a:srgbClr val="C2410C"/>
                </a:solidFill>
                <a:latin typeface="JetBrains Mono" pitchFamily="34" charset="0"/>
                <a:ea typeface="JetBrains Mono" pitchFamily="34" charset="-122"/>
                <a:cs typeface="JetBrains Mono" pitchFamily="34" charset="-120"/>
              </a:rPr>
              <a:t>price_lyd: 0.01</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Client sends another customer's </a:t>
            </a:r>
            <a:pPr indent="0" marL="0">
              <a:buNone/>
            </a:pPr>
            <a:r>
              <a:rPr lang="en-US" sz="1600" dirty="0">
                <a:solidFill>
                  <a:srgbClr val="C2410C"/>
                </a:solidFill>
                <a:latin typeface="JetBrains Mono" pitchFamily="34" charset="0"/>
                <a:ea typeface="JetBrains Mono" pitchFamily="34" charset="-122"/>
                <a:cs typeface="JetBrains Mono" pitchFamily="34" charset="-120"/>
              </a:rPr>
              <a:t>user_id</a:t>
            </a:r>
            <a:endParaRPr lang="en-US" sz="1600" dirty="0"/>
          </a:p>
          <a:p>
            <a:pPr marL="228600" indent="-228600">
              <a:spcAft>
                <a:spcPts val="800"/>
              </a:spcAft>
              <a:buSzPct val="100000"/>
              <a:buChar char="•"/>
            </a:pPr>
            <a:r>
              <a:rPr lang="en-US" sz="1600" dirty="0">
                <a:solidFill>
                  <a:srgbClr val="C2410C"/>
                </a:solidFill>
                <a:latin typeface="JetBrains Mono" pitchFamily="34" charset="0"/>
                <a:ea typeface="JetBrains Mono" pitchFamily="34" charset="-122"/>
                <a:cs typeface="JetBrains Mono" pitchFamily="34" charset="-120"/>
              </a:rPr>
              <a:t>$guarded = []</a:t>
            </a:r>
            <a:pPr indent="0" marL="0">
              <a:buNone/>
            </a:pPr>
            <a:r>
              <a:rPr lang="en-US" sz="1600" dirty="0">
                <a:solidFill>
                  <a:srgbClr val="272827"/>
                </a:solidFill>
                <a:latin typeface="Inter" pitchFamily="34" charset="0"/>
                <a:ea typeface="Inter" pitchFamily="34" charset="-122"/>
                <a:cs typeface="Inter" pitchFamily="34" charset="-120"/>
              </a:rPr>
              <a:t> on every model</a:t>
            </a:r>
            <a:endParaRPr lang="en-US" sz="1600" dirty="0"/>
          </a:p>
        </p:txBody>
      </p:sp>
      <p:sp>
        <p:nvSpPr>
          <p:cNvPr id="7" name="Shape 5"/>
          <p:cNvSpPr/>
          <p:nvPr/>
        </p:nvSpPr>
        <p:spPr>
          <a:xfrm>
            <a:off x="6278728" y="1737360"/>
            <a:ext cx="5364328" cy="3639312"/>
          </a:xfrm>
          <a:prstGeom prst="roundRect">
            <a:avLst>
              <a:gd name="adj" fmla="val 2010"/>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1965960"/>
            <a:ext cx="4724248" cy="411480"/>
          </a:xfrm>
          <a:prstGeom prst="rect">
            <a:avLst/>
          </a:prstGeom>
          <a:noFill/>
          <a:ln/>
        </p:spPr>
        <p:txBody>
          <a:bodyPr wrap="square" lIns="0" tIns="0" rIns="0" bIns="0" rtlCol="0" anchor="ctr"/>
          <a:lstStyle/>
          <a:p>
            <a:pPr indent="0" marL="0">
              <a:buNone/>
            </a:pPr>
            <a:r>
              <a:rPr lang="en-US" sz="2200" b="1" dirty="0">
                <a:solidFill>
                  <a:srgbClr val="FF5723"/>
                </a:solidFill>
                <a:latin typeface="Playfair Display" pitchFamily="34" charset="0"/>
                <a:ea typeface="Playfair Display" pitchFamily="34" charset="-122"/>
                <a:cs typeface="Playfair Display" pitchFamily="34" charset="-120"/>
              </a:rPr>
              <a:t>Trust validated data only</a:t>
            </a:r>
            <a:endParaRPr lang="en-US" sz="2200" dirty="0"/>
          </a:p>
        </p:txBody>
      </p:sp>
      <p:sp>
        <p:nvSpPr>
          <p:cNvPr id="9" name="Text 7"/>
          <p:cNvSpPr txBox="1"/>
          <p:nvPr/>
        </p:nvSpPr>
        <p:spPr>
          <a:xfrm>
            <a:off x="6598768" y="2560320"/>
            <a:ext cx="4724248" cy="26334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FFB59C"/>
                </a:solidFill>
                <a:latin typeface="JetBrains Mono" pitchFamily="34" charset="0"/>
                <a:ea typeface="JetBrains Mono" pitchFamily="34" charset="-122"/>
                <a:cs typeface="JetBrains Mono" pitchFamily="34" charset="-120"/>
              </a:rPr>
              <a:t>$request-&gt;validated()</a:t>
            </a:r>
            <a:pPr indent="0" marL="0">
              <a:buNone/>
            </a:pPr>
            <a:r>
              <a:rPr lang="en-US" sz="1600" dirty="0">
                <a:solidFill>
                  <a:srgbClr val="FFFFFF"/>
                </a:solidFill>
                <a:latin typeface="Inter" pitchFamily="34" charset="0"/>
                <a:ea typeface="Inter" pitchFamily="34" charset="-122"/>
                <a:cs typeface="Inter" pitchFamily="34" charset="-120"/>
              </a:rPr>
              <a:t>, nothing else</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Server sets </a:t>
            </a:r>
            <a:pPr indent="0" marL="0">
              <a:buNone/>
            </a:pPr>
            <a:r>
              <a:rPr lang="en-US" sz="1600" dirty="0">
                <a:solidFill>
                  <a:srgbClr val="FFB59C"/>
                </a:solidFill>
                <a:latin typeface="JetBrains Mono" pitchFamily="34" charset="0"/>
                <a:ea typeface="JetBrains Mono" pitchFamily="34" charset="-122"/>
                <a:cs typeface="JetBrains Mono" pitchFamily="34" charset="-120"/>
              </a:rPr>
              <a:t>user_id</a:t>
            </a:r>
            <a:pPr indent="0" marL="0">
              <a:buNone/>
            </a:pPr>
            <a:r>
              <a:rPr lang="en-US" sz="1600" dirty="0">
                <a:solidFill>
                  <a:srgbClr val="FFFFFF"/>
                </a:solidFill>
                <a:latin typeface="Inter" pitchFamily="34" charset="0"/>
                <a:ea typeface="Inter" pitchFamily="34" charset="-122"/>
                <a:cs typeface="Inter" pitchFamily="34" charset="-120"/>
              </a:rPr>
              <a:t>, </a:t>
            </a:r>
            <a:pPr indent="0" marL="0">
              <a:buNone/>
            </a:pPr>
            <a:r>
              <a:rPr lang="en-US" sz="1600" dirty="0">
                <a:solidFill>
                  <a:srgbClr val="FFB59C"/>
                </a:solidFill>
                <a:latin typeface="JetBrains Mono" pitchFamily="34" charset="0"/>
                <a:ea typeface="JetBrains Mono" pitchFamily="34" charset="-122"/>
                <a:cs typeface="JetBrains Mono" pitchFamily="34" charset="-120"/>
              </a:rPr>
              <a:t>price_lyd</a:t>
            </a:r>
            <a:pPr indent="0" marL="0">
              <a:buNone/>
            </a:pPr>
            <a:r>
              <a:rPr lang="en-US" sz="1600" dirty="0">
                <a:solidFill>
                  <a:srgbClr val="FFFFFF"/>
                </a:solidFill>
                <a:latin typeface="Inter" pitchFamily="34" charset="0"/>
                <a:ea typeface="Inter" pitchFamily="34" charset="-122"/>
                <a:cs typeface="Inter" pitchFamily="34" charset="-120"/>
              </a:rPr>
              <a:t>, </a:t>
            </a:r>
            <a:pPr indent="0" marL="0">
              <a:buNone/>
            </a:pPr>
            <a:r>
              <a:rPr lang="en-US" sz="1600" dirty="0">
                <a:solidFill>
                  <a:srgbClr val="FFB59C"/>
                </a:solidFill>
                <a:latin typeface="JetBrains Mono" pitchFamily="34" charset="0"/>
                <a:ea typeface="JetBrains Mono" pitchFamily="34" charset="-122"/>
                <a:cs typeface="JetBrains Mono" pitchFamily="34" charset="-120"/>
              </a:rPr>
              <a:t>expires_at</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Explicit </a:t>
            </a:r>
            <a:pPr indent="0" marL="0">
              <a:buNone/>
            </a:pPr>
            <a:r>
              <a:rPr lang="en-US" sz="1600" dirty="0">
                <a:solidFill>
                  <a:srgbClr val="FFB59C"/>
                </a:solidFill>
                <a:latin typeface="JetBrains Mono" pitchFamily="34" charset="0"/>
                <a:ea typeface="JetBrains Mono" pitchFamily="34" charset="-122"/>
                <a:cs typeface="JetBrains Mono" pitchFamily="34" charset="-120"/>
              </a:rPr>
              <a:t>$fillable</a:t>
            </a:r>
            <a:pPr indent="0" marL="0">
              <a:buNone/>
            </a:pPr>
            <a:r>
              <a:rPr lang="en-US" sz="1600" dirty="0">
                <a:solidFill>
                  <a:srgbClr val="FFFFFF"/>
                </a:solidFill>
                <a:latin typeface="Inter" pitchFamily="34" charset="0"/>
                <a:ea typeface="Inter" pitchFamily="34" charset="-122"/>
                <a:cs typeface="Inter" pitchFamily="34" charset="-120"/>
              </a:rPr>
              <a:t> on models</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A rule for </a:t>
            </a:r>
            <a:pPr indent="0" marL="0">
              <a:buNone/>
            </a:pPr>
            <a:r>
              <a:rPr lang="en-US" sz="1600" b="1" dirty="0">
                <a:solidFill>
                  <a:srgbClr val="FFFFFF"/>
                </a:solidFill>
                <a:latin typeface="Inter" pitchFamily="34" charset="0"/>
                <a:ea typeface="Inter" pitchFamily="34" charset="-122"/>
                <a:cs typeface="Inter" pitchFamily="34" charset="-120"/>
              </a:rPr>
              <a:t>every</a:t>
            </a:r>
            <a:pPr indent="0" marL="0">
              <a:buNone/>
            </a:pPr>
            <a:r>
              <a:rPr lang="en-US" sz="1600" dirty="0">
                <a:solidFill>
                  <a:srgbClr val="FFFFFF"/>
                </a:solidFill>
                <a:latin typeface="Inter" pitchFamily="34" charset="0"/>
                <a:ea typeface="Inter" pitchFamily="34" charset="-122"/>
                <a:cs typeface="Inter" pitchFamily="34" charset="-120"/>
              </a:rPr>
              <a:t> accepted field</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Authentication vs authorization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المصادقة مقابل التفويض</a:t>
            </a:r>
            <a:endParaRPr lang="ar-LY" sz="1700" dirty="0"/>
          </a:p>
        </p:txBody>
      </p:sp>
      <p:sp>
        <p:nvSpPr>
          <p:cNvPr id="4" name="Shape 2"/>
          <p:cNvSpPr/>
          <p:nvPr/>
        </p:nvSpPr>
        <p:spPr>
          <a:xfrm>
            <a:off x="548640" y="2240280"/>
            <a:ext cx="1600200" cy="1005840"/>
          </a:xfrm>
          <a:prstGeom prst="roundRect">
            <a:avLst>
              <a:gd name="adj" fmla="val 727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276856"/>
            <a:ext cx="145389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Request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Bearer token</a:t>
            </a:r>
            <a:endParaRPr lang="en-US" sz="1400" dirty="0"/>
          </a:p>
        </p:txBody>
      </p:sp>
      <p:sp>
        <p:nvSpPr>
          <p:cNvPr id="6" name="Shape 4"/>
          <p:cNvSpPr/>
          <p:nvPr/>
        </p:nvSpPr>
        <p:spPr>
          <a:xfrm>
            <a:off x="2450592" y="2240280"/>
            <a:ext cx="1600200" cy="1005840"/>
          </a:xfrm>
          <a:prstGeom prst="roundRect">
            <a:avLst>
              <a:gd name="adj" fmla="val 7273"/>
            </a:avLst>
          </a:prstGeom>
          <a:solidFill>
            <a:srgbClr val="272827"/>
          </a:solidFill>
          <a:ln w="12700">
            <a:solidFill>
              <a:srgbClr val="272827"/>
            </a:solidFill>
            <a:prstDash val="solid"/>
          </a:ln>
        </p:spPr>
      </p:sp>
      <p:sp>
        <p:nvSpPr>
          <p:cNvPr id="7" name="Text 5"/>
          <p:cNvSpPr txBox="1"/>
          <p:nvPr/>
        </p:nvSpPr>
        <p:spPr>
          <a:xfrm>
            <a:off x="2523744" y="2276856"/>
            <a:ext cx="145389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auth:sanctum</a:t>
            </a:r>
            <a:endParaRPr lang="en-US" sz="14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who are you?</a:t>
            </a:r>
            <a:endParaRPr lang="en-US" sz="1400" dirty="0"/>
          </a:p>
        </p:txBody>
      </p:sp>
      <p:sp>
        <p:nvSpPr>
          <p:cNvPr id="8" name="Shape 6"/>
          <p:cNvSpPr/>
          <p:nvPr/>
        </p:nvSpPr>
        <p:spPr>
          <a:xfrm>
            <a:off x="4352544" y="2240280"/>
            <a:ext cx="1600200" cy="1005840"/>
          </a:xfrm>
          <a:prstGeom prst="roundRect">
            <a:avLst>
              <a:gd name="adj" fmla="val 7273"/>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4425696" y="2276856"/>
            <a:ext cx="145389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FormRequest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is input valid?</a:t>
            </a:r>
            <a:endParaRPr lang="en-US" sz="1400" dirty="0"/>
          </a:p>
        </p:txBody>
      </p:sp>
      <p:sp>
        <p:nvSpPr>
          <p:cNvPr id="10" name="Shape 8"/>
          <p:cNvSpPr/>
          <p:nvPr/>
        </p:nvSpPr>
        <p:spPr>
          <a:xfrm>
            <a:off x="6254496" y="2240280"/>
            <a:ext cx="1600200" cy="1005840"/>
          </a:xfrm>
          <a:prstGeom prst="roundRect">
            <a:avLst>
              <a:gd name="adj" fmla="val 7273"/>
            </a:avLst>
          </a:prstGeom>
          <a:solidFill>
            <a:srgbClr val="FF5723"/>
          </a:solidFill>
          <a:ln w="12700">
            <a:solidFill>
              <a:srgbClr val="FF5723"/>
            </a:solidFill>
            <a:prstDash val="solid"/>
          </a:ln>
        </p:spPr>
      </p:sp>
      <p:sp>
        <p:nvSpPr>
          <p:cNvPr id="11" name="Text 9"/>
          <p:cNvSpPr txBox="1"/>
          <p:nvPr/>
        </p:nvSpPr>
        <p:spPr>
          <a:xfrm>
            <a:off x="6327648" y="2276856"/>
            <a:ext cx="145389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Policy</a:t>
            </a:r>
            <a:endParaRPr lang="en-US" sz="14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may you do it?</a:t>
            </a:r>
            <a:endParaRPr lang="en-US" sz="1400" dirty="0"/>
          </a:p>
        </p:txBody>
      </p:sp>
      <p:sp>
        <p:nvSpPr>
          <p:cNvPr id="12" name="Shape 10"/>
          <p:cNvSpPr/>
          <p:nvPr/>
        </p:nvSpPr>
        <p:spPr>
          <a:xfrm>
            <a:off x="8156448" y="2240280"/>
            <a:ext cx="1600200" cy="1005840"/>
          </a:xfrm>
          <a:prstGeom prst="roundRect">
            <a:avLst>
              <a:gd name="adj" fmla="val 7273"/>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229600" y="2276856"/>
            <a:ext cx="145389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Controller</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do the work</a:t>
            </a:r>
            <a:endParaRPr lang="en-US" sz="1400" dirty="0"/>
          </a:p>
        </p:txBody>
      </p:sp>
      <p:sp>
        <p:nvSpPr>
          <p:cNvPr id="14" name="Shape 12"/>
          <p:cNvSpPr/>
          <p:nvPr/>
        </p:nvSpPr>
        <p:spPr>
          <a:xfrm>
            <a:off x="10040112" y="2240280"/>
            <a:ext cx="1600200" cy="1005840"/>
          </a:xfrm>
          <a:prstGeom prst="roundRect">
            <a:avLst>
              <a:gd name="adj" fmla="val 7273"/>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10113264" y="2276856"/>
            <a:ext cx="145389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Resource</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200 / 201</a:t>
            </a:r>
            <a:endParaRPr lang="en-US" sz="1400" dirty="0"/>
          </a:p>
        </p:txBody>
      </p:sp>
      <p:sp>
        <p:nvSpPr>
          <p:cNvPr id="16" name="Shape 14"/>
          <p:cNvSpPr/>
          <p:nvPr/>
        </p:nvSpPr>
        <p:spPr>
          <a:xfrm>
            <a:off x="2450592" y="4206240"/>
            <a:ext cx="1600200" cy="731520"/>
          </a:xfrm>
          <a:prstGeom prst="roundRect">
            <a:avLst>
              <a:gd name="adj" fmla="val 10000"/>
            </a:avLst>
          </a:prstGeom>
          <a:ln w="12700">
            <a:solidFill>
              <a:srgbClr val="9CA3AF"/>
            </a:solidFill>
            <a:prstDash val="dash"/>
          </a:ln>
        </p:spPr>
      </p:sp>
      <p:sp>
        <p:nvSpPr>
          <p:cNvPr id="17" name="Text 15"/>
          <p:cNvSpPr txBox="1"/>
          <p:nvPr/>
        </p:nvSpPr>
        <p:spPr>
          <a:xfrm>
            <a:off x="2523744" y="4242816"/>
            <a:ext cx="1453896" cy="65836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401</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Unauthenticated</a:t>
            </a:r>
            <a:endParaRPr lang="en-US" sz="1600" dirty="0"/>
          </a:p>
        </p:txBody>
      </p:sp>
      <p:sp>
        <p:nvSpPr>
          <p:cNvPr id="18" name="Shape 16"/>
          <p:cNvSpPr/>
          <p:nvPr/>
        </p:nvSpPr>
        <p:spPr>
          <a:xfrm>
            <a:off x="4352544" y="4206240"/>
            <a:ext cx="1600200" cy="731520"/>
          </a:xfrm>
          <a:prstGeom prst="roundRect">
            <a:avLst>
              <a:gd name="adj" fmla="val 10000"/>
            </a:avLst>
          </a:prstGeom>
          <a:ln w="12700">
            <a:solidFill>
              <a:srgbClr val="9CA3AF"/>
            </a:solidFill>
            <a:prstDash val="dash"/>
          </a:ln>
        </p:spPr>
      </p:sp>
      <p:sp>
        <p:nvSpPr>
          <p:cNvPr id="19" name="Text 17"/>
          <p:cNvSpPr txBox="1"/>
          <p:nvPr/>
        </p:nvSpPr>
        <p:spPr>
          <a:xfrm>
            <a:off x="4425696" y="4242816"/>
            <a:ext cx="1453896" cy="65836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422</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Validation errors</a:t>
            </a:r>
            <a:endParaRPr lang="en-US" sz="1600" dirty="0"/>
          </a:p>
        </p:txBody>
      </p:sp>
      <p:sp>
        <p:nvSpPr>
          <p:cNvPr id="20" name="Shape 18"/>
          <p:cNvSpPr/>
          <p:nvPr/>
        </p:nvSpPr>
        <p:spPr>
          <a:xfrm>
            <a:off x="6254496" y="4206240"/>
            <a:ext cx="1600200" cy="731520"/>
          </a:xfrm>
          <a:prstGeom prst="roundRect">
            <a:avLst>
              <a:gd name="adj" fmla="val 10000"/>
            </a:avLst>
          </a:prstGeom>
          <a:ln w="12700">
            <a:solidFill>
              <a:srgbClr val="9CA3AF"/>
            </a:solidFill>
            <a:prstDash val="dash"/>
          </a:ln>
        </p:spPr>
      </p:sp>
      <p:sp>
        <p:nvSpPr>
          <p:cNvPr id="21" name="Text 19"/>
          <p:cNvSpPr txBox="1"/>
          <p:nvPr/>
        </p:nvSpPr>
        <p:spPr>
          <a:xfrm>
            <a:off x="6327648" y="4242816"/>
            <a:ext cx="1453896" cy="65836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403</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Forbidden</a:t>
            </a:r>
            <a:endParaRPr lang="en-US" sz="1600" dirty="0"/>
          </a:p>
        </p:txBody>
      </p:sp>
      <p:sp>
        <p:nvSpPr>
          <p:cNvPr id="22" name="Shape 20"/>
          <p:cNvSpPr/>
          <p:nvPr/>
        </p:nvSpPr>
        <p:spPr>
          <a:xfrm>
            <a:off x="2148840" y="2743200"/>
            <a:ext cx="301752" cy="914"/>
          </a:xfrm>
          <a:prstGeom prst="line">
            <a:avLst/>
          </a:prstGeom>
          <a:noFill/>
          <a:ln w="19050">
            <a:solidFill>
              <a:srgbClr val="3A3B3A"/>
            </a:solidFill>
            <a:prstDash val="solid"/>
            <a:tailEnd type="triangle"/>
          </a:ln>
        </p:spPr>
      </p:sp>
      <p:sp>
        <p:nvSpPr>
          <p:cNvPr id="23" name="Shape 21"/>
          <p:cNvSpPr/>
          <p:nvPr/>
        </p:nvSpPr>
        <p:spPr>
          <a:xfrm>
            <a:off x="4050792" y="2743200"/>
            <a:ext cx="301752" cy="914"/>
          </a:xfrm>
          <a:prstGeom prst="line">
            <a:avLst/>
          </a:prstGeom>
          <a:noFill/>
          <a:ln w="19050">
            <a:solidFill>
              <a:srgbClr val="3A3B3A"/>
            </a:solidFill>
            <a:prstDash val="solid"/>
            <a:tailEnd type="triangle"/>
          </a:ln>
        </p:spPr>
      </p:sp>
      <p:sp>
        <p:nvSpPr>
          <p:cNvPr id="24" name="Shape 22"/>
          <p:cNvSpPr/>
          <p:nvPr/>
        </p:nvSpPr>
        <p:spPr>
          <a:xfrm>
            <a:off x="5952744" y="2743200"/>
            <a:ext cx="301752" cy="914"/>
          </a:xfrm>
          <a:prstGeom prst="line">
            <a:avLst/>
          </a:prstGeom>
          <a:noFill/>
          <a:ln w="19050">
            <a:solidFill>
              <a:srgbClr val="3A3B3A"/>
            </a:solidFill>
            <a:prstDash val="solid"/>
            <a:tailEnd type="triangle"/>
          </a:ln>
        </p:spPr>
      </p:sp>
      <p:sp>
        <p:nvSpPr>
          <p:cNvPr id="25" name="Shape 23"/>
          <p:cNvSpPr/>
          <p:nvPr/>
        </p:nvSpPr>
        <p:spPr>
          <a:xfrm>
            <a:off x="7854696" y="2743200"/>
            <a:ext cx="301752" cy="914"/>
          </a:xfrm>
          <a:prstGeom prst="line">
            <a:avLst/>
          </a:prstGeom>
          <a:noFill/>
          <a:ln w="19050">
            <a:solidFill>
              <a:srgbClr val="3A3B3A"/>
            </a:solidFill>
            <a:prstDash val="solid"/>
            <a:tailEnd type="triangle"/>
          </a:ln>
        </p:spPr>
      </p:sp>
      <p:sp>
        <p:nvSpPr>
          <p:cNvPr id="26" name="Shape 24"/>
          <p:cNvSpPr/>
          <p:nvPr/>
        </p:nvSpPr>
        <p:spPr>
          <a:xfrm>
            <a:off x="9756648" y="2743200"/>
            <a:ext cx="283464" cy="914"/>
          </a:xfrm>
          <a:prstGeom prst="line">
            <a:avLst/>
          </a:prstGeom>
          <a:noFill/>
          <a:ln w="19050">
            <a:solidFill>
              <a:srgbClr val="3A3B3A"/>
            </a:solidFill>
            <a:prstDash val="solid"/>
            <a:tailEnd type="triangle"/>
          </a:ln>
        </p:spPr>
      </p:sp>
      <p:sp>
        <p:nvSpPr>
          <p:cNvPr id="27" name="Shape 25"/>
          <p:cNvSpPr/>
          <p:nvPr/>
        </p:nvSpPr>
        <p:spPr>
          <a:xfrm>
            <a:off x="3250692" y="3246120"/>
            <a:ext cx="914" cy="960120"/>
          </a:xfrm>
          <a:prstGeom prst="line">
            <a:avLst/>
          </a:prstGeom>
          <a:noFill/>
          <a:ln w="19050">
            <a:solidFill>
              <a:srgbClr val="3A3B3A"/>
            </a:solidFill>
            <a:prstDash val="dash"/>
            <a:tailEnd type="triangle"/>
          </a:ln>
        </p:spPr>
      </p:sp>
      <p:sp>
        <p:nvSpPr>
          <p:cNvPr id="28" name="Text 26"/>
          <p:cNvSpPr txBox="1"/>
          <p:nvPr/>
        </p:nvSpPr>
        <p:spPr>
          <a:xfrm>
            <a:off x="3323844" y="358902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no token</a:t>
            </a:r>
            <a:endParaRPr lang="en-US" sz="1100" dirty="0"/>
          </a:p>
        </p:txBody>
      </p:sp>
      <p:sp>
        <p:nvSpPr>
          <p:cNvPr id="29" name="Shape 27"/>
          <p:cNvSpPr/>
          <p:nvPr/>
        </p:nvSpPr>
        <p:spPr>
          <a:xfrm>
            <a:off x="5152644" y="3246120"/>
            <a:ext cx="914" cy="960120"/>
          </a:xfrm>
          <a:prstGeom prst="line">
            <a:avLst/>
          </a:prstGeom>
          <a:noFill/>
          <a:ln w="19050">
            <a:solidFill>
              <a:srgbClr val="3A3B3A"/>
            </a:solidFill>
            <a:prstDash val="dash"/>
            <a:tailEnd type="triangle"/>
          </a:ln>
        </p:spPr>
      </p:sp>
      <p:sp>
        <p:nvSpPr>
          <p:cNvPr id="30" name="Text 28"/>
          <p:cNvSpPr txBox="1"/>
          <p:nvPr/>
        </p:nvSpPr>
        <p:spPr>
          <a:xfrm>
            <a:off x="5225796" y="358902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invalid</a:t>
            </a:r>
            <a:endParaRPr lang="en-US" sz="1100" dirty="0"/>
          </a:p>
        </p:txBody>
      </p:sp>
      <p:sp>
        <p:nvSpPr>
          <p:cNvPr id="31" name="Shape 29"/>
          <p:cNvSpPr/>
          <p:nvPr/>
        </p:nvSpPr>
        <p:spPr>
          <a:xfrm>
            <a:off x="7054596" y="3246120"/>
            <a:ext cx="914" cy="960120"/>
          </a:xfrm>
          <a:prstGeom prst="line">
            <a:avLst/>
          </a:prstGeom>
          <a:noFill/>
          <a:ln w="19050">
            <a:solidFill>
              <a:srgbClr val="3A3B3A"/>
            </a:solidFill>
            <a:prstDash val="dash"/>
            <a:tailEnd type="triangle"/>
          </a:ln>
        </p:spPr>
      </p:sp>
      <p:sp>
        <p:nvSpPr>
          <p:cNvPr id="32" name="Text 30"/>
          <p:cNvSpPr txBox="1"/>
          <p:nvPr/>
        </p:nvSpPr>
        <p:spPr>
          <a:xfrm>
            <a:off x="7127748" y="358902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not allowed</a:t>
            </a:r>
            <a:endParaRPr lang="en-US" sz="1100" dirty="0"/>
          </a:p>
        </p:txBody>
      </p:sp>
      <p:sp>
        <p:nvSpPr>
          <p:cNvPr id="33" name="Text 31"/>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b="1" i="1" dirty="0">
                <a:solidFill>
                  <a:srgbClr val="3A3B3A"/>
                </a:solidFill>
                <a:latin typeface="Inter" pitchFamily="34" charset="0"/>
                <a:ea typeface="Inter" pitchFamily="34" charset="-122"/>
                <a:cs typeface="Inter" pitchFamily="34" charset="-120"/>
              </a:rPr>
              <a:t>Authentication</a:t>
            </a:r>
            <a:pPr indent="0" marL="0">
              <a:buNone/>
            </a:pPr>
            <a:r>
              <a:rPr lang="en-US" sz="1400" i="1" dirty="0">
                <a:solidFill>
                  <a:srgbClr val="3A3B3A"/>
                </a:solidFill>
                <a:latin typeface="Inter" pitchFamily="34" charset="0"/>
                <a:ea typeface="Inter" pitchFamily="34" charset="-122"/>
                <a:cs typeface="Inter" pitchFamily="34" charset="-120"/>
              </a:rPr>
              <a:t> proves identity. </a:t>
            </a:r>
            <a:pPr indent="0" marL="0">
              <a:buNone/>
            </a:pPr>
            <a:r>
              <a:rPr lang="en-US" sz="1400" b="1" i="1" dirty="0">
                <a:solidFill>
                  <a:srgbClr val="3A3B3A"/>
                </a:solidFill>
                <a:latin typeface="Inter" pitchFamily="34" charset="0"/>
                <a:ea typeface="Inter" pitchFamily="34" charset="-122"/>
                <a:cs typeface="Inter" pitchFamily="34" charset="-120"/>
              </a:rPr>
              <a:t>Authorization</a:t>
            </a:r>
            <a:pPr indent="0" marL="0">
              <a:buNone/>
            </a:pPr>
            <a:r>
              <a:rPr lang="en-US" sz="1400" i="1" dirty="0">
                <a:solidFill>
                  <a:srgbClr val="3A3B3A"/>
                </a:solidFill>
                <a:latin typeface="Inter" pitchFamily="34" charset="0"/>
                <a:ea typeface="Inter" pitchFamily="34" charset="-122"/>
                <a:cs typeface="Inter" pitchFamily="34" charset="-120"/>
              </a:rPr>
              <a:t> decides permission, per action, per record.</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Policies: rules per record</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السياسات: قواعد لكل سجل</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app/Policies/ShipmentPolicy.php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ShipmentPolicy</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view</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bool</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id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user_id</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isStaff</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cancel</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bool</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user_id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isStaff</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app/Http/Controllers/Api/ShipmentController.php</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show</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ShipmentResource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Gate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authorize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'view'</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8B8F97"/>
                </a:solidFill>
                <a:latin typeface="JetBrains Mono" pitchFamily="34" charset="0"/>
                <a:ea typeface="JetBrains Mono" pitchFamily="34" charset="-122"/>
                <a:cs typeface="JetBrains Mono" pitchFamily="34" charset="-120"/>
              </a:rPr>
              <a:t>// 403 if false</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ShipmentResource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Owner </a:t>
            </a:r>
            <a:pPr indent="0" marL="0">
              <a:buNone/>
            </a:pPr>
            <a:r>
              <a:rPr lang="en-US" sz="1500" b="1" dirty="0">
                <a:solidFill>
                  <a:srgbClr val="272827"/>
                </a:solidFill>
                <a:latin typeface="Inter" pitchFamily="34" charset="0"/>
                <a:ea typeface="Inter" pitchFamily="34" charset="-122"/>
                <a:cs typeface="Inter" pitchFamily="34" charset="-120"/>
              </a:rPr>
              <a:t>or</a:t>
            </a:r>
            <a:pPr indent="0" marL="0">
              <a:buNone/>
            </a:pPr>
            <a:r>
              <a:rPr lang="en-US" sz="1500" dirty="0">
                <a:solidFill>
                  <a:srgbClr val="272827"/>
                </a:solidFill>
                <a:latin typeface="Inter" pitchFamily="34" charset="0"/>
                <a:ea typeface="Inter" pitchFamily="34" charset="-122"/>
                <a:cs typeface="Inter" pitchFamily="34" charset="-120"/>
              </a:rPr>
              <a:t> staff may view and cancel</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isStaff()</a:t>
            </a:r>
            <a:pPr indent="0" marL="0">
              <a:buNone/>
            </a:pPr>
            <a:r>
              <a:rPr lang="en-US" sz="1500" dirty="0">
                <a:solidFill>
                  <a:srgbClr val="272827"/>
                </a:solidFill>
                <a:latin typeface="Inter" pitchFamily="34" charset="0"/>
                <a:ea typeface="Inter" pitchFamily="34" charset="-122"/>
                <a:cs typeface="Inter" pitchFamily="34" charset="-120"/>
              </a:rPr>
              <a:t>: dispatcher or admin</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Auto-discovered: </a:t>
            </a:r>
            <a:pPr indent="0" marL="0">
              <a:buNone/>
            </a:pPr>
            <a:r>
              <a:rPr lang="en-US" sz="1500" dirty="0">
                <a:solidFill>
                  <a:srgbClr val="C2410C"/>
                </a:solidFill>
                <a:latin typeface="JetBrains Mono" pitchFamily="34" charset="0"/>
                <a:ea typeface="JetBrains Mono" pitchFamily="34" charset="-122"/>
                <a:cs typeface="JetBrains Mono" pitchFamily="34" charset="-120"/>
              </a:rPr>
              <a:t>Shipment</a:t>
            </a:r>
            <a:pPr indent="0" marL="0">
              <a:buNone/>
            </a:pPr>
            <a:r>
              <a:rPr lang="en-US" sz="1500" dirty="0">
                <a:solidFill>
                  <a:srgbClr val="272827"/>
                </a:solidFill>
                <a:latin typeface="Inter" pitchFamily="34" charset="0"/>
                <a:ea typeface="Inter" pitchFamily="34" charset="-122"/>
                <a:cs typeface="Inter" pitchFamily="34" charset="-120"/>
              </a:rPr>
              <a:t> → </a:t>
            </a:r>
            <a:pPr indent="0" marL="0">
              <a:buNone/>
            </a:pPr>
            <a:r>
              <a:rPr lang="en-US" sz="1500" dirty="0">
                <a:solidFill>
                  <a:srgbClr val="C2410C"/>
                </a:solidFill>
                <a:latin typeface="JetBrains Mono" pitchFamily="34" charset="0"/>
                <a:ea typeface="JetBrains Mono" pitchFamily="34" charset="-122"/>
                <a:cs typeface="JetBrains Mono" pitchFamily="34" charset="-120"/>
              </a:rPr>
              <a:t>ShipmentPolicy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Every policy method gets a </a:t>
            </a:r>
            <a:pPr indent="0" marL="0">
              <a:buNone/>
            </a:pPr>
            <a:r>
              <a:rPr lang="en-US" sz="1500" b="1" dirty="0">
                <a:solidFill>
                  <a:srgbClr val="272827"/>
                </a:solidFill>
                <a:latin typeface="Inter" pitchFamily="34" charset="0"/>
                <a:ea typeface="Inter" pitchFamily="34" charset="-122"/>
                <a:cs typeface="Inter" pitchFamily="34" charset="-120"/>
              </a:rPr>
              <a:t>403</a:t>
            </a:r>
            <a:pPr indent="0" marL="0">
              <a:buNone/>
            </a:pPr>
            <a:r>
              <a:rPr lang="en-US" sz="1500" dirty="0">
                <a:solidFill>
                  <a:srgbClr val="272827"/>
                </a:solidFill>
                <a:latin typeface="Inter" pitchFamily="34" charset="0"/>
                <a:ea typeface="Inter" pitchFamily="34" charset="-122"/>
                <a:cs typeface="Inter" pitchFamily="34" charset="-120"/>
              </a:rPr>
              <a:t> test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Money and time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المال والوقت</a:t>
            </a:r>
            <a:endParaRPr lang="ar-LY" sz="1700" dirty="0"/>
          </a:p>
        </p:txBody>
      </p:sp>
      <p:sp>
        <p:nvSpPr>
          <p:cNvPr id="4" name="Text 2"/>
          <p:cNvSpPr txBox="1"/>
          <p:nvPr/>
        </p:nvSpPr>
        <p:spPr>
          <a:xfrm>
            <a:off x="548640" y="1828800"/>
            <a:ext cx="6583680" cy="434340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Store LYD as </a:t>
            </a:r>
            <a:pPr indent="0" marL="0">
              <a:buNone/>
            </a:pPr>
            <a:r>
              <a:rPr lang="en-US" sz="1900" dirty="0">
                <a:solidFill>
                  <a:srgbClr val="C2410C"/>
                </a:solidFill>
                <a:latin typeface="JetBrains Mono" pitchFamily="34" charset="0"/>
                <a:ea typeface="JetBrains Mono" pitchFamily="34" charset="-122"/>
                <a:cs typeface="JetBrains Mono" pitchFamily="34" charset="-120"/>
              </a:rPr>
              <a:t>decimal(10,2)</a:t>
            </a:r>
            <a:pPr indent="0" marL="0">
              <a:buNone/>
            </a:pPr>
            <a:r>
              <a:rPr lang="en-US" sz="1900" dirty="0">
                <a:solidFill>
                  <a:srgbClr val="272827"/>
                </a:solidFill>
                <a:latin typeface="Inter" pitchFamily="34" charset="0"/>
                <a:ea typeface="Inter" pitchFamily="34" charset="-122"/>
                <a:cs typeface="Inter" pitchFamily="34" charset="-120"/>
              </a:rPr>
              <a:t>; cast with </a:t>
            </a:r>
            <a:pPr indent="0" marL="0">
              <a:buNone/>
            </a:pPr>
            <a:r>
              <a:rPr lang="en-US" sz="1900" dirty="0">
                <a:solidFill>
                  <a:srgbClr val="C2410C"/>
                </a:solidFill>
                <a:latin typeface="JetBrains Mono" pitchFamily="34" charset="0"/>
                <a:ea typeface="JetBrains Mono" pitchFamily="34" charset="-122"/>
                <a:cs typeface="JetBrains Mono" pitchFamily="34" charset="-120"/>
              </a:rPr>
              <a:t>'decimal:2'</a:t>
            </a:r>
            <a:pPr indent="0" marL="0">
              <a:buNone/>
            </a:pPr>
            <a:r>
              <a:rPr lang="en-US" sz="1900" dirty="0">
                <a:solidFill>
                  <a:srgbClr val="272827"/>
                </a:solidFill>
                <a:latin typeface="Inter" pitchFamily="34" charset="0"/>
                <a:ea typeface="Inter" pitchFamily="34" charset="-122"/>
                <a:cs typeface="Inter" pitchFamily="34" charset="-120"/>
              </a:rPr>
              <a:t> (a string in PHP)</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Compute the price on the server, </a:t>
            </a:r>
            <a:pPr indent="0" marL="0">
              <a:buNone/>
            </a:pPr>
            <a:r>
              <a:rPr lang="en-US" sz="1900" b="1" dirty="0">
                <a:solidFill>
                  <a:srgbClr val="272827"/>
                </a:solidFill>
                <a:latin typeface="Inter" pitchFamily="34" charset="0"/>
                <a:ea typeface="Inter" pitchFamily="34" charset="-122"/>
                <a:cs typeface="Inter" pitchFamily="34" charset="-120"/>
              </a:rPr>
              <a:t>round once</a:t>
            </a:r>
            <a:pPr indent="0" marL="0">
              <a:buNone/>
            </a:pPr>
            <a:r>
              <a:rPr lang="en-US" sz="1900" dirty="0">
                <a:solidFill>
                  <a:srgbClr val="272827"/>
                </a:solidFill>
                <a:latin typeface="Inter" pitchFamily="34" charset="0"/>
                <a:ea typeface="Inter" pitchFamily="34" charset="-122"/>
                <a:cs typeface="Inter" pitchFamily="34" charset="-120"/>
              </a:rPr>
              <a:t>, at the end</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Store timestamps in </a:t>
            </a:r>
            <a:pPr indent="0" marL="0">
              <a:buNone/>
            </a:pPr>
            <a:r>
              <a:rPr lang="en-US" sz="1900" b="1" dirty="0">
                <a:solidFill>
                  <a:srgbClr val="272827"/>
                </a:solidFill>
                <a:latin typeface="Inter" pitchFamily="34" charset="0"/>
                <a:ea typeface="Inter" pitchFamily="34" charset="-122"/>
                <a:cs typeface="Inter" pitchFamily="34" charset="-120"/>
              </a:rPr>
              <a:t>UTC</a:t>
            </a:r>
            <a:pPr indent="0" marL="0">
              <a:buNone/>
            </a:pPr>
            <a:r>
              <a:rPr lang="en-US" sz="1900" dirty="0">
                <a:solidFill>
                  <a:srgbClr val="272827"/>
                </a:solidFill>
                <a:latin typeface="Inter" pitchFamily="34" charset="0"/>
                <a:ea typeface="Inter" pitchFamily="34" charset="-122"/>
                <a:cs typeface="Inter" pitchFamily="34" charset="-120"/>
              </a:rPr>
              <a:t>; convert to Libya time (UTC+2) at the edge</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Quotes expire after </a:t>
            </a:r>
            <a:pPr indent="0" marL="0">
              <a:buNone/>
            </a:pPr>
            <a:r>
              <a:rPr lang="en-US" sz="1900" b="1" dirty="0">
                <a:solidFill>
                  <a:srgbClr val="272827"/>
                </a:solidFill>
                <a:latin typeface="Inter" pitchFamily="34" charset="0"/>
                <a:ea typeface="Inter" pitchFamily="34" charset="-122"/>
                <a:cs typeface="Inter" pitchFamily="34" charset="-120"/>
              </a:rPr>
              <a:t>15 minutes</a:t>
            </a:r>
            <a:pPr indent="0" marL="0">
              <a:buNone/>
            </a:pPr>
            <a:r>
              <a:rPr lang="en-US" sz="1900" dirty="0">
                <a:solidFill>
                  <a:srgbClr val="272827"/>
                </a:solidFill>
                <a:latin typeface="Inter" pitchFamily="34" charset="0"/>
                <a:ea typeface="Inter" pitchFamily="34" charset="-122"/>
                <a:cs typeface="Inter" pitchFamily="34" charset="-120"/>
              </a:rPr>
              <a:t> (</a:t>
            </a:r>
            <a:pPr indent="0" marL="0">
              <a:buNone/>
            </a:pPr>
            <a:r>
              <a:rPr lang="en-US" sz="1900" dirty="0">
                <a:solidFill>
                  <a:srgbClr val="C2410C"/>
                </a:solidFill>
                <a:latin typeface="JetBrains Mono" pitchFamily="34" charset="0"/>
                <a:ea typeface="JetBrains Mono" pitchFamily="34" charset="-122"/>
                <a:cs typeface="JetBrains Mono" pitchFamily="34" charset="-120"/>
              </a:rPr>
              <a:t>expires_at</a:t>
            </a:r>
            <a:pPr indent="0" marL="0">
              <a:buNone/>
            </a:pPr>
            <a:r>
              <a:rPr lang="en-US" sz="1900" dirty="0">
                <a:solidFill>
                  <a:srgbClr val="272827"/>
                </a:solidFill>
                <a:latin typeface="Inter" pitchFamily="34" charset="0"/>
                <a:ea typeface="Inter" pitchFamily="34" charset="-122"/>
                <a:cs typeface="Inter" pitchFamily="34" charset="-120"/>
              </a:rPr>
              <a:t>)</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Booking an expired quote returns </a:t>
            </a:r>
            <a:pPr indent="0" marL="0">
              <a:buNone/>
            </a:pPr>
            <a:r>
              <a:rPr lang="en-US" sz="1900" b="1" dirty="0">
                <a:solidFill>
                  <a:srgbClr val="272827"/>
                </a:solidFill>
                <a:latin typeface="Inter" pitchFamily="34" charset="0"/>
                <a:ea typeface="Inter" pitchFamily="34" charset="-122"/>
                <a:cs typeface="Inter" pitchFamily="34" charset="-120"/>
              </a:rPr>
              <a:t>422</a:t>
            </a:r>
            <a:endParaRPr lang="en-US" sz="1900" dirty="0"/>
          </a:p>
        </p:txBody>
      </p:sp>
      <p:sp>
        <p:nvSpPr>
          <p:cNvPr id="5" name="Shape 3"/>
          <p:cNvSpPr/>
          <p:nvPr/>
        </p:nvSpPr>
        <p:spPr>
          <a:xfrm>
            <a:off x="7589520" y="1783080"/>
            <a:ext cx="4053535" cy="4206240"/>
          </a:xfrm>
          <a:prstGeom prst="roundRect">
            <a:avLst>
              <a:gd name="adj" fmla="val 2256"/>
            </a:avLst>
          </a:prstGeom>
          <a:solidFill>
            <a:srgbClr val="272827"/>
          </a:solidFill>
          <a:ln w="12700">
            <a:solidFill>
              <a:srgbClr val="272827"/>
            </a:solidFill>
            <a:prstDash val="solid"/>
          </a:ln>
        </p:spPr>
      </p:sp>
      <p:sp>
        <p:nvSpPr>
          <p:cNvPr id="6" name="Text 4"/>
          <p:cNvSpPr txBox="1"/>
          <p:nvPr/>
        </p:nvSpPr>
        <p:spPr>
          <a:xfrm>
            <a:off x="7909560" y="2057400"/>
            <a:ext cx="3413455" cy="274320"/>
          </a:xfrm>
          <a:prstGeom prst="rect">
            <a:avLst/>
          </a:prstGeom>
          <a:noFill/>
          <a:ln/>
        </p:spPr>
        <p:txBody>
          <a:bodyPr wrap="square" lIns="0" tIns="0" rIns="0" bIns="0" rtlCol="0" anchor="ctr"/>
          <a:lstStyle/>
          <a:p>
            <a:pPr indent="0" marL="0">
              <a:buNone/>
            </a:pPr>
            <a:r>
              <a:rPr lang="en-US" sz="1100" b="1" spc="300" kern="0" dirty="0">
                <a:solidFill>
                  <a:srgbClr val="9CA3AF"/>
                </a:solidFill>
                <a:latin typeface="Inter" pitchFamily="34" charset="0"/>
                <a:ea typeface="Inter" pitchFamily="34" charset="-122"/>
                <a:cs typeface="Inter" pitchFamily="34" charset="-120"/>
              </a:rPr>
              <a:t>RULE</a:t>
            </a:r>
            <a:endParaRPr lang="en-US" sz="1100" dirty="0"/>
          </a:p>
        </p:txBody>
      </p:sp>
      <p:sp>
        <p:nvSpPr>
          <p:cNvPr id="7" name="Text 5"/>
          <p:cNvSpPr txBox="1"/>
          <p:nvPr/>
        </p:nvSpPr>
        <p:spPr>
          <a:xfrm>
            <a:off x="7909560" y="2423160"/>
            <a:ext cx="3413455" cy="1737360"/>
          </a:xfrm>
          <a:prstGeom prst="rect">
            <a:avLst/>
          </a:prstGeom>
          <a:noFill/>
          <a:ln/>
        </p:spPr>
        <p:txBody>
          <a:bodyPr wrap="square" lIns="0" tIns="0" rIns="0" bIns="0" rtlCol="0" anchor="t"/>
          <a:lstStyle/>
          <a:p>
            <a:pPr indent="0" marL="0">
              <a:buNone/>
            </a:pPr>
            <a:r>
              <a:rPr lang="en-US" sz="3600" b="1" dirty="0">
                <a:solidFill>
                  <a:srgbClr val="FF5723"/>
                </a:solidFill>
                <a:latin typeface="Playfair Display" pitchFamily="34" charset="0"/>
                <a:ea typeface="Playfair Display" pitchFamily="34" charset="-122"/>
                <a:cs typeface="Playfair Display" pitchFamily="34" charset="-120"/>
              </a:rPr>
              <a:t>decimal(10,2)</a:t>
            </a:r>
            <a:endParaRPr lang="en-US" sz="3600" dirty="0"/>
          </a:p>
        </p:txBody>
      </p:sp>
      <p:sp>
        <p:nvSpPr>
          <p:cNvPr id="8" name="Text 6"/>
          <p:cNvSpPr txBox="1"/>
          <p:nvPr/>
        </p:nvSpPr>
        <p:spPr>
          <a:xfrm>
            <a:off x="7909560" y="4251960"/>
            <a:ext cx="3413455" cy="146304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Floats cannot store 0.1 exactly. Invoices that are off by one dirham destroy trust.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design the API</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plan mode</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Read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docs/requirements.md</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routes/api.php.</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Write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docs/plans/day2-api.md</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with one row per endpoint: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route, controller method, FormRequest and its rules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auth (Sanctum) and authorization (which Policy method)</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success status and every error status, with the reason</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Use only names that already exist in the code or docs/requirements.md.</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Do not write any code yet.</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Forces a decision per endpoint </a:t>
            </a:r>
            <a:pPr indent="0" marL="0">
              <a:buNone/>
            </a:pPr>
            <a:r>
              <a:rPr lang="en-US" sz="1500" b="1" dirty="0">
                <a:solidFill>
                  <a:srgbClr val="FFFFFF"/>
                </a:solidFill>
                <a:latin typeface="Inter" pitchFamily="34" charset="0"/>
                <a:ea typeface="Inter" pitchFamily="34" charset="-122"/>
                <a:cs typeface="Inter" pitchFamily="34" charset="-120"/>
              </a:rPr>
              <a:t>before</a:t>
            </a:r>
            <a:pPr indent="0" marL="0">
              <a:buNone/>
            </a:pPr>
            <a:r>
              <a:rPr lang="en-US" sz="1500" dirty="0">
                <a:solidFill>
                  <a:srgbClr val="FFFFFF"/>
                </a:solidFill>
                <a:latin typeface="Inter" pitchFamily="34" charset="0"/>
                <a:ea typeface="Inter" pitchFamily="34" charset="-122"/>
                <a:cs typeface="Inter" pitchFamily="34" charset="-120"/>
              </a:rPr>
              <a:t> code</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Error statuses become your test list</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"Only existing names" stops invented routes</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Reviewable in two minutes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The Booking API</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الثاني: التسعير وعروض الأسعار</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2 · PART 1</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The Booking API</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Price a trip and return a quote: the </a:t>
            </a:r>
            <a:pPr indent="0" marL="0">
              <a:buNone/>
            </a:pPr>
            <a:r>
              <a:rPr lang="en-US" sz="1400" b="1" dirty="0">
                <a:solidFill>
                  <a:srgbClr val="E8E2D9"/>
                </a:solidFill>
                <a:latin typeface="Inter" pitchFamily="34" charset="0"/>
                <a:ea typeface="Inter" pitchFamily="34" charset="-122"/>
                <a:cs typeface="Inter" pitchFamily="34" charset="-120"/>
              </a:rPr>
              <a:t>service</a:t>
            </a:r>
            <a:pPr indent="0" marL="0">
              <a:buNone/>
            </a:pPr>
            <a:r>
              <a:rPr lang="en-US" sz="1400" dirty="0">
                <a:solidFill>
                  <a:srgbClr val="E8E2D9"/>
                </a:solidFill>
                <a:latin typeface="Inter" pitchFamily="34" charset="0"/>
                <a:ea typeface="Inter" pitchFamily="34" charset="-122"/>
                <a:cs typeface="Inter" pitchFamily="34" charset="-120"/>
              </a:rPr>
              <a:t> and its </a:t>
            </a:r>
            <a:pPr indent="0" marL="0">
              <a:buNone/>
            </a:pPr>
            <a:r>
              <a:rPr lang="en-US" sz="1400" b="1" dirty="0">
                <a:solidFill>
                  <a:srgbClr val="E8E2D9"/>
                </a:solidFill>
                <a:latin typeface="Inter" pitchFamily="34" charset="0"/>
                <a:ea typeface="Inter" pitchFamily="34" charset="-122"/>
                <a:cs typeface="Inter" pitchFamily="34" charset="-120"/>
              </a:rPr>
              <a:t>tests</a:t>
            </a:r>
            <a:pPr indent="0" marL="0">
              <a:buNone/>
            </a:pPr>
            <a:r>
              <a:rPr lang="en-US" sz="1400" dirty="0">
                <a:solidFill>
                  <a:srgbClr val="E8E2D9"/>
                </a:solidFill>
                <a:latin typeface="Inter" pitchFamily="34" charset="0"/>
                <a:ea typeface="Inter" pitchFamily="34" charset="-122"/>
                <a:cs typeface="Inter" pitchFamily="34" charset="-120"/>
              </a:rPr>
              <a:t> first, then the endpoint.</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11:00–12:30</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labs/lab2.md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day2-end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git checkout day1-end</a:t>
            </a:r>
            <a:pPr indent="0" marL="0">
              <a:buNone/>
            </a:pPr>
            <a:r>
              <a:rPr lang="en-US" sz="1500" dirty="0">
                <a:solidFill>
                  <a:srgbClr val="272827"/>
                </a:solidFill>
                <a:latin typeface="Inter" pitchFamily="34" charset="0"/>
                <a:ea typeface="Inter" pitchFamily="34" charset="-122"/>
                <a:cs typeface="Inter" pitchFamily="34" charset="-120"/>
              </a:rPr>
              <a:t>, then migrate fresh and seed</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Agent writes </a:t>
            </a:r>
            <a:pPr indent="0" marL="0">
              <a:buNone/>
            </a:pPr>
            <a:r>
              <a:rPr lang="en-US" sz="1500" dirty="0">
                <a:solidFill>
                  <a:srgbClr val="C2410C"/>
                </a:solidFill>
                <a:latin typeface="JetBrains Mono" pitchFamily="34" charset="0"/>
                <a:ea typeface="JetBrains Mono" pitchFamily="34" charset="-122"/>
                <a:cs typeface="JetBrains Mono" pitchFamily="34" charset="-120"/>
              </a:rPr>
              <a:t>PricingService</a:t>
            </a:r>
            <a:pPr indent="0" marL="0">
              <a:buNone/>
            </a:pPr>
            <a:r>
              <a:rPr lang="en-US" sz="1500" dirty="0">
                <a:solidFill>
                  <a:srgbClr val="272827"/>
                </a:solidFill>
                <a:latin typeface="Inter" pitchFamily="34" charset="0"/>
                <a:ea typeface="Inter" pitchFamily="34" charset="-122"/>
                <a:cs typeface="Inter" pitchFamily="34" charset="-120"/>
              </a:rPr>
              <a:t> unit tests; watch them fail</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Implement </a:t>
            </a:r>
            <a:pPr indent="0" marL="0">
              <a:buNone/>
            </a:pPr>
            <a:r>
              <a:rPr lang="en-US" sz="1500" dirty="0">
                <a:solidFill>
                  <a:srgbClr val="C2410C"/>
                </a:solidFill>
                <a:latin typeface="JetBrains Mono" pitchFamily="34" charset="0"/>
                <a:ea typeface="JetBrains Mono" pitchFamily="34" charset="-122"/>
                <a:cs typeface="JetBrains Mono" pitchFamily="34" charset="-120"/>
              </a:rPr>
              <a:t>PricingService</a:t>
            </a:r>
            <a:pPr indent="0" marL="0">
              <a:buNone/>
            </a:pPr>
            <a:r>
              <a:rPr lang="en-US" sz="1500" dirty="0">
                <a:solidFill>
                  <a:srgbClr val="272827"/>
                </a:solidFill>
                <a:latin typeface="Inter" pitchFamily="34" charset="0"/>
                <a:ea typeface="Inter" pitchFamily="34" charset="-122"/>
                <a:cs typeface="Inter" pitchFamily="34" charset="-120"/>
              </a:rPr>
              <a:t> until the tests are green</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/auth/register</a:t>
            </a:r>
            <a:pPr indent="0" marL="0">
              <a:buNone/>
            </a:pPr>
            <a:r>
              <a:rPr lang="en-US" sz="1500" dirty="0">
                <a:solidFill>
                  <a:srgbClr val="272827"/>
                </a:solidFill>
                <a:latin typeface="Inter" pitchFamily="34" charset="0"/>
                <a:ea typeface="Inter" pitchFamily="34" charset="-122"/>
                <a:cs typeface="Inter" pitchFamily="34" charset="-120"/>
              </a:rPr>
              <a:t> and </a:t>
            </a:r>
            <a:pPr indent="0" marL="0">
              <a:buNone/>
            </a:pPr>
            <a:r>
              <a:rPr lang="en-US" sz="1500" dirty="0">
                <a:solidFill>
                  <a:srgbClr val="C2410C"/>
                </a:solidFill>
                <a:latin typeface="JetBrains Mono" pitchFamily="34" charset="0"/>
                <a:ea typeface="JetBrains Mono" pitchFamily="34" charset="-122"/>
                <a:cs typeface="JetBrains Mono" pitchFamily="34" charset="-120"/>
              </a:rPr>
              <a:t>/auth/login</a:t>
            </a:r>
            <a:pPr indent="0" marL="0">
              <a:buNone/>
            </a:pPr>
            <a:r>
              <a:rPr lang="en-US" sz="1500" dirty="0">
                <a:solidFill>
                  <a:srgbClr val="272827"/>
                </a:solidFill>
                <a:latin typeface="Inter" pitchFamily="34" charset="0"/>
                <a:ea typeface="Inter" pitchFamily="34" charset="-122"/>
                <a:cs typeface="Inter" pitchFamily="34" charset="-120"/>
              </a:rPr>
              <a:t> returning Sanctum tokens</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StoreQuoteRequest</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QuoteResource</a:t>
            </a:r>
            <a:pPr indent="0" marL="0">
              <a:buNone/>
            </a:pPr>
            <a:r>
              <a:rPr lang="en-US" sz="1500" dirty="0">
                <a:solidFill>
                  <a:srgbClr val="272827"/>
                </a:solidFill>
                <a:latin typeface="Inter" pitchFamily="34" charset="0"/>
                <a:ea typeface="Inter" pitchFamily="34" charset="-122"/>
                <a:cs typeface="Inter" pitchFamily="34" charset="-120"/>
              </a:rPr>
              <a:t> and </a:t>
            </a:r>
            <a:pPr indent="0" marL="0">
              <a:buNone/>
            </a:pPr>
            <a:r>
              <a:rPr lang="en-US" sz="1500" dirty="0">
                <a:solidFill>
                  <a:srgbClr val="C2410C"/>
                </a:solidFill>
                <a:latin typeface="JetBrains Mono" pitchFamily="34" charset="0"/>
                <a:ea typeface="JetBrains Mono" pitchFamily="34" charset="-122"/>
                <a:cs typeface="JetBrains Mono" pitchFamily="34" charset="-120"/>
              </a:rPr>
              <a:t>POST /api/quotes</a:t>
            </a:r>
            <a:endParaRPr lang="en-US" sz="1500" dirty="0"/>
          </a:p>
        </p:txBody>
      </p:sp>
      <p:sp>
        <p:nvSpPr>
          <p:cNvPr id="25" name="Shape 23"/>
          <p:cNvSpPr/>
          <p:nvPr/>
        </p:nvSpPr>
        <p:spPr>
          <a:xfrm>
            <a:off x="4754880" y="46360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6177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Feature tests for 201, 401 and 422, then commit</a:t>
            </a:r>
            <a:endParaRPr lang="en-US" sz="1500" dirty="0"/>
          </a:p>
        </p:txBody>
      </p:sp>
      <p:sp>
        <p:nvSpPr>
          <p:cNvPr id="28" name="Shape 26"/>
          <p:cNvSpPr/>
          <p:nvPr/>
        </p:nvSpPr>
        <p:spPr>
          <a:xfrm>
            <a:off x="4754880" y="5212080"/>
            <a:ext cx="6888175" cy="914400"/>
          </a:xfrm>
          <a:prstGeom prst="roundRect">
            <a:avLst>
              <a:gd name="adj" fmla="val 8000"/>
            </a:avLst>
          </a:prstGeom>
          <a:solidFill>
            <a:srgbClr val="F6F3EE"/>
          </a:solidFill>
          <a:ln w="12700">
            <a:solidFill>
              <a:srgbClr val="D0CBC0"/>
            </a:solidFill>
            <a:prstDash val="solid"/>
          </a:ln>
        </p:spPr>
      </p:sp>
      <p:sp>
        <p:nvSpPr>
          <p:cNvPr id="29" name="Text 27"/>
          <p:cNvSpPr txBox="1"/>
          <p:nvPr/>
        </p:nvSpPr>
        <p:spPr>
          <a:xfrm>
            <a:off x="4983480" y="5257800"/>
            <a:ext cx="6430975" cy="8229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C2410C"/>
                </a:solidFill>
                <a:latin typeface="JetBrains Mono" pitchFamily="34" charset="0"/>
                <a:ea typeface="JetBrains Mono" pitchFamily="34" charset="-122"/>
                <a:cs typeface="JetBrains Mono" pitchFamily="34" charset="-120"/>
              </a:rPr>
              <a:t>POST /api/quotes</a:t>
            </a:r>
            <a:pPr indent="0" marL="0">
              <a:buNone/>
            </a:pPr>
            <a:r>
              <a:rPr lang="en-US" sz="1400" dirty="0">
                <a:solidFill>
                  <a:srgbClr val="272827"/>
                </a:solidFill>
                <a:latin typeface="Inter" pitchFamily="34" charset="0"/>
                <a:ea typeface="Inter" pitchFamily="34" charset="-122"/>
                <a:cs typeface="Inter" pitchFamily="34" charset="-120"/>
              </a:rPr>
              <a:t> returns a priced quote that expires in 15 minutes, with unit and feature tests green.</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B · 13:30–14:15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Tests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first</a:t>
            </a:r>
            <a:pPr indent="0" marL="0">
              <a:buNone/>
            </a:pPr>
            <a:r>
              <a:rPr lang="en-US" sz="4600" b="1" dirty="0">
                <a:solidFill>
                  <a:srgbClr val="FFFFFF"/>
                </a:solidFill>
                <a:latin typeface="Playfair Display" pitchFamily="34" charset="0"/>
                <a:ea typeface="Playfair Display" pitchFamily="34" charset="-122"/>
                <a:cs typeface="Playfair Display" pitchFamily="34" charset="-120"/>
              </a:rPr>
              <a:t>, then code</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الاختبارات أولاً ثم الكود</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Red → green → refactor   ·   Test pyramid   ·   Pest unit &amp; feature tests   ·   Constraints &amp; indexes   ·   Booking &amp; cancelling   ·   AI review checklist</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02</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TDD with an agent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التطوير الموجه بالاختبارات مع وكيل</a:t>
            </a:r>
            <a:endParaRPr lang="ar-LY" sz="1700" dirty="0"/>
          </a:p>
        </p:txBody>
      </p:sp>
      <p:sp>
        <p:nvSpPr>
          <p:cNvPr id="4" name="Shape 2"/>
          <p:cNvSpPr/>
          <p:nvPr/>
        </p:nvSpPr>
        <p:spPr>
          <a:xfrm>
            <a:off x="548640" y="210312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Red</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agent writes a failing test from the spec</a:t>
            </a:r>
            <a:endParaRPr lang="en-US" sz="1600" dirty="0"/>
          </a:p>
        </p:txBody>
      </p:sp>
      <p:sp>
        <p:nvSpPr>
          <p:cNvPr id="6" name="Shape 4"/>
          <p:cNvSpPr/>
          <p:nvPr/>
        </p:nvSpPr>
        <p:spPr>
          <a:xfrm>
            <a:off x="3436544" y="2103120"/>
            <a:ext cx="2430704" cy="1554480"/>
          </a:xfrm>
          <a:prstGeom prst="roundRect">
            <a:avLst>
              <a:gd name="adj" fmla="val 4706"/>
            </a:avLst>
          </a:prstGeom>
          <a:solidFill>
            <a:srgbClr val="FF5723"/>
          </a:solidFill>
          <a:ln w="12700">
            <a:solidFill>
              <a:srgbClr val="FF5723"/>
            </a:solidFill>
            <a:prstDash val="solid"/>
          </a:ln>
        </p:spPr>
      </p:sp>
      <p:sp>
        <p:nvSpPr>
          <p:cNvPr id="7" name="Text 5"/>
          <p:cNvSpPr txBox="1"/>
          <p:nvPr/>
        </p:nvSpPr>
        <p:spPr>
          <a:xfrm>
            <a:off x="3509696"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FFFFFF"/>
                </a:solidFill>
                <a:latin typeface="Inter" pitchFamily="34" charset="0"/>
                <a:ea typeface="Inter" pitchFamily="34" charset="-122"/>
                <a:cs typeface="Inter" pitchFamily="34" charset="-120"/>
              </a:rPr>
              <a:t>Review</a:t>
            </a:r>
            <a:endParaRPr lang="en-US" sz="1600" dirty="0"/>
          </a:p>
          <a:p>
            <a:pPr algn="ctr" indent="0" marL="0">
              <a:spcAft>
                <a:spcPts val="200"/>
              </a:spcAft>
              <a:buNone/>
            </a:pPr>
            <a:r>
              <a:rPr lang="en-US" sz="1300" dirty="0">
                <a:solidFill>
                  <a:srgbClr val="FFE3D9"/>
                </a:solidFill>
                <a:latin typeface="Inter" pitchFamily="34" charset="0"/>
                <a:ea typeface="Inter" pitchFamily="34" charset="-122"/>
                <a:cs typeface="Inter" pitchFamily="34" charset="-120"/>
              </a:rPr>
              <a:t>you read the test: right behaviour?</a:t>
            </a:r>
            <a:endParaRPr lang="en-US" sz="1600" dirty="0"/>
          </a:p>
        </p:txBody>
      </p:sp>
      <p:sp>
        <p:nvSpPr>
          <p:cNvPr id="8" name="Shape 6"/>
          <p:cNvSpPr/>
          <p:nvPr/>
        </p:nvSpPr>
        <p:spPr>
          <a:xfrm>
            <a:off x="6324448" y="210312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397600"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Green</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agent writes the minimum code</a:t>
            </a:r>
            <a:endParaRPr lang="en-US" sz="1600" dirty="0"/>
          </a:p>
        </p:txBody>
      </p:sp>
      <p:sp>
        <p:nvSpPr>
          <p:cNvPr id="10" name="Shape 8"/>
          <p:cNvSpPr/>
          <p:nvPr/>
        </p:nvSpPr>
        <p:spPr>
          <a:xfrm>
            <a:off x="9212351" y="210312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9285503" y="213969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Refactor</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tidy up, tests stay green</a:t>
            </a:r>
            <a:endParaRPr lang="en-US" sz="1600" dirty="0"/>
          </a:p>
        </p:txBody>
      </p:sp>
      <p:sp>
        <p:nvSpPr>
          <p:cNvPr id="12" name="Shape 10"/>
          <p:cNvSpPr/>
          <p:nvPr/>
        </p:nvSpPr>
        <p:spPr>
          <a:xfrm>
            <a:off x="2979344" y="2880360"/>
            <a:ext cx="457200" cy="914"/>
          </a:xfrm>
          <a:prstGeom prst="line">
            <a:avLst/>
          </a:prstGeom>
          <a:noFill/>
          <a:ln w="19050">
            <a:solidFill>
              <a:srgbClr val="3A3B3A"/>
            </a:solidFill>
            <a:prstDash val="solid"/>
            <a:tailEnd type="triangle"/>
          </a:ln>
        </p:spPr>
      </p:sp>
      <p:sp>
        <p:nvSpPr>
          <p:cNvPr id="13" name="Shape 11"/>
          <p:cNvSpPr/>
          <p:nvPr/>
        </p:nvSpPr>
        <p:spPr>
          <a:xfrm>
            <a:off x="5867248" y="2880360"/>
            <a:ext cx="457200" cy="914"/>
          </a:xfrm>
          <a:prstGeom prst="line">
            <a:avLst/>
          </a:prstGeom>
          <a:noFill/>
          <a:ln w="19050">
            <a:solidFill>
              <a:srgbClr val="3A3B3A"/>
            </a:solidFill>
            <a:prstDash val="solid"/>
            <a:tailEnd type="triangle"/>
          </a:ln>
        </p:spPr>
      </p:sp>
      <p:sp>
        <p:nvSpPr>
          <p:cNvPr id="14" name="Shape 12"/>
          <p:cNvSpPr/>
          <p:nvPr/>
        </p:nvSpPr>
        <p:spPr>
          <a:xfrm>
            <a:off x="8755151" y="2880360"/>
            <a:ext cx="457200" cy="914"/>
          </a:xfrm>
          <a:prstGeom prst="line">
            <a:avLst/>
          </a:prstGeom>
          <a:noFill/>
          <a:ln w="19050">
            <a:solidFill>
              <a:srgbClr val="3A3B3A"/>
            </a:solidFill>
            <a:prstDash val="solid"/>
            <a:tailEnd type="triangle"/>
          </a:ln>
        </p:spPr>
      </p:sp>
      <p:sp>
        <p:nvSpPr>
          <p:cNvPr id="15" name="Shape 13"/>
          <p:cNvSpPr/>
          <p:nvPr/>
        </p:nvSpPr>
        <p:spPr>
          <a:xfrm>
            <a:off x="10427703" y="3657600"/>
            <a:ext cx="914" cy="411480"/>
          </a:xfrm>
          <a:prstGeom prst="line">
            <a:avLst/>
          </a:prstGeom>
          <a:noFill/>
          <a:ln w="25400">
            <a:solidFill>
              <a:srgbClr val="FF5723"/>
            </a:solidFill>
            <a:prstDash val="solid"/>
          </a:ln>
        </p:spPr>
      </p:sp>
      <p:sp>
        <p:nvSpPr>
          <p:cNvPr id="16" name="Shape 14"/>
          <p:cNvSpPr/>
          <p:nvPr/>
        </p:nvSpPr>
        <p:spPr>
          <a:xfrm flipH="1">
            <a:off x="1763992" y="4069080"/>
            <a:ext cx="8663711" cy="914"/>
          </a:xfrm>
          <a:prstGeom prst="line">
            <a:avLst/>
          </a:prstGeom>
          <a:noFill/>
          <a:ln w="25400">
            <a:solidFill>
              <a:srgbClr val="FF5723"/>
            </a:solidFill>
            <a:prstDash val="solid"/>
          </a:ln>
        </p:spPr>
      </p:sp>
      <p:sp>
        <p:nvSpPr>
          <p:cNvPr id="17" name="Shape 15"/>
          <p:cNvSpPr/>
          <p:nvPr/>
        </p:nvSpPr>
        <p:spPr>
          <a:xfrm flipV="1">
            <a:off x="1763992" y="3657600"/>
            <a:ext cx="914" cy="411480"/>
          </a:xfrm>
          <a:prstGeom prst="line">
            <a:avLst/>
          </a:prstGeom>
          <a:noFill/>
          <a:ln w="25400">
            <a:solidFill>
              <a:srgbClr val="FF5723"/>
            </a:solidFill>
            <a:prstDash val="solid"/>
            <a:tailEnd type="triangle"/>
          </a:ln>
        </p:spPr>
      </p:sp>
      <p:sp>
        <p:nvSpPr>
          <p:cNvPr id="18" name="Text 16"/>
          <p:cNvSpPr txBox="1"/>
          <p:nvPr/>
        </p:nvSpPr>
        <p:spPr>
          <a:xfrm>
            <a:off x="2038312" y="4142232"/>
            <a:ext cx="8115071" cy="320040"/>
          </a:xfrm>
          <a:prstGeom prst="rect">
            <a:avLst/>
          </a:prstGeom>
          <a:noFill/>
          <a:ln/>
        </p:spPr>
        <p:txBody>
          <a:bodyPr wrap="square" lIns="0" tIns="0" rIns="0" bIns="0" rtlCol="0" anchor="ctr"/>
          <a:lstStyle/>
          <a:p>
            <a:pPr algn="ctr" indent="0" marL="0">
              <a:buNone/>
            </a:pPr>
            <a:r>
              <a:rPr lang="en-US" sz="1300" i="1" dirty="0">
                <a:solidFill>
                  <a:srgbClr val="FF5723"/>
                </a:solidFill>
                <a:latin typeface="Inter" pitchFamily="34" charset="0"/>
                <a:ea typeface="Inter" pitchFamily="34" charset="-122"/>
                <a:cs typeface="Inter" pitchFamily="34" charset="-120"/>
              </a:rPr>
              <a:t>next behaviour: repeat</a:t>
            </a:r>
            <a:endParaRPr lang="en-US" sz="1300" dirty="0"/>
          </a:p>
        </p:txBody>
      </p:sp>
      <p:sp>
        <p:nvSpPr>
          <p:cNvPr id="19" name="Text 17"/>
          <p:cNvSpPr txBox="1"/>
          <p:nvPr/>
        </p:nvSpPr>
        <p:spPr>
          <a:xfrm>
            <a:off x="548640" y="461772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The test is the </a:t>
            </a:r>
            <a:pPr indent="0" marL="0">
              <a:buNone/>
            </a:pPr>
            <a:r>
              <a:rPr lang="en-US" sz="1600" b="1" dirty="0">
                <a:solidFill>
                  <a:srgbClr val="272827"/>
                </a:solidFill>
                <a:latin typeface="Inter" pitchFamily="34" charset="0"/>
                <a:ea typeface="Inter" pitchFamily="34" charset="-122"/>
                <a:cs typeface="Inter" pitchFamily="34" charset="-120"/>
              </a:rPr>
              <a:t>spec you can run</a:t>
            </a:r>
            <a:pPr indent="0" marL="0">
              <a:buNone/>
            </a:pPr>
            <a:r>
              <a:rPr lang="en-US" sz="1600" dirty="0">
                <a:solidFill>
                  <a:srgbClr val="272827"/>
                </a:solidFill>
                <a:latin typeface="Inter" pitchFamily="34" charset="0"/>
                <a:ea typeface="Inter" pitchFamily="34" charset="-122"/>
                <a:cs typeface="Inter" pitchFamily="34" charset="-120"/>
              </a:rPr>
              <a:t>. Reviewing a 10-line test is easier than a 100-line class</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test pyramid</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هرم الاختبارات</a:t>
            </a:r>
            <a:endParaRPr lang="ar-LY" sz="1700" dirty="0"/>
          </a:p>
        </p:txBody>
      </p:sp>
      <p:sp>
        <p:nvSpPr>
          <p:cNvPr id="4" name="Shape 2"/>
          <p:cNvSpPr/>
          <p:nvPr/>
        </p:nvSpPr>
        <p:spPr>
          <a:xfrm>
            <a:off x="2377440" y="1828800"/>
            <a:ext cx="2743200" cy="960120"/>
          </a:xfrm>
          <a:prstGeom prst="roundRect">
            <a:avLst>
              <a:gd name="adj" fmla="val 7619"/>
            </a:avLst>
          </a:prstGeom>
          <a:solidFill>
            <a:srgbClr val="272827"/>
          </a:solidFill>
          <a:ln w="12700">
            <a:solidFill>
              <a:srgbClr val="272827"/>
            </a:solidFill>
            <a:prstDash val="solid"/>
          </a:ln>
        </p:spPr>
      </p:sp>
      <p:sp>
        <p:nvSpPr>
          <p:cNvPr id="5" name="Text 3"/>
          <p:cNvSpPr txBox="1"/>
          <p:nvPr/>
        </p:nvSpPr>
        <p:spPr>
          <a:xfrm>
            <a:off x="2450592" y="1865376"/>
            <a:ext cx="259689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End-to-end</a:t>
            </a:r>
            <a:endParaRPr lang="en-US" sz="1500" dirty="0"/>
          </a:p>
          <a:p>
            <a:pPr algn="ctr" indent="0" marL="0">
              <a:spcAft>
                <a:spcPts val="200"/>
              </a:spcAft>
              <a:buNone/>
            </a:pPr>
            <a:r>
              <a:rPr lang="en-US" sz="1200" dirty="0">
                <a:solidFill>
                  <a:srgbClr val="9CA3AF"/>
                </a:solidFill>
                <a:latin typeface="Inter" pitchFamily="34" charset="0"/>
                <a:ea typeface="Inter" pitchFamily="34" charset="-122"/>
                <a:cs typeface="Inter" pitchFamily="34" charset="-120"/>
              </a:rPr>
              <a:t>few · slow · manual, k6</a:t>
            </a:r>
            <a:endParaRPr lang="en-US" sz="1500" dirty="0"/>
          </a:p>
        </p:txBody>
      </p:sp>
      <p:sp>
        <p:nvSpPr>
          <p:cNvPr id="6" name="Shape 4"/>
          <p:cNvSpPr/>
          <p:nvPr/>
        </p:nvSpPr>
        <p:spPr>
          <a:xfrm>
            <a:off x="1463040" y="3017520"/>
            <a:ext cx="4572000" cy="960120"/>
          </a:xfrm>
          <a:prstGeom prst="roundRect">
            <a:avLst>
              <a:gd name="adj" fmla="val 7619"/>
            </a:avLst>
          </a:prstGeom>
          <a:solidFill>
            <a:srgbClr val="FF5723"/>
          </a:solidFill>
          <a:ln w="12700">
            <a:solidFill>
              <a:srgbClr val="FF5723"/>
            </a:solidFill>
            <a:prstDash val="solid"/>
          </a:ln>
        </p:spPr>
      </p:sp>
      <p:sp>
        <p:nvSpPr>
          <p:cNvPr id="7" name="Text 5"/>
          <p:cNvSpPr txBox="1"/>
          <p:nvPr/>
        </p:nvSpPr>
        <p:spPr>
          <a:xfrm>
            <a:off x="1536192" y="3054096"/>
            <a:ext cx="442569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Feature (HTTP) tests</a:t>
            </a:r>
            <a:endParaRPr lang="en-US" sz="1500" dirty="0"/>
          </a:p>
          <a:p>
            <a:pPr algn="ctr" indent="0" marL="0">
              <a:spcAft>
                <a:spcPts val="200"/>
              </a:spcAft>
              <a:buNone/>
            </a:pPr>
            <a:r>
              <a:rPr lang="en-US" sz="1200" dirty="0">
                <a:solidFill>
                  <a:srgbClr val="FFE3D9"/>
                </a:solidFill>
                <a:latin typeface="Inter" pitchFamily="34" charset="0"/>
                <a:ea typeface="Inter" pitchFamily="34" charset="-122"/>
                <a:cs typeface="Inter" pitchFamily="34" charset="-120"/>
              </a:rPr>
              <a:t>many · postJson + database</a:t>
            </a:r>
            <a:endParaRPr lang="en-US" sz="1500" dirty="0"/>
          </a:p>
        </p:txBody>
      </p:sp>
      <p:sp>
        <p:nvSpPr>
          <p:cNvPr id="8" name="Shape 6"/>
          <p:cNvSpPr/>
          <p:nvPr/>
        </p:nvSpPr>
        <p:spPr>
          <a:xfrm>
            <a:off x="548640" y="4206240"/>
            <a:ext cx="6400800" cy="960120"/>
          </a:xfrm>
          <a:prstGeom prst="roundRect">
            <a:avLst>
              <a:gd name="adj" fmla="val 7619"/>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21792" y="4242816"/>
            <a:ext cx="6254496" cy="88696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Unit tests</a:t>
            </a:r>
            <a:endParaRPr lang="en-US" sz="1500" dirty="0"/>
          </a:p>
          <a:p>
            <a:pPr algn="ctr" indent="0" marL="0">
              <a:spcAft>
                <a:spcPts val="200"/>
              </a:spcAft>
              <a:buNone/>
            </a:pPr>
            <a:r>
              <a:rPr lang="en-US" sz="1200" dirty="0">
                <a:solidFill>
                  <a:srgbClr val="6B7280"/>
                </a:solidFill>
                <a:latin typeface="Inter" pitchFamily="34" charset="0"/>
                <a:ea typeface="Inter" pitchFamily="34" charset="-122"/>
                <a:cs typeface="Inter" pitchFamily="34" charset="-120"/>
              </a:rPr>
              <a:t>most · PricingService, ShipmentStatus</a:t>
            </a:r>
            <a:endParaRPr lang="en-US" sz="1500" dirty="0"/>
          </a:p>
        </p:txBody>
      </p:sp>
      <p:sp>
        <p:nvSpPr>
          <p:cNvPr id="10" name="Shape 8"/>
          <p:cNvSpPr/>
          <p:nvPr/>
        </p:nvSpPr>
        <p:spPr>
          <a:xfrm>
            <a:off x="7498080" y="1828800"/>
            <a:ext cx="4142232" cy="960120"/>
          </a:xfrm>
          <a:prstGeom prst="roundRect">
            <a:avLst>
              <a:gd name="adj" fmla="val 7619"/>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7571232" y="1865376"/>
            <a:ext cx="3995928" cy="8869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Does the whole system work?</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Day 3 load tests, demos</a:t>
            </a:r>
            <a:endParaRPr lang="en-US" sz="1400" dirty="0"/>
          </a:p>
        </p:txBody>
      </p:sp>
      <p:sp>
        <p:nvSpPr>
          <p:cNvPr id="12" name="Shape 10"/>
          <p:cNvSpPr/>
          <p:nvPr/>
        </p:nvSpPr>
        <p:spPr>
          <a:xfrm>
            <a:off x="7498080" y="3017520"/>
            <a:ext cx="4142232" cy="960120"/>
          </a:xfrm>
          <a:prstGeom prst="roundRect">
            <a:avLst>
              <a:gd name="adj" fmla="val 7619"/>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571232" y="3054096"/>
            <a:ext cx="3995928" cy="8869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Does each endpoint keep its contract?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status codes, JSON shape, auth</a:t>
            </a:r>
            <a:endParaRPr lang="en-US" sz="1400" dirty="0"/>
          </a:p>
        </p:txBody>
      </p:sp>
      <p:sp>
        <p:nvSpPr>
          <p:cNvPr id="14" name="Shape 12"/>
          <p:cNvSpPr/>
          <p:nvPr/>
        </p:nvSpPr>
        <p:spPr>
          <a:xfrm>
            <a:off x="7498080" y="4206240"/>
            <a:ext cx="4142232" cy="960120"/>
          </a:xfrm>
          <a:prstGeom prst="roundRect">
            <a:avLst>
              <a:gd name="adj" fmla="val 7619"/>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7571232" y="4242816"/>
            <a:ext cx="3995928" cy="88696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Is each rule correct?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pricing, transitions · milliseconds</a:t>
            </a:r>
            <a:endParaRPr lang="en-US" sz="1400" dirty="0"/>
          </a:p>
        </p:txBody>
      </p:sp>
      <p:sp>
        <p:nvSpPr>
          <p:cNvPr id="16" name="Text 14"/>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Today's target: </a:t>
            </a:r>
            <a:pPr indent="0" marL="0">
              <a:buNone/>
            </a:pPr>
            <a:r>
              <a:rPr lang="en-US" sz="1400" b="1" i="1" dirty="0">
                <a:solidFill>
                  <a:srgbClr val="3A3B3A"/>
                </a:solidFill>
                <a:latin typeface="Inter" pitchFamily="34" charset="0"/>
                <a:ea typeface="Inter" pitchFamily="34" charset="-122"/>
                <a:cs typeface="Inter" pitchFamily="34" charset="-120"/>
              </a:rPr>
              <a:t>≥ 20 new tests</a:t>
            </a:r>
            <a:pPr indent="0" marL="0">
              <a:buNone/>
            </a:pPr>
            <a:r>
              <a:rPr lang="en-US" sz="1400" i="1" dirty="0">
                <a:solidFill>
                  <a:srgbClr val="3A3B3A"/>
                </a:solidFill>
                <a:latin typeface="Inter" pitchFamily="34" charset="0"/>
                <a:ea typeface="Inter" pitchFamily="34" charset="-122"/>
                <a:cs typeface="Inter" pitchFamily="34" charset="-120"/>
              </a:rPr>
              <a:t>, mostly feature tests. The </a:t>
            </a:r>
            <a:pPr indent="0" marL="0">
              <a:buNone/>
            </a:pPr>
            <a:r>
              <a:rPr lang="en-US" sz="1400" i="1" dirty="0">
                <a:solidFill>
                  <a:srgbClr val="C2410C"/>
                </a:solidFill>
                <a:latin typeface="JetBrains Mono" pitchFamily="34" charset="0"/>
                <a:ea typeface="JetBrains Mono" pitchFamily="34" charset="-122"/>
                <a:cs typeface="JetBrains Mono" pitchFamily="34" charset="-120"/>
              </a:rPr>
              <a:t>day2-end</a:t>
            </a:r>
            <a:pPr indent="0" marL="0">
              <a:buNone/>
            </a:pPr>
            <a:r>
              <a:rPr lang="en-US" sz="1400" i="1" dirty="0">
                <a:solidFill>
                  <a:srgbClr val="3A3B3A"/>
                </a:solidFill>
                <a:latin typeface="Inter" pitchFamily="34" charset="0"/>
                <a:ea typeface="Inter" pitchFamily="34" charset="-122"/>
                <a:cs typeface="Inter" pitchFamily="34" charset="-120"/>
              </a:rPr>
              <a:t> tag has </a:t>
            </a:r>
            <a:pPr indent="0" marL="0">
              <a:buNone/>
            </a:pPr>
            <a:r>
              <a:rPr lang="en-US" sz="1400" b="1" i="1" dirty="0">
                <a:solidFill>
                  <a:srgbClr val="3A3B3A"/>
                </a:solidFill>
                <a:latin typeface="Inter" pitchFamily="34" charset="0"/>
                <a:ea typeface="Inter" pitchFamily="34" charset="-122"/>
                <a:cs typeface="Inter" pitchFamily="34" charset="-120"/>
              </a:rPr>
              <a:t>56</a:t>
            </a:r>
            <a:pPr indent="0" marL="0">
              <a:buNone/>
            </a:pPr>
            <a:r>
              <a:rPr lang="en-US" sz="1400" i="1" dirty="0">
                <a:solidFill>
                  <a:srgbClr val="3A3B3A"/>
                </a:solidFill>
                <a:latin typeface="Inter" pitchFamily="34" charset="0"/>
                <a:ea typeface="Inter" pitchFamily="34" charset="-122"/>
                <a:cs typeface="Inter" pitchFamily="34" charset="-120"/>
              </a:rPr>
              <a:t> in total.</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PricingService: one rule, one place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خدمة التسعير: قاعدة واحدة في مكان واحد</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app/Services/PricingService.php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PricingService</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const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BASE_FEE_LYD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50;</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const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RATE_PER_KG_LYD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0.02;</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const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RATE_PER_KM_LYD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'van'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0.8,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'box_truck'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1.2,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'flatbed'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1.5,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'reefer'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1.9,</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price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int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$originCityId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int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$destinationCityId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int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$weightKg</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string</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$km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distanceKm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$originCityId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$destinationCityId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$price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BASE_FEE_LYD</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$km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RATE_PER_KM_LYD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value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$weightKg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RATE_PER_KG_LYD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number_format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$price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2,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distanceKm(): 0 for the same city, else city_distances.km</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createQuote(): saves the Quote with expires_at = now + 15 min</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Formula from the spec: </a:t>
            </a:r>
            <a:pPr indent="0" marL="0">
              <a:buNone/>
            </a:pPr>
            <a:r>
              <a:rPr lang="en-US" sz="1500" b="1" dirty="0">
                <a:solidFill>
                  <a:srgbClr val="272827"/>
                </a:solidFill>
                <a:latin typeface="Inter" pitchFamily="34" charset="0"/>
                <a:ea typeface="Inter" pitchFamily="34" charset="-122"/>
                <a:cs typeface="Inter" pitchFamily="34" charset="-120"/>
              </a:rPr>
              <a:t>50 + km × rate + kg × 0.02</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No HTTP: the service is called by the controller and, on Day 4, by the agent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Round </a:t>
            </a:r>
            <a:pPr indent="0" marL="0">
              <a:buNone/>
            </a:pPr>
            <a:r>
              <a:rPr lang="en-US" sz="1500" b="1" dirty="0">
                <a:solidFill>
                  <a:srgbClr val="272827"/>
                </a:solidFill>
                <a:latin typeface="Inter" pitchFamily="34" charset="0"/>
                <a:ea typeface="Inter" pitchFamily="34" charset="-122"/>
                <a:cs typeface="Inter" pitchFamily="34" charset="-120"/>
              </a:rPr>
              <a:t>once</a:t>
            </a:r>
            <a:pPr indent="0" marL="0">
              <a:buNone/>
            </a:pPr>
            <a:r>
              <a:rPr lang="en-US" sz="1500" dirty="0">
                <a:solidFill>
                  <a:srgbClr val="272827"/>
                </a:solidFill>
                <a:latin typeface="Inter" pitchFamily="34" charset="0"/>
                <a:ea typeface="Inter" pitchFamily="34" charset="-122"/>
                <a:cs typeface="Inter" pitchFamily="34" charset="-120"/>
              </a:rPr>
              <a:t>, at the end, to 2 decimals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Returns a </a:t>
            </a:r>
            <a:pPr indent="0" marL="0">
              <a:buNone/>
            </a:pPr>
            <a:r>
              <a:rPr lang="en-US" sz="1500" dirty="0">
                <a:solidFill>
                  <a:srgbClr val="C2410C"/>
                </a:solidFill>
                <a:latin typeface="JetBrains Mono" pitchFamily="34" charset="0"/>
                <a:ea typeface="JetBrains Mono" pitchFamily="34" charset="-122"/>
                <a:cs typeface="JetBrains Mono" pitchFamily="34" charset="-120"/>
              </a:rPr>
              <a:t>"322.00"</a:t>
            </a:r>
            <a:pPr indent="0" marL="0">
              <a:buNone/>
            </a:pPr>
            <a:r>
              <a:rPr lang="en-US" sz="1500" dirty="0">
                <a:solidFill>
                  <a:srgbClr val="272827"/>
                </a:solidFill>
                <a:latin typeface="Inter" pitchFamily="34" charset="0"/>
                <a:ea typeface="Inter" pitchFamily="34" charset="-122"/>
                <a:cs typeface="Inter" pitchFamily="34" charset="-120"/>
              </a:rPr>
              <a:t> string, ready for a decimal column</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Unit test with a dataset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اختبار وحدة مع مجموعة بيانات</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tests/Unit/PricingServiceTest.php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Pricing reads distances from the database, so these tests boot Laravel.</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TestCase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RefreshDatabase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beforeEach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seed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CitySeeder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pricing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PricingService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'prices Tripoli to Misrata by box truck'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50 + 210 km × 1.2 + 1000 kg × 0.02 = 322</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pricing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city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'TIP'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city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'MRA'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BoxTruck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1000))-&gt;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toBe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'322.00'</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'uses each vehicle rate'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$expected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Tripoli → Zawiya is 45 km, 500 kg adds 10 LYD</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pricing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city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'TIP'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city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'ZAW'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500))</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toBe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$expected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Van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'96.00'</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BoxTruck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'114.00'</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Flatbed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'127.50'</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VehicleType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Reefer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'145.50'</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Expected values worked out </a:t>
            </a:r>
            <a:pPr indent="0" marL="0">
              <a:buNone/>
            </a:pPr>
            <a:r>
              <a:rPr lang="en-US" sz="1500" b="1" dirty="0">
                <a:solidFill>
                  <a:srgbClr val="272827"/>
                </a:solidFill>
                <a:latin typeface="Inter" pitchFamily="34" charset="0"/>
                <a:ea typeface="Inter" pitchFamily="34" charset="-122"/>
                <a:cs typeface="Inter" pitchFamily="34" charset="-120"/>
              </a:rPr>
              <a:t>by hand</a:t>
            </a:r>
            <a:pPr indent="0" marL="0">
              <a:buNone/>
            </a:pPr>
            <a:r>
              <a:rPr lang="en-US" sz="1500" dirty="0">
                <a:solidFill>
                  <a:srgbClr val="272827"/>
                </a:solidFill>
                <a:latin typeface="Inter" pitchFamily="34" charset="0"/>
                <a:ea typeface="Inter" pitchFamily="34" charset="-122"/>
                <a:cs typeface="Inter" pitchFamily="34" charset="-120"/>
              </a:rPr>
              <a:t> from the spec</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50 + 210 × 1.2 + 1000 × 0.02 = </a:t>
            </a:r>
            <a:pPr indent="0" marL="0">
              <a:buNone/>
            </a:pPr>
            <a:r>
              <a:rPr lang="en-US" sz="1500" b="1" dirty="0">
                <a:solidFill>
                  <a:srgbClr val="272827"/>
                </a:solidFill>
                <a:latin typeface="Inter" pitchFamily="34" charset="0"/>
                <a:ea typeface="Inter" pitchFamily="34" charset="-122"/>
                <a:cs typeface="Inter" pitchFamily="34" charset="-120"/>
              </a:rPr>
              <a:t>322.00</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One test, many cases; add a row per bug</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Strings, not floats, in the assertions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test first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auto-accept edits off</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Write Pest unit tests for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PricingService::price()</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in</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tests/Unit/PricingServiceTest.php, using a dataset.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Work out each expected price by hand from the formula in</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docs/requirements.md and show your arithmetic in a comment per row.</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Run </a:t>
            </a:r>
            <a:pPr indent="0" marL="0">
              <a:spcAft>
                <a:spcPts val="600"/>
              </a:spcAft>
              <a:buNone/>
            </a:pPr>
            <a:r>
              <a:rPr lang="en-US" sz="1400" dirty="0">
                <a:solidFill>
                  <a:srgbClr val="FFB59C"/>
                </a:solidFill>
                <a:latin typeface="JetBrains Mono" pitchFamily="34" charset="0"/>
                <a:ea typeface="JetBrains Mono" pitchFamily="34" charset="-122"/>
                <a:cs typeface="JetBrains Mono" pitchFamily="34" charset="-120"/>
              </a:rPr>
              <a:t>sail artisan test --filter=PricingService</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show me</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that the tests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fail</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Then stop. Do not implement yet.</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Arithmetic shown = </a:t>
            </a:r>
            <a:pPr indent="0" marL="0">
              <a:buNone/>
            </a:pPr>
            <a:r>
              <a:rPr lang="en-US" sz="1500" b="1" dirty="0">
                <a:solidFill>
                  <a:srgbClr val="FFFFFF"/>
                </a:solidFill>
                <a:latin typeface="Inter" pitchFamily="34" charset="0"/>
                <a:ea typeface="Inter" pitchFamily="34" charset="-122"/>
                <a:cs typeface="Inter" pitchFamily="34" charset="-120"/>
              </a:rPr>
              <a:t>checkable</a:t>
            </a:r>
            <a:pPr indent="0" marL="0">
              <a:buNone/>
            </a:pPr>
            <a:r>
              <a:rPr lang="en-US" sz="1500" dirty="0">
                <a:solidFill>
                  <a:srgbClr val="FFFFFF"/>
                </a:solidFill>
                <a:latin typeface="Inter" pitchFamily="34" charset="0"/>
                <a:ea typeface="Inter" pitchFamily="34" charset="-122"/>
                <a:cs typeface="Inter" pitchFamily="34" charset="-120"/>
              </a:rPr>
              <a:t> expectations</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Proof of red before green</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Stops before implementing, so you review</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Same pattern works for every rule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Feature tests: the HTTP contract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اختبارات الميزات: عقد HTTP</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tests/Feature/QuoteTest.php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beforeEach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seed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CitySeeder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Sanctum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actingAs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factory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'creates a quote that expires in 15 minutes'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freezeSecond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postJson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'/api/quotes'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'origin_city_id'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city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'TIP'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'destination_city_id'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city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'MRA'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'vehicle_type'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'box_truck'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'weight_kg'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1000,</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assertCreated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assertJsonPath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'data.price_lyd'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'322.00'</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assertJsonPath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'data.origin.code'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'TIP'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Quote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sole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expires_at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equalTo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addMinutes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(15)))-&gt;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toBeTrue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Real routes, middleware, DB</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One test per status code in your plan</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assertJsonValidationErrors</a:t>
            </a:r>
            <a:pPr indent="0" marL="0">
              <a:buNone/>
            </a:pPr>
            <a:r>
              <a:rPr lang="en-US" sz="1500" dirty="0">
                <a:solidFill>
                  <a:srgbClr val="272827"/>
                </a:solidFill>
                <a:latin typeface="Inter" pitchFamily="34" charset="0"/>
                <a:ea typeface="Inter" pitchFamily="34" charset="-122"/>
                <a:cs typeface="Inter" pitchFamily="34" charset="-120"/>
              </a:rPr>
              <a:t> for 422</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Aim: </a:t>
            </a:r>
            <a:pPr indent="0" marL="0">
              <a:buNone/>
            </a:pPr>
            <a:r>
              <a:rPr lang="en-US" sz="1500" b="1" dirty="0">
                <a:solidFill>
                  <a:srgbClr val="272827"/>
                </a:solidFill>
                <a:latin typeface="Inter" pitchFamily="34" charset="0"/>
                <a:ea typeface="Inter" pitchFamily="34" charset="-122"/>
                <a:cs typeface="Inter" pitchFamily="34" charset="-120"/>
              </a:rPr>
              <a:t>≥ 20</a:t>
            </a:r>
            <a:pPr indent="0" marL="0">
              <a:buNone/>
            </a:pPr>
            <a:r>
              <a:rPr lang="en-US" sz="1500" dirty="0">
                <a:solidFill>
                  <a:srgbClr val="272827"/>
                </a:solidFill>
                <a:latin typeface="Inter" pitchFamily="34" charset="0"/>
                <a:ea typeface="Inter" pitchFamily="34" charset="-122"/>
                <a:cs typeface="Inter" pitchFamily="34" charset="-120"/>
              </a:rPr>
              <a:t> tests by 15:45</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Constraints the database enforces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قيود تفرضها قاعدة البيانات</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database/migrations/2026_01_05_000005_create_shipments_table.php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Schema</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'shipments'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Blueprint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'reference'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10)-&gt;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unique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foreignId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'user_id'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constrained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cascadeOnDelete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highlight>
                  <a:srgbClr val="4A3A33"/>
                </a:highlight>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foreignId</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'quote_id'</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unique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constrained</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foreignId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'vehicle_id'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nullable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constrained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i="1" dirty="0">
                <a:solidFill>
                  <a:srgbClr val="8B8F97"/>
                </a:solidFill>
                <a:latin typeface="JetBrains Mono" pitchFamily="34" charset="0"/>
                <a:ea typeface="JetBrains Mono" pitchFamily="34" charset="-122"/>
                <a:cs typeface="JetBrains Mono" pitchFamily="34" charset="-120"/>
              </a:rPr>
              <a:t>    // ... origin/destination city FKs, weight_kg, vehicle_type</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decimal</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'price_lyd'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10, 2);</a:t>
            </a:r>
            <a:endParaRPr lang="en-US" sz="1200" dirty="0"/>
          </a:p>
          <a:p>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highlight>
                  <a:srgbClr val="4A3A33"/>
                </a:highlight>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200" b="1" dirty="0">
                <a:solidFill>
                  <a:srgbClr val="FF5723"/>
                </a:solidFill>
                <a:highlight>
                  <a:srgbClr val="4A3A33"/>
                </a:highlight>
                <a:latin typeface="JetBrains Mono" pitchFamily="34" charset="0"/>
                <a:ea typeface="JetBrains Mono" pitchFamily="34" charset="-122"/>
                <a:cs typeface="JetBrains Mono" pitchFamily="34" charset="-120"/>
              </a:rPr>
              <a:t>enum</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'status'</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array_column</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highlight>
                  <a:srgbClr val="4A3A33"/>
                </a:highlight>
                <a:latin typeface="JetBrains Mono" pitchFamily="34" charset="0"/>
                <a:ea typeface="JetBrains Mono" pitchFamily="34" charset="-122"/>
                <a:cs typeface="JetBrains Mono" pitchFamily="34" charset="-120"/>
              </a:rPr>
              <a:t>ShipmentStatus</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cases</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'value'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default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value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timestamp</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'pickup_at'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timestamps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highlight>
                  <a:srgbClr val="4A3A33"/>
                </a:highlight>
                <a:latin typeface="JetBrains Mono" pitchFamily="34" charset="0"/>
                <a:ea typeface="JetBrains Mono" pitchFamily="34" charset="-122"/>
                <a:cs typeface="JetBrains Mono" pitchFamily="34" charset="-120"/>
              </a:rPr>
              <a:t>$table</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index</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'user_id'</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highlight>
                  <a:srgbClr val="4A3A33"/>
                </a:highlight>
                <a:latin typeface="JetBrains Mono" pitchFamily="34" charset="0"/>
                <a:ea typeface="JetBrains Mono" pitchFamily="34" charset="-122"/>
                <a:cs typeface="JetBrains Mono" pitchFamily="34" charset="-120"/>
              </a:rPr>
              <a:t>'created_at'</a:t>
            </a:r>
            <a:pPr indent="0" marL="0">
              <a:lnSpc>
                <a:spcPct val="105000"/>
              </a:lnSpc>
              <a:buNone/>
            </a:pPr>
            <a:r>
              <a:rPr lang="en-US" sz="120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quote_id</a:t>
            </a:r>
            <a:pPr indent="0" marL="0">
              <a:buNone/>
            </a:pPr>
            <a:r>
              <a:rPr lang="en-US" sz="1500" dirty="0">
                <a:solidFill>
                  <a:srgbClr val="272827"/>
                </a:solidFill>
                <a:latin typeface="Inter" pitchFamily="34" charset="0"/>
                <a:ea typeface="Inter" pitchFamily="34" charset="-122"/>
                <a:cs typeface="Inter" pitchFamily="34" charset="-120"/>
              </a:rPr>
              <a:t> UNIQUE since Day 1: one booking per quote</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enum()</a:t>
            </a:r>
            <a:pPr indent="0" marL="0">
              <a:buNone/>
            </a:pPr>
            <a:r>
              <a:rPr lang="en-US" sz="1500" dirty="0">
                <a:solidFill>
                  <a:srgbClr val="272827"/>
                </a:solidFill>
                <a:latin typeface="Inter" pitchFamily="34" charset="0"/>
                <a:ea typeface="Inter" pitchFamily="34" charset="-122"/>
                <a:cs typeface="Inter" pitchFamily="34" charset="-120"/>
              </a:rPr>
              <a:t> becomes a CHECK constraint in PostgreSQL: no unknown status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Composite index for "my shipments, newest first"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Write </a:t>
            </a:r>
            <a:pPr indent="0" marL="0">
              <a:buNone/>
            </a:pPr>
            <a:r>
              <a:rPr lang="en-US" sz="1500" dirty="0">
                <a:solidFill>
                  <a:srgbClr val="C2410C"/>
                </a:solidFill>
                <a:latin typeface="JetBrains Mono" pitchFamily="34" charset="0"/>
                <a:ea typeface="JetBrains Mono" pitchFamily="34" charset="-122"/>
                <a:cs typeface="JetBrains Mono" pitchFamily="34" charset="-120"/>
              </a:rPr>
              <a:t>down()</a:t>
            </a:r>
            <a:pPr indent="0" marL="0">
              <a:buNone/>
            </a:pPr>
            <a:r>
              <a:rPr lang="en-US" sz="1500" dirty="0">
                <a:solidFill>
                  <a:srgbClr val="272827"/>
                </a:solidFill>
                <a:latin typeface="Inter" pitchFamily="34" charset="0"/>
                <a:ea typeface="Inter" pitchFamily="34" charset="-122"/>
                <a:cs typeface="Inter" pitchFamily="34" charset="-120"/>
              </a:rPr>
              <a:t> too, and test </a:t>
            </a:r>
            <a:pPr indent="0" marL="0">
              <a:buNone/>
            </a:pPr>
            <a:r>
              <a:rPr lang="en-US" sz="1500" dirty="0">
                <a:solidFill>
                  <a:srgbClr val="C2410C"/>
                </a:solidFill>
                <a:latin typeface="JetBrains Mono" pitchFamily="34" charset="0"/>
                <a:ea typeface="JetBrains Mono" pitchFamily="34" charset="-122"/>
                <a:cs typeface="JetBrains Mono" pitchFamily="34" charset="-120"/>
              </a:rPr>
              <a:t>migrate:rollback</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PostgreSQL: let the database say no</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PostgreSQL: دع قاعدة البيانات ترفض</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Primary &amp; foreign keys</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No orphan shipments: </a:t>
            </a:r>
            <a:pPr indent="0" marL="0">
              <a:buNone/>
            </a:pPr>
            <a:r>
              <a:rPr lang="en-US" sz="1400" dirty="0">
                <a:solidFill>
                  <a:srgbClr val="C2410C"/>
                </a:solidFill>
                <a:latin typeface="JetBrains Mono" pitchFamily="34" charset="0"/>
                <a:ea typeface="JetBrains Mono" pitchFamily="34" charset="-122"/>
                <a:cs typeface="JetBrains Mono" pitchFamily="34" charset="-120"/>
              </a:rPr>
              <a:t>constrained()</a:t>
            </a:r>
            <a:pPr indent="0" marL="0">
              <a:buNone/>
            </a:pPr>
            <a:r>
              <a:rPr lang="en-US" sz="1400" dirty="0">
                <a:solidFill>
                  <a:srgbClr val="3A3B3A"/>
                </a:solidFill>
                <a:latin typeface="Inter" pitchFamily="34" charset="0"/>
                <a:ea typeface="Inter" pitchFamily="34" charset="-122"/>
                <a:cs typeface="Inter" pitchFamily="34" charset="-120"/>
              </a:rPr>
              <a:t> adds the FK; deleting a city in use fails loudly.</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UNIQUE</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shipments.quote_id</a:t>
            </a:r>
            <a:pPr indent="0" marL="0">
              <a:buNone/>
            </a:pPr>
            <a:r>
              <a:rPr lang="en-US" sz="1400" dirty="0">
                <a:solidFill>
                  <a:srgbClr val="3A3B3A"/>
                </a:solidFill>
                <a:latin typeface="Inter" pitchFamily="34" charset="0"/>
                <a:ea typeface="Inter" pitchFamily="34" charset="-122"/>
                <a:cs typeface="Inter" pitchFamily="34" charset="-120"/>
              </a:rPr>
              <a:t>, </a:t>
            </a:r>
            <a:pPr indent="0" marL="0">
              <a:buNone/>
            </a:pPr>
            <a:r>
              <a:rPr lang="en-US" sz="1400" dirty="0">
                <a:solidFill>
                  <a:srgbClr val="C2410C"/>
                </a:solidFill>
                <a:latin typeface="JetBrains Mono" pitchFamily="34" charset="0"/>
                <a:ea typeface="JetBrains Mono" pitchFamily="34" charset="-122"/>
                <a:cs typeface="JetBrains Mono" pitchFamily="34" charset="-120"/>
              </a:rPr>
              <a:t>cities.code</a:t>
            </a:r>
            <a:pPr indent="0" marL="0">
              <a:buNone/>
            </a:pPr>
            <a:r>
              <a:rPr lang="en-US" sz="1400" dirty="0">
                <a:solidFill>
                  <a:srgbClr val="3A3B3A"/>
                </a:solidFill>
                <a:latin typeface="Inter" pitchFamily="34" charset="0"/>
                <a:ea typeface="Inter" pitchFamily="34" charset="-122"/>
                <a:cs typeface="Inter" pitchFamily="34" charset="-120"/>
              </a:rPr>
              <a:t>, the </a:t>
            </a:r>
            <a:pPr indent="0" marL="0">
              <a:buNone/>
            </a:pPr>
            <a:r>
              <a:rPr lang="en-US" sz="1400" dirty="0">
                <a:solidFill>
                  <a:srgbClr val="C2410C"/>
                </a:solidFill>
                <a:latin typeface="JetBrains Mono" pitchFamily="34" charset="0"/>
                <a:ea typeface="JetBrains Mono" pitchFamily="34" charset="-122"/>
                <a:cs typeface="JetBrains Mono" pitchFamily="34" charset="-120"/>
              </a:rPr>
              <a:t>(from, to)</a:t>
            </a:r>
            <a:pPr indent="0" marL="0">
              <a:buNone/>
            </a:pPr>
            <a:r>
              <a:rPr lang="en-US" sz="1400" dirty="0">
                <a:solidFill>
                  <a:srgbClr val="3A3B3A"/>
                </a:solidFill>
                <a:latin typeface="Inter" pitchFamily="34" charset="0"/>
                <a:ea typeface="Inter" pitchFamily="34" charset="-122"/>
                <a:cs typeface="Inter" pitchFamily="34" charset="-120"/>
              </a:rPr>
              <a:t> distance pair. Duplicates are impossible, not just unlikely.</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CHECK</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enum()</a:t>
            </a:r>
            <a:pPr indent="0" marL="0">
              <a:buNone/>
            </a:pPr>
            <a:r>
              <a:rPr lang="en-US" sz="1400" dirty="0">
                <a:solidFill>
                  <a:srgbClr val="3A3B3A"/>
                </a:solidFill>
                <a:latin typeface="Inter" pitchFamily="34" charset="0"/>
                <a:ea typeface="Inter" pitchFamily="34" charset="-122"/>
                <a:cs typeface="Inter" pitchFamily="34" charset="-120"/>
              </a:rPr>
              <a:t> columns get a CHECK in PostgreSQL: </a:t>
            </a:r>
            <a:pPr indent="0" marL="0">
              <a:buNone/>
            </a:pPr>
            <a:r>
              <a:rPr lang="en-US" sz="1400" dirty="0">
                <a:solidFill>
                  <a:srgbClr val="C2410C"/>
                </a:solidFill>
                <a:latin typeface="JetBrains Mono" pitchFamily="34" charset="0"/>
                <a:ea typeface="JetBrains Mono" pitchFamily="34" charset="-122"/>
                <a:cs typeface="JetBrains Mono" pitchFamily="34" charset="-120"/>
              </a:rPr>
              <a:t>status</a:t>
            </a:r>
            <a:pPr indent="0" marL="0">
              <a:buNone/>
            </a:pPr>
            <a:r>
              <a:rPr lang="en-US" sz="1400" dirty="0">
                <a:solidFill>
                  <a:srgbClr val="3A3B3A"/>
                </a:solidFill>
                <a:latin typeface="Inter" pitchFamily="34" charset="0"/>
                <a:ea typeface="Inter" pitchFamily="34" charset="-122"/>
                <a:cs typeface="Inter" pitchFamily="34" charset="-120"/>
              </a:rPr>
              <a:t> and </a:t>
            </a:r>
            <a:pPr indent="0" marL="0">
              <a:buNone/>
            </a:pPr>
            <a:r>
              <a:rPr lang="en-US" sz="1400" dirty="0">
                <a:solidFill>
                  <a:srgbClr val="C2410C"/>
                </a:solidFill>
                <a:latin typeface="JetBrains Mono" pitchFamily="34" charset="0"/>
                <a:ea typeface="JetBrains Mono" pitchFamily="34" charset="-122"/>
                <a:cs typeface="JetBrains Mono" pitchFamily="34" charset="-120"/>
              </a:rPr>
              <a:t>vehicle_type</a:t>
            </a:r>
            <a:pPr indent="0" marL="0">
              <a:buNone/>
            </a:pPr>
            <a:r>
              <a:rPr lang="en-US" sz="1400" dirty="0">
                <a:solidFill>
                  <a:srgbClr val="3A3B3A"/>
                </a:solidFill>
                <a:latin typeface="Inter" pitchFamily="34" charset="0"/>
                <a:ea typeface="Inter" pitchFamily="34" charset="-122"/>
                <a:cs typeface="Inter" pitchFamily="34" charset="-120"/>
              </a:rPr>
              <a:t> only take known values, for </a:t>
            </a:r>
            <a:pPr indent="0" marL="0">
              <a:buNone/>
            </a:pPr>
            <a:r>
              <a:rPr lang="en-US" sz="1400" b="1" dirty="0">
                <a:solidFill>
                  <a:srgbClr val="3A3B3A"/>
                </a:solidFill>
                <a:latin typeface="Inter" pitchFamily="34" charset="0"/>
                <a:ea typeface="Inter" pitchFamily="34" charset="-122"/>
                <a:cs typeface="Inter" pitchFamily="34" charset="-120"/>
              </a:rPr>
              <a:t>every</a:t>
            </a:r>
            <a:pPr indent="0" marL="0">
              <a:buNone/>
            </a:pPr>
            <a:r>
              <a:rPr lang="en-US" sz="1400" dirty="0">
                <a:solidFill>
                  <a:srgbClr val="3A3B3A"/>
                </a:solidFill>
                <a:latin typeface="Inter" pitchFamily="34" charset="0"/>
                <a:ea typeface="Inter" pitchFamily="34" charset="-122"/>
                <a:cs typeface="Inter" pitchFamily="34" charset="-120"/>
              </a:rPr>
              <a:t> writer.</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Indexes</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Index what you filter and sort by: </a:t>
            </a:r>
            <a:pPr indent="0" marL="0">
              <a:buNone/>
            </a:pPr>
            <a:r>
              <a:rPr lang="en-US" sz="1400" dirty="0">
                <a:solidFill>
                  <a:srgbClr val="C2410C"/>
                </a:solidFill>
                <a:latin typeface="JetBrains Mono" pitchFamily="34" charset="0"/>
                <a:ea typeface="JetBrains Mono" pitchFamily="34" charset="-122"/>
                <a:cs typeface="JetBrains Mono" pitchFamily="34" charset="-120"/>
              </a:rPr>
              <a:t>(user_id, created_at)</a:t>
            </a:r>
            <a:pPr indent="0" marL="0">
              <a:buNone/>
            </a:pPr>
            <a:r>
              <a:rPr lang="en-US" sz="1400" dirty="0">
                <a:solidFill>
                  <a:srgbClr val="3A3B3A"/>
                </a:solidFill>
                <a:latin typeface="Inter" pitchFamily="34" charset="0"/>
                <a:ea typeface="Inter" pitchFamily="34" charset="-122"/>
                <a:cs typeface="Inter" pitchFamily="34" charset="-120"/>
              </a:rPr>
              <a:t> on shipments. Measure with </a:t>
            </a:r>
            <a:pPr indent="0" marL="0">
              <a:buNone/>
            </a:pPr>
            <a:r>
              <a:rPr lang="en-US" sz="1400" dirty="0">
                <a:solidFill>
                  <a:srgbClr val="C2410C"/>
                </a:solidFill>
                <a:latin typeface="JetBrains Mono" pitchFamily="34" charset="0"/>
                <a:ea typeface="JetBrains Mono" pitchFamily="34" charset="-122"/>
                <a:cs typeface="JetBrains Mono" pitchFamily="34" charset="-120"/>
              </a:rPr>
              <a:t>EXPLAIN</a:t>
            </a:r>
            <a:pPr indent="0" marL="0">
              <a:buNone/>
            </a:pPr>
            <a:r>
              <a:rPr lang="en-US" sz="1400" dirty="0">
                <a:solidFill>
                  <a:srgbClr val="3A3B3A"/>
                </a:solidFill>
                <a:latin typeface="Inter" pitchFamily="34" charset="0"/>
                <a:ea typeface="Inter" pitchFamily="34" charset="-122"/>
                <a:cs typeface="Inter" pitchFamily="34" charset="-120"/>
              </a:rPr>
              <a: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Booking a quote safely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حجز عرض السعر بأمان</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app/Services/BookingService.php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book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int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CarbonInterface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$pickupAt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DB</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transaction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$pickupAt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$quote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Quote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whereBelongsTo</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lockForUpdate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find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$quoteId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if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throw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ValidationException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withMessages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'quote_id'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'Quote not found.'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same pattern: isExpired() and shipment()-&gt;exists() → 422 on quote_id</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'user_id'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'quote_id'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 cities, weight, vehicle_type and price_lyd copied from the quote</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'pickup_at'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$pickupAt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events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Pending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'Booking received.'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'occurred_at'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transitionTo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'Booking 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Look up the quote </a:t>
            </a:r>
            <a:pPr indent="0" marL="0">
              <a:buNone/>
            </a:pPr>
            <a:r>
              <a:rPr lang="en-US" sz="1500" b="1" dirty="0">
                <a:solidFill>
                  <a:srgbClr val="272827"/>
                </a:solidFill>
                <a:latin typeface="Inter" pitchFamily="34" charset="0"/>
                <a:ea typeface="Inter" pitchFamily="34" charset="-122"/>
                <a:cs typeface="Inter" pitchFamily="34" charset="-120"/>
              </a:rPr>
              <a:t>through the user</a:t>
            </a:r>
            <a:pPr indent="0" marL="0">
              <a:buNone/>
            </a:pPr>
            <a:r>
              <a:rPr lang="en-US" sz="1500" dirty="0">
                <a:solidFill>
                  <a:srgbClr val="272827"/>
                </a:solidFill>
                <a:latin typeface="Inter" pitchFamily="34" charset="0"/>
                <a:ea typeface="Inter" pitchFamily="34" charset="-122"/>
                <a:cs typeface="Inter" pitchFamily="34" charset="-120"/>
              </a:rPr>
              <a:t>: no booking others' quotes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Not found, expired or already booked → </a:t>
            </a:r>
            <a:pPr indent="0" marL="0">
              <a:buNone/>
            </a:pPr>
            <a:r>
              <a:rPr lang="en-US" sz="1500" b="1" dirty="0">
                <a:solidFill>
                  <a:srgbClr val="272827"/>
                </a:solidFill>
                <a:latin typeface="Inter" pitchFamily="34" charset="0"/>
                <a:ea typeface="Inter" pitchFamily="34" charset="-122"/>
                <a:cs typeface="Inter" pitchFamily="34" charset="-120"/>
              </a:rPr>
              <a:t>422</a:t>
            </a:r>
            <a:pPr indent="0" marL="0">
              <a:buNone/>
            </a:pPr>
            <a:r>
              <a:rPr lang="en-US" sz="1500" dirty="0">
                <a:solidFill>
                  <a:srgbClr val="272827"/>
                </a:solidFill>
                <a:latin typeface="Inter" pitchFamily="34" charset="0"/>
                <a:ea typeface="Inter" pitchFamily="34" charset="-122"/>
                <a:cs typeface="Inter" pitchFamily="34" charset="-120"/>
              </a:rPr>
              <a:t> on </a:t>
            </a:r>
            <a:pPr indent="0" marL="0">
              <a:buNone/>
            </a:pPr>
            <a:r>
              <a:rPr lang="en-US" sz="1500" dirty="0">
                <a:solidFill>
                  <a:srgbClr val="C2410C"/>
                </a:solidFill>
                <a:latin typeface="JetBrains Mono" pitchFamily="34" charset="0"/>
                <a:ea typeface="JetBrains Mono" pitchFamily="34" charset="-122"/>
                <a:cs typeface="JetBrains Mono" pitchFamily="34" charset="-120"/>
              </a:rPr>
              <a:t>quote_id</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Price copied from the quote, never from the body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Returns status </a:t>
            </a:r>
            <a:pPr indent="0" marL="0">
              <a:buNone/>
            </a:pPr>
            <a:r>
              <a:rPr lang="en-US" sz="1500" dirty="0">
                <a:solidFill>
                  <a:srgbClr val="C2410C"/>
                </a:solidFill>
                <a:latin typeface="JetBrains Mono" pitchFamily="34" charset="0"/>
                <a:ea typeface="JetBrains Mono" pitchFamily="34" charset="-122"/>
                <a:cs typeface="JetBrains Mono" pitchFamily="34" charset="-120"/>
              </a:rPr>
              <a:t>confirmed</a:t>
            </a:r>
            <a:pPr indent="0" marL="0">
              <a:buNone/>
            </a:pPr>
            <a:r>
              <a:rPr lang="en-US" sz="1500" dirty="0">
                <a:solidFill>
                  <a:srgbClr val="272827"/>
                </a:solidFill>
                <a:latin typeface="Inter" pitchFamily="34" charset="0"/>
                <a:ea typeface="Inter" pitchFamily="34" charset="-122"/>
                <a:cs typeface="Inter" pitchFamily="34" charset="-120"/>
              </a:rPr>
              <a:t>; two events on the timeline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Cancel: rules from the enum</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الإلغاء: القواعد من التعداد</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ShipmentController · BookingService · Shipment</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ShipmentController</a:t>
            </a:r>
            <a:endParaRPr lang="en-US" sz="1050" dirty="0"/>
          </a:p>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cancel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BookingService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$booking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ShipmentResource</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Gate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authorize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'cancel'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ShipmentResource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$booking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cancel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BookingService: re-read under a lock, then transition</a:t>
            </a:r>
            <a:endParaRPr lang="en-US" sz="1050" dirty="0"/>
          </a:p>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lockForUpdate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findOrFail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transitionTo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'Cancelled by customer.'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Shipment::transitionTo()</a:t>
            </a:r>
            <a:endParaRPr lang="en-US" sz="1050" dirty="0"/>
          </a:p>
          <a:p>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if</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canTransitionTo</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$next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throw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ValidationException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withMessages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"A {$this-&gt;status-&gt;value} shipment cannot move to {$next-&gt;value}."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update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$next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events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$next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$note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'occurred_at'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Yesterday's </a:t>
            </a:r>
            <a:pPr indent="0" marL="0">
              <a:buNone/>
            </a:pPr>
            <a:r>
              <a:rPr lang="en-US" sz="1500" dirty="0">
                <a:solidFill>
                  <a:srgbClr val="C2410C"/>
                </a:solidFill>
                <a:latin typeface="JetBrains Mono" pitchFamily="34" charset="0"/>
                <a:ea typeface="JetBrains Mono" pitchFamily="34" charset="-122"/>
                <a:cs typeface="JetBrains Mono" pitchFamily="34" charset="-120"/>
              </a:rPr>
              <a:t>canTransitionTo</a:t>
            </a:r>
            <a:pPr indent="0" marL="0">
              <a:buNone/>
            </a:pPr>
            <a:r>
              <a:rPr lang="en-US" sz="1500" dirty="0">
                <a:solidFill>
                  <a:srgbClr val="272827"/>
                </a:solidFill>
                <a:latin typeface="Inter" pitchFamily="34" charset="0"/>
                <a:ea typeface="Inter" pitchFamily="34" charset="-122"/>
                <a:cs typeface="Inter" pitchFamily="34" charset="-120"/>
              </a:rPr>
              <a:t> does the real work</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Policy first (</a:t>
            </a:r>
            <a:pPr indent="0" marL="0">
              <a:buNone/>
            </a:pPr>
            <a:r>
              <a:rPr lang="en-US" sz="1500" b="1" dirty="0">
                <a:solidFill>
                  <a:srgbClr val="272827"/>
                </a:solidFill>
                <a:latin typeface="Inter" pitchFamily="34" charset="0"/>
                <a:ea typeface="Inter" pitchFamily="34" charset="-122"/>
                <a:cs typeface="Inter" pitchFamily="34" charset="-120"/>
              </a:rPr>
              <a:t>403</a:t>
            </a:r>
            <a:pPr indent="0" marL="0">
              <a:buNone/>
            </a:pPr>
            <a:r>
              <a:rPr lang="en-US" sz="1500" dirty="0">
                <a:solidFill>
                  <a:srgbClr val="272827"/>
                </a:solidFill>
                <a:latin typeface="Inter" pitchFamily="34" charset="0"/>
                <a:ea typeface="Inter" pitchFamily="34" charset="-122"/>
                <a:cs typeface="Inter" pitchFamily="34" charset="-120"/>
              </a:rPr>
              <a:t>), then state (</a:t>
            </a:r>
            <a:pPr indent="0" marL="0">
              <a:buNone/>
            </a:pPr>
            <a:r>
              <a:rPr lang="en-US" sz="1500" b="1" dirty="0">
                <a:solidFill>
                  <a:srgbClr val="272827"/>
                </a:solidFill>
                <a:latin typeface="Inter" pitchFamily="34" charset="0"/>
                <a:ea typeface="Inter" pitchFamily="34" charset="-122"/>
                <a:cs typeface="Inter" pitchFamily="34" charset="-120"/>
              </a:rPr>
              <a:t>422</a:t>
            </a:r>
            <a:pPr indent="0" marL="0">
              <a:buNone/>
            </a:pPr>
            <a:r>
              <a:rPr lang="en-US" sz="1500" dirty="0">
                <a:solidFill>
                  <a:srgbClr val="272827"/>
                </a:solidFill>
                <a:latin typeface="Inter" pitchFamily="34" charset="0"/>
                <a:ea typeface="Inter" pitchFamily="34" charset="-122"/>
                <a:cs typeface="Inter" pitchFamily="34" charset="-120"/>
              </a:rPr>
              <a:t> on </a:t>
            </a:r>
            <a:pPr indent="0" marL="0">
              <a:buNone/>
            </a:pPr>
            <a:r>
              <a:rPr lang="en-US" sz="1500" dirty="0">
                <a:solidFill>
                  <a:srgbClr val="C2410C"/>
                </a:solidFill>
                <a:latin typeface="JetBrains Mono" pitchFamily="34" charset="0"/>
                <a:ea typeface="JetBrains Mono" pitchFamily="34" charset="-122"/>
                <a:cs typeface="JetBrains Mono" pitchFamily="34" charset="-120"/>
              </a:rPr>
              <a:t>status</a:t>
            </a:r>
            <a:pPr indent="0" marL="0">
              <a:buNone/>
            </a:pPr>
            <a:r>
              <a:rPr lang="en-US" sz="1500" dirty="0">
                <a:solidFill>
                  <a:srgbClr val="272827"/>
                </a:solidFill>
                <a:latin typeface="Inter" pitchFamily="34" charset="0"/>
                <a:ea typeface="Inter" pitchFamily="34" charset="-122"/>
                <a:cs typeface="Inter" pitchFamily="34" charset="-120"/>
              </a:rPr>
              <a: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Status and event change </a:t>
            </a:r>
            <a:pPr indent="0" marL="0">
              <a:buNone/>
            </a:pPr>
            <a:r>
              <a:rPr lang="en-US" sz="1500" b="1" dirty="0">
                <a:solidFill>
                  <a:srgbClr val="272827"/>
                </a:solidFill>
                <a:latin typeface="Inter" pitchFamily="34" charset="0"/>
                <a:ea typeface="Inter" pitchFamily="34" charset="-122"/>
                <a:cs typeface="Inter" pitchFamily="34" charset="-120"/>
              </a:rPr>
              <a:t>together</a:t>
            </a:r>
            <a:pPr indent="0" marL="0">
              <a:buNone/>
            </a:pPr>
            <a:r>
              <a:rPr lang="en-US" sz="1500" dirty="0">
                <a:solidFill>
                  <a:srgbClr val="272827"/>
                </a:solidFill>
                <a:latin typeface="Inter" pitchFamily="34" charset="0"/>
                <a:ea typeface="Inter" pitchFamily="34" charset="-122"/>
                <a:cs typeface="Inter" pitchFamily="34" charset="-120"/>
              </a:rPr>
              <a:t> in one transaction</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The tracking endpoint reads these events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AI code review checklist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قائمة مراجعة كود الذكاء الاصطناعي</a:t>
            </a:r>
            <a:endParaRPr lang="ar-LY" sz="1700" dirty="0"/>
          </a:p>
        </p:txBody>
      </p:sp>
      <p:sp>
        <p:nvSpPr>
          <p:cNvPr id="4" name="Shape 2"/>
          <p:cNvSpPr/>
          <p:nvPr/>
        </p:nvSpPr>
        <p:spPr>
          <a:xfrm>
            <a:off x="548640"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Boundary</a:t>
            </a:r>
            <a:endParaRPr lang="en-US" sz="1700" dirty="0"/>
          </a:p>
        </p:txBody>
      </p:sp>
      <p:sp>
        <p:nvSpPr>
          <p:cNvPr id="8" name="Text 6"/>
          <p:cNvSpPr txBox="1"/>
          <p:nvPr/>
        </p:nvSpPr>
        <p:spPr>
          <a:xfrm>
            <a:off x="777240"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FormRequest for every input; </a:t>
            </a:r>
            <a:pPr indent="0" marL="0">
              <a:buNone/>
            </a:pPr>
            <a:r>
              <a:rPr lang="en-US" sz="1400" dirty="0">
                <a:solidFill>
                  <a:srgbClr val="C2410C"/>
                </a:solidFill>
                <a:latin typeface="JetBrains Mono" pitchFamily="34" charset="0"/>
                <a:ea typeface="JetBrains Mono" pitchFamily="34" charset="-122"/>
                <a:cs typeface="JetBrains Mono" pitchFamily="34" charset="-120"/>
              </a:rPr>
              <a:t>validated()</a:t>
            </a:r>
            <a:pPr indent="0" marL="0">
              <a:buNone/>
            </a:pPr>
            <a:r>
              <a:rPr lang="en-US" sz="1400" dirty="0">
                <a:solidFill>
                  <a:srgbClr val="3A3B3A"/>
                </a:solidFill>
                <a:latin typeface="Inter" pitchFamily="34" charset="0"/>
                <a:ea typeface="Inter" pitchFamily="34" charset="-122"/>
                <a:cs typeface="Inter" pitchFamily="34" charset="-120"/>
              </a:rPr>
              <a:t> only; no unguarded models.</a:t>
            </a:r>
            <a:endParaRPr lang="en-US" sz="1400" dirty="0"/>
          </a:p>
        </p:txBody>
      </p:sp>
      <p:sp>
        <p:nvSpPr>
          <p:cNvPr id="9" name="Shape 7"/>
          <p:cNvSpPr/>
          <p:nvPr/>
        </p:nvSpPr>
        <p:spPr>
          <a:xfrm>
            <a:off x="4338218"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56681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456681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5161178"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Authorization</a:t>
            </a:r>
            <a:endParaRPr lang="en-US" sz="1700" dirty="0"/>
          </a:p>
        </p:txBody>
      </p:sp>
      <p:sp>
        <p:nvSpPr>
          <p:cNvPr id="13" name="Text 11"/>
          <p:cNvSpPr txBox="1"/>
          <p:nvPr/>
        </p:nvSpPr>
        <p:spPr>
          <a:xfrm>
            <a:off x="4566818"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A policy check on every record route, and a </a:t>
            </a:r>
            <a:pPr indent="0" marL="0">
              <a:buNone/>
            </a:pPr>
            <a:r>
              <a:rPr lang="en-US" sz="1400" b="1" dirty="0">
                <a:solidFill>
                  <a:srgbClr val="3A3B3A"/>
                </a:solidFill>
                <a:latin typeface="Inter" pitchFamily="34" charset="0"/>
                <a:ea typeface="Inter" pitchFamily="34" charset="-122"/>
                <a:cs typeface="Inter" pitchFamily="34" charset="-120"/>
              </a:rPr>
              <a:t>403</a:t>
            </a:r>
            <a:pPr indent="0" marL="0">
              <a:buNone/>
            </a:pPr>
            <a:r>
              <a:rPr lang="en-US" sz="1400" dirty="0">
                <a:solidFill>
                  <a:srgbClr val="3A3B3A"/>
                </a:solidFill>
                <a:latin typeface="Inter" pitchFamily="34" charset="0"/>
                <a:ea typeface="Inter" pitchFamily="34" charset="-122"/>
                <a:cs typeface="Inter" pitchFamily="34" charset="-120"/>
              </a:rPr>
              <a:t> test for it.</a:t>
            </a:r>
            <a:endParaRPr lang="en-US" sz="1400" dirty="0"/>
          </a:p>
        </p:txBody>
      </p:sp>
      <p:sp>
        <p:nvSpPr>
          <p:cNvPr id="14" name="Shape 12"/>
          <p:cNvSpPr/>
          <p:nvPr/>
        </p:nvSpPr>
        <p:spPr>
          <a:xfrm>
            <a:off x="8127797"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8356397" y="201168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8356397"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8950757"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Data</a:t>
            </a:r>
            <a:endParaRPr lang="en-US" sz="1700" dirty="0"/>
          </a:p>
        </p:txBody>
      </p:sp>
      <p:sp>
        <p:nvSpPr>
          <p:cNvPr id="18" name="Text 16"/>
          <p:cNvSpPr txBox="1"/>
          <p:nvPr/>
        </p:nvSpPr>
        <p:spPr>
          <a:xfrm>
            <a:off x="8356397"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Decimal money, FKs, UNIQUE and CHECK constraints, indexes for real queries.</a:t>
            </a:r>
            <a:endParaRPr lang="en-US" sz="1400" dirty="0"/>
          </a:p>
        </p:txBody>
      </p:sp>
      <p:sp>
        <p:nvSpPr>
          <p:cNvPr id="19" name="Shape 17"/>
          <p:cNvSpPr/>
          <p:nvPr/>
        </p:nvSpPr>
        <p:spPr>
          <a:xfrm>
            <a:off x="548640"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77240"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1371600"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Tests</a:t>
            </a:r>
            <a:endParaRPr lang="en-US" sz="1700" dirty="0"/>
          </a:p>
        </p:txBody>
      </p:sp>
      <p:sp>
        <p:nvSpPr>
          <p:cNvPr id="23" name="Text 21"/>
          <p:cNvSpPr txBox="1"/>
          <p:nvPr/>
        </p:nvSpPr>
        <p:spPr>
          <a:xfrm>
            <a:off x="777240" y="493776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You saw them fail first. They assert behaviour from the spec, not the code.</a:t>
            </a:r>
            <a:endParaRPr lang="en-US" sz="1400" dirty="0"/>
          </a:p>
        </p:txBody>
      </p:sp>
      <p:sp>
        <p:nvSpPr>
          <p:cNvPr id="24" name="Shape 22"/>
          <p:cNvSpPr/>
          <p:nvPr/>
        </p:nvSpPr>
        <p:spPr>
          <a:xfrm>
            <a:off x="4338218"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4566818" y="4343400"/>
            <a:ext cx="457200" cy="457200"/>
          </a:xfrm>
          <a:prstGeom prst="ellipse">
            <a:avLst/>
          </a:prstGeom>
          <a:solidFill>
            <a:srgbClr val="FF5723"/>
          </a:solidFill>
          <a:ln w="12700">
            <a:solidFill>
              <a:srgbClr val="FF5723"/>
            </a:solidFill>
            <a:prstDash val="solid"/>
          </a:ln>
        </p:spPr>
      </p:sp>
      <p:sp>
        <p:nvSpPr>
          <p:cNvPr id="26" name="Text 24"/>
          <p:cNvSpPr txBox="1"/>
          <p:nvPr/>
        </p:nvSpPr>
        <p:spPr>
          <a:xfrm>
            <a:off x="456681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a:t>
            </a:r>
            <a:endParaRPr lang="en-US" sz="1400" dirty="0"/>
          </a:p>
        </p:txBody>
      </p:sp>
      <p:sp>
        <p:nvSpPr>
          <p:cNvPr id="27" name="Text 25"/>
          <p:cNvSpPr txBox="1"/>
          <p:nvPr/>
        </p:nvSpPr>
        <p:spPr>
          <a:xfrm>
            <a:off x="5161178"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Names</a:t>
            </a:r>
            <a:endParaRPr lang="en-US" sz="1700" dirty="0"/>
          </a:p>
        </p:txBody>
      </p:sp>
      <p:sp>
        <p:nvSpPr>
          <p:cNvPr id="28" name="Text 26"/>
          <p:cNvSpPr txBox="1"/>
          <p:nvPr/>
        </p:nvSpPr>
        <p:spPr>
          <a:xfrm>
            <a:off x="4566818" y="493776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Routes, classes and fields match </a:t>
            </a:r>
            <a:pPr indent="0" marL="0">
              <a:buNone/>
            </a:pPr>
            <a:r>
              <a:rPr lang="en-US" sz="1400" dirty="0">
                <a:solidFill>
                  <a:srgbClr val="C2410C"/>
                </a:solidFill>
                <a:latin typeface="JetBrains Mono" pitchFamily="34" charset="0"/>
                <a:ea typeface="JetBrains Mono" pitchFamily="34" charset="-122"/>
                <a:cs typeface="JetBrains Mono" pitchFamily="34" charset="-120"/>
              </a:rPr>
              <a:t>docs/requirements.md</a:t>
            </a:r>
            <a:pPr indent="0" marL="0">
              <a:buNone/>
            </a:pPr>
            <a:r>
              <a:rPr lang="en-US" sz="1400" dirty="0">
                <a:solidFill>
                  <a:srgbClr val="3A3B3A"/>
                </a:solidFill>
                <a:latin typeface="Inter" pitchFamily="34" charset="0"/>
                <a:ea typeface="Inter" pitchFamily="34" charset="-122"/>
                <a:cs typeface="Inter" pitchFamily="34" charset="-120"/>
              </a:rPr>
              <a:t> exactly. No invented endpoints.</a:t>
            </a:r>
            <a:endParaRPr lang="en-US" sz="1400" dirty="0"/>
          </a:p>
        </p:txBody>
      </p:sp>
      <p:sp>
        <p:nvSpPr>
          <p:cNvPr id="29" name="Shape 27"/>
          <p:cNvSpPr/>
          <p:nvPr/>
        </p:nvSpPr>
        <p:spPr>
          <a:xfrm>
            <a:off x="8127797"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30" name="Shape 28"/>
          <p:cNvSpPr/>
          <p:nvPr/>
        </p:nvSpPr>
        <p:spPr>
          <a:xfrm>
            <a:off x="8356397" y="4343400"/>
            <a:ext cx="457200" cy="457200"/>
          </a:xfrm>
          <a:prstGeom prst="ellipse">
            <a:avLst/>
          </a:prstGeom>
          <a:solidFill>
            <a:srgbClr val="FF5723"/>
          </a:solidFill>
          <a:ln w="12700">
            <a:solidFill>
              <a:srgbClr val="FF5723"/>
            </a:solidFill>
            <a:prstDash val="solid"/>
          </a:ln>
        </p:spPr>
      </p:sp>
      <p:sp>
        <p:nvSpPr>
          <p:cNvPr id="31" name="Text 29"/>
          <p:cNvSpPr txBox="1"/>
          <p:nvPr/>
        </p:nvSpPr>
        <p:spPr>
          <a:xfrm>
            <a:off x="8356397"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6</a:t>
            </a:r>
            <a:endParaRPr lang="en-US" sz="1400" dirty="0"/>
          </a:p>
        </p:txBody>
      </p:sp>
      <p:sp>
        <p:nvSpPr>
          <p:cNvPr id="32" name="Text 30"/>
          <p:cNvSpPr txBox="1"/>
          <p:nvPr/>
        </p:nvSpPr>
        <p:spPr>
          <a:xfrm>
            <a:off x="8950757"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Scope</a:t>
            </a:r>
            <a:endParaRPr lang="en-US" sz="1700" dirty="0"/>
          </a:p>
        </p:txBody>
      </p:sp>
      <p:sp>
        <p:nvSpPr>
          <p:cNvPr id="33" name="Text 31"/>
          <p:cNvSpPr txBox="1"/>
          <p:nvPr/>
        </p:nvSpPr>
        <p:spPr>
          <a:xfrm>
            <a:off x="8356397" y="493776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No surprise packages, files or features. Small diff, one concern.</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Pitfalls to watch</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أخطاء شائعة</a:t>
            </a:r>
            <a:endParaRPr lang="ar-LY" sz="1700" dirty="0"/>
          </a:p>
        </p:txBody>
      </p:sp>
      <p:sp>
        <p:nvSpPr>
          <p:cNvPr id="4" name="Text 2"/>
          <p:cNvSpPr txBox="1"/>
          <p:nvPr/>
        </p:nvSpPr>
        <p:spPr>
          <a:xfrm>
            <a:off x="1234440" y="1691640"/>
            <a:ext cx="2743200" cy="274320"/>
          </a:xfrm>
          <a:prstGeom prst="rect">
            <a:avLst/>
          </a:prstGeom>
          <a:noFill/>
          <a:ln/>
        </p:spPr>
        <p:txBody>
          <a:bodyPr wrap="square" lIns="0" tIns="0" rIns="0" bIns="0" rtlCol="0" anchor="ctr"/>
          <a:lstStyle/>
          <a:p>
            <a:pPr indent="0" marL="0">
              <a:buNone/>
            </a:pPr>
            <a:r>
              <a:rPr lang="en-US" sz="1100" b="1" spc="300" kern="0" dirty="0">
                <a:solidFill>
                  <a:srgbClr val="6B7280"/>
                </a:solidFill>
                <a:latin typeface="Inter" pitchFamily="34" charset="0"/>
                <a:ea typeface="Inter" pitchFamily="34" charset="-122"/>
                <a:cs typeface="Inter" pitchFamily="34" charset="-120"/>
              </a:rPr>
              <a:t>PITFALL</a:t>
            </a:r>
            <a:endParaRPr lang="en-US" sz="1100" dirty="0"/>
          </a:p>
        </p:txBody>
      </p:sp>
      <p:sp>
        <p:nvSpPr>
          <p:cNvPr id="5" name="Text 3"/>
          <p:cNvSpPr txBox="1"/>
          <p:nvPr/>
        </p:nvSpPr>
        <p:spPr>
          <a:xfrm>
            <a:off x="6126480" y="1691640"/>
            <a:ext cx="36576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DO THIS INSTEAD</a:t>
            </a:r>
            <a:endParaRPr lang="en-US" sz="1100" dirty="0"/>
          </a:p>
        </p:txBody>
      </p:sp>
      <p:sp>
        <p:nvSpPr>
          <p:cNvPr id="6" name="Shape 4"/>
          <p:cNvSpPr/>
          <p:nvPr/>
        </p:nvSpPr>
        <p:spPr>
          <a:xfrm>
            <a:off x="548640" y="2057400"/>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2307717"/>
            <a:ext cx="365760" cy="365760"/>
          </a:xfrm>
          <a:prstGeom prst="ellipse">
            <a:avLst/>
          </a:prstGeom>
          <a:solidFill>
            <a:srgbClr val="272827"/>
          </a:solidFill>
          <a:ln w="12700">
            <a:solidFill>
              <a:srgbClr val="272827"/>
            </a:solidFill>
            <a:prstDash val="solid"/>
          </a:ln>
        </p:spPr>
      </p:sp>
      <p:sp>
        <p:nvSpPr>
          <p:cNvPr id="8" name="Text 6"/>
          <p:cNvSpPr txBox="1"/>
          <p:nvPr/>
        </p:nvSpPr>
        <p:spPr>
          <a:xfrm>
            <a:off x="73152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234440" y="2130552"/>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Tests that mirror the implementation</a:t>
            </a:r>
            <a:endParaRPr lang="en-US" sz="1500" dirty="0"/>
          </a:p>
        </p:txBody>
      </p:sp>
      <p:sp>
        <p:nvSpPr>
          <p:cNvPr id="10" name="Shape 8"/>
          <p:cNvSpPr/>
          <p:nvPr/>
        </p:nvSpPr>
        <p:spPr>
          <a:xfrm>
            <a:off x="5623560" y="2307717"/>
            <a:ext cx="365760" cy="365760"/>
          </a:xfrm>
          <a:prstGeom prst="ellipse">
            <a:avLst/>
          </a:prstGeom>
          <a:solidFill>
            <a:srgbClr val="FF5723"/>
          </a:solidFill>
          <a:ln w="12700">
            <a:solidFill>
              <a:srgbClr val="FF5723"/>
            </a:solidFill>
            <a:prstDash val="solid"/>
          </a:ln>
        </p:spPr>
      </p:sp>
      <p:sp>
        <p:nvSpPr>
          <p:cNvPr id="11" name="Text 9"/>
          <p:cNvSpPr txBox="1"/>
          <p:nvPr/>
        </p:nvSpPr>
        <p:spPr>
          <a:xfrm>
            <a:off x="562356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6126480" y="2130552"/>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Derive expected values from the spec; check one fails for the right reason</a:t>
            </a:r>
            <a:endParaRPr lang="en-US" sz="1500" dirty="0"/>
          </a:p>
        </p:txBody>
      </p:sp>
      <p:sp>
        <p:nvSpPr>
          <p:cNvPr id="13" name="Shape 11"/>
          <p:cNvSpPr/>
          <p:nvPr/>
        </p:nvSpPr>
        <p:spPr>
          <a:xfrm>
            <a:off x="548640" y="3124962"/>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731520" y="3375279"/>
            <a:ext cx="365760" cy="365760"/>
          </a:xfrm>
          <a:prstGeom prst="ellipse">
            <a:avLst/>
          </a:prstGeom>
          <a:solidFill>
            <a:srgbClr val="272827"/>
          </a:solidFill>
          <a:ln w="12700">
            <a:solidFill>
              <a:srgbClr val="272827"/>
            </a:solidFill>
            <a:prstDash val="solid"/>
          </a:ln>
        </p:spPr>
      </p:sp>
      <p:sp>
        <p:nvSpPr>
          <p:cNvPr id="15" name="Text 13"/>
          <p:cNvSpPr txBox="1"/>
          <p:nvPr/>
        </p:nvSpPr>
        <p:spPr>
          <a:xfrm>
            <a:off x="73152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6" name="Text 14"/>
          <p:cNvSpPr txBox="1"/>
          <p:nvPr/>
        </p:nvSpPr>
        <p:spPr>
          <a:xfrm>
            <a:off x="1234440" y="3198114"/>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Booking or viewing another user's records by id</a:t>
            </a:r>
            <a:endParaRPr lang="en-US" sz="1500" dirty="0"/>
          </a:p>
        </p:txBody>
      </p:sp>
      <p:sp>
        <p:nvSpPr>
          <p:cNvPr id="17" name="Shape 15"/>
          <p:cNvSpPr/>
          <p:nvPr/>
        </p:nvSpPr>
        <p:spPr>
          <a:xfrm>
            <a:off x="5623560" y="3375279"/>
            <a:ext cx="365760" cy="365760"/>
          </a:xfrm>
          <a:prstGeom prst="ellipse">
            <a:avLst/>
          </a:prstGeom>
          <a:solidFill>
            <a:srgbClr val="FF5723"/>
          </a:solidFill>
          <a:ln w="12700">
            <a:solidFill>
              <a:srgbClr val="FF5723"/>
            </a:solidFill>
            <a:prstDash val="solid"/>
          </a:ln>
        </p:spPr>
      </p:sp>
      <p:sp>
        <p:nvSpPr>
          <p:cNvPr id="18" name="Text 16"/>
          <p:cNvSpPr txBox="1"/>
          <p:nvPr/>
        </p:nvSpPr>
        <p:spPr>
          <a:xfrm>
            <a:off x="562356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9" name="Text 17"/>
          <p:cNvSpPr txBox="1"/>
          <p:nvPr/>
        </p:nvSpPr>
        <p:spPr>
          <a:xfrm>
            <a:off x="6126480" y="3198114"/>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Scope every lookup to the user: </a:t>
            </a:r>
            <a:pPr indent="0" marL="0">
              <a:buNone/>
            </a:pPr>
            <a:r>
              <a:rPr lang="en-US" sz="1500" dirty="0">
                <a:solidFill>
                  <a:srgbClr val="C2410C"/>
                </a:solidFill>
                <a:latin typeface="JetBrains Mono" pitchFamily="34" charset="0"/>
                <a:ea typeface="JetBrains Mono" pitchFamily="34" charset="-122"/>
                <a:cs typeface="JetBrains Mono" pitchFamily="34" charset="-120"/>
              </a:rPr>
              <a:t>Quote::whereBelongsTo($user)</a:t>
            </a:r>
            <a:endParaRPr lang="en-US" sz="1500" dirty="0"/>
          </a:p>
        </p:txBody>
      </p:sp>
      <p:sp>
        <p:nvSpPr>
          <p:cNvPr id="20" name="Shape 18"/>
          <p:cNvSpPr/>
          <p:nvPr/>
        </p:nvSpPr>
        <p:spPr>
          <a:xfrm>
            <a:off x="548640" y="4192524"/>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731520" y="4442841"/>
            <a:ext cx="365760" cy="365760"/>
          </a:xfrm>
          <a:prstGeom prst="ellipse">
            <a:avLst/>
          </a:prstGeom>
          <a:solidFill>
            <a:srgbClr val="272827"/>
          </a:solidFill>
          <a:ln w="12700">
            <a:solidFill>
              <a:srgbClr val="272827"/>
            </a:solidFill>
            <a:prstDash val="solid"/>
          </a:ln>
        </p:spPr>
      </p:sp>
      <p:sp>
        <p:nvSpPr>
          <p:cNvPr id="22" name="Text 20"/>
          <p:cNvSpPr txBox="1"/>
          <p:nvPr/>
        </p:nvSpPr>
        <p:spPr>
          <a:xfrm>
            <a:off x="73152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3" name="Text 21"/>
          <p:cNvSpPr txBox="1"/>
          <p:nvPr/>
        </p:nvSpPr>
        <p:spPr>
          <a:xfrm>
            <a:off x="1234440" y="4265676"/>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Returning Eloquent models directly</a:t>
            </a:r>
            <a:endParaRPr lang="en-US" sz="1500" dirty="0"/>
          </a:p>
        </p:txBody>
      </p:sp>
      <p:sp>
        <p:nvSpPr>
          <p:cNvPr id="24" name="Shape 22"/>
          <p:cNvSpPr/>
          <p:nvPr/>
        </p:nvSpPr>
        <p:spPr>
          <a:xfrm>
            <a:off x="5623560" y="4442841"/>
            <a:ext cx="365760" cy="365760"/>
          </a:xfrm>
          <a:prstGeom prst="ellipse">
            <a:avLst/>
          </a:prstGeom>
          <a:solidFill>
            <a:srgbClr val="FF5723"/>
          </a:solidFill>
          <a:ln w="12700">
            <a:solidFill>
              <a:srgbClr val="FF5723"/>
            </a:solidFill>
            <a:prstDash val="solid"/>
          </a:ln>
        </p:spPr>
      </p:sp>
      <p:sp>
        <p:nvSpPr>
          <p:cNvPr id="25" name="Text 23"/>
          <p:cNvSpPr txBox="1"/>
          <p:nvPr/>
        </p:nvSpPr>
        <p:spPr>
          <a:xfrm>
            <a:off x="562356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6" name="Text 24"/>
          <p:cNvSpPr txBox="1"/>
          <p:nvPr/>
        </p:nvSpPr>
        <p:spPr>
          <a:xfrm>
            <a:off x="6126480" y="4265676"/>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Always return API Resources; whitelist every field</a:t>
            </a:r>
            <a:endParaRPr lang="en-US" sz="1500" dirty="0"/>
          </a:p>
        </p:txBody>
      </p:sp>
      <p:sp>
        <p:nvSpPr>
          <p:cNvPr id="27" name="Shape 25"/>
          <p:cNvSpPr/>
          <p:nvPr/>
        </p:nvSpPr>
        <p:spPr>
          <a:xfrm>
            <a:off x="548640" y="5260086"/>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731520" y="5510403"/>
            <a:ext cx="365760" cy="365760"/>
          </a:xfrm>
          <a:prstGeom prst="ellipse">
            <a:avLst/>
          </a:prstGeom>
          <a:solidFill>
            <a:srgbClr val="272827"/>
          </a:solidFill>
          <a:ln w="12700">
            <a:solidFill>
              <a:srgbClr val="272827"/>
            </a:solidFill>
            <a:prstDash val="solid"/>
          </a:ln>
        </p:spPr>
      </p:sp>
      <p:sp>
        <p:nvSpPr>
          <p:cNvPr id="29" name="Text 27"/>
          <p:cNvSpPr txBox="1"/>
          <p:nvPr/>
        </p:nvSpPr>
        <p:spPr>
          <a:xfrm>
            <a:off x="73152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0" name="Text 28"/>
          <p:cNvSpPr txBox="1"/>
          <p:nvPr/>
        </p:nvSpPr>
        <p:spPr>
          <a:xfrm>
            <a:off x="1234440" y="5333238"/>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Validation only in code, not in the database</a:t>
            </a:r>
            <a:endParaRPr lang="en-US" sz="1500" dirty="0"/>
          </a:p>
        </p:txBody>
      </p:sp>
      <p:sp>
        <p:nvSpPr>
          <p:cNvPr id="31" name="Shape 29"/>
          <p:cNvSpPr/>
          <p:nvPr/>
        </p:nvSpPr>
        <p:spPr>
          <a:xfrm>
            <a:off x="5623560" y="5510403"/>
            <a:ext cx="365760" cy="365760"/>
          </a:xfrm>
          <a:prstGeom prst="ellipse">
            <a:avLst/>
          </a:prstGeom>
          <a:solidFill>
            <a:srgbClr val="FF5723"/>
          </a:solidFill>
          <a:ln w="12700">
            <a:solidFill>
              <a:srgbClr val="FF5723"/>
            </a:solidFill>
            <a:prstDash val="solid"/>
          </a:ln>
        </p:spPr>
      </p:sp>
      <p:sp>
        <p:nvSpPr>
          <p:cNvPr id="32" name="Text 30"/>
          <p:cNvSpPr txBox="1"/>
          <p:nvPr/>
        </p:nvSpPr>
        <p:spPr>
          <a:xfrm>
            <a:off x="562356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3" name="Text 31"/>
          <p:cNvSpPr txBox="1"/>
          <p:nvPr/>
        </p:nvSpPr>
        <p:spPr>
          <a:xfrm>
            <a:off x="6126480" y="5333238"/>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Add UNIQUE and CHECK constraints for the rules that must always hold</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NAQLA icon">    </p:cNvPr>
          <p:cNvPicPr>
            <a:picLocks noChangeAspect="1"/>
          </p:cNvPicPr>
          <p:nvPr/>
        </p:nvPicPr>
        <p:blipFill>
          <a:blip r:embed="rId1"/>
          <a:stretch>
            <a:fillRect/>
          </a:stretch>
        </p:blipFill>
        <p:spPr>
          <a:xfrm>
            <a:off x="548640" y="914400"/>
            <a:ext cx="341535" cy="502920"/>
          </a:xfrm>
          <a:prstGeom prst="rect">
            <a:avLst/>
          </a:prstGeom>
        </p:spPr>
      </p:pic>
      <p:sp>
        <p:nvSpPr>
          <p:cNvPr id="3" name="Text 0"/>
          <p:cNvSpPr txBox="1"/>
          <p:nvPr/>
        </p:nvSpPr>
        <p:spPr>
          <a:xfrm>
            <a:off x="548640" y="1828800"/>
            <a:ext cx="10058400" cy="2743200"/>
          </a:xfrm>
          <a:prstGeom prst="rect">
            <a:avLst/>
          </a:prstGeom>
          <a:noFill/>
          <a:ln/>
        </p:spPr>
        <p:txBody>
          <a:bodyPr wrap="square" lIns="0" tIns="0" rIns="0" bIns="0" rtlCol="0" anchor="ctr"/>
          <a:lstStyle/>
          <a:p>
            <a:pPr indent="0" marL="0">
              <a:buNone/>
            </a:pPr>
            <a:r>
              <a:rPr lang="en-US" sz="4000" b="1" dirty="0">
                <a:solidFill>
                  <a:srgbClr val="FFFFFF"/>
                </a:solidFill>
                <a:latin typeface="Playfair Display" pitchFamily="34" charset="0"/>
                <a:ea typeface="Playfair Display" pitchFamily="34" charset="-122"/>
                <a:cs typeface="Playfair Display" pitchFamily="34" charset="-120"/>
              </a:rPr>
              <a:t>A test you never saw fail</a:t>
            </a:r>
            <a:endParaRPr lang="en-US" sz="4000" dirty="0"/>
          </a:p>
          <a:p>
            <a:pPr indent="0" marL="0">
              <a:buNone/>
            </a:pPr>
            <a:r>
              <a:rPr lang="en-US" sz="4000" b="1" dirty="0">
                <a:solidFill>
                  <a:srgbClr val="FF5723"/>
                </a:solidFill>
                <a:latin typeface="Playfair Display" pitchFamily="34" charset="0"/>
                <a:ea typeface="Playfair Display" pitchFamily="34" charset="-122"/>
                <a:cs typeface="Playfair Display" pitchFamily="34" charset="-120"/>
              </a:rPr>
              <a:t>proves nothing.</a:t>
            </a:r>
            <a:endParaRPr lang="en-US" sz="4000" dirty="0"/>
          </a:p>
        </p:txBody>
      </p:sp>
      <p:sp>
        <p:nvSpPr>
          <p:cNvPr id="4" name="Text 1"/>
          <p:cNvSpPr txBox="1"/>
          <p:nvPr/>
        </p:nvSpPr>
        <p:spPr>
          <a:xfrm>
            <a:off x="548640" y="4709160"/>
            <a:ext cx="10058400" cy="502920"/>
          </a:xfrm>
          <a:prstGeom prst="rect">
            <a:avLst/>
          </a:prstGeom>
          <a:noFill/>
          <a:ln/>
        </p:spPr>
        <p:txBody>
          <a:bodyPr wrap="square" lIns="0" tIns="0" rIns="0" bIns="0" rtlCol="0" anchor="t"/>
          <a:lstStyle/>
          <a:p>
            <a:pPr rtl="1" algn="l" indent="0" marL="0">
              <a:buNone/>
            </a:pPr>
            <a:r>
              <a:rPr lang="ar-LY" altLang="en-US" sz="2200" dirty="0">
                <a:solidFill>
                  <a:srgbClr val="9CA3AF"/>
                </a:solidFill>
                <a:latin typeface="Tajawal" pitchFamily="34" charset="0"/>
                <a:ea typeface="Tajawal" pitchFamily="34" charset="-122"/>
                <a:cs typeface="Tajawal" pitchFamily="34" charset="-120"/>
              </a:rPr>
              <a:t>الاختبار الذي لم تره يفشل لا يثبت شيئاً</a:t>
            </a:r>
            <a:endParaRPr lang="ar-LY" sz="2200" dirty="0"/>
          </a:p>
        </p:txBody>
      </p:sp>
      <p:sp>
        <p:nvSpPr>
          <p:cNvPr id="5" name="Text 2"/>
          <p:cNvSpPr txBox="1"/>
          <p:nvPr/>
        </p:nvSpPr>
        <p:spPr>
          <a:xfrm>
            <a:off x="548640" y="5349240"/>
            <a:ext cx="10058400" cy="457200"/>
          </a:xfrm>
          <a:prstGeom prst="rect">
            <a:avLst/>
          </a:prstGeom>
          <a:noFill/>
          <a:ln/>
        </p:spPr>
        <p:txBody>
          <a:bodyPr wrap="square" lIns="0" tIns="0" rIns="0" bIns="0" rtlCol="0" anchor="ctr"/>
          <a:lstStyle/>
          <a:p>
            <a:pPr indent="0" marL="0">
              <a:buNone/>
            </a:pPr>
            <a:r>
              <a:rPr lang="en-US" sz="1600" dirty="0">
                <a:solidFill>
                  <a:srgbClr val="9CA3AF"/>
                </a:solidFill>
                <a:latin typeface="Inter" pitchFamily="34" charset="0"/>
                <a:ea typeface="Inter" pitchFamily="34" charset="-122"/>
                <a:cs typeface="Inter" pitchFamily="34" charset="-120"/>
              </a:rPr>
              <a:t>Red first. Then green. Then review.</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The Booking API</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الثاني: الحجز والتتبع</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2 · PART 2</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The Booking API</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Book, list, view, cancel and track shipments, with policies and </a:t>
            </a:r>
            <a:pPr indent="0" marL="0">
              <a:buNone/>
            </a:pPr>
            <a:r>
              <a:rPr lang="en-US" sz="1400" b="1" dirty="0">
                <a:solidFill>
                  <a:srgbClr val="E8E2D9"/>
                </a:solidFill>
                <a:latin typeface="Inter" pitchFamily="34" charset="0"/>
                <a:ea typeface="Inter" pitchFamily="34" charset="-122"/>
                <a:cs typeface="Inter" pitchFamily="34" charset="-120"/>
              </a:rPr>
              <a:t>at least 20</a:t>
            </a:r>
            <a:pPr indent="0" marL="0">
              <a:buNone/>
            </a:pPr>
            <a:r>
              <a:rPr lang="en-US" sz="1400" dirty="0">
                <a:solidFill>
                  <a:srgbClr val="E8E2D9"/>
                </a:solidFill>
                <a:latin typeface="Inter" pitchFamily="34" charset="0"/>
                <a:ea typeface="Inter" pitchFamily="34" charset="-122"/>
                <a:cs typeface="Inter" pitchFamily="34" charset="-120"/>
              </a:rPr>
              <a:t> passing tests.</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14:15–15:45</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labs/lab2.md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day2-end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POST /api/shipments</a:t>
            </a:r>
            <a:pPr indent="0" marL="0">
              <a:buNone/>
            </a:pPr>
            <a:r>
              <a:rPr lang="en-US" sz="1500" dirty="0">
                <a:solidFill>
                  <a:srgbClr val="272827"/>
                </a:solidFill>
                <a:latin typeface="Inter" pitchFamily="34" charset="0"/>
                <a:ea typeface="Inter" pitchFamily="34" charset="-122"/>
                <a:cs typeface="Inter" pitchFamily="34" charset="-120"/>
              </a:rPr>
              <a:t> from a valid, unexpired, unused quote</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GET /api/shipments</a:t>
            </a:r>
            <a:pPr indent="0" marL="0">
              <a:buNone/>
            </a:pPr>
            <a:r>
              <a:rPr lang="en-US" sz="1500" dirty="0">
                <a:solidFill>
                  <a:srgbClr val="272827"/>
                </a:solidFill>
                <a:latin typeface="Inter" pitchFamily="34" charset="0"/>
                <a:ea typeface="Inter" pitchFamily="34" charset="-122"/>
                <a:cs typeface="Inter" pitchFamily="34" charset="-120"/>
              </a:rPr>
              <a:t>: paginated, own shipments only</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GET /api/shipments/{reference}</a:t>
            </a:r>
            <a:pPr indent="0" marL="0">
              <a:buNone/>
            </a:pPr>
            <a:r>
              <a:rPr lang="en-US" sz="1500" dirty="0">
                <a:solidFill>
                  <a:srgbClr val="272827"/>
                </a:solidFill>
                <a:latin typeface="Inter" pitchFamily="34" charset="0"/>
                <a:ea typeface="Inter" pitchFamily="34" charset="-122"/>
                <a:cs typeface="Inter" pitchFamily="34" charset="-120"/>
              </a:rPr>
              <a:t>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ShipmentPolicy</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Cancel and tracking, enforcing </a:t>
            </a:r>
            <a:pPr indent="0" marL="0">
              <a:buNone/>
            </a:pPr>
            <a:r>
              <a:rPr lang="en-US" sz="1500" dirty="0">
                <a:solidFill>
                  <a:srgbClr val="C2410C"/>
                </a:solidFill>
                <a:latin typeface="JetBrains Mono" pitchFamily="34" charset="0"/>
                <a:ea typeface="JetBrains Mono" pitchFamily="34" charset="-122"/>
                <a:cs typeface="JetBrains Mono" pitchFamily="34" charset="-120"/>
              </a:rPr>
              <a:t>canTransitionTo</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Swap laptops: review with the checklist, then fix</a:t>
            </a:r>
            <a:endParaRPr lang="en-US" sz="1500" dirty="0"/>
          </a:p>
        </p:txBody>
      </p:sp>
      <p:sp>
        <p:nvSpPr>
          <p:cNvPr id="25" name="Shape 23"/>
          <p:cNvSpPr/>
          <p:nvPr/>
        </p:nvSpPr>
        <p:spPr>
          <a:xfrm>
            <a:off x="4754880" y="46360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6177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sail artisan test</a:t>
            </a:r>
            <a:pPr indent="0" marL="0">
              <a:buNone/>
            </a:pPr>
            <a:r>
              <a:rPr lang="en-US" sz="1500" dirty="0">
                <a:solidFill>
                  <a:srgbClr val="272827"/>
                </a:solidFill>
                <a:latin typeface="Inter" pitchFamily="34" charset="0"/>
                <a:ea typeface="Inter" pitchFamily="34" charset="-122"/>
                <a:cs typeface="Inter" pitchFamily="34" charset="-120"/>
              </a:rPr>
              <a:t>, commit, </a:t>
            </a:r>
            <a:pPr indent="0" marL="0">
              <a:buNone/>
            </a:pPr>
            <a:r>
              <a:rPr lang="en-US" sz="1500" dirty="0">
                <a:solidFill>
                  <a:srgbClr val="C2410C"/>
                </a:solidFill>
                <a:latin typeface="JetBrains Mono" pitchFamily="34" charset="0"/>
                <a:ea typeface="JetBrains Mono" pitchFamily="34" charset="-122"/>
                <a:cs typeface="JetBrains Mono" pitchFamily="34" charset="-120"/>
              </a:rPr>
              <a:t>git diff day2-end</a:t>
            </a:r>
            <a:endParaRPr lang="en-US" sz="1500" dirty="0"/>
          </a:p>
        </p:txBody>
      </p:sp>
      <p:sp>
        <p:nvSpPr>
          <p:cNvPr id="28" name="Shape 26"/>
          <p:cNvSpPr/>
          <p:nvPr/>
        </p:nvSpPr>
        <p:spPr>
          <a:xfrm>
            <a:off x="4754880" y="5212080"/>
            <a:ext cx="6888175" cy="914400"/>
          </a:xfrm>
          <a:prstGeom prst="roundRect">
            <a:avLst>
              <a:gd name="adj" fmla="val 8000"/>
            </a:avLst>
          </a:prstGeom>
          <a:solidFill>
            <a:srgbClr val="F6F3EE"/>
          </a:solidFill>
          <a:ln w="12700">
            <a:solidFill>
              <a:srgbClr val="D0CBC0"/>
            </a:solidFill>
            <a:prstDash val="solid"/>
          </a:ln>
        </p:spPr>
      </p:sp>
      <p:sp>
        <p:nvSpPr>
          <p:cNvPr id="29" name="Text 27"/>
          <p:cNvSpPr txBox="1"/>
          <p:nvPr/>
        </p:nvSpPr>
        <p:spPr>
          <a:xfrm>
            <a:off x="4983480" y="5257800"/>
            <a:ext cx="6430975" cy="8229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 20 new tests pass, every record route has a 401 and a 403 test, and your API matches </a:t>
            </a:r>
            <a:pPr indent="0" marL="0">
              <a:buNone/>
            </a:pPr>
            <a:r>
              <a:rPr lang="en-US" sz="1400" dirty="0">
                <a:solidFill>
                  <a:srgbClr val="C2410C"/>
                </a:solidFill>
                <a:latin typeface="JetBrains Mono" pitchFamily="34" charset="0"/>
                <a:ea typeface="JetBrains Mono" pitchFamily="34" charset="-122"/>
                <a:cs typeface="JetBrains Mono" pitchFamily="34" charset="-120"/>
              </a:rPr>
              <a:t>day2-end</a:t>
            </a:r>
            <a:pPr indent="0" marL="0">
              <a:buNone/>
            </a:pPr>
            <a:r>
              <a:rPr lang="en-US" sz="1400" dirty="0">
                <a:solidFill>
                  <a:srgbClr val="272827"/>
                </a:solidFill>
                <a:latin typeface="Inter" pitchFamily="34" charset="0"/>
                <a:ea typeface="Inter" pitchFamily="34" charset="-122"/>
                <a:cs typeface="Inter" pitchFamily="34" charset="-120"/>
              </a:rPr>
              <a:t> (56 tests).</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Recap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خلاصة اليوم</a:t>
            </a:r>
            <a:endParaRPr lang="ar-LY" sz="1700" dirty="0"/>
          </a:p>
        </p:txBody>
      </p:sp>
      <p:sp>
        <p:nvSpPr>
          <p:cNvPr id="4" name="Shape 2"/>
          <p:cNvSpPr/>
          <p:nvPr/>
        </p:nvSpPr>
        <p:spPr>
          <a:xfrm>
            <a:off x="548640" y="1810512"/>
            <a:ext cx="365760" cy="365760"/>
          </a:xfrm>
          <a:prstGeom prst="ellipse">
            <a:avLst/>
          </a:prstGeom>
          <a:solidFill>
            <a:srgbClr val="FF5723"/>
          </a:solidFill>
          <a:ln w="12700">
            <a:solidFill>
              <a:srgbClr val="FF5723"/>
            </a:solidFill>
            <a:prstDash val="solid"/>
          </a:ln>
        </p:spPr>
      </p:sp>
      <p:sp>
        <p:nvSpPr>
          <p:cNvPr id="5" name="Text 3"/>
          <p:cNvSpPr txBox="1"/>
          <p:nvPr/>
        </p:nvSpPr>
        <p:spPr>
          <a:xfrm>
            <a:off x="548640"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6" name="Text 4"/>
          <p:cNvSpPr txBox="1"/>
          <p:nvPr/>
        </p:nvSpPr>
        <p:spPr>
          <a:xfrm>
            <a:off x="1097280" y="17830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URLs name resources; </a:t>
            </a:r>
            <a:pPr indent="0" marL="0">
              <a:buNone/>
            </a:pPr>
            <a:r>
              <a:rPr lang="en-US" sz="1600" b="1" dirty="0">
                <a:solidFill>
                  <a:srgbClr val="272827"/>
                </a:solidFill>
                <a:latin typeface="Inter" pitchFamily="34" charset="0"/>
                <a:ea typeface="Inter" pitchFamily="34" charset="-122"/>
                <a:cs typeface="Inter" pitchFamily="34" charset="-120"/>
              </a:rPr>
              <a:t>status codes</a:t>
            </a:r>
            <a:pPr indent="0" marL="0">
              <a:buNone/>
            </a:pPr>
            <a:r>
              <a:rPr lang="en-US" sz="1600" dirty="0">
                <a:solidFill>
                  <a:srgbClr val="272827"/>
                </a:solidFill>
                <a:latin typeface="Inter" pitchFamily="34" charset="0"/>
                <a:ea typeface="Inter" pitchFamily="34" charset="-122"/>
                <a:cs typeface="Inter" pitchFamily="34" charset="-120"/>
              </a:rPr>
              <a:t> tell the truth</a:t>
            </a:r>
            <a:endParaRPr lang="en-US" sz="1600" dirty="0"/>
          </a:p>
        </p:txBody>
      </p:sp>
      <p:sp>
        <p:nvSpPr>
          <p:cNvPr id="7" name="Shape 5"/>
          <p:cNvSpPr/>
          <p:nvPr/>
        </p:nvSpPr>
        <p:spPr>
          <a:xfrm>
            <a:off x="548640" y="2542032"/>
            <a:ext cx="365760" cy="365760"/>
          </a:xfrm>
          <a:prstGeom prst="ellipse">
            <a:avLst/>
          </a:prstGeom>
          <a:solidFill>
            <a:srgbClr val="FF5723"/>
          </a:solidFill>
          <a:ln w="12700">
            <a:solidFill>
              <a:srgbClr val="FF5723"/>
            </a:solidFill>
            <a:prstDash val="solid"/>
          </a:ln>
        </p:spPr>
      </p:sp>
      <p:sp>
        <p:nvSpPr>
          <p:cNvPr id="8" name="Text 6"/>
          <p:cNvSpPr txBox="1"/>
          <p:nvPr/>
        </p:nvSpPr>
        <p:spPr>
          <a:xfrm>
            <a:off x="548640" y="25420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097280" y="251460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FormRequests validate; </a:t>
            </a:r>
            <a:pPr indent="0" marL="0">
              <a:buNone/>
            </a:pPr>
            <a:r>
              <a:rPr lang="en-US" sz="1600" dirty="0">
                <a:solidFill>
                  <a:srgbClr val="C2410C"/>
                </a:solidFill>
                <a:latin typeface="JetBrains Mono" pitchFamily="34" charset="0"/>
                <a:ea typeface="JetBrains Mono" pitchFamily="34" charset="-122"/>
                <a:cs typeface="JetBrains Mono" pitchFamily="34" charset="-120"/>
              </a:rPr>
              <a:t>validated()</a:t>
            </a:r>
            <a:pPr indent="0" marL="0">
              <a:buNone/>
            </a:pPr>
            <a:r>
              <a:rPr lang="en-US" sz="1600" dirty="0">
                <a:solidFill>
                  <a:srgbClr val="272827"/>
                </a:solidFill>
                <a:latin typeface="Inter" pitchFamily="34" charset="0"/>
                <a:ea typeface="Inter" pitchFamily="34" charset="-122"/>
                <a:cs typeface="Inter" pitchFamily="34" charset="-120"/>
              </a:rPr>
              <a:t> stops mass assignment</a:t>
            </a:r>
            <a:endParaRPr lang="en-US" sz="1600" dirty="0"/>
          </a:p>
        </p:txBody>
      </p:sp>
      <p:sp>
        <p:nvSpPr>
          <p:cNvPr id="10" name="Shape 8"/>
          <p:cNvSpPr/>
          <p:nvPr/>
        </p:nvSpPr>
        <p:spPr>
          <a:xfrm>
            <a:off x="548640" y="3273552"/>
            <a:ext cx="365760" cy="365760"/>
          </a:xfrm>
          <a:prstGeom prst="ellipse">
            <a:avLst/>
          </a:prstGeom>
          <a:solidFill>
            <a:srgbClr val="FF5723"/>
          </a:solidFill>
          <a:ln w="12700">
            <a:solidFill>
              <a:srgbClr val="FF5723"/>
            </a:solidFill>
            <a:prstDash val="solid"/>
          </a:ln>
        </p:spPr>
      </p:sp>
      <p:sp>
        <p:nvSpPr>
          <p:cNvPr id="11" name="Text 9"/>
          <p:cNvSpPr txBox="1"/>
          <p:nvPr/>
        </p:nvSpPr>
        <p:spPr>
          <a:xfrm>
            <a:off x="548640" y="32735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1097280" y="3246120"/>
            <a:ext cx="5486400" cy="640080"/>
          </a:xfrm>
          <a:prstGeom prst="rect">
            <a:avLst/>
          </a:prstGeom>
          <a:noFill/>
          <a:ln/>
        </p:spPr>
        <p:txBody>
          <a:bodyPr wrap="square" lIns="0" tIns="0" rIns="0" bIns="0" rtlCol="0" anchor="t"/>
          <a:lstStyle/>
          <a:p>
            <a:pPr indent="0" marL="0">
              <a:buNone/>
            </a:pPr>
            <a:r>
              <a:rPr lang="en-US" sz="1600" b="1" dirty="0">
                <a:solidFill>
                  <a:srgbClr val="272827"/>
                </a:solidFill>
                <a:latin typeface="Inter" pitchFamily="34" charset="0"/>
                <a:ea typeface="Inter" pitchFamily="34" charset="-122"/>
                <a:cs typeface="Inter" pitchFamily="34" charset="-120"/>
              </a:rPr>
              <a:t>Sanctum</a:t>
            </a:r>
            <a:pPr indent="0" marL="0">
              <a:buNone/>
            </a:pPr>
            <a:r>
              <a:rPr lang="en-US" sz="1600" dirty="0">
                <a:solidFill>
                  <a:srgbClr val="272827"/>
                </a:solidFill>
                <a:latin typeface="Inter" pitchFamily="34" charset="0"/>
                <a:ea typeface="Inter" pitchFamily="34" charset="-122"/>
                <a:cs typeface="Inter" pitchFamily="34" charset="-120"/>
              </a:rPr>
              <a:t> says who you are; </a:t>
            </a:r>
            <a:pPr indent="0" marL="0">
              <a:buNone/>
            </a:pPr>
            <a:r>
              <a:rPr lang="en-US" sz="1600" b="1" dirty="0">
                <a:solidFill>
                  <a:srgbClr val="272827"/>
                </a:solidFill>
                <a:latin typeface="Inter" pitchFamily="34" charset="0"/>
                <a:ea typeface="Inter" pitchFamily="34" charset="-122"/>
                <a:cs typeface="Inter" pitchFamily="34" charset="-120"/>
              </a:rPr>
              <a:t>Policies</a:t>
            </a:r>
            <a:pPr indent="0" marL="0">
              <a:buNone/>
            </a:pPr>
            <a:r>
              <a:rPr lang="en-US" sz="1600" dirty="0">
                <a:solidFill>
                  <a:srgbClr val="272827"/>
                </a:solidFill>
                <a:latin typeface="Inter" pitchFamily="34" charset="0"/>
                <a:ea typeface="Inter" pitchFamily="34" charset="-122"/>
                <a:cs typeface="Inter" pitchFamily="34" charset="-120"/>
              </a:rPr>
              <a:t> say what you may do</a:t>
            </a:r>
            <a:endParaRPr lang="en-US" sz="1600" dirty="0"/>
          </a:p>
        </p:txBody>
      </p:sp>
      <p:sp>
        <p:nvSpPr>
          <p:cNvPr id="13" name="Shape 11"/>
          <p:cNvSpPr/>
          <p:nvPr/>
        </p:nvSpPr>
        <p:spPr>
          <a:xfrm>
            <a:off x="548640" y="4005072"/>
            <a:ext cx="365760" cy="365760"/>
          </a:xfrm>
          <a:prstGeom prst="ellipse">
            <a:avLst/>
          </a:prstGeom>
          <a:solidFill>
            <a:srgbClr val="FF5723"/>
          </a:solidFill>
          <a:ln w="12700">
            <a:solidFill>
              <a:srgbClr val="FF5723"/>
            </a:solidFill>
            <a:prstDash val="solid"/>
          </a:ln>
        </p:spPr>
      </p:sp>
      <p:sp>
        <p:nvSpPr>
          <p:cNvPr id="14" name="Text 12"/>
          <p:cNvSpPr txBox="1"/>
          <p:nvPr/>
        </p:nvSpPr>
        <p:spPr>
          <a:xfrm>
            <a:off x="548640" y="40050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5" name="Text 13"/>
          <p:cNvSpPr txBox="1"/>
          <p:nvPr/>
        </p:nvSpPr>
        <p:spPr>
          <a:xfrm>
            <a:off x="1097280" y="397764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Money is </a:t>
            </a:r>
            <a:pPr indent="0" marL="0">
              <a:buNone/>
            </a:pPr>
            <a:r>
              <a:rPr lang="en-US" sz="1600" dirty="0">
                <a:solidFill>
                  <a:srgbClr val="C2410C"/>
                </a:solidFill>
                <a:latin typeface="JetBrains Mono" pitchFamily="34" charset="0"/>
                <a:ea typeface="JetBrains Mono" pitchFamily="34" charset="-122"/>
                <a:cs typeface="JetBrains Mono" pitchFamily="34" charset="-120"/>
              </a:rPr>
              <a:t>decimal(10,2)</a:t>
            </a:r>
            <a:pPr indent="0" marL="0">
              <a:buNone/>
            </a:pPr>
            <a:r>
              <a:rPr lang="en-US" sz="1600" dirty="0">
                <a:solidFill>
                  <a:srgbClr val="272827"/>
                </a:solidFill>
                <a:latin typeface="Inter" pitchFamily="34" charset="0"/>
                <a:ea typeface="Inter" pitchFamily="34" charset="-122"/>
                <a:cs typeface="Inter" pitchFamily="34" charset="-120"/>
              </a:rPr>
              <a:t>; time is UTC; quotes expire in 15 min</a:t>
            </a:r>
            <a:endParaRPr lang="en-US" sz="1600" dirty="0"/>
          </a:p>
        </p:txBody>
      </p:sp>
      <p:sp>
        <p:nvSpPr>
          <p:cNvPr id="16" name="Shape 14"/>
          <p:cNvSpPr/>
          <p:nvPr/>
        </p:nvSpPr>
        <p:spPr>
          <a:xfrm>
            <a:off x="548640" y="4736592"/>
            <a:ext cx="365760" cy="365760"/>
          </a:xfrm>
          <a:prstGeom prst="ellipse">
            <a:avLst/>
          </a:prstGeom>
          <a:solidFill>
            <a:srgbClr val="FF5723"/>
          </a:solidFill>
          <a:ln w="12700">
            <a:solidFill>
              <a:srgbClr val="FF5723"/>
            </a:solidFill>
            <a:prstDash val="solid"/>
          </a:ln>
        </p:spPr>
      </p:sp>
      <p:sp>
        <p:nvSpPr>
          <p:cNvPr id="17" name="Text 15"/>
          <p:cNvSpPr txBox="1"/>
          <p:nvPr/>
        </p:nvSpPr>
        <p:spPr>
          <a:xfrm>
            <a:off x="548640" y="47365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8" name="Text 16"/>
          <p:cNvSpPr txBox="1"/>
          <p:nvPr/>
        </p:nvSpPr>
        <p:spPr>
          <a:xfrm>
            <a:off x="1097280" y="470916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Red → review → green → refactor, with the agent</a:t>
            </a:r>
            <a:endParaRPr lang="en-US" sz="1600" dirty="0"/>
          </a:p>
        </p:txBody>
      </p:sp>
      <p:sp>
        <p:nvSpPr>
          <p:cNvPr id="19" name="Shape 17"/>
          <p:cNvSpPr/>
          <p:nvPr/>
        </p:nvSpPr>
        <p:spPr>
          <a:xfrm>
            <a:off x="548640" y="5468112"/>
            <a:ext cx="365760" cy="365760"/>
          </a:xfrm>
          <a:prstGeom prst="ellipse">
            <a:avLst/>
          </a:prstGeom>
          <a:solidFill>
            <a:srgbClr val="FF5723"/>
          </a:solidFill>
          <a:ln w="12700">
            <a:solidFill>
              <a:srgbClr val="FF5723"/>
            </a:solidFill>
            <a:prstDash val="solid"/>
          </a:ln>
        </p:spPr>
      </p:sp>
      <p:sp>
        <p:nvSpPr>
          <p:cNvPr id="20" name="Text 18"/>
          <p:cNvSpPr txBox="1"/>
          <p:nvPr/>
        </p:nvSpPr>
        <p:spPr>
          <a:xfrm>
            <a:off x="548640" y="54681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1" name="Text 19"/>
          <p:cNvSpPr txBox="1"/>
          <p:nvPr/>
        </p:nvSpPr>
        <p:spPr>
          <a:xfrm>
            <a:off x="1097280" y="54406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Constraints and a checklist catch what tests miss</a:t>
            </a:r>
            <a:endParaRPr lang="en-US" sz="1600" dirty="0"/>
          </a:p>
        </p:txBody>
      </p:sp>
      <p:sp>
        <p:nvSpPr>
          <p:cNvPr id="22" name="Shape 20"/>
          <p:cNvSpPr/>
          <p:nvPr/>
        </p:nvSpPr>
        <p:spPr>
          <a:xfrm>
            <a:off x="6949440" y="1691640"/>
            <a:ext cx="4693615" cy="4434840"/>
          </a:xfrm>
          <a:prstGeom prst="roundRect">
            <a:avLst>
              <a:gd name="adj" fmla="val 1649"/>
            </a:avLst>
          </a:prstGeom>
          <a:solidFill>
            <a:srgbClr val="272827"/>
          </a:solidFill>
          <a:ln w="12700">
            <a:solidFill>
              <a:srgbClr val="272827"/>
            </a:solidFill>
            <a:prstDash val="solid"/>
          </a:ln>
        </p:spPr>
      </p:sp>
      <p:sp>
        <p:nvSpPr>
          <p:cNvPr id="23" name="Text 21"/>
          <p:cNvSpPr txBox="1"/>
          <p:nvPr/>
        </p:nvSpPr>
        <p:spPr>
          <a:xfrm>
            <a:off x="7269480" y="1965960"/>
            <a:ext cx="40535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EXIT TICKET TEASER · 15:45</a:t>
            </a:r>
            <a:endParaRPr lang="en-US" sz="1100" dirty="0"/>
          </a:p>
        </p:txBody>
      </p:sp>
      <p:sp>
        <p:nvSpPr>
          <p:cNvPr id="24" name="Text 22"/>
          <p:cNvSpPr txBox="1"/>
          <p:nvPr/>
        </p:nvSpPr>
        <p:spPr>
          <a:xfrm>
            <a:off x="7269480" y="2377440"/>
            <a:ext cx="4053535" cy="1097280"/>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A customer requests another customer's shipment by reference. What should stop it?</a:t>
            </a:r>
            <a:endParaRPr lang="en-US" sz="1700" dirty="0"/>
          </a:p>
        </p:txBody>
      </p:sp>
      <p:sp>
        <p:nvSpPr>
          <p:cNvPr id="25" name="Shape 23"/>
          <p:cNvSpPr/>
          <p:nvPr/>
        </p:nvSpPr>
        <p:spPr>
          <a:xfrm>
            <a:off x="7269480" y="3566160"/>
            <a:ext cx="365760" cy="365760"/>
          </a:xfrm>
          <a:prstGeom prst="ellipse">
            <a:avLst/>
          </a:prstGeom>
          <a:solidFill>
            <a:srgbClr val="3A3B3A"/>
          </a:solidFill>
          <a:ln w="12700">
            <a:solidFill>
              <a:srgbClr val="3A3B3A"/>
            </a:solidFill>
            <a:prstDash val="solid"/>
          </a:ln>
        </p:spPr>
      </p:sp>
      <p:sp>
        <p:nvSpPr>
          <p:cNvPr id="26" name="Text 24"/>
          <p:cNvSpPr txBox="1"/>
          <p:nvPr/>
        </p:nvSpPr>
        <p:spPr>
          <a:xfrm>
            <a:off x="7269480" y="35661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a:t>
            </a:r>
            <a:endParaRPr lang="en-US" sz="1100" dirty="0"/>
          </a:p>
        </p:txBody>
      </p:sp>
      <p:sp>
        <p:nvSpPr>
          <p:cNvPr id="27" name="Text 25"/>
          <p:cNvSpPr txBox="1"/>
          <p:nvPr/>
        </p:nvSpPr>
        <p:spPr>
          <a:xfrm>
            <a:off x="7772400" y="3520440"/>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The FormRequest</a:t>
            </a:r>
            <a:endParaRPr lang="en-US" sz="1400" dirty="0"/>
          </a:p>
        </p:txBody>
      </p:sp>
      <p:sp>
        <p:nvSpPr>
          <p:cNvPr id="28" name="Shape 26"/>
          <p:cNvSpPr/>
          <p:nvPr/>
        </p:nvSpPr>
        <p:spPr>
          <a:xfrm>
            <a:off x="7269480" y="4133088"/>
            <a:ext cx="365760" cy="365760"/>
          </a:xfrm>
          <a:prstGeom prst="ellipse">
            <a:avLst/>
          </a:prstGeom>
          <a:solidFill>
            <a:srgbClr val="3A3B3A"/>
          </a:solidFill>
          <a:ln w="12700">
            <a:solidFill>
              <a:srgbClr val="3A3B3A"/>
            </a:solidFill>
            <a:prstDash val="solid"/>
          </a:ln>
        </p:spPr>
      </p:sp>
      <p:sp>
        <p:nvSpPr>
          <p:cNvPr id="29" name="Text 27"/>
          <p:cNvSpPr txBox="1"/>
          <p:nvPr/>
        </p:nvSpPr>
        <p:spPr>
          <a:xfrm>
            <a:off x="7269480" y="41330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B</a:t>
            </a:r>
            <a:endParaRPr lang="en-US" sz="1100" dirty="0"/>
          </a:p>
        </p:txBody>
      </p:sp>
      <p:sp>
        <p:nvSpPr>
          <p:cNvPr id="30" name="Text 28"/>
          <p:cNvSpPr txBox="1"/>
          <p:nvPr/>
        </p:nvSpPr>
        <p:spPr>
          <a:xfrm>
            <a:off x="7772400" y="4087368"/>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The </a:t>
            </a:r>
            <a:pPr indent="0" marL="0">
              <a:buNone/>
            </a:pPr>
            <a:r>
              <a:rPr lang="en-US" sz="1400" dirty="0">
                <a:solidFill>
                  <a:srgbClr val="FFB59C"/>
                </a:solidFill>
                <a:latin typeface="JetBrains Mono" pitchFamily="34" charset="0"/>
                <a:ea typeface="JetBrains Mono" pitchFamily="34" charset="-122"/>
                <a:cs typeface="JetBrains Mono" pitchFamily="34" charset="-120"/>
              </a:rPr>
              <a:t>ShipmentPolicy</a:t>
            </a:r>
            <a:endParaRPr lang="en-US" sz="1400" dirty="0"/>
          </a:p>
        </p:txBody>
      </p:sp>
      <p:sp>
        <p:nvSpPr>
          <p:cNvPr id="31" name="Shape 29"/>
          <p:cNvSpPr/>
          <p:nvPr/>
        </p:nvSpPr>
        <p:spPr>
          <a:xfrm>
            <a:off x="7269480" y="4700016"/>
            <a:ext cx="365760" cy="365760"/>
          </a:xfrm>
          <a:prstGeom prst="ellipse">
            <a:avLst/>
          </a:prstGeom>
          <a:solidFill>
            <a:srgbClr val="3A3B3A"/>
          </a:solidFill>
          <a:ln w="12700">
            <a:solidFill>
              <a:srgbClr val="3A3B3A"/>
            </a:solidFill>
            <a:prstDash val="solid"/>
          </a:ln>
        </p:spPr>
      </p:sp>
      <p:sp>
        <p:nvSpPr>
          <p:cNvPr id="32" name="Text 30"/>
          <p:cNvSpPr txBox="1"/>
          <p:nvPr/>
        </p:nvSpPr>
        <p:spPr>
          <a:xfrm>
            <a:off x="7269480" y="47000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a:t>
            </a:r>
            <a:endParaRPr lang="en-US" sz="1100" dirty="0"/>
          </a:p>
        </p:txBody>
      </p:sp>
      <p:sp>
        <p:nvSpPr>
          <p:cNvPr id="33" name="Text 31"/>
          <p:cNvSpPr txBox="1"/>
          <p:nvPr/>
        </p:nvSpPr>
        <p:spPr>
          <a:xfrm>
            <a:off x="7772400" y="4654296"/>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The API Resource</a:t>
            </a:r>
            <a:endParaRPr lang="en-US" sz="1400" dirty="0"/>
          </a:p>
        </p:txBody>
      </p:sp>
      <p:sp>
        <p:nvSpPr>
          <p:cNvPr id="34" name="Shape 32"/>
          <p:cNvSpPr/>
          <p:nvPr/>
        </p:nvSpPr>
        <p:spPr>
          <a:xfrm>
            <a:off x="7269480" y="5266944"/>
            <a:ext cx="365760" cy="365760"/>
          </a:xfrm>
          <a:prstGeom prst="ellipse">
            <a:avLst/>
          </a:prstGeom>
          <a:solidFill>
            <a:srgbClr val="3A3B3A"/>
          </a:solidFill>
          <a:ln w="12700">
            <a:solidFill>
              <a:srgbClr val="3A3B3A"/>
            </a:solidFill>
            <a:prstDash val="solid"/>
          </a:ln>
        </p:spPr>
      </p:sp>
      <p:sp>
        <p:nvSpPr>
          <p:cNvPr id="35" name="Text 33"/>
          <p:cNvSpPr txBox="1"/>
          <p:nvPr/>
        </p:nvSpPr>
        <p:spPr>
          <a:xfrm>
            <a:off x="7269480" y="52669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D</a:t>
            </a:r>
            <a:endParaRPr lang="en-US" sz="1100" dirty="0"/>
          </a:p>
        </p:txBody>
      </p:sp>
      <p:sp>
        <p:nvSpPr>
          <p:cNvPr id="36" name="Text 34"/>
          <p:cNvSpPr txBox="1"/>
          <p:nvPr/>
        </p:nvSpPr>
        <p:spPr>
          <a:xfrm>
            <a:off x="7772400" y="5221224"/>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The rate limiter</a:t>
            </a:r>
            <a:endParaRPr lang="en-US" sz="1400" dirty="0"/>
          </a:p>
        </p:txBody>
      </p:sp>
      <p:sp>
        <p:nvSpPr>
          <p:cNvPr id="37" name="Text 35"/>
          <p:cNvSpPr txBox="1"/>
          <p:nvPr/>
        </p:nvSpPr>
        <p:spPr>
          <a:xfrm>
            <a:off x="7269480" y="5623560"/>
            <a:ext cx="4053535" cy="274320"/>
          </a:xfrm>
          <a:prstGeom prst="rect">
            <a:avLst/>
          </a:prstGeom>
          <a:noFill/>
          <a:ln/>
        </p:spPr>
        <p:txBody>
          <a:bodyPr wrap="square" lIns="0" tIns="0" rIns="0" bIns="0" rtlCol="0" anchor="ctr"/>
          <a:lstStyle/>
          <a:p>
            <a:pPr indent="0" marL="0">
              <a:buNone/>
            </a:pPr>
            <a:r>
              <a:rPr lang="en-US" sz="1100" dirty="0">
                <a:solidFill>
                  <a:srgbClr val="9CA3AF"/>
                </a:solidFill>
                <a:latin typeface="Inter" pitchFamily="34" charset="0"/>
                <a:ea typeface="Inter" pitchFamily="34" charset="-122"/>
                <a:cs typeface="Inter" pitchFamily="34" charset="-120"/>
              </a:rPr>
              <a:t>5 MCQ + 1 short answer · answer key with your instructor</a:t>
            </a:r>
            <a:endParaRPr lang="en-US" sz="11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675120" cy="1737360"/>
          </a:xfrm>
          <a:prstGeom prst="rect">
            <a:avLst/>
          </a:prstGeom>
          <a:noFill/>
          <a:ln/>
        </p:spPr>
        <p:txBody>
          <a:bodyPr wrap="square" lIns="0" tIns="0" rIns="0" bIns="0" rtlCol="0" anchor="t"/>
          <a:lstStyle/>
          <a:p>
            <a:pPr indent="0" marL="0">
              <a:buNone/>
            </a:pPr>
            <a:r>
              <a:rPr lang="en-US" sz="4800" b="1" dirty="0">
                <a:solidFill>
                  <a:srgbClr val="FFFFFF"/>
                </a:solidFill>
                <a:latin typeface="Playfair Display" pitchFamily="34" charset="0"/>
                <a:ea typeface="Playfair Display" pitchFamily="34" charset="-122"/>
                <a:cs typeface="Playfair Display" pitchFamily="34" charset="-120"/>
              </a:rPr>
              <a:t>Thank you</a:t>
            </a:r>
            <a:endParaRPr lang="en-US" sz="4800" dirty="0"/>
          </a:p>
          <a:p>
            <a:pPr indent="0" marL="0">
              <a:buNone/>
            </a:pPr>
            <a:r>
              <a:rPr lang="en-US" sz="4800" b="1" dirty="0">
                <a:solidFill>
                  <a:srgbClr val="FF5723"/>
                </a:solidFill>
                <a:latin typeface="Playfair Display" pitchFamily="34" charset="0"/>
                <a:ea typeface="Playfair Display" pitchFamily="34" charset="-122"/>
                <a:cs typeface="Playfair Display" pitchFamily="34" charset="-120"/>
              </a:rPr>
              <a:t>Day 2 done.</a:t>
            </a:r>
            <a:endParaRPr lang="en-US" sz="4800" dirty="0"/>
          </a:p>
        </p:txBody>
      </p:sp>
      <p:sp>
        <p:nvSpPr>
          <p:cNvPr id="5" name="Text 1"/>
          <p:cNvSpPr txBox="1"/>
          <p:nvPr/>
        </p:nvSpPr>
        <p:spPr>
          <a:xfrm>
            <a:off x="548640" y="3611880"/>
            <a:ext cx="6675120" cy="548640"/>
          </a:xfrm>
          <a:prstGeom prst="rect">
            <a:avLst/>
          </a:prstGeom>
          <a:noFill/>
          <a:ln/>
        </p:spPr>
        <p:txBody>
          <a:bodyPr wrap="square" lIns="0" tIns="0" rIns="0" bIns="0" rtlCol="0" anchor="t"/>
          <a:lstStyle/>
          <a:p>
            <a:pPr rtl="1" algn="l" indent="0" marL="0">
              <a:buNone/>
            </a:pPr>
            <a:r>
              <a:rPr lang="ar-LY" altLang="en-US" sz="2800" dirty="0">
                <a:solidFill>
                  <a:srgbClr val="D0CBC0"/>
                </a:solidFill>
                <a:latin typeface="Tajawal ExtraBold" pitchFamily="34" charset="0"/>
                <a:ea typeface="Tajawal ExtraBold" pitchFamily="34" charset="-122"/>
                <a:cs typeface="Tajawal ExtraBold" pitchFamily="34" charset="-120"/>
              </a:rPr>
              <a:t>شكراً لكم</a:t>
            </a:r>
            <a:endParaRPr lang="ar-LY" sz="2800" dirty="0"/>
          </a:p>
        </p:txBody>
      </p:sp>
      <p:sp>
        <p:nvSpPr>
          <p:cNvPr id="6" name="Text 2"/>
          <p:cNvSpPr txBox="1"/>
          <p:nvPr/>
        </p:nvSpPr>
        <p:spPr>
          <a:xfrm>
            <a:off x="548640" y="4389120"/>
            <a:ext cx="6675120" cy="914400"/>
          </a:xfrm>
          <a:prstGeom prst="rect">
            <a:avLst/>
          </a:prstGeom>
          <a:noFill/>
          <a:ln/>
        </p:spPr>
        <p:txBody>
          <a:bodyPr wrap="square" lIns="0" tIns="0" rIns="0" bIns="0" rtlCol="0" anchor="t"/>
          <a:lstStyle/>
          <a:p>
            <a:pPr indent="0" marL="0">
              <a:buNone/>
            </a:pPr>
            <a:r>
              <a:rPr lang="en-US" sz="1700" b="1" dirty="0">
                <a:solidFill>
                  <a:srgbClr val="FF5723"/>
                </a:solidFill>
                <a:latin typeface="Inter" pitchFamily="34" charset="0"/>
                <a:ea typeface="Inter" pitchFamily="34" charset="-122"/>
                <a:cs typeface="Inter" pitchFamily="34" charset="-120"/>
              </a:rPr>
              <a:t>Tomorrow, Day 3:</a:t>
            </a:r>
            <a:pPr indent="0" marL="0">
              <a:buNone/>
            </a:pPr>
            <a:r>
              <a:rPr lang="en-US" sz="1700" dirty="0">
                <a:solidFill>
                  <a:srgbClr val="E8E2D9"/>
                </a:solidFill>
                <a:latin typeface="Inter" pitchFamily="34" charset="0"/>
                <a:ea typeface="Inter" pitchFamily="34" charset="-122"/>
                <a:cs typeface="Inter" pitchFamily="34" charset="-120"/>
              </a:rPr>
              <a:t> making it scale. Queues, caching, idempotency and load tests with k6. Start from </a:t>
            </a:r>
            <a:pPr indent="0" marL="0">
              <a:buNone/>
            </a:pPr>
            <a:r>
              <a:rPr lang="en-US" sz="1700" dirty="0">
                <a:solidFill>
                  <a:srgbClr val="FFB59C"/>
                </a:solidFill>
                <a:latin typeface="JetBrains Mono" pitchFamily="34" charset="0"/>
                <a:ea typeface="JetBrains Mono" pitchFamily="34" charset="-122"/>
                <a:cs typeface="JetBrains Mono" pitchFamily="34" charset="-120"/>
              </a:rPr>
              <a:t>day2-end</a:t>
            </a:r>
            <a:pPr indent="0" marL="0">
              <a:buNone/>
            </a:pPr>
            <a:r>
              <a:rPr lang="en-US" sz="1700" dirty="0">
                <a:solidFill>
                  <a:srgbClr val="E8E2D9"/>
                </a:solidFill>
                <a:latin typeface="Inter" pitchFamily="34" charset="0"/>
                <a:ea typeface="Inter" pitchFamily="34" charset="-122"/>
                <a:cs typeface="Inter" pitchFamily="34" charset="-120"/>
              </a:rPr>
              <a:t>.</a:t>
            </a:r>
            <a:endParaRPr lang="en-US" sz="1700" dirty="0"/>
          </a:p>
        </p:txBody>
      </p:sp>
      <p:sp>
        <p:nvSpPr>
          <p:cNvPr id="7" name="Text 3"/>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naqlaa.ly  ·  contact@naqlaa.ly</a:t>
            </a:r>
            <a:endParaRPr lang="en-US" sz="1000" dirty="0"/>
          </a:p>
        </p:txBody>
      </p:sp>
    </p:spTree>
  </p:cSld>
  <p:clrMapOvr>
    <a:masterClrMapping/>
  </p:clrMapOvr>
</p:sld>
</file>

<file path=ppt/theme/theme1.xml><?xml version="1.0" encoding="utf-8"?>
<a:theme xmlns:a="http://schemas.openxmlformats.org/drawingml/2006/main" name="NAQLA">
  <a:themeElements>
    <a:clrScheme name="NAQLA">
      <a:dk1>
        <a:srgbClr val="272827"/>
      </a:dk1>
      <a:lt1>
        <a:srgbClr val="FFFFFF"/>
      </a:lt1>
      <a:dk2>
        <a:srgbClr val="3A3B3A"/>
      </a:dk2>
      <a:lt2>
        <a:srgbClr val="E8E2D9"/>
      </a:lt2>
      <a:accent1>
        <a:srgbClr val="FF5723"/>
      </a:accent1>
      <a:accent2>
        <a:srgbClr val="3A3B3A"/>
      </a:accent2>
      <a:accent3>
        <a:srgbClr val="6B7280"/>
      </a:accent3>
      <a:accent4>
        <a:srgbClr val="9CA3AF"/>
      </a:accent4>
      <a:accent5>
        <a:srgbClr val="D0CBC0"/>
      </a:accent5>
      <a:accent6>
        <a:srgbClr val="FF8A65"/>
      </a:accent6>
      <a:hlink>
        <a:srgbClr val="FF5723"/>
      </a:hlink>
      <a:folHlink>
        <a:srgbClr val="6B7280"/>
      </a:folHlink>
    </a:clrScheme>
    <a:fontScheme name="NAQLA">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NAQLA Training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Backend Engineering — Day 2: APIs and Data, Done Right</dc:title>
  <dc:subject>Agentic Backend Engineering</dc:subject>
  <dc:creator>NAQLA Training Center</dc:creator>
  <cp:lastModifiedBy>NAQLA Training Center</cp:lastModifiedBy>
  <cp:revision>1</cp:revision>
  <dcterms:created xsi:type="dcterms:W3CDTF">2026-10-20T14:52:25Z</dcterms:created>
  <dcterms:modified xsi:type="dcterms:W3CDTF">2026-10-20T14:52:25Z</dcterms:modified>
</cp:coreProperties>
</file>