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3f94989-62c2-1059-ae40-5d9bc9a2d404}">
          <p14:sldIdLst>
            <p14:sldId id="256"/>
            <p14:sldId id="257"/>
            <p14:sldId id="258"/>
          </p14:sldIdLst>
        </p14:section>
        <p14:section name="Session A" id="{aa14de09-95b6-cb8e-ddfb-6027bd4b5329}">
          <p14:sldIdLst>
            <p14:sldId id="259"/>
            <p14:sldId id="260"/>
            <p14:sldId id="261"/>
            <p14:sldId id="262"/>
            <p14:sldId id="263"/>
            <p14:sldId id="264"/>
            <p14:sldId id="265"/>
            <p14:sldId id="266"/>
            <p14:sldId id="267"/>
            <p14:sldId id="268"/>
            <p14:sldId id="269"/>
            <p14:sldId id="270"/>
          </p14:sldIdLst>
        </p14:section>
        <p14:section name="Lab 1.1" id="{f5bf4e05-95c2-412d-0c2f-f82c2090cfce}">
          <p14:sldIdLst>
            <p14:sldId id="271"/>
          </p14:sldIdLst>
        </p14:section>
        <p14:section name="Session B" id="{440e1a66-f427-d435-9f22-56b6973ae3a2}">
          <p14:sldIdLst>
            <p14:sldId id="272"/>
            <p14:sldId id="273"/>
            <p14:sldId id="274"/>
            <p14:sldId id="275"/>
            <p14:sldId id="276"/>
            <p14:sldId id="277"/>
            <p14:sldId id="278"/>
            <p14:sldId id="279"/>
            <p14:sldId id="280"/>
            <p14:sldId id="281"/>
            <p14:sldId id="282"/>
            <p14:sldId id="283"/>
          </p14:sldIdLst>
        </p14:section>
        <p14:section name="Lab 1.2" id="{06b0478b-bcec-ba1c-4404-27cddfd623e8}">
          <p14:sldIdLst>
            <p14:sldId id="284"/>
          </p14:sldIdLst>
        </p14:section>
        <p14:section name="Wrap-up" id="{f9efed02-55c0-346d-051f-97acec4cffcb}">
          <p14:sldIdLst>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week we build Shahna, a Libyan freight booking API, in Laravel, and we build it with an AI coding agent as our pair. Two pillars every day: building WITH agents, and building agents INTO the backend. Today is pillar one: how coding agents work and how to drive one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day. Same rhythm every day: about 40% lecture, 60% hands-on. Orange blocks are lecture + live demo, dark blocks are lab time. Point out where the checkpoint tag lands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Tell students the exit ticket at 15:45 checks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A is about mental models. By 10:45 everyone should be able to explain what happens between typing a prompt into Claude Code and seeing a file change on disk, and how a Laravel request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model. It is a next-token predictor, a very good one. Everything it 'knows' about your project comes from what is in the context window right now. Ask: if it has no memory, how does Claude Code remember our conventions? Answer: we put them in CLAUDE.md, which is loaded into context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concrete intuition. A 300-line PHP file is a few thousand tokens. When the agent reads ten files plus test output, the window fills quickly, and older details can get pushed out or summarized. That is why focused prompts and small tasks work better. Mention cost now; on Day 5 we will log real token counts per LLM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is not lying, it is pattern completion without ground truth. Typical Laravel examples: a method that does not exist on the query builder, an outdated config key, a Pest helper from a plugin we do not have. The cure is grounding: let it read the actual code, use Boost's version-matched docs search, and always ask for proof such as test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diagram of the week. We will see it again on Day 4, when we build our own agent loop inside Laravel with Prism. Walk the loop with an example: 'add a cities migration'. Think: I need to see existing migrations. Act: list files. Observe: folder contents. Think: write the file. Act: edit. Observe: success. Think: run migrate.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these live in the terminal after the slide. Point at a tool call in the transcript and the permission prompt. Stress permissions: you are responsible for every command the agent runs on your machine. Plan mode (shift+tab) is a great default for exploration because it cannot edit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excerpt of the CLAUDE.md shipped in the day1-start tag; open the full file in the repo. Read two rules aloud and ask why they matter: money as decimals avoids rounding bugs; enums avoid typos in status strings. Every time you correct the agent twice for the same thing, add a line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 standard way to plug tool servers into an agent. Boost is Laravel's MCP server: it exposes the real schema, routes, config, logs and a docs search that matches the exact package versions in composer.lock. Setup: run `sail artisan boost:install` and choose Claude Code; it registers the MCP server (`php artisan boost:mcp`, named laravel-boost). Check it with /mcp inside Claude Code. Demo: ask 'what columns does the users table have?' and watch it call Boost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exact prompt live on the day1-start tag. While it works, narrate the tool calls: Glob, Read, the Boost calls. Then check one claim together, for example open docs/requirements.md and confirm the entities. Students will run the same prompt at the start of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have not used PHP or Laravel before. That is fine: these six ideas exist in every backend framework under different names. Map them to Express, Django or Spring if someone knows those. The service container is the least obvious; show a constructor that type-hints PricingService and Laravel provides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request end to end. Every request boots the framework, passes through the middleware stack, hits the router, runs a controller, and returns a response that goes back out through middleware. We will add middleware on Day 3 for idempotency keys and rate limits, so remember where it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preview so the lifecycle is concrete. Run artisan route:list to show the route registered. Do not build the full endpoint today: the cities endpoint is part of Day 2. Today we only need the City model and seeder that this code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part 1 is deliberately about planning, not code. Walk the room and look at plans: are prices decimal(10,2)? Is quote_id unique on shipments? Are city codes listed? If a team finishes early, have them ask the agent to critique its own plan against docs/requirements.md.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B turns the plan into a schema. The theme: the agent is fastest when the thinking is already done. You own the design, it does the typing, and you review every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we use all week. Explore and Plan happen in plan mode. Implement happens in small slices: one migration, or one model with its factory. Verify means running tests and reading the diff yourself, not asking the agent whether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excerpt of the real docs/plans/day1-domain.md in the repo. Point out the decisions section: each line prevents a real bug. Then the 'out of scope' section: without it, agents love to also create controllers, policies and a frontend. The plan is a contract you can review in two minutes. When you implement, reference it: 'implement the enums from docs/plans/day1-domain.md,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model from the customer's point of view: a user asks for a quote, a quote becomes at most one shipment, the shipment gets events as it moves, and a vehicle from a carrier is assigned. Cities and distances feed pricing. Highlight the unique quote_id: it is our first defence against double booking, which comes back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line-by-line review we want students to do. Ask the room: what happens if two requests book the same quote? The unique constraint rejects the second insert. What if price were a float? 0.1 + 0.2 problems in invoices. A migration that is wrong in production is expensive to fix, so this is where you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machine from the spec, in about twenty lines. Ask students to find the cancellation rule. This method will be used by the cancel endpoint on Day 2 and by the agent's cancel tool on Day 4, so getting it right and tested today pays off all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the real tests/Unit/ShipmentStatusTest.php (the file also has a happy-path test). Pest reads almost like English. Each -&gt;with() dataset turns one test into several cases. Then break the enum on purpose, for example allow Delivered to Cancelled, run the test, and watch it fail. That red-to-green moment is the habit we want before tomorrow's TDD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 prompt pattern for the whole week: reference the plan, one step, tests, proof, stop. Keep auto-accept off for today so students see and approve each edit. If the agent says 'tests pass' without output, send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live review of a deliberately flawed diff: a migration missing the unique on quote_id, and a float price. Let students find the issues. The right column is the checklist they apply in the afternoon lab, and it grows into the AI code review checklist on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excitement. The agent multiplies what you already understand. For interns especially: if you cannot explain the code it wrote, ask it to explain, read the docs, then decide. Never put real secrets in prompts; use .env and keep it out of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pitfalls we see most on Day 1. All three are fixed by the same habit: smaller steps and real verification. Ask students to note one example of each they hit during the afternoon lab; we review them in tomorrow's standup.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this before the lab. Accountability does not move to the tool. In the capstone rubric on Day 5, 'explains AI usage honestly' is a scored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that fall behind can check out day1-end at 15:40 so everyone starts tomorrow from the same place. Spot-check: city codes, unique pair on city_distances, decimal prices, the enum cast on Shipment. Collect pitfall examples for tomorrow's standup.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two minutes, then hand out the exit ticket. The teaser answer is B: run the tests yourself. Asking the agent again is not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Make sure every team has pushed and can check out day1-end. Tomorrow starts with a short quiz on today's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 Cover">
    <p:bg>
      <p:bgPr>
        <a:solidFill>
          <a:srgbClr val="272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 Dark">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01</a:t>
            </a:r>
            <a:endParaRPr lang="en-US" sz="9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Q Dark Title">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01</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FFFFFF"/>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Q Light Title">
    <p:bg>
      <p:bgPr>
        <a:solidFill>
          <a:srgbClr val="E8E2D9"/>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6B7280"/>
                </a:solidFill>
                <a:latin typeface="Inter" pitchFamily="34" charset="0"/>
                <a:ea typeface="Inter" pitchFamily="34" charset="-122"/>
                <a:cs typeface="Inter" pitchFamily="34" charset="-120"/>
              </a:rPr>
              <a:t>NAQLA TRAINING CENTER · 01</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272827"/>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58368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AGENTIC BACKEND ENGINEERING</a:t>
            </a:r>
            <a:endParaRPr lang="en-US" sz="1300" dirty="0"/>
          </a:p>
        </p:txBody>
      </p:sp>
      <p:sp>
        <p:nvSpPr>
          <p:cNvPr id="5" name="Text 1"/>
          <p:cNvSpPr txBox="1"/>
          <p:nvPr/>
        </p:nvSpPr>
        <p:spPr>
          <a:xfrm>
            <a:off x="548640" y="2240280"/>
            <a:ext cx="6675120" cy="1920240"/>
          </a:xfrm>
          <a:prstGeom prst="rect">
            <a:avLst/>
          </a:prstGeom>
          <a:noFill/>
          <a:ln/>
        </p:spPr>
        <p:txBody>
          <a:bodyPr wrap="square" lIns="0" tIns="0" rIns="0" bIns="0" rtlCol="0" anchor="t"/>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Day 1</a:t>
            </a:r>
            <a:endParaRPr lang="en-US" sz="4400" dirty="0"/>
          </a:p>
          <a:p>
            <a:pPr indent="0" marL="0">
              <a:buNone/>
            </a:pPr>
            <a:r>
              <a:rPr lang="en-US" sz="4400" b="1" dirty="0">
                <a:solidFill>
                  <a:srgbClr val="FFFFFF"/>
                </a:solidFill>
                <a:latin typeface="Playfair Display" pitchFamily="34" charset="0"/>
                <a:ea typeface="Playfair Display" pitchFamily="34" charset="-122"/>
                <a:cs typeface="Playfair Display" pitchFamily="34" charset="-120"/>
              </a:rPr>
              <a:t>Working With AI Agents</a:t>
            </a:r>
            <a:endParaRPr lang="en-US" sz="4400" dirty="0"/>
          </a:p>
        </p:txBody>
      </p:sp>
      <p:sp>
        <p:nvSpPr>
          <p:cNvPr id="6" name="Text 2"/>
          <p:cNvSpPr txBox="1"/>
          <p:nvPr/>
        </p:nvSpPr>
        <p:spPr>
          <a:xfrm>
            <a:off x="548640" y="4251960"/>
            <a:ext cx="6675120" cy="502920"/>
          </a:xfrm>
          <a:prstGeom prst="rect">
            <a:avLst/>
          </a:prstGeom>
          <a:noFill/>
          <a:ln/>
        </p:spPr>
        <p:txBody>
          <a:bodyPr wrap="square" lIns="0" tIns="0" rIns="0" bIns="0" rtlCol="0" anchor="t"/>
          <a:lstStyle/>
          <a:p>
            <a:pPr rtl="1" algn="l" indent="0" marL="0">
              <a:buNone/>
            </a:pPr>
            <a:r>
              <a:rPr lang="ar-LY" altLang="en-US" sz="2600" dirty="0">
                <a:solidFill>
                  <a:srgbClr val="D0CBC0"/>
                </a:solidFill>
                <a:latin typeface="Tajawal ExtraBold" pitchFamily="34" charset="0"/>
                <a:ea typeface="Tajawal ExtraBold" pitchFamily="34" charset="-122"/>
                <a:cs typeface="Tajawal ExtraBold" pitchFamily="34" charset="-120"/>
              </a:rPr>
              <a:t>العمل مع الوكلاء الذكيين</a:t>
            </a:r>
            <a:endParaRPr lang="ar-LY" sz="2600" dirty="0"/>
          </a:p>
        </p:txBody>
      </p:sp>
      <p:sp>
        <p:nvSpPr>
          <p:cNvPr id="7" name="Text 3"/>
          <p:cNvSpPr txBox="1"/>
          <p:nvPr/>
        </p:nvSpPr>
        <p:spPr>
          <a:xfrm>
            <a:off x="548640" y="4892040"/>
            <a:ext cx="6675120" cy="320040"/>
          </a:xfrm>
          <a:prstGeom prst="rect">
            <a:avLst/>
          </a:prstGeom>
          <a:noFill/>
          <a:ln/>
        </p:spPr>
        <p:txBody>
          <a:bodyPr wrap="square" lIns="0" tIns="0" rIns="0" bIns="0" rtlCol="0" anchor="ctr"/>
          <a:lstStyle/>
          <a:p>
            <a:pPr indent="0" marL="0">
              <a:buNone/>
            </a:pPr>
            <a:r>
              <a:rPr lang="en-US" sz="1500" dirty="0">
                <a:solidFill>
                  <a:srgbClr val="9CA3AF"/>
                </a:solidFill>
                <a:latin typeface="Inter" pitchFamily="34" charset="0"/>
                <a:ea typeface="Inter" pitchFamily="34" charset="-122"/>
                <a:cs typeface="Inter" pitchFamily="34" charset="-120"/>
              </a:rPr>
              <a:t>Build Scalable Backends With and For AI Agents</a:t>
            </a:r>
            <a:endParaRPr lang="en-US" sz="1500" dirty="0"/>
          </a:p>
        </p:txBody>
      </p:sp>
      <p:sp>
        <p:nvSpPr>
          <p:cNvPr id="8" name="Text 4"/>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Tripoli  ·  naqlaa.ly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Today's rhythm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إيقاع اليوم</a:t>
            </a:r>
            <a:endParaRPr lang="ar-LY" sz="1700" dirty="0"/>
          </a:p>
        </p:txBody>
      </p:sp>
      <p:sp>
        <p:nvSpPr>
          <p:cNvPr id="4" name="Shape 2"/>
          <p:cNvSpPr/>
          <p:nvPr/>
        </p:nvSpPr>
        <p:spPr>
          <a:xfrm>
            <a:off x="548640" y="1783080"/>
            <a:ext cx="765026" cy="201168"/>
          </a:xfrm>
          <a:prstGeom prst="rect">
            <a:avLst/>
          </a:prstGeom>
          <a:solidFill>
            <a:srgbClr val="9CA3AF"/>
          </a:solidFill>
          <a:ln w="12700">
            <a:solidFill>
              <a:srgbClr val="9CA3AF"/>
            </a:solidFill>
            <a:prstDash val="solid"/>
          </a:ln>
        </p:spPr>
      </p:sp>
      <p:sp>
        <p:nvSpPr>
          <p:cNvPr id="5" name="Shape 3"/>
          <p:cNvSpPr/>
          <p:nvPr/>
        </p:nvSpPr>
        <p:spPr>
          <a:xfrm>
            <a:off x="1341098" y="1783080"/>
            <a:ext cx="1953714" cy="201168"/>
          </a:xfrm>
          <a:prstGeom prst="rect">
            <a:avLst/>
          </a:prstGeom>
          <a:solidFill>
            <a:srgbClr val="FF5723"/>
          </a:solidFill>
          <a:ln w="12700">
            <a:solidFill>
              <a:srgbClr val="FF5723"/>
            </a:solidFill>
            <a:prstDash val="solid"/>
          </a:ln>
        </p:spPr>
      </p:sp>
      <p:sp>
        <p:nvSpPr>
          <p:cNvPr id="6" name="Shape 4"/>
          <p:cNvSpPr/>
          <p:nvPr/>
        </p:nvSpPr>
        <p:spPr>
          <a:xfrm>
            <a:off x="3322244" y="1783080"/>
            <a:ext cx="368797" cy="201168"/>
          </a:xfrm>
          <a:prstGeom prst="rect">
            <a:avLst/>
          </a:prstGeom>
          <a:solidFill>
            <a:srgbClr val="D0CBC0"/>
          </a:solidFill>
          <a:ln w="12700">
            <a:solidFill>
              <a:srgbClr val="D0CBC0"/>
            </a:solidFill>
            <a:prstDash val="solid"/>
          </a:ln>
        </p:spPr>
      </p:sp>
      <p:sp>
        <p:nvSpPr>
          <p:cNvPr id="7" name="Shape 5"/>
          <p:cNvSpPr/>
          <p:nvPr/>
        </p:nvSpPr>
        <p:spPr>
          <a:xfrm>
            <a:off x="3718473" y="1783080"/>
            <a:ext cx="2349943" cy="201168"/>
          </a:xfrm>
          <a:prstGeom prst="rect">
            <a:avLst/>
          </a:prstGeom>
          <a:solidFill>
            <a:srgbClr val="272827"/>
          </a:solidFill>
          <a:ln w="12700">
            <a:solidFill>
              <a:srgbClr val="272827"/>
            </a:solidFill>
            <a:prstDash val="solid"/>
          </a:ln>
        </p:spPr>
      </p:sp>
      <p:sp>
        <p:nvSpPr>
          <p:cNvPr id="8" name="Shape 6"/>
          <p:cNvSpPr/>
          <p:nvPr/>
        </p:nvSpPr>
        <p:spPr>
          <a:xfrm>
            <a:off x="6095848" y="1783080"/>
            <a:ext cx="1557484" cy="201168"/>
          </a:xfrm>
          <a:prstGeom prst="rect">
            <a:avLst/>
          </a:prstGeom>
          <a:solidFill>
            <a:srgbClr val="D0CBC0"/>
          </a:solidFill>
          <a:ln w="12700">
            <a:solidFill>
              <a:srgbClr val="D0CBC0"/>
            </a:solidFill>
            <a:prstDash val="solid"/>
          </a:ln>
        </p:spPr>
      </p:sp>
      <p:sp>
        <p:nvSpPr>
          <p:cNvPr id="9" name="Shape 7"/>
          <p:cNvSpPr/>
          <p:nvPr/>
        </p:nvSpPr>
        <p:spPr>
          <a:xfrm>
            <a:off x="7680764" y="1783080"/>
            <a:ext cx="1161255" cy="201168"/>
          </a:xfrm>
          <a:prstGeom prst="rect">
            <a:avLst/>
          </a:prstGeom>
          <a:solidFill>
            <a:srgbClr val="FF5723"/>
          </a:solidFill>
          <a:ln w="12700">
            <a:solidFill>
              <a:srgbClr val="FF5723"/>
            </a:solidFill>
            <a:prstDash val="solid"/>
          </a:ln>
        </p:spPr>
      </p:sp>
      <p:sp>
        <p:nvSpPr>
          <p:cNvPr id="10" name="Shape 8"/>
          <p:cNvSpPr/>
          <p:nvPr/>
        </p:nvSpPr>
        <p:spPr>
          <a:xfrm>
            <a:off x="8869451" y="1783080"/>
            <a:ext cx="2349943" cy="201168"/>
          </a:xfrm>
          <a:prstGeom prst="rect">
            <a:avLst/>
          </a:prstGeom>
          <a:solidFill>
            <a:srgbClr val="272827"/>
          </a:solidFill>
          <a:ln w="12700">
            <a:solidFill>
              <a:srgbClr val="272827"/>
            </a:solidFill>
            <a:prstDash val="solid"/>
          </a:ln>
        </p:spPr>
      </p:sp>
      <p:sp>
        <p:nvSpPr>
          <p:cNvPr id="11" name="Shape 9"/>
          <p:cNvSpPr/>
          <p:nvPr/>
        </p:nvSpPr>
        <p:spPr>
          <a:xfrm>
            <a:off x="11246826" y="1783080"/>
            <a:ext cx="368797" cy="201168"/>
          </a:xfrm>
          <a:prstGeom prst="rect">
            <a:avLst/>
          </a:prstGeom>
          <a:solidFill>
            <a:srgbClr val="9CA3AF"/>
          </a:solidFill>
          <a:ln w="12700">
            <a:solidFill>
              <a:srgbClr val="9CA3AF"/>
            </a:solidFill>
            <a:prstDash val="solid"/>
          </a:ln>
        </p:spPr>
      </p:sp>
      <p:sp>
        <p:nvSpPr>
          <p:cNvPr id="12" name="Text 10"/>
          <p:cNvSpPr txBox="1"/>
          <p:nvPr/>
        </p:nvSpPr>
        <p:spPr>
          <a:xfrm>
            <a:off x="548640" y="2020824"/>
            <a:ext cx="914400" cy="228600"/>
          </a:xfrm>
          <a:prstGeom prst="rect">
            <a:avLst/>
          </a:prstGeom>
          <a:noFill/>
          <a:ln/>
        </p:spPr>
        <p:txBody>
          <a:bodyPr wrap="square" lIns="0" tIns="0" rIns="0" bIns="0" rtlCol="0" anchor="ctr"/>
          <a:lstStyle/>
          <a:p>
            <a:pPr algn="l" indent="0" marL="0">
              <a:buNone/>
            </a:pPr>
            <a:r>
              <a:rPr lang="en-US" sz="1000" dirty="0">
                <a:solidFill>
                  <a:srgbClr val="6B7280"/>
                </a:solidFill>
                <a:latin typeface="Inter" pitchFamily="34" charset="0"/>
                <a:ea typeface="Inter" pitchFamily="34" charset="-122"/>
                <a:cs typeface="Inter" pitchFamily="34" charset="-120"/>
              </a:rPr>
              <a:t>09:00</a:t>
            </a:r>
            <a:endParaRPr lang="en-US" sz="1000" dirty="0"/>
          </a:p>
        </p:txBody>
      </p:sp>
      <p:sp>
        <p:nvSpPr>
          <p:cNvPr id="13" name="Text 11"/>
          <p:cNvSpPr txBox="1"/>
          <p:nvPr/>
        </p:nvSpPr>
        <p:spPr>
          <a:xfrm>
            <a:off x="4846189" y="2020824"/>
            <a:ext cx="914400" cy="228600"/>
          </a:xfrm>
          <a:prstGeom prst="rect">
            <a:avLst/>
          </a:prstGeom>
          <a:noFill/>
          <a:ln/>
        </p:spPr>
        <p:txBody>
          <a:bodyPr wrap="square" lIns="0" tIns="0" rIns="0" bIns="0" rtlCol="0" anchor="ctr"/>
          <a:lstStyle/>
          <a:p>
            <a:pPr algn="ctr" indent="0" marL="0">
              <a:buNone/>
            </a:pPr>
            <a:r>
              <a:rPr lang="en-US" sz="1000" dirty="0">
                <a:solidFill>
                  <a:srgbClr val="6B7280"/>
                </a:solidFill>
                <a:latin typeface="Inter" pitchFamily="34" charset="0"/>
                <a:ea typeface="Inter" pitchFamily="34" charset="-122"/>
                <a:cs typeface="Inter" pitchFamily="34" charset="-120"/>
              </a:rPr>
              <a:t>12:00</a:t>
            </a:r>
            <a:endParaRPr lang="en-US" sz="1000" dirty="0"/>
          </a:p>
        </p:txBody>
      </p:sp>
      <p:sp>
        <p:nvSpPr>
          <p:cNvPr id="14" name="Text 12"/>
          <p:cNvSpPr txBox="1"/>
          <p:nvPr/>
        </p:nvSpPr>
        <p:spPr>
          <a:xfrm>
            <a:off x="10728655" y="2020824"/>
            <a:ext cx="914400" cy="228600"/>
          </a:xfrm>
          <a:prstGeom prst="rect">
            <a:avLst/>
          </a:prstGeom>
          <a:noFill/>
          <a:ln/>
        </p:spPr>
        <p:txBody>
          <a:bodyPr wrap="square" lIns="0" tIns="0" rIns="0" bIns="0" rtlCol="0" anchor="ctr"/>
          <a:lstStyle/>
          <a:p>
            <a:pPr algn="r" indent="0" marL="0">
              <a:buNone/>
            </a:pPr>
            <a:r>
              <a:rPr lang="en-US" sz="1000" dirty="0">
                <a:solidFill>
                  <a:srgbClr val="6B7280"/>
                </a:solidFill>
                <a:latin typeface="Inter" pitchFamily="34" charset="0"/>
                <a:ea typeface="Inter" pitchFamily="34" charset="-122"/>
                <a:cs typeface="Inter" pitchFamily="34" charset="-120"/>
              </a:rPr>
              <a:t>16:00</a:t>
            </a:r>
            <a:endParaRPr lang="en-US" sz="1000" dirty="0"/>
          </a:p>
        </p:txBody>
      </p:sp>
      <p:sp>
        <p:nvSpPr>
          <p:cNvPr id="15" name="Shape 13"/>
          <p:cNvSpPr/>
          <p:nvPr/>
        </p:nvSpPr>
        <p:spPr>
          <a:xfrm>
            <a:off x="548640" y="2606040"/>
            <a:ext cx="2567864" cy="1691640"/>
          </a:xfrm>
          <a:prstGeom prst="roundRect">
            <a:avLst>
              <a:gd name="adj" fmla="val 4324"/>
            </a:avLst>
          </a:prstGeom>
          <a:solidFill>
            <a:srgbClr val="F6F3EE"/>
          </a:solidFill>
          <a:ln w="12700">
            <a:solidFill>
              <a:srgbClr val="D0CBC0"/>
            </a:solidFill>
            <a:prstDash val="solid"/>
          </a:ln>
        </p:spPr>
      </p:sp>
      <p:sp>
        <p:nvSpPr>
          <p:cNvPr id="16" name="Text 14"/>
          <p:cNvSpPr txBox="1"/>
          <p:nvPr/>
        </p:nvSpPr>
        <p:spPr>
          <a:xfrm>
            <a:off x="731520"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09:00–09:30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Recap &amp; standup</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Quiz on yesterday</a:t>
            </a:r>
            <a:endParaRPr lang="en-US" sz="1200" dirty="0"/>
          </a:p>
        </p:txBody>
      </p:sp>
      <p:sp>
        <p:nvSpPr>
          <p:cNvPr id="17" name="Shape 15"/>
          <p:cNvSpPr/>
          <p:nvPr/>
        </p:nvSpPr>
        <p:spPr>
          <a:xfrm>
            <a:off x="3390824" y="2606040"/>
            <a:ext cx="2567864" cy="1691640"/>
          </a:xfrm>
          <a:prstGeom prst="roundRect">
            <a:avLst>
              <a:gd name="adj" fmla="val 4324"/>
            </a:avLst>
          </a:prstGeom>
          <a:solidFill>
            <a:srgbClr val="FF5723"/>
          </a:solidFill>
          <a:ln w="12700">
            <a:solidFill>
              <a:srgbClr val="FF5723"/>
            </a:solidFill>
            <a:prstDash val="solid"/>
          </a:ln>
        </p:spPr>
      </p:sp>
      <p:sp>
        <p:nvSpPr>
          <p:cNvPr id="18" name="Text 16"/>
          <p:cNvSpPr txBox="1"/>
          <p:nvPr/>
        </p:nvSpPr>
        <p:spPr>
          <a:xfrm>
            <a:off x="3573704"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09:30–10:45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A</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How coding agents work</a:t>
            </a:r>
            <a:endParaRPr lang="en-US" sz="1200" dirty="0"/>
          </a:p>
        </p:txBody>
      </p:sp>
      <p:sp>
        <p:nvSpPr>
          <p:cNvPr id="19" name="Shape 17"/>
          <p:cNvSpPr/>
          <p:nvPr/>
        </p:nvSpPr>
        <p:spPr>
          <a:xfrm>
            <a:off x="6233008" y="2606040"/>
            <a:ext cx="2567864" cy="1691640"/>
          </a:xfrm>
          <a:prstGeom prst="roundRect">
            <a:avLst>
              <a:gd name="adj" fmla="val 4324"/>
            </a:avLst>
          </a:prstGeom>
          <a:solidFill>
            <a:srgbClr val="F6F3EE"/>
          </a:solidFill>
          <a:ln w="12700">
            <a:solidFill>
              <a:srgbClr val="D0CBC0"/>
            </a:solidFill>
            <a:prstDash val="solid"/>
          </a:ln>
        </p:spPr>
      </p:sp>
      <p:sp>
        <p:nvSpPr>
          <p:cNvPr id="20" name="Text 18"/>
          <p:cNvSpPr txBox="1"/>
          <p:nvPr/>
        </p:nvSpPr>
        <p:spPr>
          <a:xfrm>
            <a:off x="6415888"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10:45–11:00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Break</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1" name="Shape 19"/>
          <p:cNvSpPr/>
          <p:nvPr/>
        </p:nvSpPr>
        <p:spPr>
          <a:xfrm>
            <a:off x="9075191" y="2606040"/>
            <a:ext cx="2567864" cy="1691640"/>
          </a:xfrm>
          <a:prstGeom prst="roundRect">
            <a:avLst>
              <a:gd name="adj" fmla="val 4324"/>
            </a:avLst>
          </a:prstGeom>
          <a:solidFill>
            <a:srgbClr val="272827"/>
          </a:solidFill>
          <a:ln w="12700">
            <a:solidFill>
              <a:srgbClr val="272827"/>
            </a:solidFill>
            <a:prstDash val="solid"/>
          </a:ln>
        </p:spPr>
      </p:sp>
      <p:sp>
        <p:nvSpPr>
          <p:cNvPr id="22" name="Text 20"/>
          <p:cNvSpPr txBox="1"/>
          <p:nvPr/>
        </p:nvSpPr>
        <p:spPr>
          <a:xfrm>
            <a:off x="9258071"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11:00–12:30</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1</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Scaffold Shahna</a:t>
            </a:r>
            <a:endParaRPr lang="en-US" sz="1200" dirty="0"/>
          </a:p>
        </p:txBody>
      </p:sp>
      <p:sp>
        <p:nvSpPr>
          <p:cNvPr id="23" name="Shape 21"/>
          <p:cNvSpPr/>
          <p:nvPr/>
        </p:nvSpPr>
        <p:spPr>
          <a:xfrm>
            <a:off x="548640" y="4572000"/>
            <a:ext cx="2567864" cy="1691640"/>
          </a:xfrm>
          <a:prstGeom prst="roundRect">
            <a:avLst>
              <a:gd name="adj" fmla="val 4324"/>
            </a:avLst>
          </a:prstGeom>
          <a:solidFill>
            <a:srgbClr val="F6F3EE"/>
          </a:solidFill>
          <a:ln w="12700">
            <a:solidFill>
              <a:srgbClr val="D0CBC0"/>
            </a:solidFill>
            <a:prstDash val="solid"/>
          </a:ln>
        </p:spPr>
      </p:sp>
      <p:sp>
        <p:nvSpPr>
          <p:cNvPr id="24" name="Text 22"/>
          <p:cNvSpPr txBox="1"/>
          <p:nvPr/>
        </p:nvSpPr>
        <p:spPr>
          <a:xfrm>
            <a:off x="731520"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12:30–13:30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Lunch</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5" name="Shape 23"/>
          <p:cNvSpPr/>
          <p:nvPr/>
        </p:nvSpPr>
        <p:spPr>
          <a:xfrm>
            <a:off x="3390824" y="4572000"/>
            <a:ext cx="2567864" cy="1691640"/>
          </a:xfrm>
          <a:prstGeom prst="roundRect">
            <a:avLst>
              <a:gd name="adj" fmla="val 4324"/>
            </a:avLst>
          </a:prstGeom>
          <a:solidFill>
            <a:srgbClr val="FF5723"/>
          </a:solidFill>
          <a:ln w="12700">
            <a:solidFill>
              <a:srgbClr val="FF5723"/>
            </a:solidFill>
            <a:prstDash val="solid"/>
          </a:ln>
        </p:spPr>
      </p:sp>
      <p:sp>
        <p:nvSpPr>
          <p:cNvPr id="26" name="Text 24"/>
          <p:cNvSpPr txBox="1"/>
          <p:nvPr/>
        </p:nvSpPr>
        <p:spPr>
          <a:xfrm>
            <a:off x="3573704"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13:30–14:15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B</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Spec first, then code</a:t>
            </a:r>
            <a:endParaRPr lang="en-US" sz="1200" dirty="0"/>
          </a:p>
        </p:txBody>
      </p:sp>
      <p:sp>
        <p:nvSpPr>
          <p:cNvPr id="27" name="Shape 25"/>
          <p:cNvSpPr/>
          <p:nvPr/>
        </p:nvSpPr>
        <p:spPr>
          <a:xfrm>
            <a:off x="6233008" y="4572000"/>
            <a:ext cx="2567864" cy="1691640"/>
          </a:xfrm>
          <a:prstGeom prst="roundRect">
            <a:avLst>
              <a:gd name="adj" fmla="val 4324"/>
            </a:avLst>
          </a:prstGeom>
          <a:solidFill>
            <a:srgbClr val="272827"/>
          </a:solidFill>
          <a:ln w="12700">
            <a:solidFill>
              <a:srgbClr val="272827"/>
            </a:solidFill>
            <a:prstDash val="solid"/>
          </a:ln>
        </p:spPr>
      </p:sp>
      <p:sp>
        <p:nvSpPr>
          <p:cNvPr id="28" name="Text 26"/>
          <p:cNvSpPr txBox="1"/>
          <p:nvPr/>
        </p:nvSpPr>
        <p:spPr>
          <a:xfrm>
            <a:off x="6415888"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14:15–15:45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2</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Scaffold Shahna</a:t>
            </a:r>
            <a:endParaRPr lang="en-US" sz="1200" dirty="0"/>
          </a:p>
        </p:txBody>
      </p:sp>
      <p:sp>
        <p:nvSpPr>
          <p:cNvPr id="29" name="Shape 27"/>
          <p:cNvSpPr/>
          <p:nvPr/>
        </p:nvSpPr>
        <p:spPr>
          <a:xfrm>
            <a:off x="9075191" y="4572000"/>
            <a:ext cx="2567864" cy="1691640"/>
          </a:xfrm>
          <a:prstGeom prst="roundRect">
            <a:avLst>
              <a:gd name="adj" fmla="val 4324"/>
            </a:avLst>
          </a:prstGeom>
          <a:solidFill>
            <a:srgbClr val="F6F3EE"/>
          </a:solidFill>
          <a:ln w="12700">
            <a:solidFill>
              <a:srgbClr val="D0CBC0"/>
            </a:solidFill>
            <a:prstDash val="solid"/>
          </a:ln>
        </p:spPr>
      </p:sp>
      <p:sp>
        <p:nvSpPr>
          <p:cNvPr id="30" name="Text 28"/>
          <p:cNvSpPr txBox="1"/>
          <p:nvPr/>
        </p:nvSpPr>
        <p:spPr>
          <a:xfrm>
            <a:off x="9258071"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15:45–16:00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Demos, retro, exit ticket</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Show, reflect, exit ticket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By the end of today you can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أهداف اليوم</a:t>
            </a:r>
            <a:endParaRPr lang="ar-LY" sz="1700" dirty="0"/>
          </a:p>
        </p:txBody>
      </p:sp>
      <p:sp>
        <p:nvSpPr>
          <p:cNvPr id="4" name="Shape 2"/>
          <p:cNvSpPr/>
          <p:nvPr/>
        </p:nvSpPr>
        <p:spPr>
          <a:xfrm>
            <a:off x="548640"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01</a:t>
            </a:r>
            <a:endParaRPr lang="en-US" sz="2800" dirty="0"/>
          </a:p>
        </p:txBody>
      </p:sp>
      <p:sp>
        <p:nvSpPr>
          <p:cNvPr id="6" name="Text 4"/>
          <p:cNvSpPr txBox="1"/>
          <p:nvPr/>
        </p:nvSpPr>
        <p:spPr>
          <a:xfrm>
            <a:off x="777240"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Explain how an LLM coding agent works: </a:t>
            </a:r>
            <a:pPr indent="0" marL="0">
              <a:buNone/>
            </a:pPr>
            <a:r>
              <a:rPr lang="en-US" sz="1600" b="1" dirty="0">
                <a:solidFill>
                  <a:srgbClr val="272827"/>
                </a:solidFill>
                <a:latin typeface="Inter" pitchFamily="34" charset="0"/>
                <a:ea typeface="Inter" pitchFamily="34" charset="-122"/>
                <a:cs typeface="Inter" pitchFamily="34" charset="-120"/>
              </a:rPr>
              <a:t>context window</a:t>
            </a:r>
            <a:pPr indent="0" marL="0">
              <a:buNone/>
            </a:pPr>
            <a:r>
              <a:rPr lang="en-US" sz="1600" dirty="0">
                <a:solidFill>
                  <a:srgbClr val="272827"/>
                </a:solidFill>
                <a:latin typeface="Inter" pitchFamily="34" charset="0"/>
                <a:ea typeface="Inter" pitchFamily="34" charset="-122"/>
                <a:cs typeface="Inter" pitchFamily="34" charset="-120"/>
              </a:rPr>
              <a:t>, </a:t>
            </a:r>
            <a:pPr indent="0" marL="0">
              <a:buNone/>
            </a:pPr>
            <a:r>
              <a:rPr lang="en-US" sz="1600" b="1" dirty="0">
                <a:solidFill>
                  <a:srgbClr val="272827"/>
                </a:solidFill>
                <a:latin typeface="Inter" pitchFamily="34" charset="0"/>
                <a:ea typeface="Inter" pitchFamily="34" charset="-122"/>
                <a:cs typeface="Inter" pitchFamily="34" charset="-120"/>
              </a:rPr>
              <a:t>tools</a:t>
            </a:r>
            <a:pPr indent="0" marL="0">
              <a:buNone/>
            </a:pPr>
            <a:r>
              <a:rPr lang="en-US" sz="1600" dirty="0">
                <a:solidFill>
                  <a:srgbClr val="272827"/>
                </a:solidFill>
                <a:latin typeface="Inter" pitchFamily="34" charset="0"/>
                <a:ea typeface="Inter" pitchFamily="34" charset="-122"/>
                <a:cs typeface="Inter" pitchFamily="34" charset="-120"/>
              </a:rPr>
              <a:t>, </a:t>
            </a:r>
            <a:pPr indent="0" marL="0">
              <a:buNone/>
            </a:pPr>
            <a:r>
              <a:rPr lang="en-US" sz="1600" b="1" dirty="0">
                <a:solidFill>
                  <a:srgbClr val="272827"/>
                </a:solidFill>
                <a:latin typeface="Inter" pitchFamily="34" charset="0"/>
                <a:ea typeface="Inter" pitchFamily="34" charset="-122"/>
                <a:cs typeface="Inter" pitchFamily="34" charset="-120"/>
              </a:rPr>
              <a:t>loop</a:t>
            </a:r>
            <a:endParaRPr lang="en-US" sz="1600" dirty="0"/>
          </a:p>
        </p:txBody>
      </p:sp>
      <p:sp>
        <p:nvSpPr>
          <p:cNvPr id="7" name="Shape 5"/>
          <p:cNvSpPr/>
          <p:nvPr/>
        </p:nvSpPr>
        <p:spPr>
          <a:xfrm>
            <a:off x="4338218"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66818"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02</a:t>
            </a:r>
            <a:endParaRPr lang="en-US" sz="2800" dirty="0"/>
          </a:p>
        </p:txBody>
      </p:sp>
      <p:sp>
        <p:nvSpPr>
          <p:cNvPr id="9" name="Text 7"/>
          <p:cNvSpPr txBox="1"/>
          <p:nvPr/>
        </p:nvSpPr>
        <p:spPr>
          <a:xfrm>
            <a:off x="4566818"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Set up </a:t>
            </a:r>
            <a:pPr indent="0" marL="0">
              <a:buNone/>
            </a:pPr>
            <a:r>
              <a:rPr lang="en-US" sz="1600" b="1" dirty="0">
                <a:solidFill>
                  <a:srgbClr val="272827"/>
                </a:solidFill>
                <a:latin typeface="Inter" pitchFamily="34" charset="0"/>
                <a:ea typeface="Inter" pitchFamily="34" charset="-122"/>
                <a:cs typeface="Inter" pitchFamily="34" charset="-120"/>
              </a:rPr>
              <a:t>Claude Code</a:t>
            </a:r>
            <a:pPr indent="0" marL="0">
              <a:buNone/>
            </a:pPr>
            <a:r>
              <a:rPr lang="en-US" sz="1600" dirty="0">
                <a:solidFill>
                  <a:srgbClr val="272827"/>
                </a:solidFill>
                <a:latin typeface="Inter" pitchFamily="34" charset="0"/>
                <a:ea typeface="Inter" pitchFamily="34" charset="-122"/>
                <a:cs typeface="Inter" pitchFamily="34" charset="-120"/>
              </a:rPr>
              <a:t> + </a:t>
            </a:r>
            <a:pPr indent="0" marL="0">
              <a:buNone/>
            </a:pPr>
            <a:r>
              <a:rPr lang="en-US" sz="1600" b="1" dirty="0">
                <a:solidFill>
                  <a:srgbClr val="272827"/>
                </a:solidFill>
                <a:latin typeface="Inter" pitchFamily="34" charset="0"/>
                <a:ea typeface="Inter" pitchFamily="34" charset="-122"/>
                <a:cs typeface="Inter" pitchFamily="34" charset="-120"/>
              </a:rPr>
              <a:t>Laravel Boost</a:t>
            </a:r>
            <a:pPr indent="0" marL="0">
              <a:buNone/>
            </a:pPr>
            <a:r>
              <a:rPr lang="en-US" sz="1600" dirty="0">
                <a:solidFill>
                  <a:srgbClr val="272827"/>
                </a:solidFill>
                <a:latin typeface="Inter" pitchFamily="34" charset="0"/>
                <a:ea typeface="Inter" pitchFamily="34" charset="-122"/>
                <a:cs typeface="Inter" pitchFamily="34" charset="-120"/>
              </a:rPr>
              <a:t> and write a useful </a:t>
            </a:r>
            <a:pPr indent="0" marL="0">
              <a:buNone/>
            </a:pPr>
            <a:r>
              <a:rPr lang="en-US" sz="1600" dirty="0">
                <a:solidFill>
                  <a:srgbClr val="C2410C"/>
                </a:solidFill>
                <a:latin typeface="JetBrains Mono" pitchFamily="34" charset="0"/>
                <a:ea typeface="JetBrains Mono" pitchFamily="34" charset="-122"/>
                <a:cs typeface="JetBrains Mono" pitchFamily="34" charset="-120"/>
              </a:rPr>
              <a:t>CLAUDE.md</a:t>
            </a:r>
            <a:endParaRPr lang="en-US" sz="1600" dirty="0"/>
          </a:p>
        </p:txBody>
      </p:sp>
      <p:sp>
        <p:nvSpPr>
          <p:cNvPr id="10" name="Shape 8"/>
          <p:cNvSpPr/>
          <p:nvPr/>
        </p:nvSpPr>
        <p:spPr>
          <a:xfrm>
            <a:off x="8127797"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356397"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03</a:t>
            </a:r>
            <a:endParaRPr lang="en-US" sz="2800" dirty="0"/>
          </a:p>
        </p:txBody>
      </p:sp>
      <p:sp>
        <p:nvSpPr>
          <p:cNvPr id="12" name="Text 10"/>
          <p:cNvSpPr txBox="1"/>
          <p:nvPr/>
        </p:nvSpPr>
        <p:spPr>
          <a:xfrm>
            <a:off x="8356397"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Use the </a:t>
            </a:r>
            <a:pPr indent="0" marL="0">
              <a:buNone/>
            </a:pPr>
            <a:r>
              <a:rPr lang="en-US" sz="1600" b="1" dirty="0">
                <a:solidFill>
                  <a:srgbClr val="272827"/>
                </a:solidFill>
                <a:latin typeface="Inter" pitchFamily="34" charset="0"/>
                <a:ea typeface="Inter" pitchFamily="34" charset="-122"/>
                <a:cs typeface="Inter" pitchFamily="34" charset="-120"/>
              </a:rPr>
              <a:t>Explore → Plan → Implement → Verify</a:t>
            </a:r>
            <a:pPr indent="0" marL="0">
              <a:buNone/>
            </a:pPr>
            <a:r>
              <a:rPr lang="en-US" sz="1600" dirty="0">
                <a:solidFill>
                  <a:srgbClr val="272827"/>
                </a:solidFill>
                <a:latin typeface="Inter" pitchFamily="34" charset="0"/>
                <a:ea typeface="Inter" pitchFamily="34" charset="-122"/>
                <a:cs typeface="Inter" pitchFamily="34" charset="-120"/>
              </a:rPr>
              <a:t> loop on real work</a:t>
            </a:r>
            <a:endParaRPr lang="en-US" sz="1600" dirty="0"/>
          </a:p>
        </p:txBody>
      </p:sp>
      <p:sp>
        <p:nvSpPr>
          <p:cNvPr id="13" name="Shape 11"/>
          <p:cNvSpPr/>
          <p:nvPr/>
        </p:nvSpPr>
        <p:spPr>
          <a:xfrm>
            <a:off x="548640"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04</a:t>
            </a:r>
            <a:endParaRPr lang="en-US" sz="2800" dirty="0"/>
          </a:p>
        </p:txBody>
      </p:sp>
      <p:sp>
        <p:nvSpPr>
          <p:cNvPr id="15" name="Text 13"/>
          <p:cNvSpPr txBox="1"/>
          <p:nvPr/>
        </p:nvSpPr>
        <p:spPr>
          <a:xfrm>
            <a:off x="777240"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Navigate Laravel: routing, MVC, Eloquent, migrations, artisan, container</a:t>
            </a:r>
            <a:endParaRPr lang="en-US" sz="1600" dirty="0"/>
          </a:p>
        </p:txBody>
      </p:sp>
      <p:sp>
        <p:nvSpPr>
          <p:cNvPr id="16" name="Shape 14"/>
          <p:cNvSpPr/>
          <p:nvPr/>
        </p:nvSpPr>
        <p:spPr>
          <a:xfrm>
            <a:off x="4338218"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566818"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05</a:t>
            </a:r>
            <a:endParaRPr lang="en-US" sz="2800" dirty="0"/>
          </a:p>
        </p:txBody>
      </p:sp>
      <p:sp>
        <p:nvSpPr>
          <p:cNvPr id="18" name="Text 16"/>
          <p:cNvSpPr txBox="1"/>
          <p:nvPr/>
        </p:nvSpPr>
        <p:spPr>
          <a:xfrm>
            <a:off x="4566818"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Model a domain with migrations, factories, seeders and enums</a:t>
            </a:r>
            <a:endParaRPr lang="en-US" sz="1600" dirty="0"/>
          </a:p>
        </p:txBody>
      </p:sp>
      <p:sp>
        <p:nvSpPr>
          <p:cNvPr id="19" name="Shape 17"/>
          <p:cNvSpPr/>
          <p:nvPr/>
        </p:nvSpPr>
        <p:spPr>
          <a:xfrm>
            <a:off x="8127797"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8356397"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06</a:t>
            </a:r>
            <a:endParaRPr lang="en-US" sz="2800" dirty="0"/>
          </a:p>
        </p:txBody>
      </p:sp>
      <p:sp>
        <p:nvSpPr>
          <p:cNvPr id="21" name="Text 19"/>
          <p:cNvSpPr txBox="1"/>
          <p:nvPr/>
        </p:nvSpPr>
        <p:spPr>
          <a:xfrm>
            <a:off x="8356397"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Read and critique AI-generated code before you accept it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A · 09:30–10:45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How coding agents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work</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كيف تعمل وكلاء البرمجة</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LLMs &amp; tokens   ·   Context windows   ·   Hallucination   ·   The agent loop   ·   Claude Code   ·   Laravel Boost   ·   Request lifecycle</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01</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What an LLM actually does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ماذا يفعل النموذج اللغوي فعلاً</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Predicts the </a:t>
            </a:r>
            <a:pPr indent="0" marL="0">
              <a:buNone/>
            </a:pPr>
            <a:r>
              <a:rPr lang="en-US" sz="1900" b="1" dirty="0">
                <a:solidFill>
                  <a:srgbClr val="272827"/>
                </a:solidFill>
                <a:latin typeface="Inter" pitchFamily="34" charset="0"/>
                <a:ea typeface="Inter" pitchFamily="34" charset="-122"/>
                <a:cs typeface="Inter" pitchFamily="34" charset="-120"/>
              </a:rPr>
              <a:t>next token</a:t>
            </a:r>
            <a:pPr indent="0" marL="0">
              <a:buNone/>
            </a:pPr>
            <a:r>
              <a:rPr lang="en-US" sz="1900" dirty="0">
                <a:solidFill>
                  <a:srgbClr val="272827"/>
                </a:solidFill>
                <a:latin typeface="Inter" pitchFamily="34" charset="0"/>
                <a:ea typeface="Inter" pitchFamily="34" charset="-122"/>
                <a:cs typeface="Inter" pitchFamily="34" charset="-120"/>
              </a:rPr>
              <a:t>, one at a time, from everything in its context</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Trained on huge amounts of text and code, so it is good at </a:t>
            </a:r>
            <a:pPr indent="0" marL="0">
              <a:buNone/>
            </a:pPr>
            <a:r>
              <a:rPr lang="en-US" sz="1900" b="1" dirty="0">
                <a:solidFill>
                  <a:srgbClr val="272827"/>
                </a:solidFill>
                <a:latin typeface="Inter" pitchFamily="34" charset="0"/>
                <a:ea typeface="Inter" pitchFamily="34" charset="-122"/>
                <a:cs typeface="Inter" pitchFamily="34" charset="-120"/>
              </a:rPr>
              <a:t>patterns</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Has </a:t>
            </a:r>
            <a:pPr indent="0" marL="0">
              <a:buNone/>
            </a:pPr>
            <a:r>
              <a:rPr lang="en-US" sz="1900" b="1" dirty="0">
                <a:solidFill>
                  <a:srgbClr val="272827"/>
                </a:solidFill>
                <a:latin typeface="Inter" pitchFamily="34" charset="0"/>
                <a:ea typeface="Inter" pitchFamily="34" charset="-122"/>
                <a:cs typeface="Inter" pitchFamily="34" charset="-120"/>
              </a:rPr>
              <a:t>no memory</a:t>
            </a:r>
            <a:pPr indent="0" marL="0">
              <a:buNone/>
            </a:pPr>
            <a:r>
              <a:rPr lang="en-US" sz="1900" dirty="0">
                <a:solidFill>
                  <a:srgbClr val="272827"/>
                </a:solidFill>
                <a:latin typeface="Inter" pitchFamily="34" charset="0"/>
                <a:ea typeface="Inter" pitchFamily="34" charset="-122"/>
                <a:cs typeface="Inter" pitchFamily="34" charset="-120"/>
              </a:rPr>
              <a:t> between calls: the context window is all it knows</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Has </a:t>
            </a:r>
            <a:pPr indent="0" marL="0">
              <a:buNone/>
            </a:pPr>
            <a:r>
              <a:rPr lang="en-US" sz="1900" b="1" dirty="0">
                <a:solidFill>
                  <a:srgbClr val="272827"/>
                </a:solidFill>
                <a:latin typeface="Inter" pitchFamily="34" charset="0"/>
                <a:ea typeface="Inter" pitchFamily="34" charset="-122"/>
                <a:cs typeface="Inter" pitchFamily="34" charset="-120"/>
              </a:rPr>
              <a:t>no access</a:t>
            </a:r>
            <a:pPr indent="0" marL="0">
              <a:buNone/>
            </a:pPr>
            <a:r>
              <a:rPr lang="en-US" sz="1900" dirty="0">
                <a:solidFill>
                  <a:srgbClr val="272827"/>
                </a:solidFill>
                <a:latin typeface="Inter" pitchFamily="34" charset="0"/>
                <a:ea typeface="Inter" pitchFamily="34" charset="-122"/>
                <a:cs typeface="Inter" pitchFamily="34" charset="-120"/>
              </a:rPr>
              <a:t> to your machine unless it is given tools</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Is </a:t>
            </a:r>
            <a:pPr indent="0" marL="0">
              <a:buNone/>
            </a:pPr>
            <a:r>
              <a:rPr lang="en-US" sz="1900" b="1" dirty="0">
                <a:solidFill>
                  <a:srgbClr val="272827"/>
                </a:solidFill>
                <a:latin typeface="Inter" pitchFamily="34" charset="0"/>
                <a:ea typeface="Inter" pitchFamily="34" charset="-122"/>
                <a:cs typeface="Inter" pitchFamily="34" charset="-120"/>
              </a:rPr>
              <a:t>probabilistic</a:t>
            </a:r>
            <a:pPr indent="0" marL="0">
              <a:buNone/>
            </a:pPr>
            <a:r>
              <a:rPr lang="en-US" sz="1900" dirty="0">
                <a:solidFill>
                  <a:srgbClr val="272827"/>
                </a:solidFill>
                <a:latin typeface="Inter" pitchFamily="34" charset="0"/>
                <a:ea typeface="Inter" pitchFamily="34" charset="-122"/>
                <a:cs typeface="Inter" pitchFamily="34" charset="-120"/>
              </a:rPr>
              <a:t>: the same prompt can give different answers</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KEY IDEA</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3400" b="1" dirty="0">
                <a:solidFill>
                  <a:srgbClr val="FF5723"/>
                </a:solidFill>
                <a:latin typeface="Playfair Display" pitchFamily="34" charset="0"/>
                <a:ea typeface="Playfair Display" pitchFamily="34" charset="-122"/>
                <a:cs typeface="Playfair Display" pitchFamily="34" charset="-120"/>
              </a:rPr>
              <a:t>Autocomplete, at scale</a:t>
            </a:r>
            <a:endParaRPr lang="en-US" sz="34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Fluent is not the same as correct. The model writes what is </a:t>
            </a:r>
            <a:pPr indent="0" marL="0">
              <a:buNone/>
            </a:pPr>
            <a:r>
              <a:rPr lang="en-US" sz="1500" b="1" dirty="0">
                <a:solidFill>
                  <a:srgbClr val="E8E2D9"/>
                </a:solidFill>
                <a:latin typeface="Inter" pitchFamily="34" charset="0"/>
                <a:ea typeface="Inter" pitchFamily="34" charset="-122"/>
                <a:cs typeface="Inter" pitchFamily="34" charset="-120"/>
              </a:rPr>
              <a:t>likely</a:t>
            </a:r>
            <a:pPr indent="0" marL="0">
              <a:buNone/>
            </a:pPr>
            <a:r>
              <a:rPr lang="en-US" sz="1500" dirty="0">
                <a:solidFill>
                  <a:srgbClr val="E8E2D9"/>
                </a:solidFill>
                <a:latin typeface="Inter" pitchFamily="34" charset="0"/>
                <a:ea typeface="Inter" pitchFamily="34" charset="-122"/>
                <a:cs typeface="Inter" pitchFamily="34" charset="-120"/>
              </a:rPr>
              <a:t>, so your job is to check what is </a:t>
            </a:r>
            <a:pPr indent="0" marL="0">
              <a:buNone/>
            </a:pPr>
            <a:r>
              <a:rPr lang="en-US" sz="1500" b="1" dirty="0">
                <a:solidFill>
                  <a:srgbClr val="E8E2D9"/>
                </a:solidFill>
                <a:latin typeface="Inter" pitchFamily="34" charset="0"/>
                <a:ea typeface="Inter" pitchFamily="34" charset="-122"/>
                <a:cs typeface="Inter" pitchFamily="34" charset="-120"/>
              </a:rPr>
              <a:t>true</a:t>
            </a:r>
            <a:pPr indent="0" marL="0">
              <a:buNone/>
            </a:pPr>
            <a:r>
              <a:rPr lang="en-US" sz="1500" dirty="0">
                <a:solidFill>
                  <a:srgbClr val="E8E2D9"/>
                </a:solidFill>
                <a:latin typeface="Inter" pitchFamily="34" charset="0"/>
                <a:ea typeface="Inter" pitchFamily="34" charset="-122"/>
                <a:cs typeface="Inter" pitchFamily="34" charset="-120"/>
              </a:rPr>
              <a: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Tokens, context and cost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الرموز والسياق والتكلفة</a:t>
            </a:r>
            <a:endParaRPr lang="ar-LY" sz="1700" dirty="0"/>
          </a:p>
        </p:txBody>
      </p:sp>
      <p:sp>
        <p:nvSpPr>
          <p:cNvPr id="4" name="Shape 2"/>
          <p:cNvSpPr/>
          <p:nvPr/>
        </p:nvSpPr>
        <p:spPr>
          <a:xfrm>
            <a:off x="548640" y="1874520"/>
            <a:ext cx="3515258" cy="3017520"/>
          </a:xfrm>
          <a:prstGeom prst="roundRect">
            <a:avLst>
              <a:gd name="adj" fmla="val 2424"/>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2148840"/>
            <a:ext cx="2966618" cy="1188720"/>
          </a:xfrm>
          <a:prstGeom prst="rect">
            <a:avLst/>
          </a:prstGeom>
          <a:noFill/>
          <a:ln/>
        </p:spPr>
        <p:txBody>
          <a:bodyPr wrap="square" lIns="0" tIns="0" rIns="0" bIns="0" rtlCol="0" anchor="ctr"/>
          <a:lstStyle/>
          <a:p>
            <a:pPr indent="0" marL="0">
              <a:buNone/>
            </a:pPr>
            <a:r>
              <a:rPr lang="en-US" sz="5400" b="1" dirty="0">
                <a:solidFill>
                  <a:srgbClr val="FF5723"/>
                </a:solidFill>
                <a:latin typeface="Playfair Display" pitchFamily="34" charset="0"/>
                <a:ea typeface="Playfair Display" pitchFamily="34" charset="-122"/>
                <a:cs typeface="Playfair Display" pitchFamily="34" charset="-120"/>
              </a:rPr>
              <a:t>≈ 4</a:t>
            </a:r>
            <a:endParaRPr lang="en-US" sz="5400" dirty="0"/>
          </a:p>
        </p:txBody>
      </p:sp>
      <p:sp>
        <p:nvSpPr>
          <p:cNvPr id="6" name="Text 4"/>
          <p:cNvSpPr txBox="1"/>
          <p:nvPr/>
        </p:nvSpPr>
        <p:spPr>
          <a:xfrm>
            <a:off x="822960" y="3429000"/>
            <a:ext cx="2966618" cy="128016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characters per English token. Arabic text usually needs </a:t>
            </a:r>
            <a:pPr indent="0" marL="0">
              <a:buNone/>
            </a:pPr>
            <a:r>
              <a:rPr lang="en-US" sz="1500" b="1" dirty="0">
                <a:solidFill>
                  <a:srgbClr val="E8E2D9"/>
                </a:solidFill>
                <a:latin typeface="Inter" pitchFamily="34" charset="0"/>
                <a:ea typeface="Inter" pitchFamily="34" charset="-122"/>
                <a:cs typeface="Inter" pitchFamily="34" charset="-120"/>
              </a:rPr>
              <a:t>more</a:t>
            </a:r>
            <a:pPr indent="0" marL="0">
              <a:buNone/>
            </a:pPr>
            <a:r>
              <a:rPr lang="en-US" sz="1500" dirty="0">
                <a:solidFill>
                  <a:srgbClr val="E8E2D9"/>
                </a:solidFill>
                <a:latin typeface="Inter" pitchFamily="34" charset="0"/>
                <a:ea typeface="Inter" pitchFamily="34" charset="-122"/>
                <a:cs typeface="Inter" pitchFamily="34" charset="-120"/>
              </a:rPr>
              <a:t> tokens for the same meaning.</a:t>
            </a:r>
            <a:endParaRPr lang="en-US" sz="1500" dirty="0"/>
          </a:p>
        </p:txBody>
      </p:sp>
      <p:sp>
        <p:nvSpPr>
          <p:cNvPr id="7" name="Shape 5"/>
          <p:cNvSpPr/>
          <p:nvPr/>
        </p:nvSpPr>
        <p:spPr>
          <a:xfrm>
            <a:off x="4338218" y="1874520"/>
            <a:ext cx="3515258" cy="3017520"/>
          </a:xfrm>
          <a:prstGeom prst="roundRect">
            <a:avLst>
              <a:gd name="adj" fmla="val 2424"/>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612538" y="2148840"/>
            <a:ext cx="2966618" cy="1188720"/>
          </a:xfrm>
          <a:prstGeom prst="rect">
            <a:avLst/>
          </a:prstGeom>
          <a:noFill/>
          <a:ln/>
        </p:spPr>
        <p:txBody>
          <a:bodyPr wrap="square" lIns="0" tIns="0" rIns="0" bIns="0" rtlCol="0" anchor="ctr"/>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1 window</a:t>
            </a:r>
            <a:endParaRPr lang="en-US" sz="4400" dirty="0"/>
          </a:p>
        </p:txBody>
      </p:sp>
      <p:sp>
        <p:nvSpPr>
          <p:cNvPr id="9" name="Text 7"/>
          <p:cNvSpPr txBox="1"/>
          <p:nvPr/>
        </p:nvSpPr>
        <p:spPr>
          <a:xfrm>
            <a:off x="4612538" y="3429000"/>
            <a:ext cx="2966618" cy="1280160"/>
          </a:xfrm>
          <a:prstGeom prst="rect">
            <a:avLst/>
          </a:prstGeom>
          <a:noFill/>
          <a:ln/>
        </p:spPr>
        <p:txBody>
          <a:bodyPr wrap="square" lIns="0" tIns="0" rIns="0" bIns="0" rtlCol="0" anchor="t"/>
          <a:lstStyle/>
          <a:p>
            <a:pPr indent="0" marL="0">
              <a:buNone/>
            </a:pPr>
            <a:r>
              <a:rPr lang="en-US" sz="1500" dirty="0">
                <a:solidFill>
                  <a:srgbClr val="3A3B3A"/>
                </a:solidFill>
                <a:latin typeface="Inter" pitchFamily="34" charset="0"/>
                <a:ea typeface="Inter" pitchFamily="34" charset="-122"/>
                <a:cs typeface="Inter" pitchFamily="34" charset="-120"/>
              </a:rPr>
              <a:t>System prompt, your message, files read, tool output and the answer all share </a:t>
            </a:r>
            <a:pPr indent="0" marL="0">
              <a:buNone/>
            </a:pPr>
            <a:r>
              <a:rPr lang="en-US" sz="1500" b="1" dirty="0">
                <a:solidFill>
                  <a:srgbClr val="3A3B3A"/>
                </a:solidFill>
                <a:latin typeface="Inter" pitchFamily="34" charset="0"/>
                <a:ea typeface="Inter" pitchFamily="34" charset="-122"/>
                <a:cs typeface="Inter" pitchFamily="34" charset="-120"/>
              </a:rPr>
              <a:t>one</a:t>
            </a:r>
            <a:pPr indent="0" marL="0">
              <a:buNone/>
            </a:pPr>
            <a:r>
              <a:rPr lang="en-US" sz="1500" dirty="0">
                <a:solidFill>
                  <a:srgbClr val="3A3B3A"/>
                </a:solidFill>
                <a:latin typeface="Inter" pitchFamily="34" charset="0"/>
                <a:ea typeface="Inter" pitchFamily="34" charset="-122"/>
                <a:cs typeface="Inter" pitchFamily="34" charset="-120"/>
              </a:rPr>
              <a:t> context window.</a:t>
            </a:r>
            <a:endParaRPr lang="en-US" sz="1500" dirty="0"/>
          </a:p>
        </p:txBody>
      </p:sp>
      <p:sp>
        <p:nvSpPr>
          <p:cNvPr id="10" name="Shape 8"/>
          <p:cNvSpPr/>
          <p:nvPr/>
        </p:nvSpPr>
        <p:spPr>
          <a:xfrm>
            <a:off x="8127797" y="1874520"/>
            <a:ext cx="3515258" cy="3017520"/>
          </a:xfrm>
          <a:prstGeom prst="roundRect">
            <a:avLst>
              <a:gd name="adj" fmla="val 2424"/>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402117" y="2148840"/>
            <a:ext cx="2966618" cy="1188720"/>
          </a:xfrm>
          <a:prstGeom prst="rect">
            <a:avLst/>
          </a:prstGeom>
          <a:noFill/>
          <a:ln/>
        </p:spPr>
        <p:txBody>
          <a:bodyPr wrap="square" lIns="0" tIns="0" rIns="0" bIns="0" rtlCol="0" anchor="ctr"/>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In + Out</a:t>
            </a:r>
            <a:endParaRPr lang="en-US" sz="4400" dirty="0"/>
          </a:p>
        </p:txBody>
      </p:sp>
      <p:sp>
        <p:nvSpPr>
          <p:cNvPr id="12" name="Text 10"/>
          <p:cNvSpPr txBox="1"/>
          <p:nvPr/>
        </p:nvSpPr>
        <p:spPr>
          <a:xfrm>
            <a:off x="8402117" y="3429000"/>
            <a:ext cx="2966618" cy="1280160"/>
          </a:xfrm>
          <a:prstGeom prst="rect">
            <a:avLst/>
          </a:prstGeom>
          <a:noFill/>
          <a:ln/>
        </p:spPr>
        <p:txBody>
          <a:bodyPr wrap="square" lIns="0" tIns="0" rIns="0" bIns="0" rtlCol="0" anchor="t"/>
          <a:lstStyle/>
          <a:p>
            <a:pPr indent="0" marL="0">
              <a:buNone/>
            </a:pPr>
            <a:r>
              <a:rPr lang="en-US" sz="1500" dirty="0">
                <a:solidFill>
                  <a:srgbClr val="3A3B3A"/>
                </a:solidFill>
                <a:latin typeface="Inter" pitchFamily="34" charset="0"/>
                <a:ea typeface="Inter" pitchFamily="34" charset="-122"/>
                <a:cs typeface="Inter" pitchFamily="34" charset="-120"/>
              </a:rPr>
              <a:t>You pay for input </a:t>
            </a:r>
            <a:pPr indent="0" marL="0">
              <a:buNone/>
            </a:pPr>
            <a:r>
              <a:rPr lang="en-US" sz="1500" b="1" dirty="0">
                <a:solidFill>
                  <a:srgbClr val="3A3B3A"/>
                </a:solidFill>
                <a:latin typeface="Inter" pitchFamily="34" charset="0"/>
                <a:ea typeface="Inter" pitchFamily="34" charset="-122"/>
                <a:cs typeface="Inter" pitchFamily="34" charset="-120"/>
              </a:rPr>
              <a:t>and</a:t>
            </a:r>
            <a:pPr indent="0" marL="0">
              <a:buNone/>
            </a:pPr>
            <a:r>
              <a:rPr lang="en-US" sz="1500" dirty="0">
                <a:solidFill>
                  <a:srgbClr val="3A3B3A"/>
                </a:solidFill>
                <a:latin typeface="Inter" pitchFamily="34" charset="0"/>
                <a:ea typeface="Inter" pitchFamily="34" charset="-122"/>
                <a:cs typeface="Inter" pitchFamily="34" charset="-120"/>
              </a:rPr>
              <a:t> output tokens on every turn. Big files read again and again add up.</a:t>
            </a:r>
            <a:endParaRPr lang="en-US" sz="1500" dirty="0"/>
          </a:p>
        </p:txBody>
      </p:sp>
      <p:sp>
        <p:nvSpPr>
          <p:cNvPr id="13" name="Text 11"/>
          <p:cNvSpPr txBox="1"/>
          <p:nvPr/>
        </p:nvSpPr>
        <p:spPr>
          <a:xfrm>
            <a:off x="548640" y="539496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Rule of thumb: keep the context focused. Less noise in → better code out.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Why agents hallucinate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لماذا تهلوس الوكلاء</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The answer is </a:t>
            </a:r>
            <a:pPr indent="0" marL="0">
              <a:buNone/>
            </a:pPr>
            <a:r>
              <a:rPr lang="en-US" sz="1900" b="1" dirty="0">
                <a:solidFill>
                  <a:srgbClr val="272827"/>
                </a:solidFill>
                <a:latin typeface="Inter" pitchFamily="34" charset="0"/>
                <a:ea typeface="Inter" pitchFamily="34" charset="-122"/>
                <a:cs typeface="Inter" pitchFamily="34" charset="-120"/>
              </a:rPr>
              <a:t>plausible</a:t>
            </a:r>
            <a:pPr indent="0" marL="0">
              <a:buNone/>
            </a:pPr>
            <a:r>
              <a:rPr lang="en-US" sz="1900" dirty="0">
                <a:solidFill>
                  <a:srgbClr val="272827"/>
                </a:solidFill>
                <a:latin typeface="Inter" pitchFamily="34" charset="0"/>
                <a:ea typeface="Inter" pitchFamily="34" charset="-122"/>
                <a:cs typeface="Inter" pitchFamily="34" charset="-120"/>
              </a:rPr>
              <a:t>, not looked up: it fills gaps with likely text</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Package APIs change: it may remember </a:t>
            </a:r>
            <a:pPr indent="0" marL="0">
              <a:buNone/>
            </a:pPr>
            <a:r>
              <a:rPr lang="en-US" sz="1900" b="1" dirty="0">
                <a:solidFill>
                  <a:srgbClr val="272827"/>
                </a:solidFill>
                <a:latin typeface="Inter" pitchFamily="34" charset="0"/>
                <a:ea typeface="Inter" pitchFamily="34" charset="-122"/>
                <a:cs typeface="Inter" pitchFamily="34" charset="-120"/>
              </a:rPr>
              <a:t>an older version</a:t>
            </a:r>
            <a:pPr indent="0" marL="0">
              <a:buNone/>
            </a:pPr>
            <a:r>
              <a:rPr lang="en-US" sz="1900" dirty="0">
                <a:solidFill>
                  <a:srgbClr val="272827"/>
                </a:solidFill>
                <a:latin typeface="Inter" pitchFamily="34" charset="0"/>
                <a:ea typeface="Inter" pitchFamily="34" charset="-122"/>
                <a:cs typeface="Inter" pitchFamily="34" charset="-120"/>
              </a:rPr>
              <a:t> of Laravel or Prism</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Missing context: it </a:t>
            </a:r>
            <a:pPr indent="0" marL="0">
              <a:buNone/>
            </a:pPr>
            <a:r>
              <a:rPr lang="en-US" sz="1900" b="1" dirty="0">
                <a:solidFill>
                  <a:srgbClr val="272827"/>
                </a:solidFill>
                <a:latin typeface="Inter" pitchFamily="34" charset="0"/>
                <a:ea typeface="Inter" pitchFamily="34" charset="-122"/>
                <a:cs typeface="Inter" pitchFamily="34" charset="-120"/>
              </a:rPr>
              <a:t>guesses</a:t>
            </a:r>
            <a:pPr indent="0" marL="0">
              <a:buNone/>
            </a:pPr>
            <a:r>
              <a:rPr lang="en-US" sz="1900" dirty="0">
                <a:solidFill>
                  <a:srgbClr val="272827"/>
                </a:solidFill>
                <a:latin typeface="Inter" pitchFamily="34" charset="0"/>
                <a:ea typeface="Inter" pitchFamily="34" charset="-122"/>
                <a:cs typeface="Inter" pitchFamily="34" charset="-120"/>
              </a:rPr>
              <a:t> your table names, routes and config</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It is eager to finish: it may say tests pass </a:t>
            </a:r>
            <a:pPr indent="0" marL="0">
              <a:buNone/>
            </a:pPr>
            <a:r>
              <a:rPr lang="en-US" sz="1900" b="1" dirty="0">
                <a:solidFill>
                  <a:srgbClr val="272827"/>
                </a:solidFill>
                <a:latin typeface="Inter" pitchFamily="34" charset="0"/>
                <a:ea typeface="Inter" pitchFamily="34" charset="-122"/>
                <a:cs typeface="Inter" pitchFamily="34" charset="-120"/>
              </a:rPr>
              <a:t>without running them</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Fix: give it ground truth (files, docs, Boost) and make it </a:t>
            </a:r>
            <a:pPr indent="0" marL="0">
              <a:buNone/>
            </a:pPr>
            <a:r>
              <a:rPr lang="en-US" sz="1900" b="1" dirty="0">
                <a:solidFill>
                  <a:srgbClr val="272827"/>
                </a:solidFill>
                <a:latin typeface="Inter" pitchFamily="34" charset="0"/>
                <a:ea typeface="Inter" pitchFamily="34" charset="-122"/>
                <a:cs typeface="Inter" pitchFamily="34" charset="-120"/>
              </a:rPr>
              <a:t>verify</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HOUSE RULE</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3600" b="1" dirty="0">
                <a:solidFill>
                  <a:srgbClr val="FF5723"/>
                </a:solidFill>
                <a:latin typeface="Playfair Display" pitchFamily="34" charset="0"/>
                <a:ea typeface="Playfair Display" pitchFamily="34" charset="-122"/>
                <a:cs typeface="Playfair Display" pitchFamily="34" charset="-120"/>
              </a:rPr>
              <a:t>Verify everything</a:t>
            </a:r>
            <a:endParaRPr lang="en-US" sz="36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Run the tests. Read the diff. Open the docs. Trust evidence, not confidence.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agent loop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حلقة عمل الوكيل</a:t>
            </a:r>
            <a:endParaRPr lang="ar-LY" sz="1700" dirty="0"/>
          </a:p>
        </p:txBody>
      </p:sp>
      <p:sp>
        <p:nvSpPr>
          <p:cNvPr id="4" name="Shape 2"/>
          <p:cNvSpPr/>
          <p:nvPr/>
        </p:nvSpPr>
        <p:spPr>
          <a:xfrm>
            <a:off x="2743200" y="3429000"/>
            <a:ext cx="1920240" cy="1005840"/>
          </a:xfrm>
          <a:prstGeom prst="ellipse">
            <a:avLst/>
          </a:prstGeom>
          <a:solidFill>
            <a:srgbClr val="272827"/>
          </a:solidFill>
          <a:ln w="12700">
            <a:solidFill>
              <a:srgbClr val="272827"/>
            </a:solidFill>
            <a:prstDash val="solid"/>
          </a:ln>
        </p:spPr>
      </p:sp>
      <p:sp>
        <p:nvSpPr>
          <p:cNvPr id="5" name="Text 3"/>
          <p:cNvSpPr txBox="1"/>
          <p:nvPr/>
        </p:nvSpPr>
        <p:spPr>
          <a:xfrm>
            <a:off x="2743200" y="3429000"/>
            <a:ext cx="1920240" cy="100584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LLM + tools</a:t>
            </a:r>
            <a:endParaRPr lang="en-US" sz="1400" dirty="0"/>
          </a:p>
        </p:txBody>
      </p:sp>
      <p:sp>
        <p:nvSpPr>
          <p:cNvPr id="6" name="Shape 4"/>
          <p:cNvSpPr/>
          <p:nvPr/>
        </p:nvSpPr>
        <p:spPr>
          <a:xfrm>
            <a:off x="4317829" y="2799281"/>
            <a:ext cx="874102" cy="665077"/>
          </a:xfrm>
          <a:prstGeom prst="line">
            <a:avLst/>
          </a:prstGeom>
          <a:noFill/>
          <a:ln w="25400">
            <a:solidFill>
              <a:srgbClr val="FF5723"/>
            </a:solidFill>
            <a:prstDash val="solid"/>
            <a:tailEnd type="triangle"/>
          </a:ln>
        </p:spPr>
      </p:sp>
      <p:sp>
        <p:nvSpPr>
          <p:cNvPr id="7" name="Shape 5"/>
          <p:cNvSpPr/>
          <p:nvPr/>
        </p:nvSpPr>
        <p:spPr>
          <a:xfrm flipH="1">
            <a:off x="4317829" y="4399481"/>
            <a:ext cx="874102" cy="665077"/>
          </a:xfrm>
          <a:prstGeom prst="line">
            <a:avLst/>
          </a:prstGeom>
          <a:noFill/>
          <a:ln w="25400">
            <a:solidFill>
              <a:srgbClr val="FF5723"/>
            </a:solidFill>
            <a:prstDash val="solid"/>
            <a:tailEnd type="triangle"/>
          </a:ln>
        </p:spPr>
      </p:sp>
      <p:sp>
        <p:nvSpPr>
          <p:cNvPr id="8" name="Shape 6"/>
          <p:cNvSpPr/>
          <p:nvPr/>
        </p:nvSpPr>
        <p:spPr>
          <a:xfrm flipH="1" flipV="1">
            <a:off x="2214709" y="4399481"/>
            <a:ext cx="874102" cy="665077"/>
          </a:xfrm>
          <a:prstGeom prst="line">
            <a:avLst/>
          </a:prstGeom>
          <a:noFill/>
          <a:ln w="25400">
            <a:solidFill>
              <a:srgbClr val="FF5723"/>
            </a:solidFill>
            <a:prstDash val="solid"/>
            <a:tailEnd type="triangle"/>
          </a:ln>
        </p:spPr>
      </p:sp>
      <p:sp>
        <p:nvSpPr>
          <p:cNvPr id="9" name="Shape 7"/>
          <p:cNvSpPr/>
          <p:nvPr/>
        </p:nvSpPr>
        <p:spPr>
          <a:xfrm flipV="1">
            <a:off x="2214709" y="2799281"/>
            <a:ext cx="874102" cy="665077"/>
          </a:xfrm>
          <a:prstGeom prst="line">
            <a:avLst/>
          </a:prstGeom>
          <a:noFill/>
          <a:ln w="25400">
            <a:solidFill>
              <a:srgbClr val="FF5723"/>
            </a:solidFill>
            <a:prstDash val="solid"/>
            <a:tailEnd type="triangle"/>
          </a:ln>
        </p:spPr>
      </p:sp>
      <p:sp>
        <p:nvSpPr>
          <p:cNvPr id="10" name="Shape 8"/>
          <p:cNvSpPr/>
          <p:nvPr/>
        </p:nvSpPr>
        <p:spPr>
          <a:xfrm>
            <a:off x="2697480" y="1897380"/>
            <a:ext cx="2011680" cy="868680"/>
          </a:xfrm>
          <a:prstGeom prst="roundRect">
            <a:avLst>
              <a:gd name="adj" fmla="val 8421"/>
            </a:avLst>
          </a:prstGeom>
          <a:solidFill>
            <a:srgbClr val="FF5723"/>
          </a:solidFill>
          <a:ln w="12700">
            <a:solidFill>
              <a:srgbClr val="FF5723"/>
            </a:solidFill>
            <a:prstDash val="solid"/>
          </a:ln>
        </p:spPr>
      </p:sp>
      <p:sp>
        <p:nvSpPr>
          <p:cNvPr id="11" name="Text 9"/>
          <p:cNvSpPr txBox="1"/>
          <p:nvPr/>
        </p:nvSpPr>
        <p:spPr>
          <a:xfrm>
            <a:off x="2770632" y="19339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Think</a:t>
            </a:r>
            <a:endParaRPr lang="en-US" sz="15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decide next step</a:t>
            </a:r>
            <a:endParaRPr lang="en-US" sz="1500" dirty="0"/>
          </a:p>
        </p:txBody>
      </p:sp>
      <p:sp>
        <p:nvSpPr>
          <p:cNvPr id="12" name="Shape 10"/>
          <p:cNvSpPr/>
          <p:nvPr/>
        </p:nvSpPr>
        <p:spPr>
          <a:xfrm>
            <a:off x="4800600" y="3497580"/>
            <a:ext cx="201168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873752" y="35341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Act</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call a tool</a:t>
            </a:r>
            <a:endParaRPr lang="en-US" sz="1500" dirty="0"/>
          </a:p>
        </p:txBody>
      </p:sp>
      <p:sp>
        <p:nvSpPr>
          <p:cNvPr id="14" name="Shape 12"/>
          <p:cNvSpPr/>
          <p:nvPr/>
        </p:nvSpPr>
        <p:spPr>
          <a:xfrm>
            <a:off x="2697480" y="5097780"/>
            <a:ext cx="201168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2770632" y="51343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Observe</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read the result</a:t>
            </a:r>
            <a:endParaRPr lang="en-US" sz="1500" dirty="0"/>
          </a:p>
        </p:txBody>
      </p:sp>
      <p:sp>
        <p:nvSpPr>
          <p:cNvPr id="16" name="Shape 14"/>
          <p:cNvSpPr/>
          <p:nvPr/>
        </p:nvSpPr>
        <p:spPr>
          <a:xfrm>
            <a:off x="594360" y="3497580"/>
            <a:ext cx="201168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67512" y="3534156"/>
            <a:ext cx="1865376" cy="79552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Repeat or stop</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goal met?</a:t>
            </a:r>
            <a:endParaRPr lang="en-US" sz="1500" dirty="0"/>
          </a:p>
        </p:txBody>
      </p:sp>
      <p:sp>
        <p:nvSpPr>
          <p:cNvPr id="18" name="Text 16"/>
          <p:cNvSpPr txBox="1"/>
          <p:nvPr/>
        </p:nvSpPr>
        <p:spPr>
          <a:xfrm>
            <a:off x="7178040" y="1965960"/>
            <a:ext cx="4465015" cy="42062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A </a:t>
            </a:r>
            <a:pPr indent="0" marL="0">
              <a:buNone/>
            </a:pPr>
            <a:r>
              <a:rPr lang="en-US" sz="1600" b="1" dirty="0">
                <a:solidFill>
                  <a:srgbClr val="272827"/>
                </a:solidFill>
                <a:latin typeface="Inter" pitchFamily="34" charset="0"/>
                <a:ea typeface="Inter" pitchFamily="34" charset="-122"/>
                <a:cs typeface="Inter" pitchFamily="34" charset="-120"/>
              </a:rPr>
              <a:t>chatbot</a:t>
            </a:r>
            <a:pPr indent="0" marL="0">
              <a:buNone/>
            </a:pPr>
            <a:r>
              <a:rPr lang="en-US" sz="1600" dirty="0">
                <a:solidFill>
                  <a:srgbClr val="272827"/>
                </a:solidFill>
                <a:latin typeface="Inter" pitchFamily="34" charset="0"/>
                <a:ea typeface="Inter" pitchFamily="34" charset="-122"/>
                <a:cs typeface="Inter" pitchFamily="34" charset="-120"/>
              </a:rPr>
              <a:t> answers once. An </a:t>
            </a:r>
            <a:pPr indent="0" marL="0">
              <a:buNone/>
            </a:pPr>
            <a:r>
              <a:rPr lang="en-US" sz="1600" b="1" dirty="0">
                <a:solidFill>
                  <a:srgbClr val="272827"/>
                </a:solidFill>
                <a:latin typeface="Inter" pitchFamily="34" charset="0"/>
                <a:ea typeface="Inter" pitchFamily="34" charset="-122"/>
                <a:cs typeface="Inter" pitchFamily="34" charset="-120"/>
              </a:rPr>
              <a:t>agent</a:t>
            </a:r>
            <a:pPr indent="0" marL="0">
              <a:buNone/>
            </a:pPr>
            <a:r>
              <a:rPr lang="en-US" sz="1600" dirty="0">
                <a:solidFill>
                  <a:srgbClr val="272827"/>
                </a:solidFill>
                <a:latin typeface="Inter" pitchFamily="34" charset="0"/>
                <a:ea typeface="Inter" pitchFamily="34" charset="-122"/>
                <a:cs typeface="Inter" pitchFamily="34" charset="-120"/>
              </a:rPr>
              <a:t> loops: think, act, observe</a:t>
            </a:r>
            <a:endParaRPr lang="en-US" sz="1600" dirty="0"/>
          </a:p>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Tools are how it touches the world: read file, edit, run </a:t>
            </a:r>
            <a:pPr indent="0" marL="0">
              <a:buNone/>
            </a:pPr>
            <a:r>
              <a:rPr lang="en-US" sz="1600" dirty="0">
                <a:solidFill>
                  <a:srgbClr val="C2410C"/>
                </a:solidFill>
                <a:latin typeface="JetBrains Mono" pitchFamily="34" charset="0"/>
                <a:ea typeface="JetBrains Mono" pitchFamily="34" charset="-122"/>
                <a:cs typeface="JetBrains Mono" pitchFamily="34" charset="-120"/>
              </a:rPr>
              <a:t>php artisan test</a:t>
            </a:r>
            <a:endParaRPr lang="en-US" sz="1600" dirty="0"/>
          </a:p>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Each tool result goes </a:t>
            </a:r>
            <a:pPr indent="0" marL="0">
              <a:buNone/>
            </a:pPr>
            <a:r>
              <a:rPr lang="en-US" sz="1600" b="1" dirty="0">
                <a:solidFill>
                  <a:srgbClr val="272827"/>
                </a:solidFill>
                <a:latin typeface="Inter" pitchFamily="34" charset="0"/>
                <a:ea typeface="Inter" pitchFamily="34" charset="-122"/>
                <a:cs typeface="Inter" pitchFamily="34" charset="-120"/>
              </a:rPr>
              <a:t>back into the context</a:t>
            </a:r>
            <a:pPr indent="0" marL="0">
              <a:buNone/>
            </a:pPr>
            <a:r>
              <a:rPr lang="en-US" sz="1600" dirty="0">
                <a:solidFill>
                  <a:srgbClr val="272827"/>
                </a:solidFill>
                <a:latin typeface="Inter" pitchFamily="34" charset="0"/>
                <a:ea typeface="Inter" pitchFamily="34" charset="-122"/>
                <a:cs typeface="Inter" pitchFamily="34" charset="-120"/>
              </a:rPr>
              <a:t> for the next step</a:t>
            </a:r>
            <a:endParaRPr lang="en-US" sz="1600" dirty="0"/>
          </a:p>
          <a:p>
            <a:pPr marL="228600" indent="-228600">
              <a:spcAft>
                <a:spcPts val="1000"/>
              </a:spcAft>
              <a:buSzPct val="100000"/>
              <a:buChar char="•"/>
            </a:pPr>
            <a:r>
              <a:rPr lang="en-US" sz="1600" dirty="0">
                <a:solidFill>
                  <a:srgbClr val="272827"/>
                </a:solidFill>
                <a:latin typeface="Inter" pitchFamily="34" charset="0"/>
                <a:ea typeface="Inter" pitchFamily="34" charset="-122"/>
                <a:cs typeface="Inter" pitchFamily="34" charset="-120"/>
              </a:rPr>
              <a:t>It stops when the goal is met, it needs you, or it hits a limit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Anatomy of Claude Code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مكونات Claude Code</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Tools</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Read, Edit, Write, Bash, Grep/Glob search, web fetch. Every action on your machine is a </a:t>
            </a:r>
            <a:pPr indent="0" marL="0">
              <a:buNone/>
            </a:pPr>
            <a:r>
              <a:rPr lang="en-US" sz="1400" b="1" dirty="0">
                <a:solidFill>
                  <a:srgbClr val="3A3B3A"/>
                </a:solidFill>
                <a:latin typeface="Inter" pitchFamily="34" charset="0"/>
                <a:ea typeface="Inter" pitchFamily="34" charset="-122"/>
                <a:cs typeface="Inter" pitchFamily="34" charset="-120"/>
              </a:rPr>
              <a:t>tool call</a:t>
            </a:r>
            <a:pPr indent="0" marL="0">
              <a:buNone/>
            </a:pPr>
            <a:r>
              <a:rPr lang="en-US" sz="1400" dirty="0">
                <a:solidFill>
                  <a:srgbClr val="3A3B3A"/>
                </a:solidFill>
                <a:latin typeface="Inter" pitchFamily="34" charset="0"/>
                <a:ea typeface="Inter" pitchFamily="34" charset="-122"/>
                <a:cs typeface="Inter" pitchFamily="34" charset="-120"/>
              </a:rPr>
              <a:t> you can see.</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Permissions</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You approve edits and commands, or allow-list safe ones. Never auto-approve </a:t>
            </a:r>
            <a:pPr indent="0" marL="0">
              <a:buNone/>
            </a:pPr>
            <a:r>
              <a:rPr lang="en-US" sz="1400" dirty="0">
                <a:solidFill>
                  <a:srgbClr val="C2410C"/>
                </a:solidFill>
                <a:latin typeface="JetBrains Mono" pitchFamily="34" charset="0"/>
                <a:ea typeface="JetBrains Mono" pitchFamily="34" charset="-122"/>
                <a:cs typeface="JetBrains Mono" pitchFamily="34" charset="-120"/>
              </a:rPr>
              <a:t>rm</a:t>
            </a:r>
            <a:pPr indent="0" marL="0">
              <a:buNone/>
            </a:pPr>
            <a:r>
              <a:rPr lang="en-US" sz="1400" dirty="0">
                <a:solidFill>
                  <a:srgbClr val="3A3B3A"/>
                </a:solidFill>
                <a:latin typeface="Inter" pitchFamily="34" charset="0"/>
                <a:ea typeface="Inter" pitchFamily="34" charset="-122"/>
                <a:cs typeface="Inter" pitchFamily="34" charset="-120"/>
              </a:rPr>
              <a:t>, </a:t>
            </a:r>
            <a:pPr indent="0" marL="0">
              <a:buNone/>
            </a:pPr>
            <a:r>
              <a:rPr lang="en-US" sz="1400" dirty="0">
                <a:solidFill>
                  <a:srgbClr val="C2410C"/>
                </a:solidFill>
                <a:latin typeface="JetBrains Mono" pitchFamily="34" charset="0"/>
                <a:ea typeface="JetBrains Mono" pitchFamily="34" charset="-122"/>
                <a:cs typeface="JetBrains Mono" pitchFamily="34" charset="-120"/>
              </a:rPr>
              <a:t>git push</a:t>
            </a:r>
            <a:pPr indent="0" marL="0">
              <a:buNone/>
            </a:pPr>
            <a:r>
              <a:rPr lang="en-US" sz="1400" dirty="0">
                <a:solidFill>
                  <a:srgbClr val="3A3B3A"/>
                </a:solidFill>
                <a:latin typeface="Inter" pitchFamily="34" charset="0"/>
                <a:ea typeface="Inter" pitchFamily="34" charset="-122"/>
                <a:cs typeface="Inter" pitchFamily="34" charset="-120"/>
              </a:rPr>
              <a:t> or production access.</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CLAUDE.md</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Project memory loaded every session: stack, conventions, commands, do and do-not rules.</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MCP servers</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Plug-in tool servers. </a:t>
            </a:r>
            <a:pPr indent="0" marL="0">
              <a:buNone/>
            </a:pPr>
            <a:r>
              <a:rPr lang="en-US" sz="1400" b="1" dirty="0">
                <a:solidFill>
                  <a:srgbClr val="3A3B3A"/>
                </a:solidFill>
                <a:latin typeface="Inter" pitchFamily="34" charset="0"/>
                <a:ea typeface="Inter" pitchFamily="34" charset="-122"/>
                <a:cs typeface="Inter" pitchFamily="34" charset="-120"/>
              </a:rPr>
              <a:t>Laravel Boost</a:t>
            </a:r>
            <a:pPr indent="0" marL="0">
              <a:buNone/>
            </a:pPr>
            <a:r>
              <a:rPr lang="en-US" sz="1400" dirty="0">
                <a:solidFill>
                  <a:srgbClr val="3A3B3A"/>
                </a:solidFill>
                <a:latin typeface="Inter" pitchFamily="34" charset="0"/>
                <a:ea typeface="Inter" pitchFamily="34" charset="-122"/>
                <a:cs typeface="Inter" pitchFamily="34" charset="-120"/>
              </a:rPr>
              <a:t> gives the agent your routes, schema, logs and version-matched docs.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CLAUDE.md: the project's memory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ملف CLAUDE.md ذاكرة المشروع</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shahna-api/CLAUDE.md</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Shahna API — conventions for coding agents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Commands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Run all tests | `./vendor/bin/sail artisan test`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Migrate + seed | `./vendor/bin/sail artisan migrate:fresh --seed`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Testing rules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Every change ships with a Pest test. Write the failing test first.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`php artisan test` must pass before you say a task is done. Show the output.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Never call a real LLM in tests. Use `Prism::fake([...])`.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Code style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Money is `decimal(10,2)` in the database. Never use floats for stored money.</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Use enums (`app/Enums`) for fixed sets of values; never compare raw strings.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No new Composer packages without asking first.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How to work in this repo</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Explore → Plan (`docs/plans/`) → Implement in small steps → Verify.</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Short and specific beats long and vague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Put </a:t>
            </a:r>
            <a:pPr indent="0" marL="0">
              <a:buNone/>
            </a:pPr>
            <a:r>
              <a:rPr lang="en-US" sz="1500" b="1" dirty="0">
                <a:solidFill>
                  <a:srgbClr val="272827"/>
                </a:solidFill>
                <a:latin typeface="Inter" pitchFamily="34" charset="0"/>
                <a:ea typeface="Inter" pitchFamily="34" charset="-122"/>
                <a:cs typeface="Inter" pitchFamily="34" charset="-120"/>
              </a:rPr>
              <a:t>commands</a:t>
            </a:r>
            <a:pPr indent="0" marL="0">
              <a:buNone/>
            </a:pPr>
            <a:r>
              <a:rPr lang="en-US" sz="1500" dirty="0">
                <a:solidFill>
                  <a:srgbClr val="272827"/>
                </a:solidFill>
                <a:latin typeface="Inter" pitchFamily="34" charset="0"/>
                <a:ea typeface="Inter" pitchFamily="34" charset="-122"/>
                <a:cs typeface="Inter" pitchFamily="34" charset="-120"/>
              </a:rPr>
              <a:t> in it so the agent can verify itself</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Encode the rules you keep repeating in review</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Commit it: the whole team shares the same agent behaviour</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Laravel Boost: ground truth for the agent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لارافيل بوست: حقائق المشروع للوكيل</a:t>
            </a:r>
            <a:endParaRPr lang="ar-LY" sz="1700" dirty="0"/>
          </a:p>
        </p:txBody>
      </p:sp>
      <p:sp>
        <p:nvSpPr>
          <p:cNvPr id="4" name="Shape 2"/>
          <p:cNvSpPr/>
          <p:nvPr/>
        </p:nvSpPr>
        <p:spPr>
          <a:xfrm>
            <a:off x="548640" y="3108960"/>
            <a:ext cx="1828800" cy="914400"/>
          </a:xfrm>
          <a:prstGeom prst="roundRect">
            <a:avLst>
              <a:gd name="adj" fmla="val 80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3145536"/>
            <a:ext cx="168249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You</a:t>
            </a:r>
            <a:endParaRPr lang="en-US" sz="1500" dirty="0"/>
          </a:p>
          <a:p>
            <a:pPr algn="ctr" indent="0" marL="0">
              <a:spcAft>
                <a:spcPts val="200"/>
              </a:spcAft>
              <a:buNone/>
            </a:pPr>
            <a:r>
              <a:rPr lang="en-US" sz="1200" dirty="0">
                <a:solidFill>
                  <a:srgbClr val="6B7280"/>
                </a:solidFill>
                <a:latin typeface="Inter" pitchFamily="34" charset="0"/>
                <a:ea typeface="Inter" pitchFamily="34" charset="-122"/>
                <a:cs typeface="Inter" pitchFamily="34" charset="-120"/>
              </a:rPr>
              <a:t>prompt + review</a:t>
            </a:r>
            <a:endParaRPr lang="en-US" sz="1500" dirty="0"/>
          </a:p>
        </p:txBody>
      </p:sp>
      <p:sp>
        <p:nvSpPr>
          <p:cNvPr id="6" name="Shape 4"/>
          <p:cNvSpPr/>
          <p:nvPr/>
        </p:nvSpPr>
        <p:spPr>
          <a:xfrm>
            <a:off x="3291840" y="3108960"/>
            <a:ext cx="2194560" cy="914400"/>
          </a:xfrm>
          <a:prstGeom prst="roundRect">
            <a:avLst>
              <a:gd name="adj" fmla="val 8000"/>
            </a:avLst>
          </a:prstGeom>
          <a:solidFill>
            <a:srgbClr val="FF5723"/>
          </a:solidFill>
          <a:ln w="12700">
            <a:solidFill>
              <a:srgbClr val="FF5723"/>
            </a:solidFill>
            <a:prstDash val="solid"/>
          </a:ln>
        </p:spPr>
      </p:sp>
      <p:sp>
        <p:nvSpPr>
          <p:cNvPr id="7" name="Text 5"/>
          <p:cNvSpPr txBox="1"/>
          <p:nvPr/>
        </p:nvSpPr>
        <p:spPr>
          <a:xfrm>
            <a:off x="3364992" y="3145536"/>
            <a:ext cx="204825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Claude Code</a:t>
            </a:r>
            <a:endParaRPr lang="en-US" sz="1500" dirty="0"/>
          </a:p>
          <a:p>
            <a:pPr algn="ctr" indent="0" marL="0">
              <a:spcAft>
                <a:spcPts val="200"/>
              </a:spcAft>
              <a:buNone/>
            </a:pPr>
            <a:r>
              <a:rPr lang="en-US" sz="1200" dirty="0">
                <a:solidFill>
                  <a:srgbClr val="FFE3D9"/>
                </a:solidFill>
                <a:latin typeface="Inter" pitchFamily="34" charset="0"/>
                <a:ea typeface="Inter" pitchFamily="34" charset="-122"/>
                <a:cs typeface="Inter" pitchFamily="34" charset="-120"/>
              </a:rPr>
              <a:t>agent loop</a:t>
            </a:r>
            <a:endParaRPr lang="en-US" sz="1500" dirty="0"/>
          </a:p>
        </p:txBody>
      </p:sp>
      <p:sp>
        <p:nvSpPr>
          <p:cNvPr id="8" name="Shape 6"/>
          <p:cNvSpPr/>
          <p:nvPr/>
        </p:nvSpPr>
        <p:spPr>
          <a:xfrm>
            <a:off x="6400800" y="3108960"/>
            <a:ext cx="2194560" cy="914400"/>
          </a:xfrm>
          <a:prstGeom prst="roundRect">
            <a:avLst>
              <a:gd name="adj" fmla="val 8000"/>
            </a:avLst>
          </a:prstGeom>
          <a:solidFill>
            <a:srgbClr val="272827"/>
          </a:solidFill>
          <a:ln w="12700">
            <a:solidFill>
              <a:srgbClr val="272827"/>
            </a:solidFill>
            <a:prstDash val="solid"/>
          </a:ln>
        </p:spPr>
      </p:sp>
      <p:sp>
        <p:nvSpPr>
          <p:cNvPr id="9" name="Text 7"/>
          <p:cNvSpPr txBox="1"/>
          <p:nvPr/>
        </p:nvSpPr>
        <p:spPr>
          <a:xfrm>
            <a:off x="6473952" y="3145536"/>
            <a:ext cx="204825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Boost MCP</a:t>
            </a:r>
            <a:endParaRPr lang="en-US" sz="1500" dirty="0"/>
          </a:p>
          <a:p>
            <a:pPr algn="ctr" indent="0" marL="0">
              <a:spcAft>
                <a:spcPts val="200"/>
              </a:spcAft>
              <a:buNone/>
            </a:pPr>
            <a:r>
              <a:rPr lang="en-US" sz="1200" dirty="0">
                <a:solidFill>
                  <a:srgbClr val="9CA3AF"/>
                </a:solidFill>
                <a:latin typeface="Inter" pitchFamily="34" charset="0"/>
                <a:ea typeface="Inter" pitchFamily="34" charset="-122"/>
                <a:cs typeface="Inter" pitchFamily="34" charset="-120"/>
              </a:rPr>
              <a:t>php artisan boost:mcp</a:t>
            </a:r>
            <a:endParaRPr lang="en-US" sz="1500" dirty="0"/>
          </a:p>
        </p:txBody>
      </p:sp>
      <p:sp>
        <p:nvSpPr>
          <p:cNvPr id="10" name="Shape 8"/>
          <p:cNvSpPr/>
          <p:nvPr/>
        </p:nvSpPr>
        <p:spPr>
          <a:xfrm>
            <a:off x="9418320" y="1737360"/>
            <a:ext cx="2221992" cy="749808"/>
          </a:xfrm>
          <a:prstGeom prst="roundRect">
            <a:avLst>
              <a:gd name="adj" fmla="val 975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9491472" y="1773936"/>
            <a:ext cx="2075688" cy="676656"/>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Docs search</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version-matched</a:t>
            </a:r>
            <a:endParaRPr lang="en-US" sz="1400" dirty="0"/>
          </a:p>
        </p:txBody>
      </p:sp>
      <p:sp>
        <p:nvSpPr>
          <p:cNvPr id="12" name="Shape 10"/>
          <p:cNvSpPr/>
          <p:nvPr/>
        </p:nvSpPr>
        <p:spPr>
          <a:xfrm>
            <a:off x="9418320" y="2651760"/>
            <a:ext cx="2221992" cy="749808"/>
          </a:xfrm>
          <a:prstGeom prst="roundRect">
            <a:avLst>
              <a:gd name="adj" fmla="val 975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9491472" y="2688336"/>
            <a:ext cx="2075688" cy="676656"/>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Database schema</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tables, columns</a:t>
            </a:r>
            <a:endParaRPr lang="en-US" sz="1400" dirty="0"/>
          </a:p>
        </p:txBody>
      </p:sp>
      <p:sp>
        <p:nvSpPr>
          <p:cNvPr id="14" name="Shape 12"/>
          <p:cNvSpPr/>
          <p:nvPr/>
        </p:nvSpPr>
        <p:spPr>
          <a:xfrm>
            <a:off x="9418320" y="3566160"/>
            <a:ext cx="2221992" cy="749808"/>
          </a:xfrm>
          <a:prstGeom prst="roundRect">
            <a:avLst>
              <a:gd name="adj" fmla="val 975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9491472" y="3602736"/>
            <a:ext cx="2075688" cy="676656"/>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Routes &amp; config</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artisan route:list</a:t>
            </a:r>
            <a:endParaRPr lang="en-US" sz="1400" dirty="0"/>
          </a:p>
        </p:txBody>
      </p:sp>
      <p:sp>
        <p:nvSpPr>
          <p:cNvPr id="16" name="Shape 14"/>
          <p:cNvSpPr/>
          <p:nvPr/>
        </p:nvSpPr>
        <p:spPr>
          <a:xfrm>
            <a:off x="9418320" y="4480560"/>
            <a:ext cx="2221992" cy="749808"/>
          </a:xfrm>
          <a:prstGeom prst="roundRect">
            <a:avLst>
              <a:gd name="adj" fmla="val 975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9491472" y="4517136"/>
            <a:ext cx="2075688" cy="676656"/>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Logs &amp; errors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last exception</a:t>
            </a:r>
            <a:endParaRPr lang="en-US" sz="1400" dirty="0"/>
          </a:p>
        </p:txBody>
      </p:sp>
      <p:sp>
        <p:nvSpPr>
          <p:cNvPr id="18" name="Shape 16"/>
          <p:cNvSpPr/>
          <p:nvPr/>
        </p:nvSpPr>
        <p:spPr>
          <a:xfrm>
            <a:off x="2377440" y="3566160"/>
            <a:ext cx="914400" cy="914"/>
          </a:xfrm>
          <a:prstGeom prst="line">
            <a:avLst/>
          </a:prstGeom>
          <a:noFill/>
          <a:ln w="19050">
            <a:solidFill>
              <a:srgbClr val="3A3B3A"/>
            </a:solidFill>
            <a:prstDash val="solid"/>
            <a:tailEnd type="triangle"/>
          </a:ln>
        </p:spPr>
      </p:sp>
      <p:sp>
        <p:nvSpPr>
          <p:cNvPr id="19" name="Shape 17"/>
          <p:cNvSpPr/>
          <p:nvPr/>
        </p:nvSpPr>
        <p:spPr>
          <a:xfrm>
            <a:off x="5486400" y="3566160"/>
            <a:ext cx="914400" cy="914"/>
          </a:xfrm>
          <a:prstGeom prst="line">
            <a:avLst/>
          </a:prstGeom>
          <a:noFill/>
          <a:ln w="19050">
            <a:solidFill>
              <a:srgbClr val="3A3B3A"/>
            </a:solidFill>
            <a:prstDash val="solid"/>
            <a:tailEnd type="triangle"/>
          </a:ln>
        </p:spPr>
      </p:sp>
      <p:sp>
        <p:nvSpPr>
          <p:cNvPr id="20" name="Text 18"/>
          <p:cNvSpPr txBox="1"/>
          <p:nvPr/>
        </p:nvSpPr>
        <p:spPr>
          <a:xfrm>
            <a:off x="4754880" y="325526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MCP tool call</a:t>
            </a:r>
            <a:endParaRPr lang="en-US" sz="1100" dirty="0"/>
          </a:p>
        </p:txBody>
      </p:sp>
      <p:sp>
        <p:nvSpPr>
          <p:cNvPr id="21" name="Shape 19"/>
          <p:cNvSpPr/>
          <p:nvPr/>
        </p:nvSpPr>
        <p:spPr>
          <a:xfrm flipV="1">
            <a:off x="8595360" y="2112264"/>
            <a:ext cx="822960" cy="1453896"/>
          </a:xfrm>
          <a:prstGeom prst="line">
            <a:avLst/>
          </a:prstGeom>
          <a:noFill/>
          <a:ln w="19050">
            <a:solidFill>
              <a:srgbClr val="3A3B3A"/>
            </a:solidFill>
            <a:prstDash val="solid"/>
            <a:tailEnd type="triangle"/>
          </a:ln>
        </p:spPr>
      </p:sp>
      <p:sp>
        <p:nvSpPr>
          <p:cNvPr id="22" name="Shape 20"/>
          <p:cNvSpPr/>
          <p:nvPr/>
        </p:nvSpPr>
        <p:spPr>
          <a:xfrm>
            <a:off x="8595360" y="3255264"/>
            <a:ext cx="822960" cy="914"/>
          </a:xfrm>
          <a:prstGeom prst="line">
            <a:avLst/>
          </a:prstGeom>
          <a:noFill/>
          <a:ln w="19050">
            <a:solidFill>
              <a:srgbClr val="3A3B3A"/>
            </a:solidFill>
            <a:prstDash val="solid"/>
            <a:tailEnd type="triangle"/>
          </a:ln>
        </p:spPr>
      </p:sp>
      <p:sp>
        <p:nvSpPr>
          <p:cNvPr id="23" name="Shape 21"/>
          <p:cNvSpPr/>
          <p:nvPr/>
        </p:nvSpPr>
        <p:spPr>
          <a:xfrm>
            <a:off x="8595360" y="3794760"/>
            <a:ext cx="822960" cy="914"/>
          </a:xfrm>
          <a:prstGeom prst="line">
            <a:avLst/>
          </a:prstGeom>
          <a:noFill/>
          <a:ln w="19050">
            <a:solidFill>
              <a:srgbClr val="3A3B3A"/>
            </a:solidFill>
            <a:prstDash val="solid"/>
            <a:tailEnd type="triangle"/>
          </a:ln>
        </p:spPr>
      </p:sp>
      <p:sp>
        <p:nvSpPr>
          <p:cNvPr id="24" name="Shape 22"/>
          <p:cNvSpPr/>
          <p:nvPr/>
        </p:nvSpPr>
        <p:spPr>
          <a:xfrm>
            <a:off x="8595360" y="3566160"/>
            <a:ext cx="822960" cy="1289304"/>
          </a:xfrm>
          <a:prstGeom prst="line">
            <a:avLst/>
          </a:prstGeom>
          <a:noFill/>
          <a:ln w="19050">
            <a:solidFill>
              <a:srgbClr val="3A3B3A"/>
            </a:solidFill>
            <a:prstDash val="solid"/>
            <a:tailEnd type="triangle"/>
          </a:ln>
        </p:spPr>
      </p:sp>
      <p:sp>
        <p:nvSpPr>
          <p:cNvPr id="25" name="Text 23"/>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Fewer guesses: the agent asks the app instead of inventing table names or outdated APIs.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explore first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plan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Explore this Laravel project. Do not write any code yet.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1. Summarize the stack from composer.json and CLAUDE.md.</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2. List the routes, migrations and models that exist today.</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3. Read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docs/requirements.md</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list the domain entities it implies.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4. Tell me what is missing before we can book a shipment.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Answer in short bullet points and cite the files you read.</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FFFFFF"/>
                </a:solidFill>
                <a:latin typeface="Inter" pitchFamily="34" charset="0"/>
                <a:ea typeface="Inter" pitchFamily="34" charset="-122"/>
                <a:cs typeface="Inter" pitchFamily="34" charset="-120"/>
              </a:rPr>
              <a:t>Plan mode</a:t>
            </a:r>
            <a:pPr indent="0" marL="0">
              <a:buNone/>
            </a:pPr>
            <a:r>
              <a:rPr lang="en-US" sz="1500" dirty="0">
                <a:solidFill>
                  <a:srgbClr val="FFFFFF"/>
                </a:solidFill>
                <a:latin typeface="Inter" pitchFamily="34" charset="0"/>
                <a:ea typeface="Inter" pitchFamily="34" charset="-122"/>
                <a:cs typeface="Inter" pitchFamily="34" charset="-120"/>
              </a:rPr>
              <a:t>: it can read but not edit</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Numbered steps keep the loop focused</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"Cite the files" makes claims checkable</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Ends with a question you can verify against the brief</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Laravel in six building blocks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لارافيل في ست لبنات</a:t>
            </a:r>
            <a:endParaRPr lang="ar-LY" sz="1700" dirty="0"/>
          </a:p>
        </p:txBody>
      </p:sp>
      <p:sp>
        <p:nvSpPr>
          <p:cNvPr id="4" name="Shape 2"/>
          <p:cNvSpPr/>
          <p:nvPr/>
        </p:nvSpPr>
        <p:spPr>
          <a:xfrm>
            <a:off x="548640"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Routing</a:t>
            </a:r>
            <a:endParaRPr lang="en-US" sz="1700" dirty="0"/>
          </a:p>
        </p:txBody>
      </p:sp>
      <p:sp>
        <p:nvSpPr>
          <p:cNvPr id="8" name="Text 6"/>
          <p:cNvSpPr txBox="1"/>
          <p:nvPr/>
        </p:nvSpPr>
        <p:spPr>
          <a:xfrm>
            <a:off x="777240" y="2606040"/>
            <a:ext cx="305805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routes/api.php</a:t>
            </a:r>
            <a:pPr indent="0" marL="0">
              <a:buNone/>
            </a:pPr>
            <a:r>
              <a:rPr lang="en-US" sz="1400" dirty="0">
                <a:solidFill>
                  <a:srgbClr val="3A3B3A"/>
                </a:solidFill>
                <a:latin typeface="Inter" pitchFamily="34" charset="0"/>
                <a:ea typeface="Inter" pitchFamily="34" charset="-122"/>
                <a:cs typeface="Inter" pitchFamily="34" charset="-120"/>
              </a:rPr>
              <a:t> maps a method + URL to a controller action.</a:t>
            </a:r>
            <a:endParaRPr lang="en-US" sz="1400" dirty="0"/>
          </a:p>
        </p:txBody>
      </p:sp>
      <p:sp>
        <p:nvSpPr>
          <p:cNvPr id="9" name="Shape 7"/>
          <p:cNvSpPr/>
          <p:nvPr/>
        </p:nvSpPr>
        <p:spPr>
          <a:xfrm>
            <a:off x="4338218"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56681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456681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5161178"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Controllers</a:t>
            </a:r>
            <a:endParaRPr lang="en-US" sz="1700" dirty="0"/>
          </a:p>
        </p:txBody>
      </p:sp>
      <p:sp>
        <p:nvSpPr>
          <p:cNvPr id="13" name="Text 11"/>
          <p:cNvSpPr txBox="1"/>
          <p:nvPr/>
        </p:nvSpPr>
        <p:spPr>
          <a:xfrm>
            <a:off x="4566818"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Thin classes that take a request and return a response.</a:t>
            </a:r>
            <a:endParaRPr lang="en-US" sz="1400" dirty="0"/>
          </a:p>
        </p:txBody>
      </p:sp>
      <p:sp>
        <p:nvSpPr>
          <p:cNvPr id="14" name="Shape 12"/>
          <p:cNvSpPr/>
          <p:nvPr/>
        </p:nvSpPr>
        <p:spPr>
          <a:xfrm>
            <a:off x="8127797"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8356397" y="201168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8356397"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8950757"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Eloquent</a:t>
            </a:r>
            <a:endParaRPr lang="en-US" sz="1700" dirty="0"/>
          </a:p>
        </p:txBody>
      </p:sp>
      <p:sp>
        <p:nvSpPr>
          <p:cNvPr id="18" name="Text 16"/>
          <p:cNvSpPr txBox="1"/>
          <p:nvPr/>
        </p:nvSpPr>
        <p:spPr>
          <a:xfrm>
            <a:off x="8356397"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Models map tables to PHP objects, with relations and casts.</a:t>
            </a:r>
            <a:endParaRPr lang="en-US" sz="1400" dirty="0"/>
          </a:p>
        </p:txBody>
      </p:sp>
      <p:sp>
        <p:nvSpPr>
          <p:cNvPr id="19" name="Shape 17"/>
          <p:cNvSpPr/>
          <p:nvPr/>
        </p:nvSpPr>
        <p:spPr>
          <a:xfrm>
            <a:off x="548640"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77240"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1371600"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Migrations</a:t>
            </a:r>
            <a:endParaRPr lang="en-US" sz="1700" dirty="0"/>
          </a:p>
        </p:txBody>
      </p:sp>
      <p:sp>
        <p:nvSpPr>
          <p:cNvPr id="23" name="Text 21"/>
          <p:cNvSpPr txBox="1"/>
          <p:nvPr/>
        </p:nvSpPr>
        <p:spPr>
          <a:xfrm>
            <a:off x="777240"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Versioned schema changes in PHP. The DB is code, reviewed like code.</a:t>
            </a:r>
            <a:endParaRPr lang="en-US" sz="1400" dirty="0"/>
          </a:p>
        </p:txBody>
      </p:sp>
      <p:sp>
        <p:nvSpPr>
          <p:cNvPr id="24" name="Shape 22"/>
          <p:cNvSpPr/>
          <p:nvPr/>
        </p:nvSpPr>
        <p:spPr>
          <a:xfrm>
            <a:off x="4338218"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4566818" y="4343400"/>
            <a:ext cx="457200" cy="457200"/>
          </a:xfrm>
          <a:prstGeom prst="ellipse">
            <a:avLst/>
          </a:prstGeom>
          <a:solidFill>
            <a:srgbClr val="FF5723"/>
          </a:solidFill>
          <a:ln w="12700">
            <a:solidFill>
              <a:srgbClr val="FF5723"/>
            </a:solidFill>
            <a:prstDash val="solid"/>
          </a:ln>
        </p:spPr>
      </p:sp>
      <p:sp>
        <p:nvSpPr>
          <p:cNvPr id="26" name="Text 24"/>
          <p:cNvSpPr txBox="1"/>
          <p:nvPr/>
        </p:nvSpPr>
        <p:spPr>
          <a:xfrm>
            <a:off x="456681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a:t>
            </a:r>
            <a:endParaRPr lang="en-US" sz="1400" dirty="0"/>
          </a:p>
        </p:txBody>
      </p:sp>
      <p:sp>
        <p:nvSpPr>
          <p:cNvPr id="27" name="Text 25"/>
          <p:cNvSpPr txBox="1"/>
          <p:nvPr/>
        </p:nvSpPr>
        <p:spPr>
          <a:xfrm>
            <a:off x="5161178"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Artisan</a:t>
            </a:r>
            <a:endParaRPr lang="en-US" sz="1700" dirty="0"/>
          </a:p>
        </p:txBody>
      </p:sp>
      <p:sp>
        <p:nvSpPr>
          <p:cNvPr id="28" name="Text 26"/>
          <p:cNvSpPr txBox="1"/>
          <p:nvPr/>
        </p:nvSpPr>
        <p:spPr>
          <a:xfrm>
            <a:off x="4566818"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The CLI: </a:t>
            </a:r>
            <a:pPr indent="0" marL="0">
              <a:buNone/>
            </a:pPr>
            <a:r>
              <a:rPr lang="en-US" sz="1400" dirty="0">
                <a:solidFill>
                  <a:srgbClr val="C2410C"/>
                </a:solidFill>
                <a:latin typeface="JetBrains Mono" pitchFamily="34" charset="0"/>
                <a:ea typeface="JetBrains Mono" pitchFamily="34" charset="-122"/>
                <a:cs typeface="JetBrains Mono" pitchFamily="34" charset="-120"/>
              </a:rPr>
              <a:t>make:model</a:t>
            </a:r>
            <a:pPr indent="0" marL="0">
              <a:buNone/>
            </a:pPr>
            <a:r>
              <a:rPr lang="en-US" sz="1400" dirty="0">
                <a:solidFill>
                  <a:srgbClr val="3A3B3A"/>
                </a:solidFill>
                <a:latin typeface="Inter" pitchFamily="34" charset="0"/>
                <a:ea typeface="Inter" pitchFamily="34" charset="-122"/>
                <a:cs typeface="Inter" pitchFamily="34" charset="-120"/>
              </a:rPr>
              <a:t>, </a:t>
            </a:r>
            <a:pPr indent="0" marL="0">
              <a:buNone/>
            </a:pPr>
            <a:r>
              <a:rPr lang="en-US" sz="1400" dirty="0">
                <a:solidFill>
                  <a:srgbClr val="C2410C"/>
                </a:solidFill>
                <a:latin typeface="JetBrains Mono" pitchFamily="34" charset="0"/>
                <a:ea typeface="JetBrains Mono" pitchFamily="34" charset="-122"/>
                <a:cs typeface="JetBrains Mono" pitchFamily="34" charset="-120"/>
              </a:rPr>
              <a:t>migrate</a:t>
            </a:r>
            <a:pPr indent="0" marL="0">
              <a:buNone/>
            </a:pPr>
            <a:r>
              <a:rPr lang="en-US" sz="1400" dirty="0">
                <a:solidFill>
                  <a:srgbClr val="3A3B3A"/>
                </a:solidFill>
                <a:latin typeface="Inter" pitchFamily="34" charset="0"/>
                <a:ea typeface="Inter" pitchFamily="34" charset="-122"/>
                <a:cs typeface="Inter" pitchFamily="34" charset="-120"/>
              </a:rPr>
              <a:t>, </a:t>
            </a:r>
            <a:pPr indent="0" marL="0">
              <a:buNone/>
            </a:pPr>
            <a:r>
              <a:rPr lang="en-US" sz="1400" dirty="0">
                <a:solidFill>
                  <a:srgbClr val="C2410C"/>
                </a:solidFill>
                <a:latin typeface="JetBrains Mono" pitchFamily="34" charset="0"/>
                <a:ea typeface="JetBrains Mono" pitchFamily="34" charset="-122"/>
                <a:cs typeface="JetBrains Mono" pitchFamily="34" charset="-120"/>
              </a:rPr>
              <a:t>test</a:t>
            </a:r>
            <a:pPr indent="0" marL="0">
              <a:buNone/>
            </a:pPr>
            <a:r>
              <a:rPr lang="en-US" sz="1400" dirty="0">
                <a:solidFill>
                  <a:srgbClr val="3A3B3A"/>
                </a:solidFill>
                <a:latin typeface="Inter" pitchFamily="34" charset="0"/>
                <a:ea typeface="Inter" pitchFamily="34" charset="-122"/>
                <a:cs typeface="Inter" pitchFamily="34" charset="-120"/>
              </a:rPr>
              <a:t>, </a:t>
            </a:r>
            <a:pPr indent="0" marL="0">
              <a:buNone/>
            </a:pPr>
            <a:r>
              <a:rPr lang="en-US" sz="1400" dirty="0">
                <a:solidFill>
                  <a:srgbClr val="C2410C"/>
                </a:solidFill>
                <a:latin typeface="JetBrains Mono" pitchFamily="34" charset="0"/>
                <a:ea typeface="JetBrains Mono" pitchFamily="34" charset="-122"/>
                <a:cs typeface="JetBrains Mono" pitchFamily="34" charset="-120"/>
              </a:rPr>
              <a:t>tinker</a:t>
            </a:r>
            <a:pPr indent="0" marL="0">
              <a:buNone/>
            </a:pPr>
            <a:r>
              <a:rPr lang="en-US" sz="1400" dirty="0">
                <a:solidFill>
                  <a:srgbClr val="3A3B3A"/>
                </a:solidFill>
                <a:latin typeface="Inter" pitchFamily="34" charset="0"/>
                <a:ea typeface="Inter" pitchFamily="34" charset="-122"/>
                <a:cs typeface="Inter" pitchFamily="34" charset="-120"/>
              </a:rPr>
              <a:t>, </a:t>
            </a:r>
            <a:pPr indent="0" marL="0">
              <a:buNone/>
            </a:pPr>
            <a:r>
              <a:rPr lang="en-US" sz="1400" dirty="0">
                <a:solidFill>
                  <a:srgbClr val="C2410C"/>
                </a:solidFill>
                <a:latin typeface="JetBrains Mono" pitchFamily="34" charset="0"/>
                <a:ea typeface="JetBrains Mono" pitchFamily="34" charset="-122"/>
                <a:cs typeface="JetBrains Mono" pitchFamily="34" charset="-120"/>
              </a:rPr>
              <a:t>route:list</a:t>
            </a:r>
            <a:pPr indent="0" marL="0">
              <a:buNone/>
            </a:pPr>
            <a:r>
              <a:rPr lang="en-US" sz="1400" dirty="0">
                <a:solidFill>
                  <a:srgbClr val="3A3B3A"/>
                </a:solidFill>
                <a:latin typeface="Inter" pitchFamily="34" charset="0"/>
                <a:ea typeface="Inter" pitchFamily="34" charset="-122"/>
                <a:cs typeface="Inter" pitchFamily="34" charset="-120"/>
              </a:rPr>
              <a:t>.</a:t>
            </a:r>
            <a:endParaRPr lang="en-US" sz="1400" dirty="0"/>
          </a:p>
        </p:txBody>
      </p:sp>
      <p:sp>
        <p:nvSpPr>
          <p:cNvPr id="29" name="Shape 27"/>
          <p:cNvSpPr/>
          <p:nvPr/>
        </p:nvSpPr>
        <p:spPr>
          <a:xfrm>
            <a:off x="8127797"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30" name="Shape 28"/>
          <p:cNvSpPr/>
          <p:nvPr/>
        </p:nvSpPr>
        <p:spPr>
          <a:xfrm>
            <a:off x="8356397" y="4343400"/>
            <a:ext cx="457200" cy="457200"/>
          </a:xfrm>
          <a:prstGeom prst="ellipse">
            <a:avLst/>
          </a:prstGeom>
          <a:solidFill>
            <a:srgbClr val="FF5723"/>
          </a:solidFill>
          <a:ln w="12700">
            <a:solidFill>
              <a:srgbClr val="FF5723"/>
            </a:solidFill>
            <a:prstDash val="solid"/>
          </a:ln>
        </p:spPr>
      </p:sp>
      <p:sp>
        <p:nvSpPr>
          <p:cNvPr id="31" name="Text 29"/>
          <p:cNvSpPr txBox="1"/>
          <p:nvPr/>
        </p:nvSpPr>
        <p:spPr>
          <a:xfrm>
            <a:off x="8356397"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6</a:t>
            </a:r>
            <a:endParaRPr lang="en-US" sz="1400" dirty="0"/>
          </a:p>
        </p:txBody>
      </p:sp>
      <p:sp>
        <p:nvSpPr>
          <p:cNvPr id="32" name="Text 30"/>
          <p:cNvSpPr txBox="1"/>
          <p:nvPr/>
        </p:nvSpPr>
        <p:spPr>
          <a:xfrm>
            <a:off x="8950757"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Container</a:t>
            </a:r>
            <a:endParaRPr lang="en-US" sz="1700" dirty="0"/>
          </a:p>
        </p:txBody>
      </p:sp>
      <p:sp>
        <p:nvSpPr>
          <p:cNvPr id="33" name="Text 31"/>
          <p:cNvSpPr txBox="1"/>
          <p:nvPr/>
        </p:nvSpPr>
        <p:spPr>
          <a:xfrm>
            <a:off x="8356397"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Builds your classes and injects dependencies, e.g. a </a:t>
            </a:r>
            <a:pPr indent="0" marL="0">
              <a:buNone/>
            </a:pPr>
            <a:r>
              <a:rPr lang="en-US" sz="1400" dirty="0">
                <a:solidFill>
                  <a:srgbClr val="C2410C"/>
                </a:solidFill>
                <a:latin typeface="JetBrains Mono" pitchFamily="34" charset="0"/>
                <a:ea typeface="JetBrains Mono" pitchFamily="34" charset="-122"/>
                <a:cs typeface="JetBrains Mono" pitchFamily="34" charset="-120"/>
              </a:rPr>
              <a:t>PricingService</a:t>
            </a:r>
            <a:pPr indent="0" marL="0">
              <a:buNone/>
            </a:pPr>
            <a:r>
              <a:rPr lang="en-US" sz="1400" dirty="0">
                <a:solidFill>
                  <a:srgbClr val="3A3B3A"/>
                </a:solidFill>
                <a:latin typeface="Inter" pitchFamily="34" charset="0"/>
                <a:ea typeface="Inter" pitchFamily="34" charset="-122"/>
                <a:cs typeface="Inter" pitchFamily="34" charset="-120"/>
              </a:rPr>
              <a: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request lifecycle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دورة حياة الطلب</a:t>
            </a:r>
            <a:endParaRPr lang="ar-LY" sz="1700" dirty="0"/>
          </a:p>
        </p:txBody>
      </p:sp>
      <p:sp>
        <p:nvSpPr>
          <p:cNvPr id="4" name="Shape 2"/>
          <p:cNvSpPr/>
          <p:nvPr/>
        </p:nvSpPr>
        <p:spPr>
          <a:xfrm>
            <a:off x="548640"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HTTP request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GET /api/cities</a:t>
            </a:r>
            <a:endParaRPr lang="en-US" sz="1400" dirty="0"/>
          </a:p>
        </p:txBody>
      </p:sp>
      <p:sp>
        <p:nvSpPr>
          <p:cNvPr id="6" name="Shape 4"/>
          <p:cNvSpPr/>
          <p:nvPr/>
        </p:nvSpPr>
        <p:spPr>
          <a:xfrm>
            <a:off x="2451049"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524201"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public/index.php</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boots the app</a:t>
            </a:r>
            <a:endParaRPr lang="en-US" sz="1400" dirty="0"/>
          </a:p>
        </p:txBody>
      </p:sp>
      <p:sp>
        <p:nvSpPr>
          <p:cNvPr id="8" name="Shape 6"/>
          <p:cNvSpPr/>
          <p:nvPr/>
        </p:nvSpPr>
        <p:spPr>
          <a:xfrm>
            <a:off x="4353458"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426610"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Middleware</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auth, throttle, JSON</a:t>
            </a:r>
            <a:endParaRPr lang="en-US" sz="1400" dirty="0"/>
          </a:p>
        </p:txBody>
      </p:sp>
      <p:sp>
        <p:nvSpPr>
          <p:cNvPr id="10" name="Shape 8"/>
          <p:cNvSpPr/>
          <p:nvPr/>
        </p:nvSpPr>
        <p:spPr>
          <a:xfrm>
            <a:off x="6255868"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329020"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Router</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matches the route</a:t>
            </a:r>
            <a:endParaRPr lang="en-US" sz="1400" dirty="0"/>
          </a:p>
        </p:txBody>
      </p:sp>
      <p:sp>
        <p:nvSpPr>
          <p:cNvPr id="12" name="Shape 10"/>
          <p:cNvSpPr/>
          <p:nvPr/>
        </p:nvSpPr>
        <p:spPr>
          <a:xfrm>
            <a:off x="8158277" y="2286000"/>
            <a:ext cx="1582369" cy="1554480"/>
          </a:xfrm>
          <a:prstGeom prst="roundRect">
            <a:avLst>
              <a:gd name="adj" fmla="val 4706"/>
            </a:avLst>
          </a:prstGeom>
          <a:solidFill>
            <a:srgbClr val="FF5723"/>
          </a:solidFill>
          <a:ln w="12700">
            <a:solidFill>
              <a:srgbClr val="FF5723"/>
            </a:solidFill>
            <a:prstDash val="solid"/>
          </a:ln>
        </p:spPr>
      </p:sp>
      <p:sp>
        <p:nvSpPr>
          <p:cNvPr id="13" name="Text 11"/>
          <p:cNvSpPr txBox="1"/>
          <p:nvPr/>
        </p:nvSpPr>
        <p:spPr>
          <a:xfrm>
            <a:off x="8231429"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Controller</a:t>
            </a:r>
            <a:endParaRPr lang="en-US" sz="14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calls models &amp; services</a:t>
            </a:r>
            <a:endParaRPr lang="en-US" sz="1400" dirty="0"/>
          </a:p>
        </p:txBody>
      </p:sp>
      <p:sp>
        <p:nvSpPr>
          <p:cNvPr id="14" name="Shape 12"/>
          <p:cNvSpPr/>
          <p:nvPr/>
        </p:nvSpPr>
        <p:spPr>
          <a:xfrm>
            <a:off x="10060686"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10133838"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JSON response</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Resource → 200 OK</a:t>
            </a:r>
            <a:endParaRPr lang="en-US" sz="1400" dirty="0"/>
          </a:p>
        </p:txBody>
      </p:sp>
      <p:sp>
        <p:nvSpPr>
          <p:cNvPr id="16" name="Shape 14"/>
          <p:cNvSpPr/>
          <p:nvPr/>
        </p:nvSpPr>
        <p:spPr>
          <a:xfrm>
            <a:off x="2131009" y="3063240"/>
            <a:ext cx="320040" cy="914"/>
          </a:xfrm>
          <a:prstGeom prst="line">
            <a:avLst/>
          </a:prstGeom>
          <a:noFill/>
          <a:ln w="19050">
            <a:solidFill>
              <a:srgbClr val="3A3B3A"/>
            </a:solidFill>
            <a:prstDash val="solid"/>
            <a:tailEnd type="triangle"/>
          </a:ln>
        </p:spPr>
      </p:sp>
      <p:sp>
        <p:nvSpPr>
          <p:cNvPr id="17" name="Shape 15"/>
          <p:cNvSpPr/>
          <p:nvPr/>
        </p:nvSpPr>
        <p:spPr>
          <a:xfrm>
            <a:off x="4033418" y="3063240"/>
            <a:ext cx="320040" cy="914"/>
          </a:xfrm>
          <a:prstGeom prst="line">
            <a:avLst/>
          </a:prstGeom>
          <a:noFill/>
          <a:ln w="19050">
            <a:solidFill>
              <a:srgbClr val="3A3B3A"/>
            </a:solidFill>
            <a:prstDash val="solid"/>
            <a:tailEnd type="triangle"/>
          </a:ln>
        </p:spPr>
      </p:sp>
      <p:sp>
        <p:nvSpPr>
          <p:cNvPr id="18" name="Shape 16"/>
          <p:cNvSpPr/>
          <p:nvPr/>
        </p:nvSpPr>
        <p:spPr>
          <a:xfrm>
            <a:off x="5935828" y="3063240"/>
            <a:ext cx="320040" cy="914"/>
          </a:xfrm>
          <a:prstGeom prst="line">
            <a:avLst/>
          </a:prstGeom>
          <a:noFill/>
          <a:ln w="19050">
            <a:solidFill>
              <a:srgbClr val="3A3B3A"/>
            </a:solidFill>
            <a:prstDash val="solid"/>
            <a:tailEnd type="triangle"/>
          </a:ln>
        </p:spPr>
      </p:sp>
      <p:sp>
        <p:nvSpPr>
          <p:cNvPr id="19" name="Shape 17"/>
          <p:cNvSpPr/>
          <p:nvPr/>
        </p:nvSpPr>
        <p:spPr>
          <a:xfrm>
            <a:off x="7838237" y="3063240"/>
            <a:ext cx="320040" cy="914"/>
          </a:xfrm>
          <a:prstGeom prst="line">
            <a:avLst/>
          </a:prstGeom>
          <a:noFill/>
          <a:ln w="19050">
            <a:solidFill>
              <a:srgbClr val="3A3B3A"/>
            </a:solidFill>
            <a:prstDash val="solid"/>
            <a:tailEnd type="triangle"/>
          </a:ln>
        </p:spPr>
      </p:sp>
      <p:sp>
        <p:nvSpPr>
          <p:cNvPr id="20" name="Shape 18"/>
          <p:cNvSpPr/>
          <p:nvPr/>
        </p:nvSpPr>
        <p:spPr>
          <a:xfrm>
            <a:off x="9740646" y="3063240"/>
            <a:ext cx="320040" cy="914"/>
          </a:xfrm>
          <a:prstGeom prst="line">
            <a:avLst/>
          </a:prstGeom>
          <a:noFill/>
          <a:ln w="19050">
            <a:solidFill>
              <a:srgbClr val="3A3B3A"/>
            </a:solidFill>
            <a:prstDash val="solid"/>
            <a:tailEnd type="triangle"/>
          </a:ln>
        </p:spPr>
      </p:sp>
      <p:sp>
        <p:nvSpPr>
          <p:cNvPr id="21" name="Text 19"/>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Middleware runs </a:t>
            </a:r>
            <a:pPr indent="0" marL="0">
              <a:buNone/>
            </a:pPr>
            <a:r>
              <a:rPr lang="en-US" sz="1600" b="1" dirty="0">
                <a:solidFill>
                  <a:srgbClr val="272827"/>
                </a:solidFill>
                <a:latin typeface="Inter" pitchFamily="34" charset="0"/>
                <a:ea typeface="Inter" pitchFamily="34" charset="-122"/>
                <a:cs typeface="Inter" pitchFamily="34" charset="-120"/>
              </a:rPr>
              <a:t>before and after</a:t>
            </a:r>
            <a:pPr indent="0" marL="0">
              <a:buNone/>
            </a:pPr>
            <a:r>
              <a:rPr lang="en-US" sz="1600" dirty="0">
                <a:solidFill>
                  <a:srgbClr val="272827"/>
                </a:solidFill>
                <a:latin typeface="Inter" pitchFamily="34" charset="0"/>
                <a:ea typeface="Inter" pitchFamily="34" charset="-122"/>
                <a:cs typeface="Inter" pitchFamily="34" charset="-120"/>
              </a:rPr>
              <a:t> the controller: the place for auth, rate limits, request IDs</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Keep controllers thin: business rules live in </a:t>
            </a:r>
            <a:pPr indent="0" marL="0">
              <a:buNone/>
            </a:pPr>
            <a:r>
              <a:rPr lang="en-US" sz="1600" b="1" dirty="0">
                <a:solidFill>
                  <a:srgbClr val="272827"/>
                </a:solidFill>
                <a:latin typeface="Inter" pitchFamily="34" charset="0"/>
                <a:ea typeface="Inter" pitchFamily="34" charset="-122"/>
                <a:cs typeface="Inter" pitchFamily="34" charset="-120"/>
              </a:rPr>
              <a:t>services</a:t>
            </a:r>
            <a:pPr indent="0" marL="0">
              <a:buNone/>
            </a:pPr>
            <a:r>
              <a:rPr lang="en-US" sz="1600" dirty="0">
                <a:solidFill>
                  <a:srgbClr val="272827"/>
                </a:solidFill>
                <a:latin typeface="Inter" pitchFamily="34" charset="0"/>
                <a:ea typeface="Inter" pitchFamily="34" charset="-122"/>
                <a:cs typeface="Inter" pitchFamily="34" charset="-120"/>
              </a:rPr>
              <a:t>, </a:t>
            </a:r>
            <a:pPr indent="0" marL="0">
              <a:buNone/>
            </a:pPr>
            <a:r>
              <a:rPr lang="en-US" sz="1600" b="1" dirty="0">
                <a:solidFill>
                  <a:srgbClr val="272827"/>
                </a:solidFill>
                <a:latin typeface="Inter" pitchFamily="34" charset="0"/>
                <a:ea typeface="Inter" pitchFamily="34" charset="-122"/>
                <a:cs typeface="Inter" pitchFamily="34" charset="-120"/>
              </a:rPr>
              <a:t>enums</a:t>
            </a:r>
            <a:pPr indent="0" marL="0">
              <a:buNone/>
            </a:pPr>
            <a:r>
              <a:rPr lang="en-US" sz="1600" dirty="0">
                <a:solidFill>
                  <a:srgbClr val="272827"/>
                </a:solidFill>
                <a:latin typeface="Inter" pitchFamily="34" charset="0"/>
                <a:ea typeface="Inter" pitchFamily="34" charset="-122"/>
                <a:cs typeface="Inter" pitchFamily="34" charset="-120"/>
              </a:rPr>
              <a:t> and </a:t>
            </a:r>
            <a:pPr indent="0" marL="0">
              <a:buNone/>
            </a:pPr>
            <a:r>
              <a:rPr lang="en-US" sz="1600" b="1" dirty="0">
                <a:solidFill>
                  <a:srgbClr val="272827"/>
                </a:solidFill>
                <a:latin typeface="Inter" pitchFamily="34" charset="0"/>
                <a:ea typeface="Inter" pitchFamily="34" charset="-122"/>
                <a:cs typeface="Inter" pitchFamily="34" charset="-120"/>
              </a:rPr>
              <a:t>policies</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Your first route, end to end</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أول مسار من البداية إلى النهاية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routes/api.php · app/Http/Controllers/Api/CityController.php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i="1" dirty="0">
                <a:solidFill>
                  <a:srgbClr val="8B8F97"/>
                </a:solidFill>
                <a:latin typeface="JetBrains Mono" pitchFamily="34" charset="0"/>
                <a:ea typeface="JetBrains Mono" pitchFamily="34" charset="-122"/>
                <a:cs typeface="JetBrains Mono" pitchFamily="34" charset="-120"/>
              </a:rPr>
              <a:t>// routes/api.php</a:t>
            </a:r>
            <a:endParaRPr lang="en-US" sz="1200" dirty="0"/>
          </a:p>
          <a:p>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App</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Http</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Controllers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Api</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F2EDE6"/>
                </a:solidFill>
                <a:highlight>
                  <a:srgbClr val="4A3A33"/>
                </a:highlight>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'/cities'</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highlight>
                  <a:srgbClr val="4A3A33"/>
                </a:highlight>
                <a:latin typeface="JetBrains Mono" pitchFamily="34" charset="0"/>
                <a:ea typeface="JetBrains Mono" pitchFamily="34" charset="-122"/>
                <a:cs typeface="JetBrains Mono" pitchFamily="34" charset="-120"/>
              </a:rPr>
              <a:t>CityController</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b="1" dirty="0">
                <a:solidFill>
                  <a:srgbClr val="FF5723"/>
                </a:solidFill>
                <a:highlight>
                  <a:srgbClr val="4A3A33"/>
                </a:highlight>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'index'</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i="1" dirty="0">
                <a:solidFill>
                  <a:srgbClr val="8B8F97"/>
                </a:solidFill>
                <a:latin typeface="JetBrains Mono" pitchFamily="34" charset="0"/>
                <a:ea typeface="JetBrains Mono" pitchFamily="34" charset="-122"/>
                <a:cs typeface="JetBrains Mono" pitchFamily="34" charset="-120"/>
              </a:rPr>
              <a:t>// app/Http/Controllers/Api/CityController.php</a:t>
            </a:r>
            <a:endParaRPr lang="en-US" sz="1200" dirty="0"/>
          </a:p>
          <a:p>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extends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Controller</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index</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AnonymousResourceCollection</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CityResource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collection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orderBy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'name_en'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One line of routing, one controller method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An </a:t>
            </a:r>
            <a:pPr indent="0" marL="0">
              <a:buNone/>
            </a:pPr>
            <a:r>
              <a:rPr lang="en-US" sz="1500" b="1" dirty="0">
                <a:solidFill>
                  <a:srgbClr val="272827"/>
                </a:solidFill>
                <a:latin typeface="Inter" pitchFamily="34" charset="0"/>
                <a:ea typeface="Inter" pitchFamily="34" charset="-122"/>
                <a:cs typeface="Inter" pitchFamily="34" charset="-120"/>
              </a:rPr>
              <a:t>API Resource</a:t>
            </a:r>
            <a:pPr indent="0" marL="0">
              <a:buNone/>
            </a:pPr>
            <a:r>
              <a:rPr lang="en-US" sz="1500" dirty="0">
                <a:solidFill>
                  <a:srgbClr val="272827"/>
                </a:solidFill>
                <a:latin typeface="Inter" pitchFamily="34" charset="0"/>
                <a:ea typeface="Inter" pitchFamily="34" charset="-122"/>
                <a:cs typeface="Inter" pitchFamily="34" charset="-120"/>
              </a:rPr>
              <a:t> decides which fields go out as JSON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Preview of Day 2: this exact endpoint ships at </a:t>
            </a:r>
            <a:pPr indent="0" marL="0">
              <a:buNone/>
            </a:pPr>
            <a:r>
              <a:rPr lang="en-US" sz="1500" dirty="0">
                <a:solidFill>
                  <a:srgbClr val="C2410C"/>
                </a:solidFill>
                <a:latin typeface="JetBrains Mono" pitchFamily="34" charset="0"/>
                <a:ea typeface="JetBrains Mono" pitchFamily="34" charset="-122"/>
                <a:cs typeface="JetBrains Mono" pitchFamily="34" charset="-120"/>
              </a:rPr>
              <a:t>day2-end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Check it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artisan route:list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Scaffold Shahna</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الأول: تجهيز مشروع شحنة</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1 · PART 1</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Scaffold Shahna</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Get the project running, explore it with Claude Code, and agree a domain plan </a:t>
            </a:r>
            <a:pPr indent="0" marL="0">
              <a:buNone/>
            </a:pPr>
            <a:r>
              <a:rPr lang="en-US" sz="1400" b="1" dirty="0">
                <a:solidFill>
                  <a:srgbClr val="E8E2D9"/>
                </a:solidFill>
                <a:latin typeface="Inter" pitchFamily="34" charset="0"/>
                <a:ea typeface="Inter" pitchFamily="34" charset="-122"/>
                <a:cs typeface="Inter" pitchFamily="34" charset="-120"/>
              </a:rPr>
              <a:t>before</a:t>
            </a:r>
            <a:pPr indent="0" marL="0">
              <a:buNone/>
            </a:pPr>
            <a:r>
              <a:rPr lang="en-US" sz="1400" dirty="0">
                <a:solidFill>
                  <a:srgbClr val="E8E2D9"/>
                </a:solidFill>
                <a:latin typeface="Inter" pitchFamily="34" charset="0"/>
                <a:ea typeface="Inter" pitchFamily="34" charset="-122"/>
                <a:cs typeface="Inter" pitchFamily="34" charset="-120"/>
              </a:rPr>
              <a:t> generating any code.</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11:00–12:30</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labs/lab1.md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day1-end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git checkout day1-start</a:t>
            </a:r>
            <a:pPr indent="0" marL="0">
              <a:buNone/>
            </a:pPr>
            <a:r>
              <a:rPr lang="en-US" sz="1500" dirty="0">
                <a:solidFill>
                  <a:srgbClr val="272827"/>
                </a:solidFill>
                <a:latin typeface="Inter" pitchFamily="34" charset="0"/>
                <a:ea typeface="Inter" pitchFamily="34" charset="-122"/>
                <a:cs typeface="Inter" pitchFamily="34" charset="-120"/>
              </a:rPr>
              <a:t> then </a:t>
            </a:r>
            <a:pPr indent="0" marL="0">
              <a:buNone/>
            </a:pPr>
            <a:r>
              <a:rPr lang="en-US" sz="1500" dirty="0">
                <a:solidFill>
                  <a:srgbClr val="C2410C"/>
                </a:solidFill>
                <a:latin typeface="JetBrains Mono" pitchFamily="34" charset="0"/>
                <a:ea typeface="JetBrains Mono" pitchFamily="34" charset="-122"/>
                <a:cs typeface="JetBrains Mono" pitchFamily="34" charset="-120"/>
              </a:rPr>
              <a:t>./vendor/bin/sail up -d</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Run </a:t>
            </a:r>
            <a:pPr indent="0" marL="0">
              <a:buNone/>
            </a:pPr>
            <a:r>
              <a:rPr lang="en-US" sz="1500" dirty="0">
                <a:solidFill>
                  <a:srgbClr val="C2410C"/>
                </a:solidFill>
                <a:latin typeface="JetBrains Mono" pitchFamily="34" charset="0"/>
                <a:ea typeface="JetBrains Mono" pitchFamily="34" charset="-122"/>
                <a:cs typeface="JetBrains Mono" pitchFamily="34" charset="-120"/>
              </a:rPr>
              <a:t>sail artisan test</a:t>
            </a:r>
            <a:pPr indent="0" marL="0">
              <a:buNone/>
            </a:pPr>
            <a:r>
              <a:rPr lang="en-US" sz="1500" dirty="0">
                <a:solidFill>
                  <a:srgbClr val="272827"/>
                </a:solidFill>
                <a:latin typeface="Inter" pitchFamily="34" charset="0"/>
                <a:ea typeface="Inter" pitchFamily="34" charset="-122"/>
                <a:cs typeface="Inter" pitchFamily="34" charset="-120"/>
              </a:rPr>
              <a:t>: 2 tests, green baseline</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Start </a:t>
            </a:r>
            <a:pPr indent="0" marL="0">
              <a:buNone/>
            </a:pPr>
            <a:r>
              <a:rPr lang="en-US" sz="1500" dirty="0">
                <a:solidFill>
                  <a:srgbClr val="C2410C"/>
                </a:solidFill>
                <a:latin typeface="JetBrains Mono" pitchFamily="34" charset="0"/>
                <a:ea typeface="JetBrains Mono" pitchFamily="34" charset="-122"/>
                <a:cs typeface="JetBrains Mono" pitchFamily="34" charset="-120"/>
              </a:rPr>
              <a:t>claude</a:t>
            </a:r>
            <a:pPr indent="0" marL="0">
              <a:buNone/>
            </a:pPr>
            <a:r>
              <a:rPr lang="en-US" sz="1500" dirty="0">
                <a:solidFill>
                  <a:srgbClr val="272827"/>
                </a:solidFill>
                <a:latin typeface="Inter" pitchFamily="34" charset="0"/>
                <a:ea typeface="Inter" pitchFamily="34" charset="-122"/>
                <a:cs typeface="Inter" pitchFamily="34" charset="-120"/>
              </a:rPr>
              <a:t> in plan mode and run the explore prompt</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Ask the agent to draft </a:t>
            </a:r>
            <a:pPr indent="0" marL="0">
              <a:buNone/>
            </a:pPr>
            <a:r>
              <a:rPr lang="en-US" sz="1500" dirty="0">
                <a:solidFill>
                  <a:srgbClr val="C2410C"/>
                </a:solidFill>
                <a:latin typeface="JetBrains Mono" pitchFamily="34" charset="0"/>
                <a:ea typeface="JetBrains Mono" pitchFamily="34" charset="-122"/>
                <a:cs typeface="JetBrains Mono" pitchFamily="34" charset="-120"/>
              </a:rPr>
              <a:t>docs/plans/day1-domain.md</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Review the plan with your pair: fields, types, keys, enums</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Commit the plan. No models or migrations yet</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the plan lists every table (plus </a:t>
            </a:r>
            <a:pPr indent="0" marL="0">
              <a:buNone/>
            </a:pPr>
            <a:r>
              <a:rPr lang="en-US" sz="1400" dirty="0">
                <a:solidFill>
                  <a:srgbClr val="C2410C"/>
                </a:solidFill>
                <a:latin typeface="JetBrains Mono" pitchFamily="34" charset="0"/>
                <a:ea typeface="JetBrains Mono" pitchFamily="34" charset="-122"/>
                <a:cs typeface="JetBrains Mono" pitchFamily="34" charset="-120"/>
              </a:rPr>
              <a:t>role</a:t>
            </a:r>
            <a:pPr indent="0" marL="0">
              <a:buNone/>
            </a:pPr>
            <a:r>
              <a:rPr lang="en-US" sz="1400" dirty="0">
                <a:solidFill>
                  <a:srgbClr val="272827"/>
                </a:solidFill>
                <a:latin typeface="Inter" pitchFamily="34" charset="0"/>
                <a:ea typeface="Inter" pitchFamily="34" charset="-122"/>
                <a:cs typeface="Inter" pitchFamily="34" charset="-120"/>
              </a:rPr>
              <a:t> on users) with column types, foreign keys and the </a:t>
            </a:r>
            <a:pPr indent="0" marL="0">
              <a:buNone/>
            </a:pPr>
            <a:r>
              <a:rPr lang="en-US" sz="1400" dirty="0">
                <a:solidFill>
                  <a:srgbClr val="C2410C"/>
                </a:solidFill>
                <a:latin typeface="JetBrains Mono" pitchFamily="34" charset="0"/>
                <a:ea typeface="JetBrains Mono" pitchFamily="34" charset="-122"/>
                <a:cs typeface="JetBrains Mono" pitchFamily="34" charset="-120"/>
              </a:rPr>
              <a:t>ShipmentStatus</a:t>
            </a:r>
            <a:pPr indent="0" marL="0">
              <a:buNone/>
            </a:pPr>
            <a:r>
              <a:rPr lang="en-US" sz="1400" dirty="0">
                <a:solidFill>
                  <a:srgbClr val="272827"/>
                </a:solidFill>
                <a:latin typeface="Inter" pitchFamily="34" charset="0"/>
                <a:ea typeface="Inter" pitchFamily="34" charset="-122"/>
                <a:cs typeface="Inter" pitchFamily="34" charset="-120"/>
              </a:rPr>
              <a:t> transitions, and your pair has signed off.</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B · 13:30–14:15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Spec first,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then</a:t>
            </a:r>
            <a:pPr indent="0" marL="0">
              <a:buNone/>
            </a:pPr>
            <a:r>
              <a:rPr lang="en-US" sz="4600" b="1" dirty="0">
                <a:solidFill>
                  <a:srgbClr val="FFFFFF"/>
                </a:solidFill>
                <a:latin typeface="Playfair Display" pitchFamily="34" charset="0"/>
                <a:ea typeface="Playfair Display" pitchFamily="34" charset="-122"/>
                <a:cs typeface="Playfair Display" pitchFamily="34" charset="-120"/>
              </a:rPr>
              <a:t> code</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المواصفات أولاً ثم الكود</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Explore → Plan → Implement → Verify   ·   Plan files   ·   Eloquent models   ·   Migrations &amp; enums   ·   Reviewing a diff   ·   When not to use the agent</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02</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Explore → Plan → Implement → Verify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استكشف ثم خطط ثم نفذ ثم تحقق</a:t>
            </a:r>
            <a:endParaRPr lang="ar-LY" sz="1700" dirty="0"/>
          </a:p>
        </p:txBody>
      </p:sp>
      <p:sp>
        <p:nvSpPr>
          <p:cNvPr id="4" name="Shape 2"/>
          <p:cNvSpPr/>
          <p:nvPr/>
        </p:nvSpPr>
        <p:spPr>
          <a:xfrm>
            <a:off x="548640" y="210312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Explore</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read code, docs, brief</a:t>
            </a:r>
            <a:endParaRPr lang="en-US" sz="1600" dirty="0"/>
          </a:p>
        </p:txBody>
      </p:sp>
      <p:sp>
        <p:nvSpPr>
          <p:cNvPr id="6" name="Shape 4"/>
          <p:cNvSpPr/>
          <p:nvPr/>
        </p:nvSpPr>
        <p:spPr>
          <a:xfrm>
            <a:off x="3436544" y="2103120"/>
            <a:ext cx="2430704" cy="1554480"/>
          </a:xfrm>
          <a:prstGeom prst="roundRect">
            <a:avLst>
              <a:gd name="adj" fmla="val 4706"/>
            </a:avLst>
          </a:prstGeom>
          <a:solidFill>
            <a:srgbClr val="FF5723"/>
          </a:solidFill>
          <a:ln w="12700">
            <a:solidFill>
              <a:srgbClr val="FF5723"/>
            </a:solidFill>
            <a:prstDash val="solid"/>
          </a:ln>
        </p:spPr>
      </p:sp>
      <p:sp>
        <p:nvSpPr>
          <p:cNvPr id="7" name="Text 5"/>
          <p:cNvSpPr txBox="1"/>
          <p:nvPr/>
        </p:nvSpPr>
        <p:spPr>
          <a:xfrm>
            <a:off x="3509696"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Plan</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write docs/plans/*.md</a:t>
            </a:r>
            <a:endParaRPr lang="en-US" sz="1600" dirty="0"/>
          </a:p>
        </p:txBody>
      </p:sp>
      <p:sp>
        <p:nvSpPr>
          <p:cNvPr id="8" name="Shape 6"/>
          <p:cNvSpPr/>
          <p:nvPr/>
        </p:nvSpPr>
        <p:spPr>
          <a:xfrm>
            <a:off x="6324448" y="210312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397600"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Implement</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small slice, one concern</a:t>
            </a:r>
            <a:endParaRPr lang="en-US" sz="1600" dirty="0"/>
          </a:p>
        </p:txBody>
      </p:sp>
      <p:sp>
        <p:nvSpPr>
          <p:cNvPr id="10" name="Shape 8"/>
          <p:cNvSpPr/>
          <p:nvPr/>
        </p:nvSpPr>
        <p:spPr>
          <a:xfrm>
            <a:off x="9212351" y="210312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9285503"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Verify</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tests, diff, run it</a:t>
            </a:r>
            <a:endParaRPr lang="en-US" sz="1600" dirty="0"/>
          </a:p>
        </p:txBody>
      </p:sp>
      <p:sp>
        <p:nvSpPr>
          <p:cNvPr id="12" name="Shape 10"/>
          <p:cNvSpPr/>
          <p:nvPr/>
        </p:nvSpPr>
        <p:spPr>
          <a:xfrm>
            <a:off x="2979344" y="2880360"/>
            <a:ext cx="457200" cy="914"/>
          </a:xfrm>
          <a:prstGeom prst="line">
            <a:avLst/>
          </a:prstGeom>
          <a:noFill/>
          <a:ln w="19050">
            <a:solidFill>
              <a:srgbClr val="3A3B3A"/>
            </a:solidFill>
            <a:prstDash val="solid"/>
            <a:tailEnd type="triangle"/>
          </a:ln>
        </p:spPr>
      </p:sp>
      <p:sp>
        <p:nvSpPr>
          <p:cNvPr id="13" name="Shape 11"/>
          <p:cNvSpPr/>
          <p:nvPr/>
        </p:nvSpPr>
        <p:spPr>
          <a:xfrm>
            <a:off x="5867248" y="2880360"/>
            <a:ext cx="457200" cy="914"/>
          </a:xfrm>
          <a:prstGeom prst="line">
            <a:avLst/>
          </a:prstGeom>
          <a:noFill/>
          <a:ln w="19050">
            <a:solidFill>
              <a:srgbClr val="3A3B3A"/>
            </a:solidFill>
            <a:prstDash val="solid"/>
            <a:tailEnd type="triangle"/>
          </a:ln>
        </p:spPr>
      </p:sp>
      <p:sp>
        <p:nvSpPr>
          <p:cNvPr id="14" name="Shape 12"/>
          <p:cNvSpPr/>
          <p:nvPr/>
        </p:nvSpPr>
        <p:spPr>
          <a:xfrm>
            <a:off x="8755151" y="2880360"/>
            <a:ext cx="457200" cy="914"/>
          </a:xfrm>
          <a:prstGeom prst="line">
            <a:avLst/>
          </a:prstGeom>
          <a:noFill/>
          <a:ln w="19050">
            <a:solidFill>
              <a:srgbClr val="3A3B3A"/>
            </a:solidFill>
            <a:prstDash val="solid"/>
            <a:tailEnd type="triangle"/>
          </a:ln>
        </p:spPr>
      </p:sp>
      <p:sp>
        <p:nvSpPr>
          <p:cNvPr id="15" name="Shape 13"/>
          <p:cNvSpPr/>
          <p:nvPr/>
        </p:nvSpPr>
        <p:spPr>
          <a:xfrm>
            <a:off x="10427703" y="3657600"/>
            <a:ext cx="914" cy="411480"/>
          </a:xfrm>
          <a:prstGeom prst="line">
            <a:avLst/>
          </a:prstGeom>
          <a:noFill/>
          <a:ln w="25400">
            <a:solidFill>
              <a:srgbClr val="FF5723"/>
            </a:solidFill>
            <a:prstDash val="solid"/>
          </a:ln>
        </p:spPr>
      </p:sp>
      <p:sp>
        <p:nvSpPr>
          <p:cNvPr id="16" name="Shape 14"/>
          <p:cNvSpPr/>
          <p:nvPr/>
        </p:nvSpPr>
        <p:spPr>
          <a:xfrm flipH="1">
            <a:off x="1763992" y="4069080"/>
            <a:ext cx="8663711" cy="914"/>
          </a:xfrm>
          <a:prstGeom prst="line">
            <a:avLst/>
          </a:prstGeom>
          <a:noFill/>
          <a:ln w="25400">
            <a:solidFill>
              <a:srgbClr val="FF5723"/>
            </a:solidFill>
            <a:prstDash val="solid"/>
          </a:ln>
        </p:spPr>
      </p:sp>
      <p:sp>
        <p:nvSpPr>
          <p:cNvPr id="17" name="Shape 15"/>
          <p:cNvSpPr/>
          <p:nvPr/>
        </p:nvSpPr>
        <p:spPr>
          <a:xfrm flipV="1">
            <a:off x="1763992" y="3657600"/>
            <a:ext cx="914" cy="411480"/>
          </a:xfrm>
          <a:prstGeom prst="line">
            <a:avLst/>
          </a:prstGeom>
          <a:noFill/>
          <a:ln w="25400">
            <a:solidFill>
              <a:srgbClr val="FF5723"/>
            </a:solidFill>
            <a:prstDash val="solid"/>
            <a:tailEnd type="triangle"/>
          </a:ln>
        </p:spPr>
      </p:sp>
      <p:sp>
        <p:nvSpPr>
          <p:cNvPr id="18" name="Text 16"/>
          <p:cNvSpPr txBox="1"/>
          <p:nvPr/>
        </p:nvSpPr>
        <p:spPr>
          <a:xfrm>
            <a:off x="2038312" y="4142232"/>
            <a:ext cx="8115071" cy="320040"/>
          </a:xfrm>
          <a:prstGeom prst="rect">
            <a:avLst/>
          </a:prstGeom>
          <a:noFill/>
          <a:ln/>
        </p:spPr>
        <p:txBody>
          <a:bodyPr wrap="square" lIns="0" tIns="0" rIns="0" bIns="0" rtlCol="0" anchor="ctr"/>
          <a:lstStyle/>
          <a:p>
            <a:pPr algn="ctr" indent="0" marL="0">
              <a:buNone/>
            </a:pPr>
            <a:r>
              <a:rPr lang="en-US" sz="1300" i="1" dirty="0">
                <a:solidFill>
                  <a:srgbClr val="FF5723"/>
                </a:solidFill>
                <a:latin typeface="Inter" pitchFamily="34" charset="0"/>
                <a:ea typeface="Inter" pitchFamily="34" charset="-122"/>
                <a:cs typeface="Inter" pitchFamily="34" charset="-120"/>
              </a:rPr>
              <a:t>next slice: repeat the loop</a:t>
            </a:r>
            <a:endParaRPr lang="en-US" sz="1300" dirty="0"/>
          </a:p>
        </p:txBody>
      </p:sp>
      <p:sp>
        <p:nvSpPr>
          <p:cNvPr id="19" name="Text 17"/>
          <p:cNvSpPr txBox="1"/>
          <p:nvPr/>
        </p:nvSpPr>
        <p:spPr>
          <a:xfrm>
            <a:off x="548640" y="461772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Most bad AI code comes from </a:t>
            </a:r>
            <a:pPr indent="0" marL="0">
              <a:buNone/>
            </a:pPr>
            <a:r>
              <a:rPr lang="en-US" sz="1600" b="1" dirty="0">
                <a:solidFill>
                  <a:srgbClr val="272827"/>
                </a:solidFill>
                <a:latin typeface="Inter" pitchFamily="34" charset="0"/>
                <a:ea typeface="Inter" pitchFamily="34" charset="-122"/>
                <a:cs typeface="Inter" pitchFamily="34" charset="-120"/>
              </a:rPr>
              <a:t>skipping Plan</a:t>
            </a:r>
            <a:pPr indent="0" marL="0">
              <a:buNone/>
            </a:pPr>
            <a:r>
              <a:rPr lang="en-US" sz="1600" dirty="0">
                <a:solidFill>
                  <a:srgbClr val="272827"/>
                </a:solidFill>
                <a:latin typeface="Inter" pitchFamily="34" charset="0"/>
                <a:ea typeface="Inter" pitchFamily="34" charset="-122"/>
                <a:cs typeface="Inter" pitchFamily="34" charset="-120"/>
              </a:rPr>
              <a:t>. A plan is cheap to fix; a 20-file diff is not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 plan file the agent can follow</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ملف خطة يمكن للوكيل اتباعه</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docs/plans/day1-domain.md</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Plan: Day 1 — Shahna domain model</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Goal</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Database schema, Eloquent models, enums, factories and seed</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data for the booking domain. No HTTP endpoints yet.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Enums: UserRole, VehicleType, VehicleStatus, ShipmentStatus</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Tables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cities: name_en, name_ar, code char(3) unique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city_distances: from, to, km · unique (from, to)</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shipments: reference unique, QUOTE_ID UNIQUE, price decimal(10,2)</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Decisions</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Money is decimal(10,2), cast decimal:2, never float.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role is NOT mass assignable: register cannot make itself admin.</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b="1" dirty="0">
                <a:solidFill>
                  <a:srgbClr val="FF5723"/>
                </a:solidFill>
                <a:latin typeface="JetBrains Mono" pitchFamily="34" charset="0"/>
                <a:ea typeface="JetBrains Mono" pitchFamily="34" charset="-122"/>
                <a:cs typeface="JetBrains Mono" pitchFamily="34" charset="-120"/>
              </a:rPr>
              <a:t>## Out of scope today</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Endpoints, pricing, authentication (Day 2).</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 </a:t>
            </a:r>
            <a:pPr indent="0" marL="0">
              <a:buNone/>
            </a:pPr>
            <a:r>
              <a:rPr lang="en-US" sz="1500" b="1" dirty="0">
                <a:solidFill>
                  <a:srgbClr val="272827"/>
                </a:solidFill>
                <a:latin typeface="Inter" pitchFamily="34" charset="0"/>
                <a:ea typeface="Inter" pitchFamily="34" charset="-122"/>
                <a:cs typeface="Inter" pitchFamily="34" charset="-120"/>
              </a:rPr>
              <a:t>goal</a:t>
            </a:r>
            <a:pPr indent="0" marL="0">
              <a:buNone/>
            </a:pPr>
            <a:r>
              <a:rPr lang="en-US" sz="1500" dirty="0">
                <a:solidFill>
                  <a:srgbClr val="272827"/>
                </a:solidFill>
                <a:latin typeface="Inter" pitchFamily="34" charset="0"/>
                <a:ea typeface="Inter" pitchFamily="34" charset="-122"/>
                <a:cs typeface="Inter" pitchFamily="34" charset="-120"/>
              </a:rPr>
              <a:t>, the </a:t>
            </a:r>
            <a:pPr indent="0" marL="0">
              <a:buNone/>
            </a:pPr>
            <a:r>
              <a:rPr lang="en-US" sz="1500" b="1" dirty="0">
                <a:solidFill>
                  <a:srgbClr val="272827"/>
                </a:solidFill>
                <a:latin typeface="Inter" pitchFamily="34" charset="0"/>
                <a:ea typeface="Inter" pitchFamily="34" charset="-122"/>
                <a:cs typeface="Inter" pitchFamily="34" charset="-120"/>
              </a:rPr>
              <a:t>data</a:t>
            </a:r>
            <a:pPr indent="0" marL="0">
              <a:buNone/>
            </a:pPr>
            <a:r>
              <a:rPr lang="en-US" sz="1500" dirty="0">
                <a:solidFill>
                  <a:srgbClr val="272827"/>
                </a:solidFill>
                <a:latin typeface="Inter" pitchFamily="34" charset="0"/>
                <a:ea typeface="Inter" pitchFamily="34" charset="-122"/>
                <a:cs typeface="Inter" pitchFamily="34" charset="-120"/>
              </a:rPr>
              <a:t>, the </a:t>
            </a:r>
            <a:pPr indent="0" marL="0">
              <a:buNone/>
            </a:pPr>
            <a:r>
              <a:rPr lang="en-US" sz="1500" b="1" dirty="0">
                <a:solidFill>
                  <a:srgbClr val="272827"/>
                </a:solidFill>
                <a:latin typeface="Inter" pitchFamily="34" charset="0"/>
                <a:ea typeface="Inter" pitchFamily="34" charset="-122"/>
                <a:cs typeface="Inter" pitchFamily="34" charset="-120"/>
              </a:rPr>
              <a:t>decisions</a:t>
            </a:r>
            <a:pPr indent="0" marL="0">
              <a:buNone/>
            </a:pPr>
            <a:r>
              <a:rPr lang="en-US" sz="1500" dirty="0">
                <a:solidFill>
                  <a:srgbClr val="272827"/>
                </a:solidFill>
                <a:latin typeface="Inter" pitchFamily="34" charset="0"/>
                <a:ea typeface="Inter" pitchFamily="34" charset="-122"/>
                <a:cs typeface="Inter" pitchFamily="34" charset="-120"/>
              </a:rPr>
              <a:t>, the </a:t>
            </a:r>
            <a:pPr indent="0" marL="0">
              <a:buNone/>
            </a:pPr>
            <a:r>
              <a:rPr lang="en-US" sz="1500" b="1" dirty="0">
                <a:solidFill>
                  <a:srgbClr val="272827"/>
                </a:solidFill>
                <a:latin typeface="Inter" pitchFamily="34" charset="0"/>
                <a:ea typeface="Inter" pitchFamily="34" charset="-122"/>
                <a:cs typeface="Inter" pitchFamily="34" charset="-120"/>
              </a:rPr>
              <a:t>scope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Every table and decision is reviewable in minutes</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Out of scope</a:t>
            </a:r>
            <a:pPr indent="0" marL="0">
              <a:buNone/>
            </a:pPr>
            <a:r>
              <a:rPr lang="en-US" sz="1500" dirty="0">
                <a:solidFill>
                  <a:srgbClr val="272827"/>
                </a:solidFill>
                <a:latin typeface="Inter" pitchFamily="34" charset="0"/>
                <a:ea typeface="Inter" pitchFamily="34" charset="-122"/>
                <a:cs typeface="Inter" pitchFamily="34" charset="-120"/>
              </a:rPr>
              <a:t> stops over-scaffolding</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You edit the plan, then say: implement the enums only</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Shahna domain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نموذج بيانات شحنة</a:t>
            </a:r>
            <a:endParaRPr lang="ar-LY" sz="1700" dirty="0"/>
          </a:p>
        </p:txBody>
      </p:sp>
      <p:sp>
        <p:nvSpPr>
          <p:cNvPr id="4" name="Shape 2"/>
          <p:cNvSpPr/>
          <p:nvPr/>
        </p:nvSpPr>
        <p:spPr>
          <a:xfrm>
            <a:off x="548640" y="1920240"/>
            <a:ext cx="2011680" cy="914400"/>
          </a:xfrm>
          <a:prstGeom prst="roundRect">
            <a:avLst>
              <a:gd name="adj" fmla="val 80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1956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User</a:t>
            </a:r>
            <a:endParaRPr lang="en-US" sz="1500" dirty="0"/>
          </a:p>
          <a:p>
            <a:pPr algn="ctr" indent="0" marL="0">
              <a:spcAft>
                <a:spcPts val="200"/>
              </a:spcAft>
              <a:buNone/>
            </a:pPr>
            <a:r>
              <a:rPr lang="en-US" sz="1000" dirty="0">
                <a:solidFill>
                  <a:srgbClr val="6B7280"/>
                </a:solidFill>
                <a:latin typeface="Inter" pitchFamily="34" charset="0"/>
                <a:ea typeface="Inter" pitchFamily="34" charset="-122"/>
                <a:cs typeface="Inter" pitchFamily="34" charset="-120"/>
              </a:rPr>
              <a:t>role: customer|dispatcher|admin</a:t>
            </a:r>
            <a:endParaRPr lang="en-US" sz="1500" dirty="0"/>
          </a:p>
        </p:txBody>
      </p:sp>
      <p:sp>
        <p:nvSpPr>
          <p:cNvPr id="6" name="Shape 4"/>
          <p:cNvSpPr/>
          <p:nvPr/>
        </p:nvSpPr>
        <p:spPr>
          <a:xfrm>
            <a:off x="3566160" y="1920240"/>
            <a:ext cx="2011680" cy="914400"/>
          </a:xfrm>
          <a:prstGeom prst="roundRect">
            <a:avLst>
              <a:gd name="adj" fmla="val 8000"/>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639312" y="1956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Quote</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price_lyd · expires 15 min</a:t>
            </a:r>
            <a:endParaRPr lang="en-US" sz="1500" dirty="0"/>
          </a:p>
        </p:txBody>
      </p:sp>
      <p:sp>
        <p:nvSpPr>
          <p:cNvPr id="8" name="Shape 6"/>
          <p:cNvSpPr/>
          <p:nvPr/>
        </p:nvSpPr>
        <p:spPr>
          <a:xfrm>
            <a:off x="6583680" y="1920240"/>
            <a:ext cx="2011680" cy="914400"/>
          </a:xfrm>
          <a:prstGeom prst="roundRect">
            <a:avLst>
              <a:gd name="adj" fmla="val 8000"/>
            </a:avLst>
          </a:prstGeom>
          <a:solidFill>
            <a:srgbClr val="FF5723"/>
          </a:solidFill>
          <a:ln w="12700">
            <a:solidFill>
              <a:srgbClr val="FF5723"/>
            </a:solidFill>
            <a:prstDash val="solid"/>
          </a:ln>
        </p:spPr>
      </p:sp>
      <p:sp>
        <p:nvSpPr>
          <p:cNvPr id="9" name="Text 7"/>
          <p:cNvSpPr txBox="1"/>
          <p:nvPr/>
        </p:nvSpPr>
        <p:spPr>
          <a:xfrm>
            <a:off x="6656832" y="1956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Shipment</a:t>
            </a:r>
            <a:endParaRPr lang="en-US" sz="15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SHN-XXXXXX · status</a:t>
            </a:r>
            <a:endParaRPr lang="en-US" sz="1500" dirty="0"/>
          </a:p>
        </p:txBody>
      </p:sp>
      <p:sp>
        <p:nvSpPr>
          <p:cNvPr id="10" name="Shape 8"/>
          <p:cNvSpPr/>
          <p:nvPr/>
        </p:nvSpPr>
        <p:spPr>
          <a:xfrm>
            <a:off x="9628632" y="1920240"/>
            <a:ext cx="2011680" cy="914400"/>
          </a:xfrm>
          <a:prstGeom prst="roundRect">
            <a:avLst>
              <a:gd name="adj" fmla="val 8000"/>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9701784" y="1956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ShipmentEvent</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status · note · time</a:t>
            </a:r>
            <a:endParaRPr lang="en-US" sz="1500" dirty="0"/>
          </a:p>
        </p:txBody>
      </p:sp>
      <p:sp>
        <p:nvSpPr>
          <p:cNvPr id="12" name="Shape 10"/>
          <p:cNvSpPr/>
          <p:nvPr/>
        </p:nvSpPr>
        <p:spPr>
          <a:xfrm>
            <a:off x="548640" y="4206240"/>
            <a:ext cx="2011680" cy="914400"/>
          </a:xfrm>
          <a:prstGeom prst="roundRect">
            <a:avLst>
              <a:gd name="adj" fmla="val 8000"/>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21792" y="4242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City</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TIP BEN MRA SEB …</a:t>
            </a:r>
            <a:endParaRPr lang="en-US" sz="1500" dirty="0"/>
          </a:p>
        </p:txBody>
      </p:sp>
      <p:sp>
        <p:nvSpPr>
          <p:cNvPr id="14" name="Shape 12"/>
          <p:cNvSpPr/>
          <p:nvPr/>
        </p:nvSpPr>
        <p:spPr>
          <a:xfrm>
            <a:off x="3566160" y="4206240"/>
            <a:ext cx="2011680" cy="914400"/>
          </a:xfrm>
          <a:prstGeom prst="roundRect">
            <a:avLst>
              <a:gd name="adj" fmla="val 8000"/>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3639312" y="4242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CityDistance</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from · to · km</a:t>
            </a:r>
            <a:endParaRPr lang="en-US" sz="1500" dirty="0"/>
          </a:p>
        </p:txBody>
      </p:sp>
      <p:sp>
        <p:nvSpPr>
          <p:cNvPr id="16" name="Shape 14"/>
          <p:cNvSpPr/>
          <p:nvPr/>
        </p:nvSpPr>
        <p:spPr>
          <a:xfrm>
            <a:off x="6583680" y="4206240"/>
            <a:ext cx="2011680" cy="914400"/>
          </a:xfrm>
          <a:prstGeom prst="roundRect">
            <a:avLst>
              <a:gd name="adj" fmla="val 8000"/>
            </a:avLst>
          </a:prstGeom>
          <a:solidFill>
            <a:srgbClr val="272827"/>
          </a:solidFill>
          <a:ln w="12700">
            <a:solidFill>
              <a:srgbClr val="272827"/>
            </a:solidFill>
            <a:prstDash val="solid"/>
          </a:ln>
        </p:spPr>
      </p:sp>
      <p:sp>
        <p:nvSpPr>
          <p:cNvPr id="17" name="Text 15"/>
          <p:cNvSpPr txBox="1"/>
          <p:nvPr/>
        </p:nvSpPr>
        <p:spPr>
          <a:xfrm>
            <a:off x="6656832" y="4242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Vehicle</a:t>
            </a:r>
            <a:endParaRPr lang="en-US" sz="15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type · capacity · status</a:t>
            </a:r>
            <a:endParaRPr lang="en-US" sz="1500" dirty="0"/>
          </a:p>
        </p:txBody>
      </p:sp>
      <p:sp>
        <p:nvSpPr>
          <p:cNvPr id="18" name="Shape 16"/>
          <p:cNvSpPr/>
          <p:nvPr/>
        </p:nvSpPr>
        <p:spPr>
          <a:xfrm>
            <a:off x="9628632" y="4206240"/>
            <a:ext cx="2011680" cy="914400"/>
          </a:xfrm>
          <a:prstGeom prst="roundRect">
            <a:avLst>
              <a:gd name="adj" fmla="val 8000"/>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9701784" y="4242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Carrier</a:t>
            </a:r>
            <a:endParaRPr lang="en-US" sz="15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name · phone</a:t>
            </a:r>
            <a:endParaRPr lang="en-US" sz="1500" dirty="0"/>
          </a:p>
        </p:txBody>
      </p:sp>
      <p:sp>
        <p:nvSpPr>
          <p:cNvPr id="20" name="Shape 18"/>
          <p:cNvSpPr/>
          <p:nvPr/>
        </p:nvSpPr>
        <p:spPr>
          <a:xfrm>
            <a:off x="2560320" y="2377440"/>
            <a:ext cx="1005840" cy="914"/>
          </a:xfrm>
          <a:prstGeom prst="line">
            <a:avLst/>
          </a:prstGeom>
          <a:noFill/>
          <a:ln w="19050">
            <a:solidFill>
              <a:srgbClr val="3A3B3A"/>
            </a:solidFill>
            <a:prstDash val="solid"/>
            <a:tailEnd type="triangle"/>
          </a:ln>
        </p:spPr>
      </p:sp>
      <p:sp>
        <p:nvSpPr>
          <p:cNvPr id="21" name="Text 19"/>
          <p:cNvSpPr txBox="1"/>
          <p:nvPr/>
        </p:nvSpPr>
        <p:spPr>
          <a:xfrm>
            <a:off x="1874520" y="20665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has many</a:t>
            </a:r>
            <a:endParaRPr lang="en-US" sz="1100" dirty="0"/>
          </a:p>
        </p:txBody>
      </p:sp>
      <p:sp>
        <p:nvSpPr>
          <p:cNvPr id="22" name="Shape 20"/>
          <p:cNvSpPr/>
          <p:nvPr/>
        </p:nvSpPr>
        <p:spPr>
          <a:xfrm>
            <a:off x="5577840" y="2377440"/>
            <a:ext cx="1005840" cy="914"/>
          </a:xfrm>
          <a:prstGeom prst="line">
            <a:avLst/>
          </a:prstGeom>
          <a:noFill/>
          <a:ln w="19050">
            <a:solidFill>
              <a:srgbClr val="3A3B3A"/>
            </a:solidFill>
            <a:prstDash val="solid"/>
            <a:tailEnd type="triangle"/>
          </a:ln>
        </p:spPr>
      </p:sp>
      <p:sp>
        <p:nvSpPr>
          <p:cNvPr id="23" name="Text 21"/>
          <p:cNvSpPr txBox="1"/>
          <p:nvPr/>
        </p:nvSpPr>
        <p:spPr>
          <a:xfrm>
            <a:off x="4892040" y="20665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1 : 1</a:t>
            </a:r>
            <a:endParaRPr lang="en-US" sz="1100" dirty="0"/>
          </a:p>
        </p:txBody>
      </p:sp>
      <p:sp>
        <p:nvSpPr>
          <p:cNvPr id="24" name="Shape 22"/>
          <p:cNvSpPr/>
          <p:nvPr/>
        </p:nvSpPr>
        <p:spPr>
          <a:xfrm>
            <a:off x="8595360" y="2377440"/>
            <a:ext cx="1033272" cy="914"/>
          </a:xfrm>
          <a:prstGeom prst="line">
            <a:avLst/>
          </a:prstGeom>
          <a:noFill/>
          <a:ln w="19050">
            <a:solidFill>
              <a:srgbClr val="3A3B3A"/>
            </a:solidFill>
            <a:prstDash val="solid"/>
            <a:tailEnd type="triangle"/>
          </a:ln>
        </p:spPr>
      </p:sp>
      <p:sp>
        <p:nvSpPr>
          <p:cNvPr id="25" name="Text 23"/>
          <p:cNvSpPr txBox="1"/>
          <p:nvPr/>
        </p:nvSpPr>
        <p:spPr>
          <a:xfrm>
            <a:off x="7923276" y="20665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has many</a:t>
            </a:r>
            <a:endParaRPr lang="en-US" sz="1100" dirty="0"/>
          </a:p>
        </p:txBody>
      </p:sp>
      <p:sp>
        <p:nvSpPr>
          <p:cNvPr id="26" name="Shape 24"/>
          <p:cNvSpPr/>
          <p:nvPr/>
        </p:nvSpPr>
        <p:spPr>
          <a:xfrm>
            <a:off x="2560320" y="4663440"/>
            <a:ext cx="1005840" cy="914"/>
          </a:xfrm>
          <a:prstGeom prst="line">
            <a:avLst/>
          </a:prstGeom>
          <a:noFill/>
          <a:ln w="19050">
            <a:solidFill>
              <a:srgbClr val="3A3B3A"/>
            </a:solidFill>
            <a:prstDash val="solid"/>
            <a:tailEnd type="triangle"/>
          </a:ln>
        </p:spPr>
      </p:sp>
      <p:sp>
        <p:nvSpPr>
          <p:cNvPr id="27" name="Text 25"/>
          <p:cNvSpPr txBox="1"/>
          <p:nvPr/>
        </p:nvSpPr>
        <p:spPr>
          <a:xfrm>
            <a:off x="1874520" y="43525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from / to</a:t>
            </a:r>
            <a:endParaRPr lang="en-US" sz="1100" dirty="0"/>
          </a:p>
        </p:txBody>
      </p:sp>
      <p:sp>
        <p:nvSpPr>
          <p:cNvPr id="28" name="Shape 26"/>
          <p:cNvSpPr/>
          <p:nvPr/>
        </p:nvSpPr>
        <p:spPr>
          <a:xfrm>
            <a:off x="7589520" y="2834640"/>
            <a:ext cx="914" cy="1371600"/>
          </a:xfrm>
          <a:prstGeom prst="line">
            <a:avLst/>
          </a:prstGeom>
          <a:noFill/>
          <a:ln w="19050">
            <a:solidFill>
              <a:srgbClr val="3A3B3A"/>
            </a:solidFill>
            <a:prstDash val="solid"/>
            <a:tailEnd type="triangle"/>
          </a:ln>
        </p:spPr>
      </p:sp>
      <p:sp>
        <p:nvSpPr>
          <p:cNvPr id="29" name="Text 27"/>
          <p:cNvSpPr txBox="1"/>
          <p:nvPr/>
        </p:nvSpPr>
        <p:spPr>
          <a:xfrm>
            <a:off x="7662672" y="338328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assigned (nullable)</a:t>
            </a:r>
            <a:endParaRPr lang="en-US" sz="1100" dirty="0"/>
          </a:p>
        </p:txBody>
      </p:sp>
      <p:sp>
        <p:nvSpPr>
          <p:cNvPr id="30" name="Shape 28"/>
          <p:cNvSpPr/>
          <p:nvPr/>
        </p:nvSpPr>
        <p:spPr>
          <a:xfrm flipH="1">
            <a:off x="8595360" y="4663440"/>
            <a:ext cx="1033272" cy="914"/>
          </a:xfrm>
          <a:prstGeom prst="line">
            <a:avLst/>
          </a:prstGeom>
          <a:noFill/>
          <a:ln w="19050">
            <a:solidFill>
              <a:srgbClr val="3A3B3A"/>
            </a:solidFill>
            <a:prstDash val="solid"/>
            <a:tailEnd type="triangle"/>
          </a:ln>
        </p:spPr>
      </p:sp>
      <p:sp>
        <p:nvSpPr>
          <p:cNvPr id="31" name="Text 29"/>
          <p:cNvSpPr txBox="1"/>
          <p:nvPr/>
        </p:nvSpPr>
        <p:spPr>
          <a:xfrm>
            <a:off x="7923276" y="43525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has many</a:t>
            </a:r>
            <a:endParaRPr lang="en-US" sz="1100" dirty="0"/>
          </a:p>
        </p:txBody>
      </p:sp>
      <p:sp>
        <p:nvSpPr>
          <p:cNvPr id="32" name="Text 30"/>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A quote can become </a:t>
            </a:r>
            <a:pPr indent="0" marL="0">
              <a:buNone/>
            </a:pPr>
            <a:r>
              <a:rPr lang="en-US" sz="1400" b="1" i="1" dirty="0">
                <a:solidFill>
                  <a:srgbClr val="3A3B3A"/>
                </a:solidFill>
                <a:latin typeface="Inter" pitchFamily="34" charset="0"/>
                <a:ea typeface="Inter" pitchFamily="34" charset="-122"/>
                <a:cs typeface="Inter" pitchFamily="34" charset="-120"/>
              </a:rPr>
              <a:t>at most one</a:t>
            </a:r>
            <a:pPr indent="0" marL="0">
              <a:buNone/>
            </a:pPr>
            <a:r>
              <a:rPr lang="en-US" sz="1400" i="1" dirty="0">
                <a:solidFill>
                  <a:srgbClr val="3A3B3A"/>
                </a:solidFill>
                <a:latin typeface="Inter" pitchFamily="34" charset="0"/>
                <a:ea typeface="Inter" pitchFamily="34" charset="-122"/>
                <a:cs typeface="Inter" pitchFamily="34" charset="-120"/>
              </a:rPr>
              <a:t> shipment: </a:t>
            </a:r>
            <a:pPr indent="0" marL="0">
              <a:buNone/>
            </a:pPr>
            <a:r>
              <a:rPr lang="en-US" sz="1400" i="1" dirty="0">
                <a:solidFill>
                  <a:srgbClr val="C2410C"/>
                </a:solidFill>
                <a:latin typeface="JetBrains Mono" pitchFamily="34" charset="0"/>
                <a:ea typeface="JetBrains Mono" pitchFamily="34" charset="-122"/>
                <a:cs typeface="JetBrains Mono" pitchFamily="34" charset="-120"/>
              </a:rPr>
              <a:t>shipments.quote_id</a:t>
            </a:r>
            <a:pPr indent="0" marL="0">
              <a:buNone/>
            </a:pPr>
            <a:r>
              <a:rPr lang="en-US" sz="1400" i="1" dirty="0">
                <a:solidFill>
                  <a:srgbClr val="3A3B3A"/>
                </a:solidFill>
                <a:latin typeface="Inter" pitchFamily="34" charset="0"/>
                <a:ea typeface="Inter" pitchFamily="34" charset="-122"/>
                <a:cs typeface="Inter" pitchFamily="34" charset="-120"/>
              </a:rPr>
              <a:t> is UNIQUE in the database, not just in code.</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Migrations: the schema is code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الترحيلات: المخطط شيفرة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database/migrations/2026_01_05_000005_create_shipments_table.php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Schema</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'shipments'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Blueprint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'reference'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10)-&gt;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unique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8B8F97"/>
                </a:solidFill>
                <a:latin typeface="JetBrains Mono" pitchFamily="34" charset="0"/>
                <a:ea typeface="JetBrains Mono" pitchFamily="34" charset="-122"/>
                <a:cs typeface="JetBrains Mono" pitchFamily="34" charset="-120"/>
              </a:rPr>
              <a:t>// SHN-7K2Q9X</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foreignId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'user_id'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constrained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cascadeOnDelete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foreignId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highlight>
                  <a:srgbClr val="4A3A33"/>
                </a:highlight>
                <a:latin typeface="JetBrains Mono" pitchFamily="34" charset="0"/>
                <a:ea typeface="JetBrains Mono" pitchFamily="34" charset="-122"/>
                <a:cs typeface="JetBrains Mono" pitchFamily="34" charset="-120"/>
              </a:rPr>
              <a:t>'quote_id'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unique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constrained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foreignId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'vehicle_id'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nullable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constrained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foreignId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'origin_city_id'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constrained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'cities'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foreignId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'destination_city_id'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constrained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'cities'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unsignedInteger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enum</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array_column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cases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'value'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decimal</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highlight>
                  <a:srgbClr val="4A3A33"/>
                </a:highlight>
                <a:latin typeface="JetBrains Mono" pitchFamily="34" charset="0"/>
                <a:ea typeface="JetBrains Mono" pitchFamily="34" charset="-122"/>
                <a:cs typeface="JetBrains Mono" pitchFamily="34" charset="-120"/>
              </a:rPr>
              <a:t>'price_lyd'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10, 2);</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enum</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array_column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cases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'value'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default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value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timestamp</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'pickup_at'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timestamps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index</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'user_id'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'created_at'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8B8F97"/>
                </a:solidFill>
                <a:latin typeface="JetBrains Mono" pitchFamily="34" charset="0"/>
                <a:ea typeface="JetBrains Mono" pitchFamily="34" charset="-122"/>
                <a:cs typeface="JetBrains Mono" pitchFamily="34" charset="-120"/>
              </a:rPr>
              <a:t>// my shipments, newest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Review every migration the agent writes</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Foreign keys</a:t>
            </a:r>
            <a:pPr indent="0" marL="0">
              <a:buNone/>
            </a:pPr>
            <a:r>
              <a:rPr lang="en-US" sz="1500" dirty="0">
                <a:solidFill>
                  <a:srgbClr val="272827"/>
                </a:solidFill>
                <a:latin typeface="Inter" pitchFamily="34" charset="0"/>
                <a:ea typeface="Inter" pitchFamily="34" charset="-122"/>
                <a:cs typeface="Inter" pitchFamily="34" charset="-120"/>
              </a:rPr>
              <a:t> and </a:t>
            </a:r>
            <a:pPr indent="0" marL="0">
              <a:buNone/>
            </a:pPr>
            <a:r>
              <a:rPr lang="en-US" sz="1500" b="1" dirty="0">
                <a:solidFill>
                  <a:srgbClr val="272827"/>
                </a:solidFill>
                <a:latin typeface="Inter" pitchFamily="34" charset="0"/>
                <a:ea typeface="Inter" pitchFamily="34" charset="-122"/>
                <a:cs typeface="Inter" pitchFamily="34" charset="-120"/>
              </a:rPr>
              <a:t>unique</a:t>
            </a:r>
            <a:pPr indent="0" marL="0">
              <a:buNone/>
            </a:pPr>
            <a:r>
              <a:rPr lang="en-US" sz="1500" dirty="0">
                <a:solidFill>
                  <a:srgbClr val="272827"/>
                </a:solidFill>
                <a:latin typeface="Inter" pitchFamily="34" charset="0"/>
                <a:ea typeface="Inter" pitchFamily="34" charset="-122"/>
                <a:cs typeface="Inter" pitchFamily="34" charset="-120"/>
              </a:rPr>
              <a:t> constraints live in the DB</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Money: </a:t>
            </a:r>
            <a:pPr indent="0" marL="0">
              <a:buNone/>
            </a:pPr>
            <a:r>
              <a:rPr lang="en-US" sz="1500" dirty="0">
                <a:solidFill>
                  <a:srgbClr val="C2410C"/>
                </a:solidFill>
                <a:latin typeface="JetBrains Mono" pitchFamily="34" charset="0"/>
                <a:ea typeface="JetBrains Mono" pitchFamily="34" charset="-122"/>
                <a:cs typeface="JetBrains Mono" pitchFamily="34" charset="-120"/>
              </a:rPr>
              <a:t>decimal(10,2)</a:t>
            </a:r>
            <a:pPr indent="0" marL="0">
              <a:buNone/>
            </a:pPr>
            <a:r>
              <a:rPr lang="en-US" sz="1500" dirty="0">
                <a:solidFill>
                  <a:srgbClr val="272827"/>
                </a:solidFill>
                <a:latin typeface="Inter" pitchFamily="34" charset="0"/>
                <a:ea typeface="Inter" pitchFamily="34" charset="-122"/>
                <a:cs typeface="Inter" pitchFamily="34" charset="-120"/>
              </a:rPr>
              <a:t>, never float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Enum columns come from the PHP enums; index how you query: </a:t>
            </a:r>
            <a:pPr indent="0" marL="0">
              <a:buNone/>
            </a:pPr>
            <a:r>
              <a:rPr lang="en-US" sz="1500" dirty="0">
                <a:solidFill>
                  <a:srgbClr val="C2410C"/>
                </a:solidFill>
                <a:latin typeface="JetBrains Mono" pitchFamily="34" charset="0"/>
                <a:ea typeface="JetBrains Mono" pitchFamily="34" charset="-122"/>
                <a:cs typeface="JetBrains Mono" pitchFamily="34" charset="-120"/>
              </a:rPr>
              <a:t>(user_id, created_at)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Enums keep the rules in one place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التعدادات تجمع القواعد في مكان واحد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app/Enums/ShipmentStatus.php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enum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string</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PickedUp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'picked_up'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InTransit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'in_transit'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Delivered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'delivered'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canTransitionTo</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$next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bool</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in_array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$next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match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PickedUp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PickedUp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InTransit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InTransit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Delivered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Delivered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Backed enum: stored as a string, typed in PHP</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Cast it on the model: </a:t>
            </a:r>
            <a:pPr indent="0" marL="0">
              <a:buNone/>
            </a:pPr>
            <a:r>
              <a:rPr lang="en-US" sz="1500" dirty="0">
                <a:solidFill>
                  <a:srgbClr val="C2410C"/>
                </a:solidFill>
                <a:latin typeface="JetBrains Mono" pitchFamily="34" charset="0"/>
                <a:ea typeface="JetBrains Mono" pitchFamily="34" charset="-122"/>
                <a:cs typeface="JetBrains Mono" pitchFamily="34" charset="-120"/>
              </a:rPr>
              <a:t>'status' =&gt; ShipmentStatus::class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Cancel only from pending, confirmed or assigned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Delivered and cancelled are </a:t>
            </a:r>
            <a:pPr indent="0" marL="0">
              <a:buNone/>
            </a:pPr>
            <a:r>
              <a:rPr lang="en-US" sz="1500" b="1" dirty="0">
                <a:solidFill>
                  <a:srgbClr val="272827"/>
                </a:solidFill>
                <a:latin typeface="Inter" pitchFamily="34" charset="0"/>
                <a:ea typeface="Inter" pitchFamily="34" charset="-122"/>
                <a:cs typeface="Inter" pitchFamily="34" charset="-120"/>
              </a:rPr>
              <a:t>final</a:t>
            </a:r>
            <a:pPr indent="0" marL="0">
              <a:buNone/>
            </a:pPr>
            <a:r>
              <a:rPr lang="en-US" sz="1500" dirty="0">
                <a:solidFill>
                  <a:srgbClr val="272827"/>
                </a:solidFill>
                <a:latin typeface="Inter" pitchFamily="34" charset="0"/>
                <a:ea typeface="Inter" pitchFamily="34" charset="-122"/>
                <a:cs typeface="Inter" pitchFamily="34" charset="-120"/>
              </a:rPr>
              <a:t>; the </a:t>
            </a:r>
            <a:pPr indent="0" marL="0">
              <a:buNone/>
            </a:pPr>
            <a:r>
              <a:rPr lang="en-US" sz="1500" dirty="0">
                <a:solidFill>
                  <a:srgbClr val="C2410C"/>
                </a:solidFill>
                <a:latin typeface="JetBrains Mono" pitchFamily="34" charset="0"/>
                <a:ea typeface="JetBrains Mono" pitchFamily="34" charset="-122"/>
                <a:cs typeface="JetBrains Mono" pitchFamily="34" charset="-120"/>
              </a:rPr>
              <a:t>match</a:t>
            </a:r>
            <a:pPr indent="0" marL="0">
              <a:buNone/>
            </a:pPr>
            <a:r>
              <a:rPr lang="en-US" sz="1500" dirty="0">
                <a:solidFill>
                  <a:srgbClr val="272827"/>
                </a:solidFill>
                <a:latin typeface="Inter" pitchFamily="34" charset="0"/>
                <a:ea typeface="Inter" pitchFamily="34" charset="-122"/>
                <a:cs typeface="Inter" pitchFamily="34" charset="-120"/>
              </a:rPr>
              <a:t> has no default, so a new case must be handled</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Prove it with a Pest test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أثبت ذلك باختبار Pest</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tests/Unit/ShipmentStatusTest.php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App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Enums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'allows cancelling before pickup'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canTransitionTo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toBeTrue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'forbids cancelling after pickup'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canTransitionTo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toBeFalse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PickedUp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InTransit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Delivered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'forbids skipping steps or going backwards'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canTransitionTo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toBeFalse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Assigned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Delivered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Tests are the </a:t>
            </a:r>
            <a:pPr indent="0" marL="0">
              <a:buNone/>
            </a:pPr>
            <a:r>
              <a:rPr lang="en-US" sz="1500" b="1" dirty="0">
                <a:solidFill>
                  <a:srgbClr val="272827"/>
                </a:solidFill>
                <a:latin typeface="Inter" pitchFamily="34" charset="0"/>
                <a:ea typeface="Inter" pitchFamily="34" charset="-122"/>
                <a:cs typeface="Inter" pitchFamily="34" charset="-120"/>
              </a:rPr>
              <a:t>verify</a:t>
            </a:r>
            <a:pPr indent="0" marL="0">
              <a:buNone/>
            </a:pPr>
            <a:r>
              <a:rPr lang="en-US" sz="1500" dirty="0">
                <a:solidFill>
                  <a:srgbClr val="272827"/>
                </a:solidFill>
                <a:latin typeface="Inter" pitchFamily="34" charset="0"/>
                <a:ea typeface="Inter" pitchFamily="34" charset="-122"/>
                <a:cs typeface="Inter" pitchFamily="34" charset="-120"/>
              </a:rPr>
              <a:t> step you can rerun forever</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Datasets (</a:t>
            </a:r>
            <a:pPr indent="0" marL="0">
              <a:buNone/>
            </a:pPr>
            <a:r>
              <a:rPr lang="en-US" sz="1500" dirty="0">
                <a:solidFill>
                  <a:srgbClr val="C2410C"/>
                </a:solidFill>
                <a:latin typeface="JetBrains Mono" pitchFamily="34" charset="0"/>
                <a:ea typeface="JetBrains Mono" pitchFamily="34" charset="-122"/>
                <a:cs typeface="JetBrains Mono" pitchFamily="34" charset="-120"/>
              </a:rPr>
              <a:t>-&gt;with()</a:t>
            </a:r>
            <a:pPr indent="0" marL="0">
              <a:buNone/>
            </a:pPr>
            <a:r>
              <a:rPr lang="en-US" sz="1500" dirty="0">
                <a:solidFill>
                  <a:srgbClr val="272827"/>
                </a:solidFill>
                <a:latin typeface="Inter" pitchFamily="34" charset="0"/>
                <a:ea typeface="Inter" pitchFamily="34" charset="-122"/>
                <a:cs typeface="Inter" pitchFamily="34" charset="-120"/>
              </a:rPr>
              <a:t>) cover every case cheaply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Ask the agent for the test </a:t>
            </a:r>
            <a:pPr indent="0" marL="0">
              <a:buNone/>
            </a:pPr>
            <a:r>
              <a:rPr lang="en-US" sz="1500" b="1" dirty="0">
                <a:solidFill>
                  <a:srgbClr val="272827"/>
                </a:solidFill>
                <a:latin typeface="Inter" pitchFamily="34" charset="0"/>
                <a:ea typeface="Inter" pitchFamily="34" charset="-122"/>
                <a:cs typeface="Inter" pitchFamily="34" charset="-120"/>
              </a:rPr>
              <a:t>first</a:t>
            </a:r>
            <a:pPr indent="0" marL="0">
              <a:buNone/>
            </a:pPr>
            <a:r>
              <a:rPr lang="en-US" sz="1500" dirty="0">
                <a:solidFill>
                  <a:srgbClr val="272827"/>
                </a:solidFill>
                <a:latin typeface="Inter" pitchFamily="34" charset="0"/>
                <a:ea typeface="Inter" pitchFamily="34" charset="-122"/>
                <a:cs typeface="Inter" pitchFamily="34" charset="-120"/>
              </a:rPr>
              <a:t>, then read it</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sail artisan test --filter=ShipmentStatus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implement one step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auto-accept edits off</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Implement only the enums from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docs/plans/day1-domain.md</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Create the ShipmentStatus enum exactly as the plan describes.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Write tests/Unit/ShipmentStatusTest.php first, using Pest datasets.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Run </a:t>
            </a:r>
            <a:pPr indent="0" marL="0">
              <a:spcAft>
                <a:spcPts val="600"/>
              </a:spcAft>
              <a:buNone/>
            </a:pPr>
            <a:r>
              <a:rPr lang="en-US" sz="1400" dirty="0">
                <a:solidFill>
                  <a:srgbClr val="FFB59C"/>
                </a:solidFill>
                <a:latin typeface="JetBrains Mono" pitchFamily="34" charset="0"/>
                <a:ea typeface="JetBrains Mono" pitchFamily="34" charset="-122"/>
                <a:cs typeface="JetBrains Mono" pitchFamily="34" charset="-120"/>
              </a:rPr>
              <a:t>sail artisan test --filter=ShipmentStatus</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paste the output.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Stop after the enums. Do not create models or migrations yet.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Points at the plan: no re-explaining</a:t>
            </a:r>
            <a:endParaRPr lang="en-US" sz="1500" dirty="0"/>
          </a:p>
          <a:p>
            <a:pPr marL="228600" indent="-228600">
              <a:spcAft>
                <a:spcPts val="1000"/>
              </a:spcAft>
              <a:buSzPct val="100000"/>
              <a:buChar char="•"/>
            </a:pPr>
            <a:r>
              <a:rPr lang="en-US" sz="1500" b="1" dirty="0">
                <a:solidFill>
                  <a:srgbClr val="FFFFFF"/>
                </a:solidFill>
                <a:latin typeface="Inter" pitchFamily="34" charset="0"/>
                <a:ea typeface="Inter" pitchFamily="34" charset="-122"/>
                <a:cs typeface="Inter" pitchFamily="34" charset="-120"/>
              </a:rPr>
              <a:t>One slice</a:t>
            </a:r>
            <a:pPr indent="0" marL="0">
              <a:buNone/>
            </a:pPr>
            <a:r>
              <a:rPr lang="en-US" sz="1500" dirty="0">
                <a:solidFill>
                  <a:srgbClr val="FFFFFF"/>
                </a:solidFill>
                <a:latin typeface="Inter" pitchFamily="34" charset="0"/>
                <a:ea typeface="Inter" pitchFamily="34" charset="-122"/>
                <a:cs typeface="Inter" pitchFamily="34" charset="-120"/>
              </a:rPr>
              <a:t>, then stop</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Test first, then implementation</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Demands real test output as proof</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Reviewing an AI diff</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مراجعة تعديلات الذكاء الاصطناعي</a:t>
            </a:r>
            <a:endParaRPr lang="ar-LY" sz="1700" dirty="0"/>
          </a:p>
        </p:txBody>
      </p:sp>
      <p:sp>
        <p:nvSpPr>
          <p:cNvPr id="4" name="Shape 2"/>
          <p:cNvSpPr/>
          <p:nvPr/>
        </p:nvSpPr>
        <p:spPr>
          <a:xfrm>
            <a:off x="548640" y="1737360"/>
            <a:ext cx="5364328" cy="4206240"/>
          </a:xfrm>
          <a:prstGeom prst="roundRect">
            <a:avLst>
              <a:gd name="adj" fmla="val 173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1965960"/>
            <a:ext cx="4724248" cy="411480"/>
          </a:xfrm>
          <a:prstGeom prst="rect">
            <a:avLst/>
          </a:prstGeom>
          <a:noFill/>
          <a:ln/>
        </p:spPr>
        <p:txBody>
          <a:bodyPr wrap="square" lIns="0" tIns="0" rIns="0" bIns="0" rtlCol="0" anchor="ctr"/>
          <a:lstStyle/>
          <a:p>
            <a:pPr indent="0" marL="0">
              <a:buNone/>
            </a:pPr>
            <a:r>
              <a:rPr lang="en-US" sz="2200" b="1" dirty="0">
                <a:solidFill>
                  <a:srgbClr val="272827"/>
                </a:solidFill>
                <a:latin typeface="Playfair Display" pitchFamily="34" charset="0"/>
                <a:ea typeface="Playfair Display" pitchFamily="34" charset="-122"/>
                <a:cs typeface="Playfair Display" pitchFamily="34" charset="-120"/>
              </a:rPr>
              <a:t>Skim and accept</a:t>
            </a:r>
            <a:endParaRPr lang="en-US" sz="2200" dirty="0"/>
          </a:p>
        </p:txBody>
      </p:sp>
      <p:sp>
        <p:nvSpPr>
          <p:cNvPr id="6" name="Text 4"/>
          <p:cNvSpPr txBox="1"/>
          <p:nvPr/>
        </p:nvSpPr>
        <p:spPr>
          <a:xfrm>
            <a:off x="868680" y="2560320"/>
            <a:ext cx="4724248" cy="3200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"Looks right" after reading the summary</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Trust "all tests pass"</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Accept new packages and files you did not ask for</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Merge a 900-line diff in one go</a:t>
            </a:r>
            <a:endParaRPr lang="en-US" sz="1600" dirty="0"/>
          </a:p>
        </p:txBody>
      </p:sp>
      <p:sp>
        <p:nvSpPr>
          <p:cNvPr id="7" name="Shape 5"/>
          <p:cNvSpPr/>
          <p:nvPr/>
        </p:nvSpPr>
        <p:spPr>
          <a:xfrm>
            <a:off x="6278728" y="1737360"/>
            <a:ext cx="5364328" cy="4206240"/>
          </a:xfrm>
          <a:prstGeom prst="roundRect">
            <a:avLst>
              <a:gd name="adj" fmla="val 1739"/>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1965960"/>
            <a:ext cx="4724248" cy="411480"/>
          </a:xfrm>
          <a:prstGeom prst="rect">
            <a:avLst/>
          </a:prstGeom>
          <a:noFill/>
          <a:ln/>
        </p:spPr>
        <p:txBody>
          <a:bodyPr wrap="square" lIns="0" tIns="0" rIns="0" bIns="0" rtlCol="0" anchor="ctr"/>
          <a:lstStyle/>
          <a:p>
            <a:pPr indent="0" marL="0">
              <a:buNone/>
            </a:pPr>
            <a:r>
              <a:rPr lang="en-US" sz="2200" b="1" dirty="0">
                <a:solidFill>
                  <a:srgbClr val="FF5723"/>
                </a:solidFill>
                <a:latin typeface="Playfair Display" pitchFamily="34" charset="0"/>
                <a:ea typeface="Playfair Display" pitchFamily="34" charset="-122"/>
                <a:cs typeface="Playfair Display" pitchFamily="34" charset="-120"/>
              </a:rPr>
              <a:t>Review like an engineer</a:t>
            </a:r>
            <a:endParaRPr lang="en-US" sz="2200" dirty="0"/>
          </a:p>
        </p:txBody>
      </p:sp>
      <p:sp>
        <p:nvSpPr>
          <p:cNvPr id="9" name="Text 7"/>
          <p:cNvSpPr txBox="1"/>
          <p:nvPr/>
        </p:nvSpPr>
        <p:spPr>
          <a:xfrm>
            <a:off x="6598768" y="2560320"/>
            <a:ext cx="4724248" cy="3200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Read </a:t>
            </a:r>
            <a:pPr indent="0" marL="0">
              <a:buNone/>
            </a:pPr>
            <a:r>
              <a:rPr lang="en-US" sz="1600" dirty="0">
                <a:solidFill>
                  <a:srgbClr val="FFB59C"/>
                </a:solidFill>
                <a:latin typeface="JetBrains Mono" pitchFamily="34" charset="0"/>
                <a:ea typeface="JetBrains Mono" pitchFamily="34" charset="-122"/>
                <a:cs typeface="JetBrains Mono" pitchFamily="34" charset="-120"/>
              </a:rPr>
              <a:t>git diff</a:t>
            </a:r>
            <a:pPr indent="0" marL="0">
              <a:buNone/>
            </a:pPr>
            <a:r>
              <a:rPr lang="en-US" sz="1600" dirty="0">
                <a:solidFill>
                  <a:srgbClr val="FFFFFF"/>
                </a:solidFill>
                <a:latin typeface="Inter" pitchFamily="34" charset="0"/>
                <a:ea typeface="Inter" pitchFamily="34" charset="-122"/>
                <a:cs typeface="Inter" pitchFamily="34" charset="-120"/>
              </a:rPr>
              <a:t> file by file</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Run the tests </a:t>
            </a:r>
            <a:pPr indent="0" marL="0">
              <a:buNone/>
            </a:pPr>
            <a:r>
              <a:rPr lang="en-US" sz="1600" b="1" dirty="0">
                <a:solidFill>
                  <a:srgbClr val="FFFFFF"/>
                </a:solidFill>
                <a:latin typeface="Inter" pitchFamily="34" charset="0"/>
                <a:ea typeface="Inter" pitchFamily="34" charset="-122"/>
                <a:cs typeface="Inter" pitchFamily="34" charset="-120"/>
              </a:rPr>
              <a:t>yourself</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Question every new dependency and file</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Check names against the plan and </a:t>
            </a:r>
            <a:pPr indent="0" marL="0">
              <a:buNone/>
            </a:pPr>
            <a:r>
              <a:rPr lang="en-US" sz="1600" dirty="0">
                <a:solidFill>
                  <a:srgbClr val="FFB59C"/>
                </a:solidFill>
                <a:latin typeface="JetBrains Mono" pitchFamily="34" charset="0"/>
                <a:ea typeface="JetBrains Mono" pitchFamily="34" charset="-122"/>
                <a:cs typeface="JetBrains Mono" pitchFamily="34" charset="-120"/>
              </a:rPr>
              <a:t>docs/requirements.md</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Small commits you can revert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When NOT to use the agent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متى لا تستخدم الوكيل</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You cannot judge the output</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If you could not review it, you cannot own it. Learn the concept first, then delegate.</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Secrets and production</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Never paste API keys, customer data or production credentials into a prompt.</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A one-line change</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Faster to type than to explain. Use the agent for leverage, not for everything.</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Decisions that need people</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Pricing rules, legal policy, security trade-offs: the agent can inform, not decide.</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Pitfalls to watch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أخطاء شائعة</a:t>
            </a:r>
            <a:endParaRPr lang="ar-LY" sz="1700" dirty="0"/>
          </a:p>
        </p:txBody>
      </p:sp>
      <p:sp>
        <p:nvSpPr>
          <p:cNvPr id="4" name="Text 2"/>
          <p:cNvSpPr txBox="1"/>
          <p:nvPr/>
        </p:nvSpPr>
        <p:spPr>
          <a:xfrm>
            <a:off x="1234440" y="1691640"/>
            <a:ext cx="2743200" cy="274320"/>
          </a:xfrm>
          <a:prstGeom prst="rect">
            <a:avLst/>
          </a:prstGeom>
          <a:noFill/>
          <a:ln/>
        </p:spPr>
        <p:txBody>
          <a:bodyPr wrap="square" lIns="0" tIns="0" rIns="0" bIns="0" rtlCol="0" anchor="ctr"/>
          <a:lstStyle/>
          <a:p>
            <a:pPr indent="0" marL="0">
              <a:buNone/>
            </a:pPr>
            <a:r>
              <a:rPr lang="en-US" sz="1100" b="1" spc="300" kern="0" dirty="0">
                <a:solidFill>
                  <a:srgbClr val="6B7280"/>
                </a:solidFill>
                <a:latin typeface="Inter" pitchFamily="34" charset="0"/>
                <a:ea typeface="Inter" pitchFamily="34" charset="-122"/>
                <a:cs typeface="Inter" pitchFamily="34" charset="-120"/>
              </a:rPr>
              <a:t>PITFALL</a:t>
            </a:r>
            <a:endParaRPr lang="en-US" sz="1100" dirty="0"/>
          </a:p>
        </p:txBody>
      </p:sp>
      <p:sp>
        <p:nvSpPr>
          <p:cNvPr id="5" name="Text 3"/>
          <p:cNvSpPr txBox="1"/>
          <p:nvPr/>
        </p:nvSpPr>
        <p:spPr>
          <a:xfrm>
            <a:off x="6126480" y="1691640"/>
            <a:ext cx="36576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DO THIS INSTEAD</a:t>
            </a:r>
            <a:endParaRPr lang="en-US" sz="1100" dirty="0"/>
          </a:p>
        </p:txBody>
      </p:sp>
      <p:sp>
        <p:nvSpPr>
          <p:cNvPr id="6" name="Shape 4"/>
          <p:cNvSpPr/>
          <p:nvPr/>
        </p:nvSpPr>
        <p:spPr>
          <a:xfrm>
            <a:off x="548640" y="2057400"/>
            <a:ext cx="11094415" cy="1143000"/>
          </a:xfrm>
          <a:prstGeom prst="roundRect">
            <a:avLst>
              <a:gd name="adj" fmla="val 64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2446020"/>
            <a:ext cx="365760" cy="365760"/>
          </a:xfrm>
          <a:prstGeom prst="ellipse">
            <a:avLst/>
          </a:prstGeom>
          <a:solidFill>
            <a:srgbClr val="272827"/>
          </a:solidFill>
          <a:ln w="12700">
            <a:solidFill>
              <a:srgbClr val="272827"/>
            </a:solidFill>
            <a:prstDash val="solid"/>
          </a:ln>
        </p:spPr>
      </p:sp>
      <p:sp>
        <p:nvSpPr>
          <p:cNvPr id="8" name="Text 6"/>
          <p:cNvSpPr txBox="1"/>
          <p:nvPr/>
        </p:nvSpPr>
        <p:spPr>
          <a:xfrm>
            <a:off x="731520" y="24460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234440" y="2130552"/>
            <a:ext cx="4297680" cy="996696"/>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Agent invents a package API that does not exist</a:t>
            </a:r>
            <a:endParaRPr lang="en-US" sz="1500" dirty="0"/>
          </a:p>
        </p:txBody>
      </p:sp>
      <p:sp>
        <p:nvSpPr>
          <p:cNvPr id="10" name="Shape 8"/>
          <p:cNvSpPr/>
          <p:nvPr/>
        </p:nvSpPr>
        <p:spPr>
          <a:xfrm>
            <a:off x="5623560" y="2446020"/>
            <a:ext cx="365760" cy="365760"/>
          </a:xfrm>
          <a:prstGeom prst="ellipse">
            <a:avLst/>
          </a:prstGeom>
          <a:solidFill>
            <a:srgbClr val="FF5723"/>
          </a:solidFill>
          <a:ln w="12700">
            <a:solidFill>
              <a:srgbClr val="FF5723"/>
            </a:solidFill>
            <a:prstDash val="solid"/>
          </a:ln>
        </p:spPr>
      </p:sp>
      <p:sp>
        <p:nvSpPr>
          <p:cNvPr id="11" name="Text 9"/>
          <p:cNvSpPr txBox="1"/>
          <p:nvPr/>
        </p:nvSpPr>
        <p:spPr>
          <a:xfrm>
            <a:off x="5623560" y="24460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6126480" y="2130552"/>
            <a:ext cx="5333695" cy="996696"/>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Ground it: Boost docs search, read </a:t>
            </a:r>
            <a:pPr indent="0" marL="0">
              <a:buNone/>
            </a:pPr>
            <a:r>
              <a:rPr lang="en-US" sz="1500" dirty="0">
                <a:solidFill>
                  <a:srgbClr val="C2410C"/>
                </a:solidFill>
                <a:latin typeface="JetBrains Mono" pitchFamily="34" charset="0"/>
                <a:ea typeface="JetBrains Mono" pitchFamily="34" charset="-122"/>
                <a:cs typeface="JetBrains Mono" pitchFamily="34" charset="-120"/>
              </a:rPr>
              <a:t>vendor/</a:t>
            </a:r>
            <a:pPr indent="0" marL="0">
              <a:buNone/>
            </a:pPr>
            <a:r>
              <a:rPr lang="en-US" sz="1500" dirty="0">
                <a:solidFill>
                  <a:srgbClr val="3A3B3A"/>
                </a:solidFill>
                <a:latin typeface="Inter" pitchFamily="34" charset="0"/>
                <a:ea typeface="Inter" pitchFamily="34" charset="-122"/>
                <a:cs typeface="Inter" pitchFamily="34" charset="-120"/>
              </a:rPr>
              <a:t> source, run the code</a:t>
            </a:r>
            <a:endParaRPr lang="en-US" sz="1500" dirty="0"/>
          </a:p>
        </p:txBody>
      </p:sp>
      <p:sp>
        <p:nvSpPr>
          <p:cNvPr id="13" name="Shape 11"/>
          <p:cNvSpPr/>
          <p:nvPr/>
        </p:nvSpPr>
        <p:spPr>
          <a:xfrm>
            <a:off x="548640" y="3401568"/>
            <a:ext cx="11094415" cy="1143000"/>
          </a:xfrm>
          <a:prstGeom prst="roundRect">
            <a:avLst>
              <a:gd name="adj" fmla="val 64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31520" y="3790188"/>
            <a:ext cx="365760" cy="365760"/>
          </a:xfrm>
          <a:prstGeom prst="ellipse">
            <a:avLst/>
          </a:prstGeom>
          <a:solidFill>
            <a:srgbClr val="272827"/>
          </a:solidFill>
          <a:ln w="12700">
            <a:solidFill>
              <a:srgbClr val="272827"/>
            </a:solidFill>
            <a:prstDash val="solid"/>
          </a:ln>
        </p:spPr>
      </p:sp>
      <p:sp>
        <p:nvSpPr>
          <p:cNvPr id="15" name="Text 13"/>
          <p:cNvSpPr txBox="1"/>
          <p:nvPr/>
        </p:nvSpPr>
        <p:spPr>
          <a:xfrm>
            <a:off x="731520" y="37901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6" name="Text 14"/>
          <p:cNvSpPr txBox="1"/>
          <p:nvPr/>
        </p:nvSpPr>
        <p:spPr>
          <a:xfrm>
            <a:off x="1234440" y="3474720"/>
            <a:ext cx="4297680" cy="996696"/>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Over-scaffolding: controllers, policies and UI you never asked for</a:t>
            </a:r>
            <a:endParaRPr lang="en-US" sz="1500" dirty="0"/>
          </a:p>
        </p:txBody>
      </p:sp>
      <p:sp>
        <p:nvSpPr>
          <p:cNvPr id="17" name="Shape 15"/>
          <p:cNvSpPr/>
          <p:nvPr/>
        </p:nvSpPr>
        <p:spPr>
          <a:xfrm>
            <a:off x="5623560" y="3790188"/>
            <a:ext cx="365760" cy="365760"/>
          </a:xfrm>
          <a:prstGeom prst="ellipse">
            <a:avLst/>
          </a:prstGeom>
          <a:solidFill>
            <a:srgbClr val="FF5723"/>
          </a:solidFill>
          <a:ln w="12700">
            <a:solidFill>
              <a:srgbClr val="FF5723"/>
            </a:solidFill>
            <a:prstDash val="solid"/>
          </a:ln>
        </p:spPr>
      </p:sp>
      <p:sp>
        <p:nvSpPr>
          <p:cNvPr id="18" name="Text 16"/>
          <p:cNvSpPr txBox="1"/>
          <p:nvPr/>
        </p:nvSpPr>
        <p:spPr>
          <a:xfrm>
            <a:off x="5623560" y="37901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9" name="Text 17"/>
          <p:cNvSpPr txBox="1"/>
          <p:nvPr/>
        </p:nvSpPr>
        <p:spPr>
          <a:xfrm>
            <a:off x="6126480" y="3474720"/>
            <a:ext cx="5333695" cy="996696"/>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Plan with an </a:t>
            </a:r>
            <a:pPr indent="0" marL="0">
              <a:buNone/>
            </a:pPr>
            <a:r>
              <a:rPr lang="en-US" sz="1500" b="1" dirty="0">
                <a:solidFill>
                  <a:srgbClr val="3A3B3A"/>
                </a:solidFill>
                <a:latin typeface="Inter" pitchFamily="34" charset="0"/>
                <a:ea typeface="Inter" pitchFamily="34" charset="-122"/>
                <a:cs typeface="Inter" pitchFamily="34" charset="-120"/>
              </a:rPr>
              <a:t>out of scope</a:t>
            </a:r>
            <a:pPr indent="0" marL="0">
              <a:buNone/>
            </a:pPr>
            <a:r>
              <a:rPr lang="en-US" sz="1500" dirty="0">
                <a:solidFill>
                  <a:srgbClr val="3A3B3A"/>
                </a:solidFill>
                <a:latin typeface="Inter" pitchFamily="34" charset="0"/>
                <a:ea typeface="Inter" pitchFamily="34" charset="-122"/>
                <a:cs typeface="Inter" pitchFamily="34" charset="-120"/>
              </a:rPr>
              <a:t> list; one step per prompt</a:t>
            </a:r>
            <a:endParaRPr lang="en-US" sz="1500" dirty="0"/>
          </a:p>
        </p:txBody>
      </p:sp>
      <p:sp>
        <p:nvSpPr>
          <p:cNvPr id="20" name="Shape 18"/>
          <p:cNvSpPr/>
          <p:nvPr/>
        </p:nvSpPr>
        <p:spPr>
          <a:xfrm>
            <a:off x="548640" y="4745736"/>
            <a:ext cx="11094415" cy="1143000"/>
          </a:xfrm>
          <a:prstGeom prst="roundRect">
            <a:avLst>
              <a:gd name="adj" fmla="val 64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731520" y="5134356"/>
            <a:ext cx="365760" cy="365760"/>
          </a:xfrm>
          <a:prstGeom prst="ellipse">
            <a:avLst/>
          </a:prstGeom>
          <a:solidFill>
            <a:srgbClr val="272827"/>
          </a:solidFill>
          <a:ln w="12700">
            <a:solidFill>
              <a:srgbClr val="272827"/>
            </a:solidFill>
            <a:prstDash val="solid"/>
          </a:ln>
        </p:spPr>
      </p:sp>
      <p:sp>
        <p:nvSpPr>
          <p:cNvPr id="22" name="Text 20"/>
          <p:cNvSpPr txBox="1"/>
          <p:nvPr/>
        </p:nvSpPr>
        <p:spPr>
          <a:xfrm>
            <a:off x="731520" y="51343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3" name="Text 21"/>
          <p:cNvSpPr txBox="1"/>
          <p:nvPr/>
        </p:nvSpPr>
        <p:spPr>
          <a:xfrm>
            <a:off x="1234440" y="4818888"/>
            <a:ext cx="4297680" cy="996696"/>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Skipping the migration review</a:t>
            </a:r>
            <a:endParaRPr lang="en-US" sz="1500" dirty="0"/>
          </a:p>
        </p:txBody>
      </p:sp>
      <p:sp>
        <p:nvSpPr>
          <p:cNvPr id="24" name="Shape 22"/>
          <p:cNvSpPr/>
          <p:nvPr/>
        </p:nvSpPr>
        <p:spPr>
          <a:xfrm>
            <a:off x="5623560" y="5134356"/>
            <a:ext cx="365760" cy="365760"/>
          </a:xfrm>
          <a:prstGeom prst="ellipse">
            <a:avLst/>
          </a:prstGeom>
          <a:solidFill>
            <a:srgbClr val="FF5723"/>
          </a:solidFill>
          <a:ln w="12700">
            <a:solidFill>
              <a:srgbClr val="FF5723"/>
            </a:solidFill>
            <a:prstDash val="solid"/>
          </a:ln>
        </p:spPr>
      </p:sp>
      <p:sp>
        <p:nvSpPr>
          <p:cNvPr id="25" name="Text 23"/>
          <p:cNvSpPr txBox="1"/>
          <p:nvPr/>
        </p:nvSpPr>
        <p:spPr>
          <a:xfrm>
            <a:off x="5623560" y="51343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6" name="Text 24"/>
          <p:cNvSpPr txBox="1"/>
          <p:nvPr/>
        </p:nvSpPr>
        <p:spPr>
          <a:xfrm>
            <a:off x="6126480" y="4818888"/>
            <a:ext cx="5333695" cy="996696"/>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Read every column, key and index before </a:t>
            </a:r>
            <a:pPr indent="0" marL="0">
              <a:buNone/>
            </a:pPr>
            <a:r>
              <a:rPr lang="en-US" sz="1500" dirty="0">
                <a:solidFill>
                  <a:srgbClr val="C2410C"/>
                </a:solidFill>
                <a:latin typeface="JetBrains Mono" pitchFamily="34" charset="0"/>
                <a:ea typeface="JetBrains Mono" pitchFamily="34" charset="-122"/>
                <a:cs typeface="JetBrains Mono" pitchFamily="34" charset="-120"/>
              </a:rPr>
              <a:t>migrate</a:t>
            </a:r>
            <a:pPr indent="0" marL="0">
              <a:buNone/>
            </a:pPr>
            <a:r>
              <a:rPr lang="en-US" sz="1500" dirty="0">
                <a:solidFill>
                  <a:srgbClr val="3A3B3A"/>
                </a:solidFill>
                <a:latin typeface="Inter" pitchFamily="34" charset="0"/>
                <a:ea typeface="Inter" pitchFamily="34" charset="-122"/>
                <a:cs typeface="Inter" pitchFamily="34" charset="-120"/>
              </a:rPr>
              <a:t>; check money and uniques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NAQLA icon">    </p:cNvPr>
          <p:cNvPicPr>
            <a:picLocks noChangeAspect="1"/>
          </p:cNvPicPr>
          <p:nvPr/>
        </p:nvPicPr>
        <p:blipFill>
          <a:blip r:embed="rId1"/>
          <a:stretch>
            <a:fillRect/>
          </a:stretch>
        </p:blipFill>
        <p:spPr>
          <a:xfrm>
            <a:off x="548640" y="914400"/>
            <a:ext cx="341535" cy="502920"/>
          </a:xfrm>
          <a:prstGeom prst="rect">
            <a:avLst/>
          </a:prstGeom>
        </p:spPr>
      </p:pic>
      <p:sp>
        <p:nvSpPr>
          <p:cNvPr id="3" name="Text 0"/>
          <p:cNvSpPr txBox="1"/>
          <p:nvPr/>
        </p:nvSpPr>
        <p:spPr>
          <a:xfrm>
            <a:off x="548640" y="1828800"/>
            <a:ext cx="10058400" cy="2743200"/>
          </a:xfrm>
          <a:prstGeom prst="rect">
            <a:avLst/>
          </a:prstGeom>
          <a:noFill/>
          <a:ln/>
        </p:spPr>
        <p:txBody>
          <a:bodyPr wrap="square" lIns="0" tIns="0" rIns="0" bIns="0" rtlCol="0" anchor="ctr"/>
          <a:lstStyle/>
          <a:p>
            <a:pPr indent="0" marL="0">
              <a:buNone/>
            </a:pPr>
            <a:r>
              <a:rPr lang="en-US" sz="4000" b="1" dirty="0">
                <a:solidFill>
                  <a:srgbClr val="FFFFFF"/>
                </a:solidFill>
                <a:latin typeface="Playfair Display" pitchFamily="34" charset="0"/>
                <a:ea typeface="Playfair Display" pitchFamily="34" charset="-122"/>
                <a:cs typeface="Playfair Display" pitchFamily="34" charset="-120"/>
              </a:rPr>
              <a:t>The agent is a fast pair.</a:t>
            </a:r>
            <a:endParaRPr lang="en-US" sz="4000" dirty="0"/>
          </a:p>
          <a:p>
            <a:pPr indent="0" marL="0">
              <a:buNone/>
            </a:pPr>
            <a:r>
              <a:rPr lang="en-US" sz="4000" b="1" dirty="0">
                <a:solidFill>
                  <a:srgbClr val="FF5723"/>
                </a:solidFill>
                <a:latin typeface="Playfair Display" pitchFamily="34" charset="0"/>
                <a:ea typeface="Playfair Display" pitchFamily="34" charset="-122"/>
                <a:cs typeface="Playfair Display" pitchFamily="34" charset="-120"/>
              </a:rPr>
              <a:t>You</a:t>
            </a:r>
            <a:pPr indent="0" marL="0">
              <a:buNone/>
            </a:pPr>
            <a:r>
              <a:rPr lang="en-US" sz="4000" b="1" dirty="0">
                <a:solidFill>
                  <a:srgbClr val="FFFFFF"/>
                </a:solidFill>
                <a:latin typeface="Playfair Display" pitchFamily="34" charset="0"/>
                <a:ea typeface="Playfair Display" pitchFamily="34" charset="-122"/>
                <a:cs typeface="Playfair Display" pitchFamily="34" charset="-120"/>
              </a:rPr>
              <a:t> are the engineer.</a:t>
            </a:r>
            <a:endParaRPr lang="en-US" sz="4000" dirty="0"/>
          </a:p>
        </p:txBody>
      </p:sp>
      <p:sp>
        <p:nvSpPr>
          <p:cNvPr id="4" name="Text 1"/>
          <p:cNvSpPr txBox="1"/>
          <p:nvPr/>
        </p:nvSpPr>
        <p:spPr>
          <a:xfrm>
            <a:off x="548640" y="4709160"/>
            <a:ext cx="10058400" cy="502920"/>
          </a:xfrm>
          <a:prstGeom prst="rect">
            <a:avLst/>
          </a:prstGeom>
          <a:noFill/>
          <a:ln/>
        </p:spPr>
        <p:txBody>
          <a:bodyPr wrap="square" lIns="0" tIns="0" rIns="0" bIns="0" rtlCol="0" anchor="t"/>
          <a:lstStyle/>
          <a:p>
            <a:pPr rtl="1" algn="l" indent="0" marL="0">
              <a:buNone/>
            </a:pPr>
            <a:r>
              <a:rPr lang="ar-LY" altLang="en-US" sz="2200" dirty="0">
                <a:solidFill>
                  <a:srgbClr val="9CA3AF"/>
                </a:solidFill>
                <a:latin typeface="Tajawal" pitchFamily="34" charset="0"/>
                <a:ea typeface="Tajawal" pitchFamily="34" charset="-122"/>
                <a:cs typeface="Tajawal" pitchFamily="34" charset="-120"/>
              </a:rPr>
              <a:t>الوكيل شريك سريع، وأنت المهندس المسؤول</a:t>
            </a:r>
            <a:endParaRPr lang="ar-LY" sz="2200" dirty="0"/>
          </a:p>
        </p:txBody>
      </p:sp>
      <p:sp>
        <p:nvSpPr>
          <p:cNvPr id="5" name="Text 2"/>
          <p:cNvSpPr txBox="1"/>
          <p:nvPr/>
        </p:nvSpPr>
        <p:spPr>
          <a:xfrm>
            <a:off x="548640" y="5349240"/>
            <a:ext cx="10058400" cy="457200"/>
          </a:xfrm>
          <a:prstGeom prst="rect">
            <a:avLst/>
          </a:prstGeom>
          <a:noFill/>
          <a:ln/>
        </p:spPr>
        <p:txBody>
          <a:bodyPr wrap="square" lIns="0" tIns="0" rIns="0" bIns="0" rtlCol="0" anchor="ctr"/>
          <a:lstStyle/>
          <a:p>
            <a:pPr indent="0" marL="0">
              <a:buNone/>
            </a:pPr>
            <a:r>
              <a:rPr lang="en-US" sz="1600" dirty="0">
                <a:solidFill>
                  <a:srgbClr val="9CA3AF"/>
                </a:solidFill>
                <a:latin typeface="Inter" pitchFamily="34" charset="0"/>
                <a:ea typeface="Inter" pitchFamily="34" charset="-122"/>
                <a:cs typeface="Inter" pitchFamily="34" charset="-120"/>
              </a:rPr>
              <a:t>Everything you merge, you own.</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Scaffold Shahna</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الأول: توليد النماذج والبيانات</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1 · PART 2</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Scaffold Shahna</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Turn the approved plan into enums, migrations, models, factories and a seeder, one reviewed step at a time.</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14:15–15:45</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labs/lab1.md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day1-end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Enums first: </a:t>
            </a:r>
            <a:pPr indent="0" marL="0">
              <a:buNone/>
            </a:pPr>
            <a:r>
              <a:rPr lang="en-US" sz="1500" dirty="0">
                <a:solidFill>
                  <a:srgbClr val="C2410C"/>
                </a:solidFill>
                <a:latin typeface="JetBrains Mono" pitchFamily="34" charset="0"/>
                <a:ea typeface="JetBrains Mono" pitchFamily="34" charset="-122"/>
                <a:cs typeface="JetBrains Mono" pitchFamily="34" charset="-120"/>
              </a:rPr>
              <a:t>ShipmentStatus</a:t>
            </a:r>
            <a:pPr indent="0" marL="0">
              <a:buNone/>
            </a:pPr>
            <a:r>
              <a:rPr lang="en-US" sz="1500" dirty="0">
                <a:solidFill>
                  <a:srgbClr val="272827"/>
                </a:solidFill>
                <a:latin typeface="Inter" pitchFamily="34" charset="0"/>
                <a:ea typeface="Inter" pitchFamily="34" charset="-122"/>
                <a:cs typeface="Inter" pitchFamily="34" charset="-120"/>
              </a:rPr>
              <a:t> + Pest test (red, then green)</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Migrations + models + factories for all 7 tables</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Review each migration diff before </a:t>
            </a:r>
            <a:pPr indent="0" marL="0">
              <a:buNone/>
            </a:pPr>
            <a:r>
              <a:rPr lang="en-US" sz="1500" dirty="0">
                <a:solidFill>
                  <a:srgbClr val="C2410C"/>
                </a:solidFill>
                <a:latin typeface="JetBrains Mono" pitchFamily="34" charset="0"/>
                <a:ea typeface="JetBrains Mono" pitchFamily="34" charset="-122"/>
                <a:cs typeface="JetBrains Mono" pitchFamily="34" charset="-120"/>
              </a:rPr>
              <a:t>sail artisan migrate</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7315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Seeder: 8 cities (TIP, BEN, MRA, SEB, ZAW, TOB, SRT, GHA), distances, 4 carriers, 64 vehicles, 3 demo users</a:t>
            </a:r>
            <a:endParaRPr lang="en-US" sz="1500" dirty="0"/>
          </a:p>
        </p:txBody>
      </p:sp>
      <p:sp>
        <p:nvSpPr>
          <p:cNvPr id="22" name="Shape 20"/>
          <p:cNvSpPr/>
          <p:nvPr/>
        </p:nvSpPr>
        <p:spPr>
          <a:xfrm>
            <a:off x="4754880" y="43616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3616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34340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sail artisan migrate:fresh --seed</a:t>
            </a:r>
            <a:pPr indent="0" marL="0">
              <a:buNone/>
            </a:pPr>
            <a:r>
              <a:rPr lang="en-US" sz="1500" dirty="0">
                <a:solidFill>
                  <a:srgbClr val="272827"/>
                </a:solidFill>
                <a:latin typeface="Inter" pitchFamily="34" charset="0"/>
                <a:ea typeface="Inter" pitchFamily="34" charset="-122"/>
                <a:cs typeface="Inter" pitchFamily="34" charset="-120"/>
              </a:rPr>
              <a:t> and </a:t>
            </a:r>
            <a:pPr indent="0" marL="0">
              <a:buNone/>
            </a:pPr>
            <a:r>
              <a:rPr lang="en-US" sz="1500" dirty="0">
                <a:solidFill>
                  <a:srgbClr val="C2410C"/>
                </a:solidFill>
                <a:latin typeface="JetBrains Mono" pitchFamily="34" charset="0"/>
                <a:ea typeface="JetBrains Mono" pitchFamily="34" charset="-122"/>
                <a:cs typeface="JetBrains Mono" pitchFamily="34" charset="-120"/>
              </a:rPr>
              <a:t>sail artisan test</a:t>
            </a:r>
            <a:endParaRPr lang="en-US" sz="1500" dirty="0"/>
          </a:p>
        </p:txBody>
      </p:sp>
      <p:sp>
        <p:nvSpPr>
          <p:cNvPr id="25" name="Shape 23"/>
          <p:cNvSpPr/>
          <p:nvPr/>
        </p:nvSpPr>
        <p:spPr>
          <a:xfrm>
            <a:off x="4754880" y="48646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864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8463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Commit, then compare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git diff day1-end</a:t>
            </a:r>
            <a:endParaRPr lang="en-US" sz="1500" dirty="0"/>
          </a:p>
        </p:txBody>
      </p:sp>
      <p:sp>
        <p:nvSpPr>
          <p:cNvPr id="28" name="Shape 26"/>
          <p:cNvSpPr/>
          <p:nvPr/>
        </p:nvSpPr>
        <p:spPr>
          <a:xfrm>
            <a:off x="4754880" y="5440680"/>
            <a:ext cx="6888175" cy="685800"/>
          </a:xfrm>
          <a:prstGeom prst="roundRect">
            <a:avLst>
              <a:gd name="adj" fmla="val 10667"/>
            </a:avLst>
          </a:prstGeom>
          <a:solidFill>
            <a:srgbClr val="F6F3EE"/>
          </a:solidFill>
          <a:ln w="12700">
            <a:solidFill>
              <a:srgbClr val="D0CBC0"/>
            </a:solidFill>
            <a:prstDash val="solid"/>
          </a:ln>
        </p:spPr>
      </p:sp>
      <p:sp>
        <p:nvSpPr>
          <p:cNvPr id="29" name="Text 27"/>
          <p:cNvSpPr txBox="1"/>
          <p:nvPr/>
        </p:nvSpPr>
        <p:spPr>
          <a:xfrm>
            <a:off x="4983480" y="5486400"/>
            <a:ext cx="6430975" cy="5943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tests are green (23 at </a:t>
            </a:r>
            <a:pPr indent="0" marL="0">
              <a:buNone/>
            </a:pPr>
            <a:r>
              <a:rPr lang="en-US" sz="1400" dirty="0">
                <a:solidFill>
                  <a:srgbClr val="C2410C"/>
                </a:solidFill>
                <a:latin typeface="JetBrains Mono" pitchFamily="34" charset="0"/>
                <a:ea typeface="JetBrains Mono" pitchFamily="34" charset="-122"/>
                <a:cs typeface="JetBrains Mono" pitchFamily="34" charset="-120"/>
              </a:rPr>
              <a:t>day1-end</a:t>
            </a:r>
            <a:pPr indent="0" marL="0">
              <a:buNone/>
            </a:pPr>
            <a:r>
              <a:rPr lang="en-US" sz="1400" dirty="0">
                <a:solidFill>
                  <a:srgbClr val="272827"/>
                </a:solidFill>
                <a:latin typeface="Inter" pitchFamily="34" charset="0"/>
                <a:ea typeface="Inter" pitchFamily="34" charset="-122"/>
                <a:cs typeface="Inter" pitchFamily="34" charset="-120"/>
              </a:rPr>
              <a:t>), the seeder loads 8 cities with 56 distance rows, and your schema matches the tag.</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Recap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خلاصة اليوم</a:t>
            </a:r>
            <a:endParaRPr lang="ar-LY" sz="1700" dirty="0"/>
          </a:p>
        </p:txBody>
      </p:sp>
      <p:sp>
        <p:nvSpPr>
          <p:cNvPr id="4" name="Shape 2"/>
          <p:cNvSpPr/>
          <p:nvPr/>
        </p:nvSpPr>
        <p:spPr>
          <a:xfrm>
            <a:off x="548640" y="1810512"/>
            <a:ext cx="365760" cy="365760"/>
          </a:xfrm>
          <a:prstGeom prst="ellipse">
            <a:avLst/>
          </a:prstGeom>
          <a:solidFill>
            <a:srgbClr val="FF5723"/>
          </a:solidFill>
          <a:ln w="12700">
            <a:solidFill>
              <a:srgbClr val="FF5723"/>
            </a:solidFill>
            <a:prstDash val="solid"/>
          </a:ln>
        </p:spPr>
      </p:sp>
      <p:sp>
        <p:nvSpPr>
          <p:cNvPr id="5" name="Text 3"/>
          <p:cNvSpPr txBox="1"/>
          <p:nvPr/>
        </p:nvSpPr>
        <p:spPr>
          <a:xfrm>
            <a:off x="548640"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6" name="Text 4"/>
          <p:cNvSpPr txBox="1"/>
          <p:nvPr/>
        </p:nvSpPr>
        <p:spPr>
          <a:xfrm>
            <a:off x="1097280" y="17830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An LLM predicts tokens; an </a:t>
            </a:r>
            <a:pPr indent="0" marL="0">
              <a:buNone/>
            </a:pPr>
            <a:r>
              <a:rPr lang="en-US" sz="1600" b="1" dirty="0">
                <a:solidFill>
                  <a:srgbClr val="272827"/>
                </a:solidFill>
                <a:latin typeface="Inter" pitchFamily="34" charset="0"/>
                <a:ea typeface="Inter" pitchFamily="34" charset="-122"/>
                <a:cs typeface="Inter" pitchFamily="34" charset="-120"/>
              </a:rPr>
              <a:t>agent</a:t>
            </a:r>
            <a:pPr indent="0" marL="0">
              <a:buNone/>
            </a:pPr>
            <a:r>
              <a:rPr lang="en-US" sz="1600" dirty="0">
                <a:solidFill>
                  <a:srgbClr val="272827"/>
                </a:solidFill>
                <a:latin typeface="Inter" pitchFamily="34" charset="0"/>
                <a:ea typeface="Inter" pitchFamily="34" charset="-122"/>
                <a:cs typeface="Inter" pitchFamily="34" charset="-120"/>
              </a:rPr>
              <a:t> loops through tools until done</a:t>
            </a:r>
            <a:endParaRPr lang="en-US" sz="1600" dirty="0"/>
          </a:p>
        </p:txBody>
      </p:sp>
      <p:sp>
        <p:nvSpPr>
          <p:cNvPr id="7" name="Shape 5"/>
          <p:cNvSpPr/>
          <p:nvPr/>
        </p:nvSpPr>
        <p:spPr>
          <a:xfrm>
            <a:off x="548640" y="2542032"/>
            <a:ext cx="365760" cy="365760"/>
          </a:xfrm>
          <a:prstGeom prst="ellipse">
            <a:avLst/>
          </a:prstGeom>
          <a:solidFill>
            <a:srgbClr val="FF5723"/>
          </a:solidFill>
          <a:ln w="12700">
            <a:solidFill>
              <a:srgbClr val="FF5723"/>
            </a:solidFill>
            <a:prstDash val="solid"/>
          </a:ln>
        </p:spPr>
      </p:sp>
      <p:sp>
        <p:nvSpPr>
          <p:cNvPr id="8" name="Text 6"/>
          <p:cNvSpPr txBox="1"/>
          <p:nvPr/>
        </p:nvSpPr>
        <p:spPr>
          <a:xfrm>
            <a:off x="548640" y="25420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097280" y="251460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Context is everything: </a:t>
            </a:r>
            <a:pPr indent="0" marL="0">
              <a:buNone/>
            </a:pPr>
            <a:r>
              <a:rPr lang="en-US" sz="1600" dirty="0">
                <a:solidFill>
                  <a:srgbClr val="C2410C"/>
                </a:solidFill>
                <a:latin typeface="JetBrains Mono" pitchFamily="34" charset="0"/>
                <a:ea typeface="JetBrains Mono" pitchFamily="34" charset="-122"/>
                <a:cs typeface="JetBrains Mono" pitchFamily="34" charset="-120"/>
              </a:rPr>
              <a:t>CLAUDE.md</a:t>
            </a:r>
            <a:pPr indent="0" marL="0">
              <a:buNone/>
            </a:pPr>
            <a:r>
              <a:rPr lang="en-US" sz="1600" dirty="0">
                <a:solidFill>
                  <a:srgbClr val="272827"/>
                </a:solidFill>
                <a:latin typeface="Inter" pitchFamily="34" charset="0"/>
                <a:ea typeface="Inter" pitchFamily="34" charset="-122"/>
                <a:cs typeface="Inter" pitchFamily="34" charset="-120"/>
              </a:rPr>
              <a:t>, Boost and focused prompts</a:t>
            </a:r>
            <a:endParaRPr lang="en-US" sz="1600" dirty="0"/>
          </a:p>
        </p:txBody>
      </p:sp>
      <p:sp>
        <p:nvSpPr>
          <p:cNvPr id="10" name="Shape 8"/>
          <p:cNvSpPr/>
          <p:nvPr/>
        </p:nvSpPr>
        <p:spPr>
          <a:xfrm>
            <a:off x="548640" y="3273552"/>
            <a:ext cx="365760" cy="365760"/>
          </a:xfrm>
          <a:prstGeom prst="ellipse">
            <a:avLst/>
          </a:prstGeom>
          <a:solidFill>
            <a:srgbClr val="FF5723"/>
          </a:solidFill>
          <a:ln w="12700">
            <a:solidFill>
              <a:srgbClr val="FF5723"/>
            </a:solidFill>
            <a:prstDash val="solid"/>
          </a:ln>
        </p:spPr>
      </p:sp>
      <p:sp>
        <p:nvSpPr>
          <p:cNvPr id="11" name="Text 9"/>
          <p:cNvSpPr txBox="1"/>
          <p:nvPr/>
        </p:nvSpPr>
        <p:spPr>
          <a:xfrm>
            <a:off x="548640" y="32735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1097280" y="3246120"/>
            <a:ext cx="5486400" cy="640080"/>
          </a:xfrm>
          <a:prstGeom prst="rect">
            <a:avLst/>
          </a:prstGeom>
          <a:noFill/>
          <a:ln/>
        </p:spPr>
        <p:txBody>
          <a:bodyPr wrap="square" lIns="0" tIns="0" rIns="0" bIns="0" rtlCol="0" anchor="t"/>
          <a:lstStyle/>
          <a:p>
            <a:pPr indent="0" marL="0">
              <a:buNone/>
            </a:pPr>
            <a:r>
              <a:rPr lang="en-US" sz="1600" b="1" dirty="0">
                <a:solidFill>
                  <a:srgbClr val="272827"/>
                </a:solidFill>
                <a:latin typeface="Inter" pitchFamily="34" charset="0"/>
                <a:ea typeface="Inter" pitchFamily="34" charset="-122"/>
                <a:cs typeface="Inter" pitchFamily="34" charset="-120"/>
              </a:rPr>
              <a:t>Explore → Plan → Implement → Verify</a:t>
            </a:r>
            <a:pPr indent="0" marL="0">
              <a:buNone/>
            </a:pPr>
            <a:r>
              <a:rPr lang="en-US" sz="1600" dirty="0">
                <a:solidFill>
                  <a:srgbClr val="272827"/>
                </a:solidFill>
                <a:latin typeface="Inter" pitchFamily="34" charset="0"/>
                <a:ea typeface="Inter" pitchFamily="34" charset="-122"/>
                <a:cs typeface="Inter" pitchFamily="34" charset="-120"/>
              </a:rPr>
              <a:t>, in small slices</a:t>
            </a:r>
            <a:endParaRPr lang="en-US" sz="1600" dirty="0"/>
          </a:p>
        </p:txBody>
      </p:sp>
      <p:sp>
        <p:nvSpPr>
          <p:cNvPr id="13" name="Shape 11"/>
          <p:cNvSpPr/>
          <p:nvPr/>
        </p:nvSpPr>
        <p:spPr>
          <a:xfrm>
            <a:off x="548640" y="4005072"/>
            <a:ext cx="365760" cy="365760"/>
          </a:xfrm>
          <a:prstGeom prst="ellipse">
            <a:avLst/>
          </a:prstGeom>
          <a:solidFill>
            <a:srgbClr val="FF5723"/>
          </a:solidFill>
          <a:ln w="12700">
            <a:solidFill>
              <a:srgbClr val="FF5723"/>
            </a:solidFill>
            <a:prstDash val="solid"/>
          </a:ln>
        </p:spPr>
      </p:sp>
      <p:sp>
        <p:nvSpPr>
          <p:cNvPr id="14" name="Text 12"/>
          <p:cNvSpPr txBox="1"/>
          <p:nvPr/>
        </p:nvSpPr>
        <p:spPr>
          <a:xfrm>
            <a:off x="548640" y="40050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5" name="Text 13"/>
          <p:cNvSpPr txBox="1"/>
          <p:nvPr/>
        </p:nvSpPr>
        <p:spPr>
          <a:xfrm>
            <a:off x="1097280" y="397764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Laravel: routes → middleware → controller → Eloquent → JSON</a:t>
            </a:r>
            <a:endParaRPr lang="en-US" sz="1600" dirty="0"/>
          </a:p>
        </p:txBody>
      </p:sp>
      <p:sp>
        <p:nvSpPr>
          <p:cNvPr id="16" name="Shape 14"/>
          <p:cNvSpPr/>
          <p:nvPr/>
        </p:nvSpPr>
        <p:spPr>
          <a:xfrm>
            <a:off x="548640" y="4736592"/>
            <a:ext cx="365760" cy="365760"/>
          </a:xfrm>
          <a:prstGeom prst="ellipse">
            <a:avLst/>
          </a:prstGeom>
          <a:solidFill>
            <a:srgbClr val="FF5723"/>
          </a:solidFill>
          <a:ln w="12700">
            <a:solidFill>
              <a:srgbClr val="FF5723"/>
            </a:solidFill>
            <a:prstDash val="solid"/>
          </a:ln>
        </p:spPr>
      </p:sp>
      <p:sp>
        <p:nvSpPr>
          <p:cNvPr id="17" name="Text 15"/>
          <p:cNvSpPr txBox="1"/>
          <p:nvPr/>
        </p:nvSpPr>
        <p:spPr>
          <a:xfrm>
            <a:off x="548640" y="47365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8" name="Text 16"/>
          <p:cNvSpPr txBox="1"/>
          <p:nvPr/>
        </p:nvSpPr>
        <p:spPr>
          <a:xfrm>
            <a:off x="1097280" y="470916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The schema is code: review keys, uniques and money types</a:t>
            </a:r>
            <a:endParaRPr lang="en-US" sz="1600" dirty="0"/>
          </a:p>
        </p:txBody>
      </p:sp>
      <p:sp>
        <p:nvSpPr>
          <p:cNvPr id="19" name="Shape 17"/>
          <p:cNvSpPr/>
          <p:nvPr/>
        </p:nvSpPr>
        <p:spPr>
          <a:xfrm>
            <a:off x="548640" y="5468112"/>
            <a:ext cx="365760" cy="365760"/>
          </a:xfrm>
          <a:prstGeom prst="ellipse">
            <a:avLst/>
          </a:prstGeom>
          <a:solidFill>
            <a:srgbClr val="FF5723"/>
          </a:solidFill>
          <a:ln w="12700">
            <a:solidFill>
              <a:srgbClr val="FF5723"/>
            </a:solidFill>
            <a:prstDash val="solid"/>
          </a:ln>
        </p:spPr>
      </p:sp>
      <p:sp>
        <p:nvSpPr>
          <p:cNvPr id="20" name="Text 18"/>
          <p:cNvSpPr txBox="1"/>
          <p:nvPr/>
        </p:nvSpPr>
        <p:spPr>
          <a:xfrm>
            <a:off x="548640" y="54681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1" name="Text 19"/>
          <p:cNvSpPr txBox="1"/>
          <p:nvPr/>
        </p:nvSpPr>
        <p:spPr>
          <a:xfrm>
            <a:off x="1097280" y="54406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If you cannot review it, you cannot merge it</a:t>
            </a:r>
            <a:endParaRPr lang="en-US" sz="1600" dirty="0"/>
          </a:p>
        </p:txBody>
      </p:sp>
      <p:sp>
        <p:nvSpPr>
          <p:cNvPr id="22" name="Shape 20"/>
          <p:cNvSpPr/>
          <p:nvPr/>
        </p:nvSpPr>
        <p:spPr>
          <a:xfrm>
            <a:off x="6949440" y="1691640"/>
            <a:ext cx="4693615" cy="4434840"/>
          </a:xfrm>
          <a:prstGeom prst="roundRect">
            <a:avLst>
              <a:gd name="adj" fmla="val 1649"/>
            </a:avLst>
          </a:prstGeom>
          <a:solidFill>
            <a:srgbClr val="272827"/>
          </a:solidFill>
          <a:ln w="12700">
            <a:solidFill>
              <a:srgbClr val="272827"/>
            </a:solidFill>
            <a:prstDash val="solid"/>
          </a:ln>
        </p:spPr>
      </p:sp>
      <p:sp>
        <p:nvSpPr>
          <p:cNvPr id="23" name="Text 21"/>
          <p:cNvSpPr txBox="1"/>
          <p:nvPr/>
        </p:nvSpPr>
        <p:spPr>
          <a:xfrm>
            <a:off x="7269480" y="1965960"/>
            <a:ext cx="40535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EXIT TICKET TEASER · 15:45</a:t>
            </a:r>
            <a:endParaRPr lang="en-US" sz="1100" dirty="0"/>
          </a:p>
        </p:txBody>
      </p:sp>
      <p:sp>
        <p:nvSpPr>
          <p:cNvPr id="24" name="Text 22"/>
          <p:cNvSpPr txBox="1"/>
          <p:nvPr/>
        </p:nvSpPr>
        <p:spPr>
          <a:xfrm>
            <a:off x="7269480" y="2377440"/>
            <a:ext cx="4053535" cy="1097280"/>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The agent says "all tests pass". What do you do first?</a:t>
            </a:r>
            <a:endParaRPr lang="en-US" sz="1700" dirty="0"/>
          </a:p>
        </p:txBody>
      </p:sp>
      <p:sp>
        <p:nvSpPr>
          <p:cNvPr id="25" name="Shape 23"/>
          <p:cNvSpPr/>
          <p:nvPr/>
        </p:nvSpPr>
        <p:spPr>
          <a:xfrm>
            <a:off x="7269480" y="3566160"/>
            <a:ext cx="365760" cy="365760"/>
          </a:xfrm>
          <a:prstGeom prst="ellipse">
            <a:avLst/>
          </a:prstGeom>
          <a:solidFill>
            <a:srgbClr val="3A3B3A"/>
          </a:solidFill>
          <a:ln w="12700">
            <a:solidFill>
              <a:srgbClr val="3A3B3A"/>
            </a:solidFill>
            <a:prstDash val="solid"/>
          </a:ln>
        </p:spPr>
      </p:sp>
      <p:sp>
        <p:nvSpPr>
          <p:cNvPr id="26" name="Text 24"/>
          <p:cNvSpPr txBox="1"/>
          <p:nvPr/>
        </p:nvSpPr>
        <p:spPr>
          <a:xfrm>
            <a:off x="7269480" y="35661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a:t>
            </a:r>
            <a:endParaRPr lang="en-US" sz="1100" dirty="0"/>
          </a:p>
        </p:txBody>
      </p:sp>
      <p:sp>
        <p:nvSpPr>
          <p:cNvPr id="27" name="Text 25"/>
          <p:cNvSpPr txBox="1"/>
          <p:nvPr/>
        </p:nvSpPr>
        <p:spPr>
          <a:xfrm>
            <a:off x="7772400" y="3520440"/>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Merge the branch</a:t>
            </a:r>
            <a:endParaRPr lang="en-US" sz="1400" dirty="0"/>
          </a:p>
        </p:txBody>
      </p:sp>
      <p:sp>
        <p:nvSpPr>
          <p:cNvPr id="28" name="Shape 26"/>
          <p:cNvSpPr/>
          <p:nvPr/>
        </p:nvSpPr>
        <p:spPr>
          <a:xfrm>
            <a:off x="7269480" y="4133088"/>
            <a:ext cx="365760" cy="365760"/>
          </a:xfrm>
          <a:prstGeom prst="ellipse">
            <a:avLst/>
          </a:prstGeom>
          <a:solidFill>
            <a:srgbClr val="3A3B3A"/>
          </a:solidFill>
          <a:ln w="12700">
            <a:solidFill>
              <a:srgbClr val="3A3B3A"/>
            </a:solidFill>
            <a:prstDash val="solid"/>
          </a:ln>
        </p:spPr>
      </p:sp>
      <p:sp>
        <p:nvSpPr>
          <p:cNvPr id="29" name="Text 27"/>
          <p:cNvSpPr txBox="1"/>
          <p:nvPr/>
        </p:nvSpPr>
        <p:spPr>
          <a:xfrm>
            <a:off x="7269480" y="41330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B</a:t>
            </a:r>
            <a:endParaRPr lang="en-US" sz="1100" dirty="0"/>
          </a:p>
        </p:txBody>
      </p:sp>
      <p:sp>
        <p:nvSpPr>
          <p:cNvPr id="30" name="Text 28"/>
          <p:cNvSpPr txBox="1"/>
          <p:nvPr/>
        </p:nvSpPr>
        <p:spPr>
          <a:xfrm>
            <a:off x="7772400" y="4087368"/>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Run </a:t>
            </a:r>
            <a:pPr indent="0" marL="0">
              <a:buNone/>
            </a:pPr>
            <a:r>
              <a:rPr lang="en-US" sz="1400" dirty="0">
                <a:solidFill>
                  <a:srgbClr val="FFB59C"/>
                </a:solidFill>
                <a:latin typeface="JetBrains Mono" pitchFamily="34" charset="0"/>
                <a:ea typeface="JetBrains Mono" pitchFamily="34" charset="-122"/>
                <a:cs typeface="JetBrains Mono" pitchFamily="34" charset="-120"/>
              </a:rPr>
              <a:t>sail artisan test</a:t>
            </a:r>
            <a:pPr indent="0" marL="0">
              <a:buNone/>
            </a:pPr>
            <a:r>
              <a:rPr lang="en-US" sz="1400" dirty="0">
                <a:solidFill>
                  <a:srgbClr val="E8E2D9"/>
                </a:solidFill>
                <a:latin typeface="Inter" pitchFamily="34" charset="0"/>
                <a:ea typeface="Inter" pitchFamily="34" charset="-122"/>
                <a:cs typeface="Inter" pitchFamily="34" charset="-120"/>
              </a:rPr>
              <a:t> yourself</a:t>
            </a:r>
            <a:endParaRPr lang="en-US" sz="1400" dirty="0"/>
          </a:p>
        </p:txBody>
      </p:sp>
      <p:sp>
        <p:nvSpPr>
          <p:cNvPr id="31" name="Shape 29"/>
          <p:cNvSpPr/>
          <p:nvPr/>
        </p:nvSpPr>
        <p:spPr>
          <a:xfrm>
            <a:off x="7269480" y="4700016"/>
            <a:ext cx="365760" cy="365760"/>
          </a:xfrm>
          <a:prstGeom prst="ellipse">
            <a:avLst/>
          </a:prstGeom>
          <a:solidFill>
            <a:srgbClr val="3A3B3A"/>
          </a:solidFill>
          <a:ln w="12700">
            <a:solidFill>
              <a:srgbClr val="3A3B3A"/>
            </a:solidFill>
            <a:prstDash val="solid"/>
          </a:ln>
        </p:spPr>
      </p:sp>
      <p:sp>
        <p:nvSpPr>
          <p:cNvPr id="32" name="Text 30"/>
          <p:cNvSpPr txBox="1"/>
          <p:nvPr/>
        </p:nvSpPr>
        <p:spPr>
          <a:xfrm>
            <a:off x="7269480" y="47000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a:t>
            </a:r>
            <a:endParaRPr lang="en-US" sz="1100" dirty="0"/>
          </a:p>
        </p:txBody>
      </p:sp>
      <p:sp>
        <p:nvSpPr>
          <p:cNvPr id="33" name="Text 31"/>
          <p:cNvSpPr txBox="1"/>
          <p:nvPr/>
        </p:nvSpPr>
        <p:spPr>
          <a:xfrm>
            <a:off x="7772400" y="4654296"/>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Ask the agent if it is sure</a:t>
            </a:r>
            <a:endParaRPr lang="en-US" sz="1400" dirty="0"/>
          </a:p>
        </p:txBody>
      </p:sp>
      <p:sp>
        <p:nvSpPr>
          <p:cNvPr id="34" name="Shape 32"/>
          <p:cNvSpPr/>
          <p:nvPr/>
        </p:nvSpPr>
        <p:spPr>
          <a:xfrm>
            <a:off x="7269480" y="5266944"/>
            <a:ext cx="365760" cy="365760"/>
          </a:xfrm>
          <a:prstGeom prst="ellipse">
            <a:avLst/>
          </a:prstGeom>
          <a:solidFill>
            <a:srgbClr val="3A3B3A"/>
          </a:solidFill>
          <a:ln w="12700">
            <a:solidFill>
              <a:srgbClr val="3A3B3A"/>
            </a:solidFill>
            <a:prstDash val="solid"/>
          </a:ln>
        </p:spPr>
      </p:sp>
      <p:sp>
        <p:nvSpPr>
          <p:cNvPr id="35" name="Text 33"/>
          <p:cNvSpPr txBox="1"/>
          <p:nvPr/>
        </p:nvSpPr>
        <p:spPr>
          <a:xfrm>
            <a:off x="7269480" y="5266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D</a:t>
            </a:r>
            <a:endParaRPr lang="en-US" sz="1100" dirty="0"/>
          </a:p>
        </p:txBody>
      </p:sp>
      <p:sp>
        <p:nvSpPr>
          <p:cNvPr id="36" name="Text 34"/>
          <p:cNvSpPr txBox="1"/>
          <p:nvPr/>
        </p:nvSpPr>
        <p:spPr>
          <a:xfrm>
            <a:off x="7772400" y="5221224"/>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Delete the tests</a:t>
            </a:r>
            <a:endParaRPr lang="en-US" sz="1400" dirty="0"/>
          </a:p>
        </p:txBody>
      </p:sp>
      <p:sp>
        <p:nvSpPr>
          <p:cNvPr id="37" name="Text 35"/>
          <p:cNvSpPr txBox="1"/>
          <p:nvPr/>
        </p:nvSpPr>
        <p:spPr>
          <a:xfrm>
            <a:off x="7269480" y="5623560"/>
            <a:ext cx="4053535" cy="274320"/>
          </a:xfrm>
          <a:prstGeom prst="rect">
            <a:avLst/>
          </a:prstGeom>
          <a:noFill/>
          <a:ln/>
        </p:spPr>
        <p:txBody>
          <a:bodyPr wrap="square" lIns="0" tIns="0" rIns="0" bIns="0" rtlCol="0" anchor="ctr"/>
          <a:lstStyle/>
          <a:p>
            <a:pPr indent="0" marL="0">
              <a:buNone/>
            </a:pPr>
            <a:r>
              <a:rPr lang="en-US" sz="1100" dirty="0">
                <a:solidFill>
                  <a:srgbClr val="9CA3AF"/>
                </a:solidFill>
                <a:latin typeface="Inter" pitchFamily="34" charset="0"/>
                <a:ea typeface="Inter" pitchFamily="34" charset="-122"/>
                <a:cs typeface="Inter" pitchFamily="34" charset="-120"/>
              </a:rPr>
              <a:t>5 MCQ + 1 short answer · answer key with your instructor</a:t>
            </a:r>
            <a:endParaRPr lang="en-US" sz="11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675120" cy="1737360"/>
          </a:xfrm>
          <a:prstGeom prst="rect">
            <a:avLst/>
          </a:prstGeom>
          <a:noFill/>
          <a:ln/>
        </p:spPr>
        <p:txBody>
          <a:bodyPr wrap="square" lIns="0" tIns="0" rIns="0" bIns="0" rtlCol="0" anchor="t"/>
          <a:lstStyle/>
          <a:p>
            <a:pPr indent="0" marL="0">
              <a:buNone/>
            </a:pPr>
            <a:r>
              <a:rPr lang="en-US" sz="4800" b="1" dirty="0">
                <a:solidFill>
                  <a:srgbClr val="FFFFFF"/>
                </a:solidFill>
                <a:latin typeface="Playfair Display" pitchFamily="34" charset="0"/>
                <a:ea typeface="Playfair Display" pitchFamily="34" charset="-122"/>
                <a:cs typeface="Playfair Display" pitchFamily="34" charset="-120"/>
              </a:rPr>
              <a:t>Thank you</a:t>
            </a:r>
            <a:endParaRPr lang="en-US" sz="4800" dirty="0"/>
          </a:p>
          <a:p>
            <a:pPr indent="0" marL="0">
              <a:buNone/>
            </a:pPr>
            <a:r>
              <a:rPr lang="en-US" sz="4800" b="1" dirty="0">
                <a:solidFill>
                  <a:srgbClr val="FF5723"/>
                </a:solidFill>
                <a:latin typeface="Playfair Display" pitchFamily="34" charset="0"/>
                <a:ea typeface="Playfair Display" pitchFamily="34" charset="-122"/>
                <a:cs typeface="Playfair Display" pitchFamily="34" charset="-120"/>
              </a:rPr>
              <a:t>Day 1 done.</a:t>
            </a:r>
            <a:endParaRPr lang="en-US" sz="4800" dirty="0"/>
          </a:p>
        </p:txBody>
      </p:sp>
      <p:sp>
        <p:nvSpPr>
          <p:cNvPr id="5" name="Text 1"/>
          <p:cNvSpPr txBox="1"/>
          <p:nvPr/>
        </p:nvSpPr>
        <p:spPr>
          <a:xfrm>
            <a:off x="548640" y="3611880"/>
            <a:ext cx="6675120" cy="548640"/>
          </a:xfrm>
          <a:prstGeom prst="rect">
            <a:avLst/>
          </a:prstGeom>
          <a:noFill/>
          <a:ln/>
        </p:spPr>
        <p:txBody>
          <a:bodyPr wrap="square" lIns="0" tIns="0" rIns="0" bIns="0" rtlCol="0" anchor="t"/>
          <a:lstStyle/>
          <a:p>
            <a:pPr rtl="1" algn="l" indent="0" marL="0">
              <a:buNone/>
            </a:pPr>
            <a:r>
              <a:rPr lang="ar-LY" altLang="en-US" sz="2800" dirty="0">
                <a:solidFill>
                  <a:srgbClr val="D0CBC0"/>
                </a:solidFill>
                <a:latin typeface="Tajawal ExtraBold" pitchFamily="34" charset="0"/>
                <a:ea typeface="Tajawal ExtraBold" pitchFamily="34" charset="-122"/>
                <a:cs typeface="Tajawal ExtraBold" pitchFamily="34" charset="-120"/>
              </a:rPr>
              <a:t>شكراً لكم</a:t>
            </a:r>
            <a:endParaRPr lang="ar-LY" sz="2800" dirty="0"/>
          </a:p>
        </p:txBody>
      </p:sp>
      <p:sp>
        <p:nvSpPr>
          <p:cNvPr id="6" name="Text 2"/>
          <p:cNvSpPr txBox="1"/>
          <p:nvPr/>
        </p:nvSpPr>
        <p:spPr>
          <a:xfrm>
            <a:off x="548640" y="4389120"/>
            <a:ext cx="6675120" cy="914400"/>
          </a:xfrm>
          <a:prstGeom prst="rect">
            <a:avLst/>
          </a:prstGeom>
          <a:noFill/>
          <a:ln/>
        </p:spPr>
        <p:txBody>
          <a:bodyPr wrap="square" lIns="0" tIns="0" rIns="0" bIns="0" rtlCol="0" anchor="t"/>
          <a:lstStyle/>
          <a:p>
            <a:pPr indent="0" marL="0">
              <a:buNone/>
            </a:pPr>
            <a:r>
              <a:rPr lang="en-US" sz="1700" b="1" dirty="0">
                <a:solidFill>
                  <a:srgbClr val="FF5723"/>
                </a:solidFill>
                <a:latin typeface="Inter" pitchFamily="34" charset="0"/>
                <a:ea typeface="Inter" pitchFamily="34" charset="-122"/>
                <a:cs typeface="Inter" pitchFamily="34" charset="-120"/>
              </a:rPr>
              <a:t>Tomorrow, Day 2:</a:t>
            </a:r>
            <a:pPr indent="0" marL="0">
              <a:buNone/>
            </a:pPr>
            <a:r>
              <a:rPr lang="en-US" sz="1700" dirty="0">
                <a:solidFill>
                  <a:srgbClr val="E8E2D9"/>
                </a:solidFill>
                <a:latin typeface="Inter" pitchFamily="34" charset="0"/>
                <a:ea typeface="Inter" pitchFamily="34" charset="-122"/>
                <a:cs typeface="Inter" pitchFamily="34" charset="-120"/>
              </a:rPr>
              <a:t> APIs and data, done right. Quotes, bookings, auth and test-first with the agent. Start from </a:t>
            </a:r>
            <a:pPr indent="0" marL="0">
              <a:buNone/>
            </a:pPr>
            <a:r>
              <a:rPr lang="en-US" sz="1700" dirty="0">
                <a:solidFill>
                  <a:srgbClr val="FFB59C"/>
                </a:solidFill>
                <a:latin typeface="JetBrains Mono" pitchFamily="34" charset="0"/>
                <a:ea typeface="JetBrains Mono" pitchFamily="34" charset="-122"/>
                <a:cs typeface="JetBrains Mono" pitchFamily="34" charset="-120"/>
              </a:rPr>
              <a:t>day1-end</a:t>
            </a:r>
            <a:pPr indent="0" marL="0">
              <a:buNone/>
            </a:pPr>
            <a:r>
              <a:rPr lang="en-US" sz="1700" dirty="0">
                <a:solidFill>
                  <a:srgbClr val="E8E2D9"/>
                </a:solidFill>
                <a:latin typeface="Inter" pitchFamily="34" charset="0"/>
                <a:ea typeface="Inter" pitchFamily="34" charset="-122"/>
                <a:cs typeface="Inter" pitchFamily="34" charset="-120"/>
              </a:rPr>
              <a:t>.</a:t>
            </a:r>
            <a:endParaRPr lang="en-US" sz="1700" dirty="0"/>
          </a:p>
        </p:txBody>
      </p:sp>
      <p:sp>
        <p:nvSpPr>
          <p:cNvPr id="7" name="Text 3"/>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naqlaa.ly  ·  contact@naqlaa.ly</a:t>
            </a:r>
            <a:endParaRPr lang="en-US" sz="1000" dirty="0"/>
          </a:p>
        </p:txBody>
      </p:sp>
    </p:spTree>
  </p:cSld>
  <p:clrMapOvr>
    <a:masterClrMapping/>
  </p:clrMapOvr>
</p:sld>
</file>

<file path=ppt/theme/theme1.xml><?xml version="1.0" encoding="utf-8"?>
<a:theme xmlns:a="http://schemas.openxmlformats.org/drawingml/2006/main" name="NAQLA">
  <a:themeElements>
    <a:clrScheme name="NAQLA">
      <a:dk1>
        <a:srgbClr val="272827"/>
      </a:dk1>
      <a:lt1>
        <a:srgbClr val="FFFFFF"/>
      </a:lt1>
      <a:dk2>
        <a:srgbClr val="3A3B3A"/>
      </a:dk2>
      <a:lt2>
        <a:srgbClr val="E8E2D9"/>
      </a:lt2>
      <a:accent1>
        <a:srgbClr val="FF5723"/>
      </a:accent1>
      <a:accent2>
        <a:srgbClr val="3A3B3A"/>
      </a:accent2>
      <a:accent3>
        <a:srgbClr val="6B7280"/>
      </a:accent3>
      <a:accent4>
        <a:srgbClr val="9CA3AF"/>
      </a:accent4>
      <a:accent5>
        <a:srgbClr val="D0CBC0"/>
      </a:accent5>
      <a:accent6>
        <a:srgbClr val="FF8A65"/>
      </a:accent6>
      <a:hlink>
        <a:srgbClr val="FF5723"/>
      </a:hlink>
      <a:folHlink>
        <a:srgbClr val="6B7280"/>
      </a:folHlink>
    </a:clrScheme>
    <a:fontScheme name="NAQLA">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NAQLA Training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Backend Engineering — Day 1: Working With AI Agents</dc:title>
  <dc:subject>Agentic Backend Engineering</dc:subject>
  <dc:creator>NAQLA Training Center</dc:creator>
  <cp:lastModifiedBy>NAQLA Training Center</cp:lastModifiedBy>
  <cp:revision>1</cp:revision>
  <dcterms:created xsi:type="dcterms:W3CDTF">2026-10-20T14:52:25Z</dcterms:created>
  <dcterms:modified xsi:type="dcterms:W3CDTF">2026-10-20T14:52:25Z</dcterms:modified>
</cp:coreProperties>
</file>