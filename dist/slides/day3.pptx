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notesMasterIdLst>
    <p:notesMasterId r:id="rId3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24d0e277-e0dd-bd98-f915-e7e89f3c5def}">
          <p14:sldIdLst>
            <p14:sldId id="256"/>
            <p14:sldId id="257"/>
            <p14:sldId id="258"/>
          </p14:sldIdLst>
        </p14:section>
        <p14:section name="Session A" id="{d390a9a4-477b-989e-63ee-83739e3f047d}">
          <p14:sldIdLst>
            <p14:sldId id="259"/>
            <p14:sldId id="260"/>
            <p14:sldId id="261"/>
            <p14:sldId id="262"/>
            <p14:sldId id="263"/>
            <p14:sldId id="264"/>
            <p14:sldId id="265"/>
            <p14:sldId id="266"/>
            <p14:sldId id="267"/>
            <p14:sldId id="268"/>
            <p14:sldId id="269"/>
            <p14:sldId id="270"/>
            <p14:sldId id="271"/>
          </p14:sldIdLst>
        </p14:section>
        <p14:section name="Lab 3.1" id="{286d975b-76ba-6d38-0b7c-845d6f500adc}">
          <p14:sldIdLst>
            <p14:sldId id="272"/>
          </p14:sldIdLst>
        </p14:section>
        <p14:section name="Session B" id="{829a8deb-91fd-b730-cf73-c9add417af72}">
          <p14:sldIdLst>
            <p14:sldId id="273"/>
            <p14:sldId id="274"/>
            <p14:sldId id="275"/>
            <p14:sldId id="276"/>
            <p14:sldId id="277"/>
            <p14:sldId id="278"/>
            <p14:sldId id="279"/>
            <p14:sldId id="280"/>
            <p14:sldId id="281"/>
            <p14:sldId id="282"/>
            <p14:sldId id="283"/>
            <p14:sldId id="284"/>
            <p14:sldId id="285"/>
          </p14:sldIdLst>
        </p14:section>
        <p14:section name="Lab 3.2" id="{8cc01eec-585a-6852-1271-53ea3c13d4a9}">
          <p14:sldIdLst>
            <p14:sldId id="286"/>
          </p14:sldIdLst>
        </p14:section>
        <p14:section name="Wrap-up" id="{5c3d3413-5d95-1fe9-94f7-bc202fb77377}">
          <p14:sldIdLst>
            <p14:sldId id="287"/>
            <p14:sldId id="28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notesMaster" Target="notesMasters/notes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Day 3. Yesterday we built a correct booking API. Today we make it survive real traffic: many users, slow work, retries and double taps. The rule for the whole day: measure before and after. Every claim, yours or the agent's, needs a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day. Same rhythm every day: about 40% lecture, 60% hands-on. Orange blocks are lecture + live demo, dark blocks are lab time. Point out where the checkpoint tag lands at the end of the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objectives aloud. Tell students the exit ticket at 15:45 checks exactly these.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Session A is about architecture and correctness under load. Scaling is not only 'faster code'; it is where state lives, what runs in the request, and what happens when two requests arrive at the same moment.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where does a Laravel session live by default? In files on one server, which breaks with two servers. That is why Shahna uses Sanctum tokens, Redis for cache and queues, and Postgres as the source of truth. Once the app is stateless, scaling the web tier is easy; the database is what you must protect.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The load balancer can send a user's next request to any server, so nothing user-specific may live on a server's disk or memory. Then point at the right side: ten app servers means ten times the connections and queries hitting one Postgres. That is why the rest of the morning is about doing less work per request.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four exist in the day2-end code, and today's lab fixes them: eager loading, a vehicles index on (current_city_id, type, status), queued jobs, and locks plus idempotency keys. Three are speed problems, the fourth is a correctness problem that only appears under concurrency, which is why tests on a laptop rarely catch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customer only needs to know the booking is recorded. Everything else can happen a second later on a worker. Ask: what is the shipment status right after the 201? Confirmed: the tracking timeline already shows 'Booking received.' then 'Booking confirmed.'. When AssignVehicleJob finishes, it moves to assigned with an event like 'Vehicle 5-1000 assigned.'.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BookingService::book fires one event and the controller returns. The QueueBookingJobs listener turns the event into jobs; each job picks its own queue in its constructor. In config/horizon.php, supervisor-1 works dispatch, notifications and default with auto-balancing, and supervisor-ai has its own worker with a 180-second timeout, so slow LLM calls on Day 4 and 5 never block truck assignment. Show the Horizon dashboard live after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SerializesModels stores only the shipment ID in the queue payload and reloads it on the worker, so the job sees current data. The event is dispatched inside BookingService's transaction, but ShouldDispatchAfterCommit holds it until the commit: if the transaction rolls back, no worker ever looks for a shipment that never existed.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lockForUpdate, two workers can both read the same available truck and both assign it. The row lock serializes them: the second worker blocks until the first commits, then sees the truck is busy. BookingService::assign locks both rows again and re-checks them, because the dispatcher override POST /api/dispatch/shipments/{reference}/assign uses the same method. If no truck fits, the shipment stays confirmed and a dispatcher assigns one. Stretch idea for strong teams: skipLocked() so workers pick different trucks instead of waiting.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 this out with two volunteers. Each asks the database 'is this quote used?', both hear 'no', both insert. Any code of the shape 'if not exists then create' has this race. On a slow mobile network, double taps and automatic retries make it common, not rare. In Shahna, BookingService::book closes the gap: it locks the quote row with lockForUpdate inside a transaction, so request B waits, then sees the shipment and gets a 422 'This quote has already been booked.'. The UNIQUE on quote_id is the backstop.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unique constraint and the quote lock already stop the duplicate shipment, but without idempotency the retry gets a 422 'This quote has already been booked.' even though the customer's booking succeeded. Idempotency turns that into a clean replay of the first 201. Locks protect shared rows that many requests compete for: the quote during booking and trucks during assignment.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client generates one UUID per booking attempt and reuses it on every retry of that attempt. The server stores the first response and replays it. We hash method, path and body so a client cannot reuse a key for a different booking. Two simultaneous first requests are caught by the unique (user_id, key) index: createOrFirst gives the second one the existing row, which has no response yet, so it gets a 409. A record stuck in flight for over 60 seconds is treated as abandoned and reclaimed.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it top to bottom: require the key, claim it, and either replay, reject, or run the request and store the result. The claim uses createOrFirst on the unique (user_id, key) index, so if two first requests race, exactly one creates the row; the other sees a row with no response yet and gets a 409. 4xx responses such as a 422 are stored and replayed too, because they are final; only 5xx deletes the key. IdempotencyKey uses MassPrunable, and routes/console.php schedules model:prune daily.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Agents are good at listing race conditions when asked directly, and bad at noticing them unprompted. Check its answer: the real guarantee is the database constraint and the row lock, not an if-statement in PHP. Testing true concurrency in Pest is hard; accept a test that replays the same Idempotency-Key and asserts one shipment.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that Horizon is running in every team; a missing worker is the most common reason for 'my job never ran'. Check the event implements ShouldDispatchAfterCommit, so it only fires once the booking commits. Strong teams can add skipLocked() and a test for no available vehicle. The day3-end tag has 80 passing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Session B is about evidence. Caching, rate limits and logs are tools, but the habit we want is: take a baseline, change one thing, measure again. That applies doubly when the agent proposes the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row by row and ask the room before revealing the answer. The dangerous one is personal data: cache a user's shipments under a shared key and one customer sees another's bookings. If you do cache per user, the user ID must be in the key. Every cache needs an invalidation story before it ships.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Cache::remember reads, and on a miss runs the closure and stores the result. The invalidation lives on the model, so any code path that saves or deletes a city clears the cache, including seeders and tinker. Distances get a week because roads do not move. PerformanceTest checks both: the second GET /api/cities runs zero queries, and renaming a city shows up immediately.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 query count on the day2-end version: every extra shipment adds three queries. Then add with() and the count stays flat. N+1 is the most common performance bug in ORMs, and agents both create and fix it. The PerformanceTest guard fails if anyone reintroduces it. Telescope shows the same thing visually if you choose to install it; it is not part of the repo.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Rate limits protect the database and, from Day 4, the LLM bill. Counters must be in Redis so the limit holds across all app servers. throttleApi() applies the api limiter to every API route. Demo with a quick loop of curl requests and show the 429 and Retry-After header; PerformanceTest asserts that request 61 gets a 429. The k6 script registers one account per virtual user and sleeps between iterations, so the test itself stays under the limit.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Logs are only useful if you can search them. Use a stable message and context fields instead of interpolated sentences. The request ID ties together every log line for one request, and the client can send its own X-Request-Id to correlate with its logs. Telescope and Pulse are good optional add-ons, Telescope locally and Pulse in production; they are not installed in the repo.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stages and thresholds. Each virtual user registers its own account once, then loops: quote, book with a fresh Idempotency-Key, list its shipments, sleep three seconds. Tags give separate p95 numbers for the list and book requests. Because every virtual user has its own account and sleeps, the per-user 60-per-minute limit is not hit by the test itself. BASE_URL defaults to http://localhost.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a real k6 summary on screen and find these three lines together. Explain percentiles with a queue at a bakery: the average wait looks fine while one in twenty people waits five minutes. Noise is large on laptops, so repeat runs and compare medians of runs.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table students fill in during Lab part 2. Be clear these are example numbers from an instructor run; the point is the shape. Some rows will not improve on their machine, and that is fine to report. Honest numbers beat impressive 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line matters. Agents tend to report success. By asking for raw numbers and allowing 'it did not help', you get honest output. Check its numbers yourself by re-running k6. If its claimed improvement does not reproduce, that is the lesson of the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Hold up each claim and ask what evidence would convince you. Teach EXPLAIN ANALYZE briefly: run it in psql on the shipments query and point at Seq Scan versus Index Scan. The right column is the checklist for the lab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four appear in agent-written code regularly. Retries are the subtle one: queues deliver at least once, so a job can run twice. That is why AssignVehicleJob re-reads the shipment under a lock and returns unless it is still confirmed. Ask teams to check their own job for this during the lab.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here before the lab. Every performance change in the lab report needs a before and after number, including the ones the agent made.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Insist on the baseline first; teams that skip it cannot show improvement. If k6 shows 429s, check the script still registers one account per virtual user and sleeps between iterations. The agent limiter is not today: it arrives on Day 5. Teams behind at 15:40 check out day3-end so tomorrow starts clean. Collect one surprising number per team for the standup.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then the exit ticket. Teaser answer is C: the stored first response is replayed, with the header Idempotent-Replayed: true. A 409 only happens while the first request is still being processed, not every time. Without the key, the retry would get a 422 'already booked', not a 500, because BookingService locks the quote and checks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everyone. Make sure Horizon and k6 work for every team, and that everyone can check out day3-end. Tomorrow the Shahna Assistant arrives; the ai queue we configured today serves it, and its own rate limiter comes on Day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NQ Cover">
    <p:bg>
      <p:bgPr>
        <a:solidFill>
          <a:srgbClr val="272827"/>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NQ Dark">
    <p:bg>
      <p:bgPr>
        <a:solidFill>
          <a:srgbClr val="272827"/>
        </a:solidFill>
      </p:bgPr>
    </p:bg>
    <p:spTree>
      <p:nvGrpSpPr>
        <p:cNvPr id="1" name=""/>
        <p:cNvGrpSpPr/>
        <p:nvPr/>
      </p:nvGrpSpPr>
      <p:grpSpPr>
        <a:xfrm>
          <a:off x="0" y="0"/>
          <a:ext cx="0" cy="0"/>
          <a:chOff x="0" y="0"/>
          <a:chExt cx="0" cy="0"/>
        </a:xfrm>
      </p:grpSpPr>
      <p:sp>
        <p:nvSpPr>
          <p:cNvPr id="2" name="Text 0"/>
          <p:cNvSpPr/>
          <p:nvPr/>
        </p:nvSpPr>
        <p:spPr>
          <a:xfrm>
            <a:off x="548640" y="6419088"/>
            <a:ext cx="5486400" cy="228600"/>
          </a:xfrm>
          <a:prstGeom prst="rect">
            <a:avLst/>
          </a:prstGeom>
          <a:noFill/>
          <a:ln/>
        </p:spPr>
        <p:txBody>
          <a:bodyPr wrap="square" lIns="0" tIns="0" rIns="0" bIns="0" rtlCol="0" anchor="ctr"/>
          <a:lstStyle/>
          <a:p>
            <a:pPr indent="0" marL="0">
              <a:buNone/>
            </a:pPr>
            <a:r>
              <a:rPr lang="en-US" sz="900" spc="100" kern="0" dirty="0">
                <a:solidFill>
                  <a:srgbClr val="9CA3AF"/>
                </a:solidFill>
                <a:latin typeface="Inter" pitchFamily="34" charset="0"/>
                <a:ea typeface="Inter" pitchFamily="34" charset="-122"/>
                <a:cs typeface="Inter" pitchFamily="34" charset="-120"/>
              </a:rPr>
              <a:t>NAQLA TRAINING CENTER · 03</a:t>
            </a:r>
            <a:endParaRPr lang="en-US" sz="900" dirty="0"/>
          </a:p>
        </p:txBody>
      </p:sp>
      <p:sp>
        <p:nvSpPr>
          <p:cNvPr id="25" name="Slide Number Placeholder 0"/>
          <p:cNvSpPr>
            <a:spLocks noGrp="1"/>
          </p:cNvSpPr>
          <p:nvPr>
            <p:ph type="sldNum" sz="quarter" idx="4294967295"/>
          </p:nvPr>
        </p:nvSpPr>
        <p:spPr>
          <a:xfrm>
            <a:off x="10911535" y="6419088"/>
            <a:ext cx="73152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9CA3AF"/>
                </a:solidFill>
                <a:latin typeface="Inter"/>
                <a:ea typeface="Inter"/>
                <a:cs typeface="Inter"/>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NQ Dark Title">
    <p:bg>
      <p:bgPr>
        <a:solidFill>
          <a:srgbClr val="272827"/>
        </a:solidFill>
      </p:bgPr>
    </p:bg>
    <p:spTree>
      <p:nvGrpSpPr>
        <p:cNvPr id="1" name=""/>
        <p:cNvGrpSpPr/>
        <p:nvPr/>
      </p:nvGrpSpPr>
      <p:grpSpPr>
        <a:xfrm>
          <a:off x="0" y="0"/>
          <a:ext cx="0" cy="0"/>
          <a:chOff x="0" y="0"/>
          <a:chExt cx="0" cy="0"/>
        </a:xfrm>
      </p:grpSpPr>
      <p:sp>
        <p:nvSpPr>
          <p:cNvPr id="2" name="Text 0"/>
          <p:cNvSpPr/>
          <p:nvPr/>
        </p:nvSpPr>
        <p:spPr>
          <a:xfrm>
            <a:off x="548640" y="6419088"/>
            <a:ext cx="5486400" cy="228600"/>
          </a:xfrm>
          <a:prstGeom prst="rect">
            <a:avLst/>
          </a:prstGeom>
          <a:noFill/>
          <a:ln/>
        </p:spPr>
        <p:txBody>
          <a:bodyPr wrap="square" lIns="0" tIns="0" rIns="0" bIns="0" rtlCol="0" anchor="ctr"/>
          <a:lstStyle/>
          <a:p>
            <a:pPr indent="0" marL="0">
              <a:buNone/>
            </a:pPr>
            <a:r>
              <a:rPr lang="en-US" sz="900" spc="100" kern="0" dirty="0">
                <a:solidFill>
                  <a:srgbClr val="9CA3AF"/>
                </a:solidFill>
                <a:latin typeface="Inter" pitchFamily="34" charset="0"/>
                <a:ea typeface="Inter" pitchFamily="34" charset="-122"/>
                <a:cs typeface="Inter" pitchFamily="34" charset="-120"/>
              </a:rPr>
              <a:t>NAQLA TRAINING CENTER · 03</a:t>
            </a:r>
            <a:endParaRPr lang="en-US" sz="900" dirty="0"/>
          </a:p>
        </p:txBody>
      </p:sp>
      <p:sp>
        <p:nvSpPr>
          <p:cNvPr id="3" name="Text 1"/>
          <p:cNvSpPr/>
          <p:nvPr>
            <p:ph idx="101" type="title" hasCustomPrompt="1"/>
          </p:nvPr>
        </p:nvSpPr>
        <p:spPr>
          <a:xfrm>
            <a:off x="548640" y="384048"/>
            <a:ext cx="11094415" cy="640080"/>
          </a:xfrm>
          <a:prstGeom prst="rect">
            <a:avLst/>
          </a:prstGeom>
          <a:noFill/>
          <a:ln/>
        </p:spPr>
        <p:txBody>
          <a:bodyPr wrap="square" rtlCol="0"/>
          <a:lstStyle>
            <a:lvl1pPr algn="l" indent="0" marL="0">
              <a:buNone/>
              <a:defRPr lang="en-US" sz="3200" b="1" dirty="0">
                <a:solidFill>
                  <a:srgbClr val="FFFFFF"/>
                </a:solidFill>
                <a:latin typeface="Playfair Display" pitchFamily="34" charset="0"/>
                <a:ea typeface="Playfair Display" pitchFamily="34" charset="-122"/>
                <a:cs typeface="Playfair Display"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0911535" y="6419088"/>
            <a:ext cx="73152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9CA3AF"/>
                </a:solidFill>
                <a:latin typeface="Inter"/>
                <a:ea typeface="Inter"/>
                <a:cs typeface="Inter"/>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NQ Light Title">
    <p:bg>
      <p:bgPr>
        <a:solidFill>
          <a:srgbClr val="E8E2D9"/>
        </a:solidFill>
      </p:bgPr>
    </p:bg>
    <p:spTree>
      <p:nvGrpSpPr>
        <p:cNvPr id="1" name=""/>
        <p:cNvGrpSpPr/>
        <p:nvPr/>
      </p:nvGrpSpPr>
      <p:grpSpPr>
        <a:xfrm>
          <a:off x="0" y="0"/>
          <a:ext cx="0" cy="0"/>
          <a:chOff x="0" y="0"/>
          <a:chExt cx="0" cy="0"/>
        </a:xfrm>
      </p:grpSpPr>
      <p:sp>
        <p:nvSpPr>
          <p:cNvPr id="2" name="Text 0"/>
          <p:cNvSpPr/>
          <p:nvPr/>
        </p:nvSpPr>
        <p:spPr>
          <a:xfrm>
            <a:off x="548640" y="6419088"/>
            <a:ext cx="5486400" cy="228600"/>
          </a:xfrm>
          <a:prstGeom prst="rect">
            <a:avLst/>
          </a:prstGeom>
          <a:noFill/>
          <a:ln/>
        </p:spPr>
        <p:txBody>
          <a:bodyPr wrap="square" lIns="0" tIns="0" rIns="0" bIns="0" rtlCol="0" anchor="ctr"/>
          <a:lstStyle/>
          <a:p>
            <a:pPr indent="0" marL="0">
              <a:buNone/>
            </a:pPr>
            <a:r>
              <a:rPr lang="en-US" sz="900" spc="100" kern="0" dirty="0">
                <a:solidFill>
                  <a:srgbClr val="6B7280"/>
                </a:solidFill>
                <a:latin typeface="Inter" pitchFamily="34" charset="0"/>
                <a:ea typeface="Inter" pitchFamily="34" charset="-122"/>
                <a:cs typeface="Inter" pitchFamily="34" charset="-120"/>
              </a:rPr>
              <a:t>NAQLA TRAINING CENTER · 03</a:t>
            </a:r>
            <a:endParaRPr lang="en-US" sz="900" dirty="0"/>
          </a:p>
        </p:txBody>
      </p:sp>
      <p:sp>
        <p:nvSpPr>
          <p:cNvPr id="3" name="Text 1"/>
          <p:cNvSpPr/>
          <p:nvPr>
            <p:ph idx="101" type="title" hasCustomPrompt="1"/>
          </p:nvPr>
        </p:nvSpPr>
        <p:spPr>
          <a:xfrm>
            <a:off x="548640" y="384048"/>
            <a:ext cx="11094415" cy="640080"/>
          </a:xfrm>
          <a:prstGeom prst="rect">
            <a:avLst/>
          </a:prstGeom>
          <a:noFill/>
          <a:ln/>
        </p:spPr>
        <p:txBody>
          <a:bodyPr wrap="square" rtlCol="0"/>
          <a:lstStyle>
            <a:lvl1pPr algn="l" indent="0" marL="0">
              <a:buNone/>
              <a:defRPr lang="en-US" sz="3200" b="1" dirty="0">
                <a:solidFill>
                  <a:srgbClr val="272827"/>
                </a:solidFill>
                <a:latin typeface="Playfair Display" pitchFamily="34" charset="0"/>
                <a:ea typeface="Playfair Display" pitchFamily="34" charset="-122"/>
                <a:cs typeface="Playfair Display"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0911535" y="6419088"/>
            <a:ext cx="73152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280"/>
                </a:solidFill>
                <a:latin typeface="Inter"/>
                <a:ea typeface="Inter"/>
                <a:cs typeface="Inter"/>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11535" y="6419088"/>
            <a:ext cx="73152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9CA3AF"/>
                </a:solidFill>
                <a:latin typeface="Inter"/>
                <a:ea typeface="Inter"/>
                <a:cs typeface="Inter"/>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3.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slideLayout" Target="../slideLayouts/slideLayout2.xml"/><Relationship Id="rId4"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NAQLA pattern">    </p:cNvPr>
          <p:cNvPicPr>
            <a:picLocks noChangeAspect="1"/>
          </p:cNvPicPr>
          <p:nvPr/>
        </p:nvPicPr>
        <p:blipFill>
          <a:blip r:embed="rId1"/>
          <a:srcRect l="0" r="0" t="0" b="0"/>
          <a:stretch/>
        </p:blipFill>
        <p:spPr>
          <a:xfrm>
            <a:off x="7498080" y="0"/>
            <a:ext cx="4693615" cy="6858000"/>
          </a:xfrm>
          <a:prstGeom prst="rect">
            <a:avLst/>
          </a:prstGeom>
        </p:spPr>
      </p:pic>
      <p:pic>
        <p:nvPicPr>
          <p:cNvPr id="3" name="Image 1" descr="NAQLA logo">    </p:cNvPr>
          <p:cNvPicPr>
            <a:picLocks noChangeAspect="1"/>
          </p:cNvPicPr>
          <p:nvPr/>
        </p:nvPicPr>
        <p:blipFill>
          <a:blip r:embed="rId2"/>
          <a:stretch>
            <a:fillRect/>
          </a:stretch>
        </p:blipFill>
        <p:spPr>
          <a:xfrm>
            <a:off x="548640" y="548640"/>
            <a:ext cx="1781169" cy="566928"/>
          </a:xfrm>
          <a:prstGeom prst="rect">
            <a:avLst/>
          </a:prstGeom>
        </p:spPr>
      </p:pic>
      <p:sp>
        <p:nvSpPr>
          <p:cNvPr id="4" name="Text 0"/>
          <p:cNvSpPr txBox="1"/>
          <p:nvPr/>
        </p:nvSpPr>
        <p:spPr>
          <a:xfrm>
            <a:off x="548640" y="1828800"/>
            <a:ext cx="6583680" cy="320040"/>
          </a:xfrm>
          <a:prstGeom prst="rect">
            <a:avLst/>
          </a:prstGeom>
          <a:noFill/>
          <a:ln/>
        </p:spPr>
        <p:txBody>
          <a:bodyPr wrap="square" lIns="0" tIns="0" rIns="0" bIns="0" rtlCol="0" anchor="ctr"/>
          <a:lstStyle/>
          <a:p>
            <a:pPr indent="0" marL="0">
              <a:buNone/>
            </a:pPr>
            <a:r>
              <a:rPr lang="en-US" sz="1300" b="1" spc="300" kern="0" dirty="0">
                <a:solidFill>
                  <a:srgbClr val="FF5723"/>
                </a:solidFill>
                <a:latin typeface="Inter" pitchFamily="34" charset="0"/>
                <a:ea typeface="Inter" pitchFamily="34" charset="-122"/>
                <a:cs typeface="Inter" pitchFamily="34" charset="-120"/>
              </a:rPr>
              <a:t>AGENTIC BACKEND ENGINEERING</a:t>
            </a:r>
            <a:endParaRPr lang="en-US" sz="1300" dirty="0"/>
          </a:p>
        </p:txBody>
      </p:sp>
      <p:sp>
        <p:nvSpPr>
          <p:cNvPr id="5" name="Text 1"/>
          <p:cNvSpPr txBox="1"/>
          <p:nvPr/>
        </p:nvSpPr>
        <p:spPr>
          <a:xfrm>
            <a:off x="548640" y="2240280"/>
            <a:ext cx="6675120" cy="1920240"/>
          </a:xfrm>
          <a:prstGeom prst="rect">
            <a:avLst/>
          </a:prstGeom>
          <a:noFill/>
          <a:ln/>
        </p:spPr>
        <p:txBody>
          <a:bodyPr wrap="square" lIns="0" tIns="0" rIns="0" bIns="0" rtlCol="0" anchor="t"/>
          <a:lstStyle/>
          <a:p>
            <a:pPr indent="0" marL="0">
              <a:buNone/>
            </a:pPr>
            <a:r>
              <a:rPr lang="en-US" sz="4400" b="1" dirty="0">
                <a:solidFill>
                  <a:srgbClr val="FF5723"/>
                </a:solidFill>
                <a:latin typeface="Playfair Display" pitchFamily="34" charset="0"/>
                <a:ea typeface="Playfair Display" pitchFamily="34" charset="-122"/>
                <a:cs typeface="Playfair Display" pitchFamily="34" charset="-120"/>
              </a:rPr>
              <a:t>Day 3</a:t>
            </a:r>
            <a:endParaRPr lang="en-US" sz="4400" dirty="0"/>
          </a:p>
          <a:p>
            <a:pPr indent="0" marL="0">
              <a:buNone/>
            </a:pPr>
            <a:r>
              <a:rPr lang="en-US" sz="4400" b="1" dirty="0">
                <a:solidFill>
                  <a:srgbClr val="FFFFFF"/>
                </a:solidFill>
                <a:latin typeface="Playfair Display" pitchFamily="34" charset="0"/>
                <a:ea typeface="Playfair Display" pitchFamily="34" charset="-122"/>
                <a:cs typeface="Playfair Display" pitchFamily="34" charset="-120"/>
              </a:rPr>
              <a:t>Making It Scale</a:t>
            </a:r>
            <a:endParaRPr lang="en-US" sz="4400" dirty="0"/>
          </a:p>
        </p:txBody>
      </p:sp>
      <p:sp>
        <p:nvSpPr>
          <p:cNvPr id="6" name="Text 2"/>
          <p:cNvSpPr txBox="1"/>
          <p:nvPr/>
        </p:nvSpPr>
        <p:spPr>
          <a:xfrm>
            <a:off x="548640" y="4251960"/>
            <a:ext cx="6675120" cy="502920"/>
          </a:xfrm>
          <a:prstGeom prst="rect">
            <a:avLst/>
          </a:prstGeom>
          <a:noFill/>
          <a:ln/>
        </p:spPr>
        <p:txBody>
          <a:bodyPr wrap="square" lIns="0" tIns="0" rIns="0" bIns="0" rtlCol="0" anchor="t"/>
          <a:lstStyle/>
          <a:p>
            <a:pPr rtl="1" algn="l" indent="0" marL="0">
              <a:buNone/>
            </a:pPr>
            <a:r>
              <a:rPr lang="ar-LY" altLang="en-US" sz="2600" dirty="0">
                <a:solidFill>
                  <a:srgbClr val="D0CBC0"/>
                </a:solidFill>
                <a:latin typeface="Tajawal ExtraBold" pitchFamily="34" charset="0"/>
                <a:ea typeface="Tajawal ExtraBold" pitchFamily="34" charset="-122"/>
                <a:cs typeface="Tajawal ExtraBold" pitchFamily="34" charset="-120"/>
              </a:rPr>
              <a:t>بناء أنظمة قابلة للتوسع</a:t>
            </a:r>
            <a:endParaRPr lang="ar-LY" sz="2600" dirty="0"/>
          </a:p>
        </p:txBody>
      </p:sp>
      <p:sp>
        <p:nvSpPr>
          <p:cNvPr id="7" name="Text 3"/>
          <p:cNvSpPr txBox="1"/>
          <p:nvPr/>
        </p:nvSpPr>
        <p:spPr>
          <a:xfrm>
            <a:off x="548640" y="4892040"/>
            <a:ext cx="6675120" cy="320040"/>
          </a:xfrm>
          <a:prstGeom prst="rect">
            <a:avLst/>
          </a:prstGeom>
          <a:noFill/>
          <a:ln/>
        </p:spPr>
        <p:txBody>
          <a:bodyPr wrap="square" lIns="0" tIns="0" rIns="0" bIns="0" rtlCol="0" anchor="ctr"/>
          <a:lstStyle/>
          <a:p>
            <a:pPr indent="0" marL="0">
              <a:buNone/>
            </a:pPr>
            <a:r>
              <a:rPr lang="en-US" sz="1500" dirty="0">
                <a:solidFill>
                  <a:srgbClr val="9CA3AF"/>
                </a:solidFill>
                <a:latin typeface="Inter" pitchFamily="34" charset="0"/>
                <a:ea typeface="Inter" pitchFamily="34" charset="-122"/>
                <a:cs typeface="Inter" pitchFamily="34" charset="-120"/>
              </a:rPr>
              <a:t>Build Scalable Backends With and For AI Agents</a:t>
            </a:r>
            <a:endParaRPr lang="en-US" sz="1500" dirty="0"/>
          </a:p>
        </p:txBody>
      </p:sp>
      <p:sp>
        <p:nvSpPr>
          <p:cNvPr id="8" name="Text 4"/>
          <p:cNvSpPr txBox="1"/>
          <p:nvPr/>
        </p:nvSpPr>
        <p:spPr>
          <a:xfrm>
            <a:off x="548640" y="6172200"/>
            <a:ext cx="6675120" cy="274320"/>
          </a:xfrm>
          <a:prstGeom prst="rect">
            <a:avLst/>
          </a:prstGeom>
          <a:noFill/>
          <a:ln/>
        </p:spPr>
        <p:txBody>
          <a:bodyPr wrap="square" lIns="0" tIns="0" rIns="0" bIns="0" rtlCol="0" anchor="ctr"/>
          <a:lstStyle/>
          <a:p>
            <a:pPr indent="0" marL="0">
              <a:buNone/>
            </a:pPr>
            <a:r>
              <a:rPr lang="en-US" sz="1000" spc="100" kern="0" dirty="0">
                <a:solidFill>
                  <a:srgbClr val="9CA3AF"/>
                </a:solidFill>
                <a:latin typeface="Inter" pitchFamily="34" charset="0"/>
                <a:ea typeface="Inter" pitchFamily="34" charset="-122"/>
                <a:cs typeface="Inter" pitchFamily="34" charset="-120"/>
              </a:rPr>
              <a:t>NAQLA TRAINING CENTER  ·  Tripoli  ·  naqlaa.ly</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94415" cy="640080"/>
          </a:xfrm>
          <a:prstGeom prst="rect">
            <a:avLst/>
          </a:prstGeom>
          <a:noFill/>
          <a:ln/>
        </p:spPr>
        <p:txBody>
          <a:bodyPr wrap="square" lIns="0" tIns="0" rIns="0" bIns="0" rtlCol="0" anchor="b"/>
          <a:lstStyle/>
          <a:p>
            <a:pPr algn="l" indent="0" marL="0">
              <a:buNone/>
            </a:pPr>
            <a:r>
              <a:rPr lang="en-US" sz="3200" b="1" dirty="0">
                <a:solidFill>
                  <a:srgbClr val="272827"/>
                </a:solidFill>
                <a:latin typeface="Playfair Display" pitchFamily="34" charset="0"/>
                <a:ea typeface="Playfair Display" pitchFamily="34" charset="-122"/>
                <a:cs typeface="Playfair Display" pitchFamily="34" charset="-120"/>
              </a:rPr>
              <a:t>Today's rhythm</a:t>
            </a:r>
            <a:endParaRPr lang="en-US" sz="3200" dirty="0"/>
          </a:p>
        </p:txBody>
      </p:sp>
      <p:sp>
        <p:nvSpPr>
          <p:cNvPr id="3" name="Text 1"/>
          <p:cNvSpPr txBox="1"/>
          <p:nvPr/>
        </p:nvSpPr>
        <p:spPr>
          <a:xfrm>
            <a:off x="548640" y="1060704"/>
            <a:ext cx="8229600" cy="384048"/>
          </a:xfrm>
          <a:prstGeom prst="rect">
            <a:avLst/>
          </a:prstGeom>
          <a:noFill/>
          <a:ln/>
        </p:spPr>
        <p:txBody>
          <a:bodyPr wrap="square" lIns="0" tIns="0" rIns="0" bIns="0" rtlCol="0" anchor="t"/>
          <a:lstStyle/>
          <a:p>
            <a:pPr rtl="1" algn="l" indent="0" marL="0">
              <a:buNone/>
            </a:pPr>
            <a:r>
              <a:rPr lang="ar-LY" altLang="en-US" sz="1700" dirty="0">
                <a:solidFill>
                  <a:srgbClr val="FF5723"/>
                </a:solidFill>
                <a:latin typeface="Tajawal" pitchFamily="34" charset="0"/>
                <a:ea typeface="Tajawal" pitchFamily="34" charset="-122"/>
                <a:cs typeface="Tajawal" pitchFamily="34" charset="-120"/>
              </a:rPr>
              <a:t>إيقاع اليوم</a:t>
            </a:r>
            <a:endParaRPr lang="ar-LY" sz="1700" dirty="0"/>
          </a:p>
        </p:txBody>
      </p:sp>
      <p:sp>
        <p:nvSpPr>
          <p:cNvPr id="4" name="Shape 2"/>
          <p:cNvSpPr/>
          <p:nvPr/>
        </p:nvSpPr>
        <p:spPr>
          <a:xfrm>
            <a:off x="548640" y="1783080"/>
            <a:ext cx="765026" cy="201168"/>
          </a:xfrm>
          <a:prstGeom prst="rect">
            <a:avLst/>
          </a:prstGeom>
          <a:solidFill>
            <a:srgbClr val="9CA3AF"/>
          </a:solidFill>
          <a:ln w="12700">
            <a:solidFill>
              <a:srgbClr val="9CA3AF"/>
            </a:solidFill>
            <a:prstDash val="solid"/>
          </a:ln>
        </p:spPr>
      </p:sp>
      <p:sp>
        <p:nvSpPr>
          <p:cNvPr id="5" name="Shape 3"/>
          <p:cNvSpPr/>
          <p:nvPr/>
        </p:nvSpPr>
        <p:spPr>
          <a:xfrm>
            <a:off x="1341098" y="1783080"/>
            <a:ext cx="1953714" cy="201168"/>
          </a:xfrm>
          <a:prstGeom prst="rect">
            <a:avLst/>
          </a:prstGeom>
          <a:solidFill>
            <a:srgbClr val="FF5723"/>
          </a:solidFill>
          <a:ln w="12700">
            <a:solidFill>
              <a:srgbClr val="FF5723"/>
            </a:solidFill>
            <a:prstDash val="solid"/>
          </a:ln>
        </p:spPr>
      </p:sp>
      <p:sp>
        <p:nvSpPr>
          <p:cNvPr id="6" name="Shape 4"/>
          <p:cNvSpPr/>
          <p:nvPr/>
        </p:nvSpPr>
        <p:spPr>
          <a:xfrm>
            <a:off x="3322244" y="1783080"/>
            <a:ext cx="368797" cy="201168"/>
          </a:xfrm>
          <a:prstGeom prst="rect">
            <a:avLst/>
          </a:prstGeom>
          <a:solidFill>
            <a:srgbClr val="D0CBC0"/>
          </a:solidFill>
          <a:ln w="12700">
            <a:solidFill>
              <a:srgbClr val="D0CBC0"/>
            </a:solidFill>
            <a:prstDash val="solid"/>
          </a:ln>
        </p:spPr>
      </p:sp>
      <p:sp>
        <p:nvSpPr>
          <p:cNvPr id="7" name="Shape 5"/>
          <p:cNvSpPr/>
          <p:nvPr/>
        </p:nvSpPr>
        <p:spPr>
          <a:xfrm>
            <a:off x="3718473" y="1783080"/>
            <a:ext cx="2349943" cy="201168"/>
          </a:xfrm>
          <a:prstGeom prst="rect">
            <a:avLst/>
          </a:prstGeom>
          <a:solidFill>
            <a:srgbClr val="272827"/>
          </a:solidFill>
          <a:ln w="12700">
            <a:solidFill>
              <a:srgbClr val="272827"/>
            </a:solidFill>
            <a:prstDash val="solid"/>
          </a:ln>
        </p:spPr>
      </p:sp>
      <p:sp>
        <p:nvSpPr>
          <p:cNvPr id="8" name="Shape 6"/>
          <p:cNvSpPr/>
          <p:nvPr/>
        </p:nvSpPr>
        <p:spPr>
          <a:xfrm>
            <a:off x="6095848" y="1783080"/>
            <a:ext cx="1557484" cy="201168"/>
          </a:xfrm>
          <a:prstGeom prst="rect">
            <a:avLst/>
          </a:prstGeom>
          <a:solidFill>
            <a:srgbClr val="D0CBC0"/>
          </a:solidFill>
          <a:ln w="12700">
            <a:solidFill>
              <a:srgbClr val="D0CBC0"/>
            </a:solidFill>
            <a:prstDash val="solid"/>
          </a:ln>
        </p:spPr>
      </p:sp>
      <p:sp>
        <p:nvSpPr>
          <p:cNvPr id="9" name="Shape 7"/>
          <p:cNvSpPr/>
          <p:nvPr/>
        </p:nvSpPr>
        <p:spPr>
          <a:xfrm>
            <a:off x="7680764" y="1783080"/>
            <a:ext cx="1161255" cy="201168"/>
          </a:xfrm>
          <a:prstGeom prst="rect">
            <a:avLst/>
          </a:prstGeom>
          <a:solidFill>
            <a:srgbClr val="FF5723"/>
          </a:solidFill>
          <a:ln w="12700">
            <a:solidFill>
              <a:srgbClr val="FF5723"/>
            </a:solidFill>
            <a:prstDash val="solid"/>
          </a:ln>
        </p:spPr>
      </p:sp>
      <p:sp>
        <p:nvSpPr>
          <p:cNvPr id="10" name="Shape 8"/>
          <p:cNvSpPr/>
          <p:nvPr/>
        </p:nvSpPr>
        <p:spPr>
          <a:xfrm>
            <a:off x="8869451" y="1783080"/>
            <a:ext cx="2349943" cy="201168"/>
          </a:xfrm>
          <a:prstGeom prst="rect">
            <a:avLst/>
          </a:prstGeom>
          <a:solidFill>
            <a:srgbClr val="272827"/>
          </a:solidFill>
          <a:ln w="12700">
            <a:solidFill>
              <a:srgbClr val="272827"/>
            </a:solidFill>
            <a:prstDash val="solid"/>
          </a:ln>
        </p:spPr>
      </p:sp>
      <p:sp>
        <p:nvSpPr>
          <p:cNvPr id="11" name="Shape 9"/>
          <p:cNvSpPr/>
          <p:nvPr/>
        </p:nvSpPr>
        <p:spPr>
          <a:xfrm>
            <a:off x="11246826" y="1783080"/>
            <a:ext cx="368797" cy="201168"/>
          </a:xfrm>
          <a:prstGeom prst="rect">
            <a:avLst/>
          </a:prstGeom>
          <a:solidFill>
            <a:srgbClr val="9CA3AF"/>
          </a:solidFill>
          <a:ln w="12700">
            <a:solidFill>
              <a:srgbClr val="9CA3AF"/>
            </a:solidFill>
            <a:prstDash val="solid"/>
          </a:ln>
        </p:spPr>
      </p:sp>
      <p:sp>
        <p:nvSpPr>
          <p:cNvPr id="12" name="Text 10"/>
          <p:cNvSpPr txBox="1"/>
          <p:nvPr/>
        </p:nvSpPr>
        <p:spPr>
          <a:xfrm>
            <a:off x="548640" y="2020824"/>
            <a:ext cx="914400" cy="228600"/>
          </a:xfrm>
          <a:prstGeom prst="rect">
            <a:avLst/>
          </a:prstGeom>
          <a:noFill/>
          <a:ln/>
        </p:spPr>
        <p:txBody>
          <a:bodyPr wrap="square" lIns="0" tIns="0" rIns="0" bIns="0" rtlCol="0" anchor="ctr"/>
          <a:lstStyle/>
          <a:p>
            <a:pPr algn="l" indent="0" marL="0">
              <a:buNone/>
            </a:pPr>
            <a:r>
              <a:rPr lang="en-US" sz="1000" dirty="0">
                <a:solidFill>
                  <a:srgbClr val="6B7280"/>
                </a:solidFill>
                <a:latin typeface="Inter" pitchFamily="34" charset="0"/>
                <a:ea typeface="Inter" pitchFamily="34" charset="-122"/>
                <a:cs typeface="Inter" pitchFamily="34" charset="-120"/>
              </a:rPr>
              <a:t>09:00</a:t>
            </a:r>
            <a:endParaRPr lang="en-US" sz="1000" dirty="0"/>
          </a:p>
        </p:txBody>
      </p:sp>
      <p:sp>
        <p:nvSpPr>
          <p:cNvPr id="13" name="Text 11"/>
          <p:cNvSpPr txBox="1"/>
          <p:nvPr/>
        </p:nvSpPr>
        <p:spPr>
          <a:xfrm>
            <a:off x="4846189" y="2020824"/>
            <a:ext cx="914400" cy="228600"/>
          </a:xfrm>
          <a:prstGeom prst="rect">
            <a:avLst/>
          </a:prstGeom>
          <a:noFill/>
          <a:ln/>
        </p:spPr>
        <p:txBody>
          <a:bodyPr wrap="square" lIns="0" tIns="0" rIns="0" bIns="0" rtlCol="0" anchor="ctr"/>
          <a:lstStyle/>
          <a:p>
            <a:pPr algn="ctr" indent="0" marL="0">
              <a:buNone/>
            </a:pPr>
            <a:r>
              <a:rPr lang="en-US" sz="1000" dirty="0">
                <a:solidFill>
                  <a:srgbClr val="6B7280"/>
                </a:solidFill>
                <a:latin typeface="Inter" pitchFamily="34" charset="0"/>
                <a:ea typeface="Inter" pitchFamily="34" charset="-122"/>
                <a:cs typeface="Inter" pitchFamily="34" charset="-120"/>
              </a:rPr>
              <a:t>12:00</a:t>
            </a:r>
            <a:endParaRPr lang="en-US" sz="1000" dirty="0"/>
          </a:p>
        </p:txBody>
      </p:sp>
      <p:sp>
        <p:nvSpPr>
          <p:cNvPr id="14" name="Text 12"/>
          <p:cNvSpPr txBox="1"/>
          <p:nvPr/>
        </p:nvSpPr>
        <p:spPr>
          <a:xfrm>
            <a:off x="10728655" y="2020824"/>
            <a:ext cx="914400" cy="228600"/>
          </a:xfrm>
          <a:prstGeom prst="rect">
            <a:avLst/>
          </a:prstGeom>
          <a:noFill/>
          <a:ln/>
        </p:spPr>
        <p:txBody>
          <a:bodyPr wrap="square" lIns="0" tIns="0" rIns="0" bIns="0" rtlCol="0" anchor="ctr"/>
          <a:lstStyle/>
          <a:p>
            <a:pPr algn="r" indent="0" marL="0">
              <a:buNone/>
            </a:pPr>
            <a:r>
              <a:rPr lang="en-US" sz="1000" dirty="0">
                <a:solidFill>
                  <a:srgbClr val="6B7280"/>
                </a:solidFill>
                <a:latin typeface="Inter" pitchFamily="34" charset="0"/>
                <a:ea typeface="Inter" pitchFamily="34" charset="-122"/>
                <a:cs typeface="Inter" pitchFamily="34" charset="-120"/>
              </a:rPr>
              <a:t>16:00</a:t>
            </a:r>
            <a:endParaRPr lang="en-US" sz="1000" dirty="0"/>
          </a:p>
        </p:txBody>
      </p:sp>
      <p:sp>
        <p:nvSpPr>
          <p:cNvPr id="15" name="Shape 13"/>
          <p:cNvSpPr/>
          <p:nvPr/>
        </p:nvSpPr>
        <p:spPr>
          <a:xfrm>
            <a:off x="548640" y="2606040"/>
            <a:ext cx="2567864" cy="1691640"/>
          </a:xfrm>
          <a:prstGeom prst="roundRect">
            <a:avLst>
              <a:gd name="adj" fmla="val 4324"/>
            </a:avLst>
          </a:prstGeom>
          <a:solidFill>
            <a:srgbClr val="F6F3EE"/>
          </a:solidFill>
          <a:ln w="12700">
            <a:solidFill>
              <a:srgbClr val="D0CBC0"/>
            </a:solidFill>
            <a:prstDash val="solid"/>
          </a:ln>
        </p:spPr>
      </p:sp>
      <p:sp>
        <p:nvSpPr>
          <p:cNvPr id="16" name="Text 14"/>
          <p:cNvSpPr txBox="1"/>
          <p:nvPr/>
        </p:nvSpPr>
        <p:spPr>
          <a:xfrm>
            <a:off x="731520" y="2743200"/>
            <a:ext cx="2202104" cy="1417320"/>
          </a:xfrm>
          <a:prstGeom prst="rect">
            <a:avLst/>
          </a:prstGeom>
          <a:noFill/>
          <a:ln/>
        </p:spPr>
        <p:txBody>
          <a:bodyPr wrap="square" lIns="0" tIns="0" rIns="0" bIns="0" rtlCol="0" anchor="t"/>
          <a:lstStyle/>
          <a:p>
            <a:pPr indent="0" marL="0">
              <a:spcAft>
                <a:spcPts val="400"/>
              </a:spcAft>
              <a:buNone/>
            </a:pPr>
            <a:r>
              <a:rPr lang="en-US" sz="1200" b="1" dirty="0">
                <a:solidFill>
                  <a:srgbClr val="FF5723"/>
                </a:solidFill>
                <a:latin typeface="Inter" pitchFamily="34" charset="0"/>
                <a:ea typeface="Inter" pitchFamily="34" charset="-122"/>
                <a:cs typeface="Inter" pitchFamily="34" charset="-120"/>
              </a:rPr>
              <a:t>09:00–09:30</a:t>
            </a:r>
            <a:endParaRPr lang="en-US" sz="1200" dirty="0"/>
          </a:p>
          <a:p>
            <a:pPr indent="0" marL="0">
              <a:spcAft>
                <a:spcPts val="400"/>
              </a:spcAft>
              <a:buNone/>
            </a:pPr>
            <a:r>
              <a:rPr lang="en-US" sz="1700" b="1" dirty="0">
                <a:solidFill>
                  <a:srgbClr val="272827"/>
                </a:solidFill>
                <a:latin typeface="Inter" pitchFamily="34" charset="0"/>
                <a:ea typeface="Inter" pitchFamily="34" charset="-122"/>
                <a:cs typeface="Inter" pitchFamily="34" charset="-120"/>
              </a:rPr>
              <a:t>Recap &amp; standup</a:t>
            </a:r>
            <a:endParaRPr lang="en-US" sz="1200" dirty="0"/>
          </a:p>
          <a:p>
            <a:pPr indent="0" marL="0">
              <a:spcAft>
                <a:spcPts val="400"/>
              </a:spcAft>
              <a:buNone/>
            </a:pPr>
            <a:r>
              <a:rPr lang="en-US" sz="1300" dirty="0">
                <a:solidFill>
                  <a:srgbClr val="6B7280"/>
                </a:solidFill>
                <a:latin typeface="Inter" pitchFamily="34" charset="0"/>
                <a:ea typeface="Inter" pitchFamily="34" charset="-122"/>
                <a:cs typeface="Inter" pitchFamily="34" charset="-120"/>
              </a:rPr>
              <a:t>Quiz on yesterday</a:t>
            </a:r>
            <a:endParaRPr lang="en-US" sz="1200" dirty="0"/>
          </a:p>
        </p:txBody>
      </p:sp>
      <p:sp>
        <p:nvSpPr>
          <p:cNvPr id="17" name="Shape 15"/>
          <p:cNvSpPr/>
          <p:nvPr/>
        </p:nvSpPr>
        <p:spPr>
          <a:xfrm>
            <a:off x="3390824" y="2606040"/>
            <a:ext cx="2567864" cy="1691640"/>
          </a:xfrm>
          <a:prstGeom prst="roundRect">
            <a:avLst>
              <a:gd name="adj" fmla="val 4324"/>
            </a:avLst>
          </a:prstGeom>
          <a:solidFill>
            <a:srgbClr val="FF5723"/>
          </a:solidFill>
          <a:ln w="12700">
            <a:solidFill>
              <a:srgbClr val="FF5723"/>
            </a:solidFill>
            <a:prstDash val="solid"/>
          </a:ln>
        </p:spPr>
      </p:sp>
      <p:sp>
        <p:nvSpPr>
          <p:cNvPr id="18" name="Text 16"/>
          <p:cNvSpPr txBox="1"/>
          <p:nvPr/>
        </p:nvSpPr>
        <p:spPr>
          <a:xfrm>
            <a:off x="3573704" y="2743200"/>
            <a:ext cx="2202104" cy="1417320"/>
          </a:xfrm>
          <a:prstGeom prst="rect">
            <a:avLst/>
          </a:prstGeom>
          <a:noFill/>
          <a:ln/>
        </p:spPr>
        <p:txBody>
          <a:bodyPr wrap="square" lIns="0" tIns="0" rIns="0" bIns="0" rtlCol="0" anchor="t"/>
          <a:lstStyle/>
          <a:p>
            <a:pPr indent="0" marL="0">
              <a:spcAft>
                <a:spcPts val="400"/>
              </a:spcAft>
              <a:buNone/>
            </a:pPr>
            <a:r>
              <a:rPr lang="en-US" sz="1200" b="1" dirty="0">
                <a:solidFill>
                  <a:srgbClr val="FFFFFF"/>
                </a:solidFill>
                <a:latin typeface="Inter" pitchFamily="34" charset="0"/>
                <a:ea typeface="Inter" pitchFamily="34" charset="-122"/>
                <a:cs typeface="Inter" pitchFamily="34" charset="-120"/>
              </a:rPr>
              <a:t>09:30–10:45</a:t>
            </a:r>
            <a:endParaRPr lang="en-US" sz="1200" dirty="0"/>
          </a:p>
          <a:p>
            <a:pPr indent="0" marL="0">
              <a:spcAft>
                <a:spcPts val="400"/>
              </a:spcAft>
              <a:buNone/>
            </a:pPr>
            <a:r>
              <a:rPr lang="en-US" sz="1700" b="1" dirty="0">
                <a:solidFill>
                  <a:srgbClr val="FFFFFF"/>
                </a:solidFill>
                <a:latin typeface="Inter" pitchFamily="34" charset="0"/>
                <a:ea typeface="Inter" pitchFamily="34" charset="-122"/>
                <a:cs typeface="Inter" pitchFamily="34" charset="-120"/>
              </a:rPr>
              <a:t>Session A</a:t>
            </a:r>
            <a:endParaRPr lang="en-US" sz="1200" dirty="0"/>
          </a:p>
          <a:p>
            <a:pPr indent="0" marL="0">
              <a:spcAft>
                <a:spcPts val="400"/>
              </a:spcAft>
              <a:buNone/>
            </a:pPr>
            <a:r>
              <a:rPr lang="en-US" sz="1300" dirty="0">
                <a:solidFill>
                  <a:srgbClr val="FFE3D9"/>
                </a:solidFill>
                <a:latin typeface="Inter" pitchFamily="34" charset="0"/>
                <a:ea typeface="Inter" pitchFamily="34" charset="-122"/>
                <a:cs typeface="Inter" pitchFamily="34" charset="-120"/>
              </a:rPr>
              <a:t>Scale is a design choice</a:t>
            </a:r>
            <a:endParaRPr lang="en-US" sz="1200" dirty="0"/>
          </a:p>
        </p:txBody>
      </p:sp>
      <p:sp>
        <p:nvSpPr>
          <p:cNvPr id="19" name="Shape 17"/>
          <p:cNvSpPr/>
          <p:nvPr/>
        </p:nvSpPr>
        <p:spPr>
          <a:xfrm>
            <a:off x="6233008" y="2606040"/>
            <a:ext cx="2567864" cy="1691640"/>
          </a:xfrm>
          <a:prstGeom prst="roundRect">
            <a:avLst>
              <a:gd name="adj" fmla="val 4324"/>
            </a:avLst>
          </a:prstGeom>
          <a:solidFill>
            <a:srgbClr val="F6F3EE"/>
          </a:solidFill>
          <a:ln w="12700">
            <a:solidFill>
              <a:srgbClr val="D0CBC0"/>
            </a:solidFill>
            <a:prstDash val="solid"/>
          </a:ln>
        </p:spPr>
      </p:sp>
      <p:sp>
        <p:nvSpPr>
          <p:cNvPr id="20" name="Text 18"/>
          <p:cNvSpPr txBox="1"/>
          <p:nvPr/>
        </p:nvSpPr>
        <p:spPr>
          <a:xfrm>
            <a:off x="6415888" y="2743200"/>
            <a:ext cx="2202104" cy="1417320"/>
          </a:xfrm>
          <a:prstGeom prst="rect">
            <a:avLst/>
          </a:prstGeom>
          <a:noFill/>
          <a:ln/>
        </p:spPr>
        <p:txBody>
          <a:bodyPr wrap="square" lIns="0" tIns="0" rIns="0" bIns="0" rtlCol="0" anchor="t"/>
          <a:lstStyle/>
          <a:p>
            <a:pPr indent="0" marL="0">
              <a:spcAft>
                <a:spcPts val="400"/>
              </a:spcAft>
              <a:buNone/>
            </a:pPr>
            <a:r>
              <a:rPr lang="en-US" sz="1200" b="1" dirty="0">
                <a:solidFill>
                  <a:srgbClr val="FF5723"/>
                </a:solidFill>
                <a:latin typeface="Inter" pitchFamily="34" charset="0"/>
                <a:ea typeface="Inter" pitchFamily="34" charset="-122"/>
                <a:cs typeface="Inter" pitchFamily="34" charset="-120"/>
              </a:rPr>
              <a:t>10:45–11:00</a:t>
            </a:r>
            <a:endParaRPr lang="en-US" sz="1200" dirty="0"/>
          </a:p>
          <a:p>
            <a:pPr indent="0" marL="0">
              <a:spcAft>
                <a:spcPts val="400"/>
              </a:spcAft>
              <a:buNone/>
            </a:pPr>
            <a:r>
              <a:rPr lang="en-US" sz="1700" b="1" dirty="0">
                <a:solidFill>
                  <a:srgbClr val="272827"/>
                </a:solidFill>
                <a:latin typeface="Inter" pitchFamily="34" charset="0"/>
                <a:ea typeface="Inter" pitchFamily="34" charset="-122"/>
                <a:cs typeface="Inter" pitchFamily="34" charset="-120"/>
              </a:rPr>
              <a:t>Break</a:t>
            </a:r>
            <a:endParaRPr lang="en-US" sz="1200" dirty="0"/>
          </a:p>
          <a:p>
            <a:pPr indent="0" marL="0">
              <a:spcAft>
                <a:spcPts val="400"/>
              </a:spcAft>
              <a:buNone/>
            </a:pPr>
            <a:r>
              <a:rPr lang="en-US" sz="1300" dirty="0">
                <a:solidFill>
                  <a:srgbClr val="6B7280"/>
                </a:solidFill>
                <a:latin typeface="Inter" pitchFamily="34" charset="0"/>
                <a:ea typeface="Inter" pitchFamily="34" charset="-122"/>
                <a:cs typeface="Inter" pitchFamily="34" charset="-120"/>
              </a:rPr>
              <a:t>Recharge</a:t>
            </a:r>
            <a:endParaRPr lang="en-US" sz="1200" dirty="0"/>
          </a:p>
        </p:txBody>
      </p:sp>
      <p:sp>
        <p:nvSpPr>
          <p:cNvPr id="21" name="Shape 19"/>
          <p:cNvSpPr/>
          <p:nvPr/>
        </p:nvSpPr>
        <p:spPr>
          <a:xfrm>
            <a:off x="9075191" y="2606040"/>
            <a:ext cx="2567864" cy="1691640"/>
          </a:xfrm>
          <a:prstGeom prst="roundRect">
            <a:avLst>
              <a:gd name="adj" fmla="val 4324"/>
            </a:avLst>
          </a:prstGeom>
          <a:solidFill>
            <a:srgbClr val="272827"/>
          </a:solidFill>
          <a:ln w="12700">
            <a:solidFill>
              <a:srgbClr val="272827"/>
            </a:solidFill>
            <a:prstDash val="solid"/>
          </a:ln>
        </p:spPr>
      </p:sp>
      <p:sp>
        <p:nvSpPr>
          <p:cNvPr id="22" name="Text 20"/>
          <p:cNvSpPr txBox="1"/>
          <p:nvPr/>
        </p:nvSpPr>
        <p:spPr>
          <a:xfrm>
            <a:off x="9258071" y="2743200"/>
            <a:ext cx="2202104" cy="1417320"/>
          </a:xfrm>
          <a:prstGeom prst="rect">
            <a:avLst/>
          </a:prstGeom>
          <a:noFill/>
          <a:ln/>
        </p:spPr>
        <p:txBody>
          <a:bodyPr wrap="square" lIns="0" tIns="0" rIns="0" bIns="0" rtlCol="0" anchor="t"/>
          <a:lstStyle/>
          <a:p>
            <a:pPr indent="0" marL="0">
              <a:spcAft>
                <a:spcPts val="400"/>
              </a:spcAft>
              <a:buNone/>
            </a:pPr>
            <a:r>
              <a:rPr lang="en-US" sz="1200" b="1" dirty="0">
                <a:solidFill>
                  <a:srgbClr val="FF5723"/>
                </a:solidFill>
                <a:latin typeface="Inter" pitchFamily="34" charset="0"/>
                <a:ea typeface="Inter" pitchFamily="34" charset="-122"/>
                <a:cs typeface="Inter" pitchFamily="34" charset="-120"/>
              </a:rPr>
              <a:t>11:00–12:30</a:t>
            </a:r>
            <a:endParaRPr lang="en-US" sz="1200" dirty="0"/>
          </a:p>
          <a:p>
            <a:pPr indent="0" marL="0">
              <a:spcAft>
                <a:spcPts val="400"/>
              </a:spcAft>
              <a:buNone/>
            </a:pPr>
            <a:r>
              <a:rPr lang="en-US" sz="1700" b="1" dirty="0">
                <a:solidFill>
                  <a:srgbClr val="FFFFFF"/>
                </a:solidFill>
                <a:latin typeface="Inter" pitchFamily="34" charset="0"/>
                <a:ea typeface="Inter" pitchFamily="34" charset="-122"/>
                <a:cs typeface="Inter" pitchFamily="34" charset="-120"/>
              </a:rPr>
              <a:t>Lab part 1</a:t>
            </a:r>
            <a:endParaRPr lang="en-US" sz="1200" dirty="0"/>
          </a:p>
          <a:p>
            <a:pPr indent="0" marL="0">
              <a:spcAft>
                <a:spcPts val="400"/>
              </a:spcAft>
              <a:buNone/>
            </a:pPr>
            <a:r>
              <a:rPr lang="en-US" sz="1300" dirty="0">
                <a:solidFill>
                  <a:srgbClr val="9CA3AF"/>
                </a:solidFill>
                <a:latin typeface="Inter" pitchFamily="34" charset="0"/>
                <a:ea typeface="Inter" pitchFamily="34" charset="-122"/>
                <a:cs typeface="Inter" pitchFamily="34" charset="-120"/>
              </a:rPr>
              <a:t>Ship it async</a:t>
            </a:r>
            <a:endParaRPr lang="en-US" sz="1200" dirty="0"/>
          </a:p>
        </p:txBody>
      </p:sp>
      <p:sp>
        <p:nvSpPr>
          <p:cNvPr id="23" name="Shape 21"/>
          <p:cNvSpPr/>
          <p:nvPr/>
        </p:nvSpPr>
        <p:spPr>
          <a:xfrm>
            <a:off x="548640" y="4572000"/>
            <a:ext cx="2567864" cy="1691640"/>
          </a:xfrm>
          <a:prstGeom prst="roundRect">
            <a:avLst>
              <a:gd name="adj" fmla="val 4324"/>
            </a:avLst>
          </a:prstGeom>
          <a:solidFill>
            <a:srgbClr val="F6F3EE"/>
          </a:solidFill>
          <a:ln w="12700">
            <a:solidFill>
              <a:srgbClr val="D0CBC0"/>
            </a:solidFill>
            <a:prstDash val="solid"/>
          </a:ln>
        </p:spPr>
      </p:sp>
      <p:sp>
        <p:nvSpPr>
          <p:cNvPr id="24" name="Text 22"/>
          <p:cNvSpPr txBox="1"/>
          <p:nvPr/>
        </p:nvSpPr>
        <p:spPr>
          <a:xfrm>
            <a:off x="731520" y="4709160"/>
            <a:ext cx="2202104" cy="1417320"/>
          </a:xfrm>
          <a:prstGeom prst="rect">
            <a:avLst/>
          </a:prstGeom>
          <a:noFill/>
          <a:ln/>
        </p:spPr>
        <p:txBody>
          <a:bodyPr wrap="square" lIns="0" tIns="0" rIns="0" bIns="0" rtlCol="0" anchor="t"/>
          <a:lstStyle/>
          <a:p>
            <a:pPr indent="0" marL="0">
              <a:spcAft>
                <a:spcPts val="400"/>
              </a:spcAft>
              <a:buNone/>
            </a:pPr>
            <a:r>
              <a:rPr lang="en-US" sz="1200" b="1" dirty="0">
                <a:solidFill>
                  <a:srgbClr val="FF5723"/>
                </a:solidFill>
                <a:latin typeface="Inter" pitchFamily="34" charset="0"/>
                <a:ea typeface="Inter" pitchFamily="34" charset="-122"/>
                <a:cs typeface="Inter" pitchFamily="34" charset="-120"/>
              </a:rPr>
              <a:t>12:30–13:30</a:t>
            </a:r>
            <a:endParaRPr lang="en-US" sz="1200" dirty="0"/>
          </a:p>
          <a:p>
            <a:pPr indent="0" marL="0">
              <a:spcAft>
                <a:spcPts val="400"/>
              </a:spcAft>
              <a:buNone/>
            </a:pPr>
            <a:r>
              <a:rPr lang="en-US" sz="1700" b="1" dirty="0">
                <a:solidFill>
                  <a:srgbClr val="272827"/>
                </a:solidFill>
                <a:latin typeface="Inter" pitchFamily="34" charset="0"/>
                <a:ea typeface="Inter" pitchFamily="34" charset="-122"/>
                <a:cs typeface="Inter" pitchFamily="34" charset="-120"/>
              </a:rPr>
              <a:t>Lunch</a:t>
            </a:r>
            <a:endParaRPr lang="en-US" sz="1200" dirty="0"/>
          </a:p>
          <a:p>
            <a:pPr indent="0" marL="0">
              <a:spcAft>
                <a:spcPts val="400"/>
              </a:spcAft>
              <a:buNone/>
            </a:pPr>
            <a:r>
              <a:rPr lang="en-US" sz="1300" dirty="0">
                <a:solidFill>
                  <a:srgbClr val="6B7280"/>
                </a:solidFill>
                <a:latin typeface="Inter" pitchFamily="34" charset="0"/>
                <a:ea typeface="Inter" pitchFamily="34" charset="-122"/>
                <a:cs typeface="Inter" pitchFamily="34" charset="-120"/>
              </a:rPr>
              <a:t>Recharge</a:t>
            </a:r>
            <a:endParaRPr lang="en-US" sz="1200" dirty="0"/>
          </a:p>
        </p:txBody>
      </p:sp>
      <p:sp>
        <p:nvSpPr>
          <p:cNvPr id="25" name="Shape 23"/>
          <p:cNvSpPr/>
          <p:nvPr/>
        </p:nvSpPr>
        <p:spPr>
          <a:xfrm>
            <a:off x="3390824" y="4572000"/>
            <a:ext cx="2567864" cy="1691640"/>
          </a:xfrm>
          <a:prstGeom prst="roundRect">
            <a:avLst>
              <a:gd name="adj" fmla="val 4324"/>
            </a:avLst>
          </a:prstGeom>
          <a:solidFill>
            <a:srgbClr val="FF5723"/>
          </a:solidFill>
          <a:ln w="12700">
            <a:solidFill>
              <a:srgbClr val="FF5723"/>
            </a:solidFill>
            <a:prstDash val="solid"/>
          </a:ln>
        </p:spPr>
      </p:sp>
      <p:sp>
        <p:nvSpPr>
          <p:cNvPr id="26" name="Text 24"/>
          <p:cNvSpPr txBox="1"/>
          <p:nvPr/>
        </p:nvSpPr>
        <p:spPr>
          <a:xfrm>
            <a:off x="3573704" y="4709160"/>
            <a:ext cx="2202104" cy="1417320"/>
          </a:xfrm>
          <a:prstGeom prst="rect">
            <a:avLst/>
          </a:prstGeom>
          <a:noFill/>
          <a:ln/>
        </p:spPr>
        <p:txBody>
          <a:bodyPr wrap="square" lIns="0" tIns="0" rIns="0" bIns="0" rtlCol="0" anchor="t"/>
          <a:lstStyle/>
          <a:p>
            <a:pPr indent="0" marL="0">
              <a:spcAft>
                <a:spcPts val="400"/>
              </a:spcAft>
              <a:buNone/>
            </a:pPr>
            <a:r>
              <a:rPr lang="en-US" sz="1200" b="1" dirty="0">
                <a:solidFill>
                  <a:srgbClr val="FFFFFF"/>
                </a:solidFill>
                <a:latin typeface="Inter" pitchFamily="34" charset="0"/>
                <a:ea typeface="Inter" pitchFamily="34" charset="-122"/>
                <a:cs typeface="Inter" pitchFamily="34" charset="-120"/>
              </a:rPr>
              <a:t>13:30–14:15</a:t>
            </a:r>
            <a:endParaRPr lang="en-US" sz="1200" dirty="0"/>
          </a:p>
          <a:p>
            <a:pPr indent="0" marL="0">
              <a:spcAft>
                <a:spcPts val="400"/>
              </a:spcAft>
              <a:buNone/>
            </a:pPr>
            <a:r>
              <a:rPr lang="en-US" sz="1700" b="1" dirty="0">
                <a:solidFill>
                  <a:srgbClr val="FFFFFF"/>
                </a:solidFill>
                <a:latin typeface="Inter" pitchFamily="34" charset="0"/>
                <a:ea typeface="Inter" pitchFamily="34" charset="-122"/>
                <a:cs typeface="Inter" pitchFamily="34" charset="-120"/>
              </a:rPr>
              <a:t>Session B</a:t>
            </a:r>
            <a:endParaRPr lang="en-US" sz="1200" dirty="0"/>
          </a:p>
          <a:p>
            <a:pPr indent="0" marL="0">
              <a:spcAft>
                <a:spcPts val="400"/>
              </a:spcAft>
              <a:buNone/>
            </a:pPr>
            <a:r>
              <a:rPr lang="en-US" sz="1300" dirty="0">
                <a:solidFill>
                  <a:srgbClr val="FFE3D9"/>
                </a:solidFill>
                <a:latin typeface="Inter" pitchFamily="34" charset="0"/>
                <a:ea typeface="Inter" pitchFamily="34" charset="-122"/>
                <a:cs typeface="Inter" pitchFamily="34" charset="-120"/>
              </a:rPr>
              <a:t>Measure, then optimise</a:t>
            </a:r>
            <a:endParaRPr lang="en-US" sz="1200" dirty="0"/>
          </a:p>
        </p:txBody>
      </p:sp>
      <p:sp>
        <p:nvSpPr>
          <p:cNvPr id="27" name="Shape 25"/>
          <p:cNvSpPr/>
          <p:nvPr/>
        </p:nvSpPr>
        <p:spPr>
          <a:xfrm>
            <a:off x="6233008" y="4572000"/>
            <a:ext cx="2567864" cy="1691640"/>
          </a:xfrm>
          <a:prstGeom prst="roundRect">
            <a:avLst>
              <a:gd name="adj" fmla="val 4324"/>
            </a:avLst>
          </a:prstGeom>
          <a:solidFill>
            <a:srgbClr val="272827"/>
          </a:solidFill>
          <a:ln w="12700">
            <a:solidFill>
              <a:srgbClr val="272827"/>
            </a:solidFill>
            <a:prstDash val="solid"/>
          </a:ln>
        </p:spPr>
      </p:sp>
      <p:sp>
        <p:nvSpPr>
          <p:cNvPr id="28" name="Text 26"/>
          <p:cNvSpPr txBox="1"/>
          <p:nvPr/>
        </p:nvSpPr>
        <p:spPr>
          <a:xfrm>
            <a:off x="6415888" y="4709160"/>
            <a:ext cx="2202104" cy="1417320"/>
          </a:xfrm>
          <a:prstGeom prst="rect">
            <a:avLst/>
          </a:prstGeom>
          <a:noFill/>
          <a:ln/>
        </p:spPr>
        <p:txBody>
          <a:bodyPr wrap="square" lIns="0" tIns="0" rIns="0" bIns="0" rtlCol="0" anchor="t"/>
          <a:lstStyle/>
          <a:p>
            <a:pPr indent="0" marL="0">
              <a:spcAft>
                <a:spcPts val="400"/>
              </a:spcAft>
              <a:buNone/>
            </a:pPr>
            <a:r>
              <a:rPr lang="en-US" sz="1200" b="1" dirty="0">
                <a:solidFill>
                  <a:srgbClr val="FF5723"/>
                </a:solidFill>
                <a:latin typeface="Inter" pitchFamily="34" charset="0"/>
                <a:ea typeface="Inter" pitchFamily="34" charset="-122"/>
                <a:cs typeface="Inter" pitchFamily="34" charset="-120"/>
              </a:rPr>
              <a:t>14:15–15:45</a:t>
            </a:r>
            <a:endParaRPr lang="en-US" sz="1200" dirty="0"/>
          </a:p>
          <a:p>
            <a:pPr indent="0" marL="0">
              <a:spcAft>
                <a:spcPts val="400"/>
              </a:spcAft>
              <a:buNone/>
            </a:pPr>
            <a:r>
              <a:rPr lang="en-US" sz="1700" b="1" dirty="0">
                <a:solidFill>
                  <a:srgbClr val="FFFFFF"/>
                </a:solidFill>
                <a:latin typeface="Inter" pitchFamily="34" charset="0"/>
                <a:ea typeface="Inter" pitchFamily="34" charset="-122"/>
                <a:cs typeface="Inter" pitchFamily="34" charset="-120"/>
              </a:rPr>
              <a:t>Lab part 2</a:t>
            </a:r>
            <a:endParaRPr lang="en-US" sz="1200" dirty="0"/>
          </a:p>
          <a:p>
            <a:pPr indent="0" marL="0">
              <a:spcAft>
                <a:spcPts val="400"/>
              </a:spcAft>
              <a:buNone/>
            </a:pPr>
            <a:r>
              <a:rPr lang="en-US" sz="1300" dirty="0">
                <a:solidFill>
                  <a:srgbClr val="9CA3AF"/>
                </a:solidFill>
                <a:latin typeface="Inter" pitchFamily="34" charset="0"/>
                <a:ea typeface="Inter" pitchFamily="34" charset="-122"/>
                <a:cs typeface="Inter" pitchFamily="34" charset="-120"/>
              </a:rPr>
              <a:t>Ship it async</a:t>
            </a:r>
            <a:endParaRPr lang="en-US" sz="1200" dirty="0"/>
          </a:p>
        </p:txBody>
      </p:sp>
      <p:sp>
        <p:nvSpPr>
          <p:cNvPr id="29" name="Shape 27"/>
          <p:cNvSpPr/>
          <p:nvPr/>
        </p:nvSpPr>
        <p:spPr>
          <a:xfrm>
            <a:off x="9075191" y="4572000"/>
            <a:ext cx="2567864" cy="1691640"/>
          </a:xfrm>
          <a:prstGeom prst="roundRect">
            <a:avLst>
              <a:gd name="adj" fmla="val 4324"/>
            </a:avLst>
          </a:prstGeom>
          <a:solidFill>
            <a:srgbClr val="F6F3EE"/>
          </a:solidFill>
          <a:ln w="12700">
            <a:solidFill>
              <a:srgbClr val="D0CBC0"/>
            </a:solidFill>
            <a:prstDash val="solid"/>
          </a:ln>
        </p:spPr>
      </p:sp>
      <p:sp>
        <p:nvSpPr>
          <p:cNvPr id="30" name="Text 28"/>
          <p:cNvSpPr txBox="1"/>
          <p:nvPr/>
        </p:nvSpPr>
        <p:spPr>
          <a:xfrm>
            <a:off x="9258071" y="4709160"/>
            <a:ext cx="2202104" cy="1417320"/>
          </a:xfrm>
          <a:prstGeom prst="rect">
            <a:avLst/>
          </a:prstGeom>
          <a:noFill/>
          <a:ln/>
        </p:spPr>
        <p:txBody>
          <a:bodyPr wrap="square" lIns="0" tIns="0" rIns="0" bIns="0" rtlCol="0" anchor="t"/>
          <a:lstStyle/>
          <a:p>
            <a:pPr indent="0" marL="0">
              <a:spcAft>
                <a:spcPts val="400"/>
              </a:spcAft>
              <a:buNone/>
            </a:pPr>
            <a:r>
              <a:rPr lang="en-US" sz="1200" b="1" dirty="0">
                <a:solidFill>
                  <a:srgbClr val="FF5723"/>
                </a:solidFill>
                <a:latin typeface="Inter" pitchFamily="34" charset="0"/>
                <a:ea typeface="Inter" pitchFamily="34" charset="-122"/>
                <a:cs typeface="Inter" pitchFamily="34" charset="-120"/>
              </a:rPr>
              <a:t>15:45–16:00</a:t>
            </a:r>
            <a:endParaRPr lang="en-US" sz="1200" dirty="0"/>
          </a:p>
          <a:p>
            <a:pPr indent="0" marL="0">
              <a:spcAft>
                <a:spcPts val="400"/>
              </a:spcAft>
              <a:buNone/>
            </a:pPr>
            <a:r>
              <a:rPr lang="en-US" sz="1700" b="1" dirty="0">
                <a:solidFill>
                  <a:srgbClr val="272827"/>
                </a:solidFill>
                <a:latin typeface="Inter" pitchFamily="34" charset="0"/>
                <a:ea typeface="Inter" pitchFamily="34" charset="-122"/>
                <a:cs typeface="Inter" pitchFamily="34" charset="-120"/>
              </a:rPr>
              <a:t>Demos, retro, exit ticket</a:t>
            </a:r>
            <a:endParaRPr lang="en-US" sz="1200" dirty="0"/>
          </a:p>
          <a:p>
            <a:pPr indent="0" marL="0">
              <a:spcAft>
                <a:spcPts val="400"/>
              </a:spcAft>
              <a:buNone/>
            </a:pPr>
            <a:r>
              <a:rPr lang="en-US" sz="1300" dirty="0">
                <a:solidFill>
                  <a:srgbClr val="6B7280"/>
                </a:solidFill>
                <a:latin typeface="Inter" pitchFamily="34" charset="0"/>
                <a:ea typeface="Inter" pitchFamily="34" charset="-122"/>
                <a:cs typeface="Inter" pitchFamily="34" charset="-120"/>
              </a:rPr>
              <a:t>Show, reflect, exit ticket</a:t>
            </a:r>
            <a:endParaRPr lang="en-US" sz="1200" dirty="0"/>
          </a:p>
        </p:txBody>
      </p:sp>
      <p:sp>
        <p:nvSpPr>
          <p:cNvPr id="25" name="Slide Number Placeholder 0"/>
          <p:cNvSpPr>
            <a:spLocks noGrp="1"/>
          </p:cNvSpPr>
          <p:nvPr>
            <p:ph type="sldNum" sz="quarter" idx="4294967295"/>
          </p:nvPr>
        </p:nvSpPr>
        <p:spPr>
          <a:xfrm>
            <a:off x="10911535" y="6419088"/>
            <a:ext cx="73152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280"/>
                </a:solidFill>
                <a:latin typeface="Inter"/>
                <a:ea typeface="Inter"/>
                <a:cs typeface="Inter"/>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94415" cy="640080"/>
          </a:xfrm>
          <a:prstGeom prst="rect">
            <a:avLst/>
          </a:prstGeom>
          <a:noFill/>
          <a:ln/>
        </p:spPr>
        <p:txBody>
          <a:bodyPr wrap="square" lIns="0" tIns="0" rIns="0" bIns="0" rtlCol="0" anchor="b"/>
          <a:lstStyle/>
          <a:p>
            <a:pPr algn="l" indent="0" marL="0">
              <a:buNone/>
            </a:pPr>
            <a:r>
              <a:rPr lang="en-US" sz="3200" b="1" dirty="0">
                <a:solidFill>
                  <a:srgbClr val="272827"/>
                </a:solidFill>
                <a:latin typeface="Playfair Display" pitchFamily="34" charset="0"/>
                <a:ea typeface="Playfair Display" pitchFamily="34" charset="-122"/>
                <a:cs typeface="Playfair Display" pitchFamily="34" charset="-120"/>
              </a:rPr>
              <a:t>By the end of today you can</a:t>
            </a:r>
            <a:endParaRPr lang="en-US" sz="3200" dirty="0"/>
          </a:p>
        </p:txBody>
      </p:sp>
      <p:sp>
        <p:nvSpPr>
          <p:cNvPr id="3" name="Text 1"/>
          <p:cNvSpPr txBox="1"/>
          <p:nvPr/>
        </p:nvSpPr>
        <p:spPr>
          <a:xfrm>
            <a:off x="548640" y="1060704"/>
            <a:ext cx="8229600" cy="384048"/>
          </a:xfrm>
          <a:prstGeom prst="rect">
            <a:avLst/>
          </a:prstGeom>
          <a:noFill/>
          <a:ln/>
        </p:spPr>
        <p:txBody>
          <a:bodyPr wrap="square" lIns="0" tIns="0" rIns="0" bIns="0" rtlCol="0" anchor="t"/>
          <a:lstStyle/>
          <a:p>
            <a:pPr rtl="1" algn="l" indent="0" marL="0">
              <a:buNone/>
            </a:pPr>
            <a:r>
              <a:rPr lang="ar-LY" altLang="en-US" sz="1700" dirty="0">
                <a:solidFill>
                  <a:srgbClr val="FF5723"/>
                </a:solidFill>
                <a:latin typeface="Tajawal" pitchFamily="34" charset="0"/>
                <a:ea typeface="Tajawal" pitchFamily="34" charset="-122"/>
                <a:cs typeface="Tajawal" pitchFamily="34" charset="-120"/>
              </a:rPr>
              <a:t>أهداف اليوم</a:t>
            </a:r>
            <a:endParaRPr lang="ar-LY" sz="1700" dirty="0"/>
          </a:p>
        </p:txBody>
      </p:sp>
      <p:sp>
        <p:nvSpPr>
          <p:cNvPr id="4" name="Shape 2"/>
          <p:cNvSpPr/>
          <p:nvPr/>
        </p:nvSpPr>
        <p:spPr>
          <a:xfrm>
            <a:off x="548640" y="1783080"/>
            <a:ext cx="3515258" cy="2011680"/>
          </a:xfrm>
          <a:prstGeom prst="roundRect">
            <a:avLst>
              <a:gd name="adj" fmla="val 3636"/>
            </a:avLst>
          </a:prstGeom>
          <a:solidFill>
            <a:srgbClr val="F6F3EE"/>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5" name="Text 3"/>
          <p:cNvSpPr txBox="1"/>
          <p:nvPr/>
        </p:nvSpPr>
        <p:spPr>
          <a:xfrm>
            <a:off x="777240" y="1965960"/>
            <a:ext cx="914400" cy="502920"/>
          </a:xfrm>
          <a:prstGeom prst="rect">
            <a:avLst/>
          </a:prstGeom>
          <a:noFill/>
          <a:ln/>
        </p:spPr>
        <p:txBody>
          <a:bodyPr wrap="square" lIns="0" tIns="0" rIns="0" bIns="0" rtlCol="0" anchor="ctr"/>
          <a:lstStyle/>
          <a:p>
            <a:pPr indent="0" marL="0">
              <a:buNone/>
            </a:pPr>
            <a:r>
              <a:rPr lang="en-US" sz="2800" b="1" dirty="0">
                <a:solidFill>
                  <a:srgbClr val="FF5723"/>
                </a:solidFill>
                <a:latin typeface="Playfair Display" pitchFamily="34" charset="0"/>
                <a:ea typeface="Playfair Display" pitchFamily="34" charset="-122"/>
                <a:cs typeface="Playfair Display" pitchFamily="34" charset="-120"/>
              </a:rPr>
              <a:t>01</a:t>
            </a:r>
            <a:endParaRPr lang="en-US" sz="2800" dirty="0"/>
          </a:p>
        </p:txBody>
      </p:sp>
      <p:sp>
        <p:nvSpPr>
          <p:cNvPr id="6" name="Text 4"/>
          <p:cNvSpPr txBox="1"/>
          <p:nvPr/>
        </p:nvSpPr>
        <p:spPr>
          <a:xfrm>
            <a:off x="777240" y="2514600"/>
            <a:ext cx="3058058" cy="1143000"/>
          </a:xfrm>
          <a:prstGeom prst="rect">
            <a:avLst/>
          </a:prstGeom>
          <a:noFill/>
          <a:ln/>
        </p:spPr>
        <p:txBody>
          <a:bodyPr wrap="square" lIns="0" tIns="0" rIns="0" bIns="0" rtlCol="0" anchor="t"/>
          <a:lstStyle/>
          <a:p>
            <a:pPr indent="0" marL="0">
              <a:buNone/>
            </a:pPr>
            <a:r>
              <a:rPr lang="en-US" sz="1600" dirty="0">
                <a:solidFill>
                  <a:srgbClr val="272827"/>
                </a:solidFill>
                <a:latin typeface="Inter" pitchFamily="34" charset="0"/>
                <a:ea typeface="Inter" pitchFamily="34" charset="-122"/>
                <a:cs typeface="Inter" pitchFamily="34" charset="-120"/>
              </a:rPr>
              <a:t>Find the usual bottlenecks: </a:t>
            </a:r>
            <a:pPr indent="0" marL="0">
              <a:buNone/>
            </a:pPr>
            <a:r>
              <a:rPr lang="en-US" sz="1600" b="1" dirty="0">
                <a:solidFill>
                  <a:srgbClr val="272827"/>
                </a:solidFill>
                <a:latin typeface="Inter" pitchFamily="34" charset="0"/>
                <a:ea typeface="Inter" pitchFamily="34" charset="-122"/>
                <a:cs typeface="Inter" pitchFamily="34" charset="-120"/>
              </a:rPr>
              <a:t>N+1</a:t>
            </a:r>
            <a:pPr indent="0" marL="0">
              <a:buNone/>
            </a:pPr>
            <a:r>
              <a:rPr lang="en-US" sz="1600" dirty="0">
                <a:solidFill>
                  <a:srgbClr val="272827"/>
                </a:solidFill>
                <a:latin typeface="Inter" pitchFamily="34" charset="0"/>
                <a:ea typeface="Inter" pitchFamily="34" charset="-122"/>
                <a:cs typeface="Inter" pitchFamily="34" charset="-120"/>
              </a:rPr>
              <a:t>, missing indexes, sync work in requests</a:t>
            </a:r>
            <a:endParaRPr lang="en-US" sz="1600" dirty="0"/>
          </a:p>
        </p:txBody>
      </p:sp>
      <p:sp>
        <p:nvSpPr>
          <p:cNvPr id="7" name="Shape 5"/>
          <p:cNvSpPr/>
          <p:nvPr/>
        </p:nvSpPr>
        <p:spPr>
          <a:xfrm>
            <a:off x="4338218" y="1783080"/>
            <a:ext cx="3515258" cy="2011680"/>
          </a:xfrm>
          <a:prstGeom prst="roundRect">
            <a:avLst>
              <a:gd name="adj" fmla="val 3636"/>
            </a:avLst>
          </a:prstGeom>
          <a:solidFill>
            <a:srgbClr val="F6F3EE"/>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8" name="Text 6"/>
          <p:cNvSpPr txBox="1"/>
          <p:nvPr/>
        </p:nvSpPr>
        <p:spPr>
          <a:xfrm>
            <a:off x="4566818" y="1965960"/>
            <a:ext cx="914400" cy="502920"/>
          </a:xfrm>
          <a:prstGeom prst="rect">
            <a:avLst/>
          </a:prstGeom>
          <a:noFill/>
          <a:ln/>
        </p:spPr>
        <p:txBody>
          <a:bodyPr wrap="square" lIns="0" tIns="0" rIns="0" bIns="0" rtlCol="0" anchor="ctr"/>
          <a:lstStyle/>
          <a:p>
            <a:pPr indent="0" marL="0">
              <a:buNone/>
            </a:pPr>
            <a:r>
              <a:rPr lang="en-US" sz="2800" b="1" dirty="0">
                <a:solidFill>
                  <a:srgbClr val="FF5723"/>
                </a:solidFill>
                <a:latin typeface="Playfair Display" pitchFamily="34" charset="0"/>
                <a:ea typeface="Playfair Display" pitchFamily="34" charset="-122"/>
                <a:cs typeface="Playfair Display" pitchFamily="34" charset="-120"/>
              </a:rPr>
              <a:t>02</a:t>
            </a:r>
            <a:endParaRPr lang="en-US" sz="2800" dirty="0"/>
          </a:p>
        </p:txBody>
      </p:sp>
      <p:sp>
        <p:nvSpPr>
          <p:cNvPr id="9" name="Text 7"/>
          <p:cNvSpPr txBox="1"/>
          <p:nvPr/>
        </p:nvSpPr>
        <p:spPr>
          <a:xfrm>
            <a:off x="4566818" y="2514600"/>
            <a:ext cx="3058058" cy="1143000"/>
          </a:xfrm>
          <a:prstGeom prst="rect">
            <a:avLst/>
          </a:prstGeom>
          <a:noFill/>
          <a:ln/>
        </p:spPr>
        <p:txBody>
          <a:bodyPr wrap="square" lIns="0" tIns="0" rIns="0" bIns="0" rtlCol="0" anchor="t"/>
          <a:lstStyle/>
          <a:p>
            <a:pPr indent="0" marL="0">
              <a:buNone/>
            </a:pPr>
            <a:r>
              <a:rPr lang="en-US" sz="1600" dirty="0">
                <a:solidFill>
                  <a:srgbClr val="272827"/>
                </a:solidFill>
                <a:latin typeface="Inter" pitchFamily="34" charset="0"/>
                <a:ea typeface="Inter" pitchFamily="34" charset="-122"/>
                <a:cs typeface="Inter" pitchFamily="34" charset="-120"/>
              </a:rPr>
              <a:t>Move slow work to </a:t>
            </a:r>
            <a:pPr indent="0" marL="0">
              <a:buNone/>
            </a:pPr>
            <a:r>
              <a:rPr lang="en-US" sz="1600" b="1" dirty="0">
                <a:solidFill>
                  <a:srgbClr val="272827"/>
                </a:solidFill>
                <a:latin typeface="Inter" pitchFamily="34" charset="0"/>
                <a:ea typeface="Inter" pitchFamily="34" charset="-122"/>
                <a:cs typeface="Inter" pitchFamily="34" charset="-120"/>
              </a:rPr>
              <a:t>queues</a:t>
            </a:r>
            <a:pPr indent="0" marL="0">
              <a:buNone/>
            </a:pPr>
            <a:r>
              <a:rPr lang="en-US" sz="1600" dirty="0">
                <a:solidFill>
                  <a:srgbClr val="272827"/>
                </a:solidFill>
                <a:latin typeface="Inter" pitchFamily="34" charset="0"/>
                <a:ea typeface="Inter" pitchFamily="34" charset="-122"/>
                <a:cs typeface="Inter" pitchFamily="34" charset="-120"/>
              </a:rPr>
              <a:t>, </a:t>
            </a:r>
            <a:pPr indent="0" marL="0">
              <a:buNone/>
            </a:pPr>
            <a:r>
              <a:rPr lang="en-US" sz="1600" b="1" dirty="0">
                <a:solidFill>
                  <a:srgbClr val="272827"/>
                </a:solidFill>
                <a:latin typeface="Inter" pitchFamily="34" charset="0"/>
                <a:ea typeface="Inter" pitchFamily="34" charset="-122"/>
                <a:cs typeface="Inter" pitchFamily="34" charset="-120"/>
              </a:rPr>
              <a:t>jobs</a:t>
            </a:r>
            <a:pPr indent="0" marL="0">
              <a:buNone/>
            </a:pPr>
            <a:r>
              <a:rPr lang="en-US" sz="1600" dirty="0">
                <a:solidFill>
                  <a:srgbClr val="272827"/>
                </a:solidFill>
                <a:latin typeface="Inter" pitchFamily="34" charset="0"/>
                <a:ea typeface="Inter" pitchFamily="34" charset="-122"/>
                <a:cs typeface="Inter" pitchFamily="34" charset="-120"/>
              </a:rPr>
              <a:t> and </a:t>
            </a:r>
            <a:pPr indent="0" marL="0">
              <a:buNone/>
            </a:pPr>
            <a:r>
              <a:rPr lang="en-US" sz="1600" b="1" dirty="0">
                <a:solidFill>
                  <a:srgbClr val="272827"/>
                </a:solidFill>
                <a:latin typeface="Inter" pitchFamily="34" charset="0"/>
                <a:ea typeface="Inter" pitchFamily="34" charset="-122"/>
                <a:cs typeface="Inter" pitchFamily="34" charset="-120"/>
              </a:rPr>
              <a:t>events</a:t>
            </a:r>
            <a:pPr indent="0" marL="0">
              <a:buNone/>
            </a:pPr>
            <a:r>
              <a:rPr lang="en-US" sz="1600" dirty="0">
                <a:solidFill>
                  <a:srgbClr val="272827"/>
                </a:solidFill>
                <a:latin typeface="Inter" pitchFamily="34" charset="0"/>
                <a:ea typeface="Inter" pitchFamily="34" charset="-122"/>
                <a:cs typeface="Inter" pitchFamily="34" charset="-120"/>
              </a:rPr>
              <a:t> with Horizon</a:t>
            </a:r>
            <a:endParaRPr lang="en-US" sz="1600" dirty="0"/>
          </a:p>
        </p:txBody>
      </p:sp>
      <p:sp>
        <p:nvSpPr>
          <p:cNvPr id="10" name="Shape 8"/>
          <p:cNvSpPr/>
          <p:nvPr/>
        </p:nvSpPr>
        <p:spPr>
          <a:xfrm>
            <a:off x="8127797" y="1783080"/>
            <a:ext cx="3515258" cy="2011680"/>
          </a:xfrm>
          <a:prstGeom prst="roundRect">
            <a:avLst>
              <a:gd name="adj" fmla="val 3636"/>
            </a:avLst>
          </a:prstGeom>
          <a:solidFill>
            <a:srgbClr val="F6F3EE"/>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11" name="Text 9"/>
          <p:cNvSpPr txBox="1"/>
          <p:nvPr/>
        </p:nvSpPr>
        <p:spPr>
          <a:xfrm>
            <a:off x="8356397" y="1965960"/>
            <a:ext cx="914400" cy="502920"/>
          </a:xfrm>
          <a:prstGeom prst="rect">
            <a:avLst/>
          </a:prstGeom>
          <a:noFill/>
          <a:ln/>
        </p:spPr>
        <p:txBody>
          <a:bodyPr wrap="square" lIns="0" tIns="0" rIns="0" bIns="0" rtlCol="0" anchor="ctr"/>
          <a:lstStyle/>
          <a:p>
            <a:pPr indent="0" marL="0">
              <a:buNone/>
            </a:pPr>
            <a:r>
              <a:rPr lang="en-US" sz="2800" b="1" dirty="0">
                <a:solidFill>
                  <a:srgbClr val="FF5723"/>
                </a:solidFill>
                <a:latin typeface="Playfair Display" pitchFamily="34" charset="0"/>
                <a:ea typeface="Playfair Display" pitchFamily="34" charset="-122"/>
                <a:cs typeface="Playfair Display" pitchFamily="34" charset="-120"/>
              </a:rPr>
              <a:t>03</a:t>
            </a:r>
            <a:endParaRPr lang="en-US" sz="2800" dirty="0"/>
          </a:p>
        </p:txBody>
      </p:sp>
      <p:sp>
        <p:nvSpPr>
          <p:cNvPr id="12" name="Text 10"/>
          <p:cNvSpPr txBox="1"/>
          <p:nvPr/>
        </p:nvSpPr>
        <p:spPr>
          <a:xfrm>
            <a:off x="8356397" y="2514600"/>
            <a:ext cx="3058058" cy="1143000"/>
          </a:xfrm>
          <a:prstGeom prst="rect">
            <a:avLst/>
          </a:prstGeom>
          <a:noFill/>
          <a:ln/>
        </p:spPr>
        <p:txBody>
          <a:bodyPr wrap="square" lIns="0" tIns="0" rIns="0" bIns="0" rtlCol="0" anchor="t"/>
          <a:lstStyle/>
          <a:p>
            <a:pPr indent="0" marL="0">
              <a:buNone/>
            </a:pPr>
            <a:r>
              <a:rPr lang="en-US" sz="1600" b="1" dirty="0">
                <a:solidFill>
                  <a:srgbClr val="272827"/>
                </a:solidFill>
                <a:latin typeface="Inter" pitchFamily="34" charset="0"/>
                <a:ea typeface="Inter" pitchFamily="34" charset="-122"/>
                <a:cs typeface="Inter" pitchFamily="34" charset="-120"/>
              </a:rPr>
              <a:t>Cache</a:t>
            </a:r>
            <a:pPr indent="0" marL="0">
              <a:buNone/>
            </a:pPr>
            <a:r>
              <a:rPr lang="en-US" sz="1600" dirty="0">
                <a:solidFill>
                  <a:srgbClr val="272827"/>
                </a:solidFill>
                <a:latin typeface="Inter" pitchFamily="34" charset="0"/>
                <a:ea typeface="Inter" pitchFamily="34" charset="-122"/>
                <a:cs typeface="Inter" pitchFamily="34" charset="-120"/>
              </a:rPr>
              <a:t> correctly: what, where, for how long, and how to invalidate</a:t>
            </a:r>
            <a:endParaRPr lang="en-US" sz="1600" dirty="0"/>
          </a:p>
        </p:txBody>
      </p:sp>
      <p:sp>
        <p:nvSpPr>
          <p:cNvPr id="13" name="Shape 11"/>
          <p:cNvSpPr/>
          <p:nvPr/>
        </p:nvSpPr>
        <p:spPr>
          <a:xfrm>
            <a:off x="548640" y="4069080"/>
            <a:ext cx="3515258" cy="2011680"/>
          </a:xfrm>
          <a:prstGeom prst="roundRect">
            <a:avLst>
              <a:gd name="adj" fmla="val 3636"/>
            </a:avLst>
          </a:prstGeom>
          <a:solidFill>
            <a:srgbClr val="F6F3EE"/>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14" name="Text 12"/>
          <p:cNvSpPr txBox="1"/>
          <p:nvPr/>
        </p:nvSpPr>
        <p:spPr>
          <a:xfrm>
            <a:off x="777240" y="4251960"/>
            <a:ext cx="914400" cy="502920"/>
          </a:xfrm>
          <a:prstGeom prst="rect">
            <a:avLst/>
          </a:prstGeom>
          <a:noFill/>
          <a:ln/>
        </p:spPr>
        <p:txBody>
          <a:bodyPr wrap="square" lIns="0" tIns="0" rIns="0" bIns="0" rtlCol="0" anchor="ctr"/>
          <a:lstStyle/>
          <a:p>
            <a:pPr indent="0" marL="0">
              <a:buNone/>
            </a:pPr>
            <a:r>
              <a:rPr lang="en-US" sz="2800" b="1" dirty="0">
                <a:solidFill>
                  <a:srgbClr val="FF5723"/>
                </a:solidFill>
                <a:latin typeface="Playfair Display" pitchFamily="34" charset="0"/>
                <a:ea typeface="Playfair Display" pitchFamily="34" charset="-122"/>
                <a:cs typeface="Playfair Display" pitchFamily="34" charset="-120"/>
              </a:rPr>
              <a:t>04</a:t>
            </a:r>
            <a:endParaRPr lang="en-US" sz="2800" dirty="0"/>
          </a:p>
        </p:txBody>
      </p:sp>
      <p:sp>
        <p:nvSpPr>
          <p:cNvPr id="15" name="Text 13"/>
          <p:cNvSpPr txBox="1"/>
          <p:nvPr/>
        </p:nvSpPr>
        <p:spPr>
          <a:xfrm>
            <a:off x="777240" y="4800600"/>
            <a:ext cx="3058058" cy="1143000"/>
          </a:xfrm>
          <a:prstGeom prst="rect">
            <a:avLst/>
          </a:prstGeom>
          <a:noFill/>
          <a:ln/>
        </p:spPr>
        <p:txBody>
          <a:bodyPr wrap="square" lIns="0" tIns="0" rIns="0" bIns="0" rtlCol="0" anchor="t"/>
          <a:lstStyle/>
          <a:p>
            <a:pPr indent="0" marL="0">
              <a:buNone/>
            </a:pPr>
            <a:r>
              <a:rPr lang="en-US" sz="1600" dirty="0">
                <a:solidFill>
                  <a:srgbClr val="272827"/>
                </a:solidFill>
                <a:latin typeface="Inter" pitchFamily="34" charset="0"/>
                <a:ea typeface="Inter" pitchFamily="34" charset="-122"/>
                <a:cs typeface="Inter" pitchFamily="34" charset="-120"/>
              </a:rPr>
              <a:t>Prevent double booking: </a:t>
            </a:r>
            <a:pPr indent="0" marL="0">
              <a:buNone/>
            </a:pPr>
            <a:r>
              <a:rPr lang="en-US" sz="1600" b="1" dirty="0">
                <a:solidFill>
                  <a:srgbClr val="272827"/>
                </a:solidFill>
                <a:latin typeface="Inter" pitchFamily="34" charset="0"/>
                <a:ea typeface="Inter" pitchFamily="34" charset="-122"/>
                <a:cs typeface="Inter" pitchFamily="34" charset="-120"/>
              </a:rPr>
              <a:t>idempotency keys</a:t>
            </a:r>
            <a:pPr indent="0" marL="0">
              <a:buNone/>
            </a:pPr>
            <a:r>
              <a:rPr lang="en-US" sz="1600" dirty="0">
                <a:solidFill>
                  <a:srgbClr val="272827"/>
                </a:solidFill>
                <a:latin typeface="Inter" pitchFamily="34" charset="0"/>
                <a:ea typeface="Inter" pitchFamily="34" charset="-122"/>
                <a:cs typeface="Inter" pitchFamily="34" charset="-120"/>
              </a:rPr>
              <a:t>, unique constraints, row locks</a:t>
            </a:r>
            <a:endParaRPr lang="en-US" sz="1600" dirty="0"/>
          </a:p>
        </p:txBody>
      </p:sp>
      <p:sp>
        <p:nvSpPr>
          <p:cNvPr id="16" name="Shape 14"/>
          <p:cNvSpPr/>
          <p:nvPr/>
        </p:nvSpPr>
        <p:spPr>
          <a:xfrm>
            <a:off x="4338218" y="4069080"/>
            <a:ext cx="3515258" cy="2011680"/>
          </a:xfrm>
          <a:prstGeom prst="roundRect">
            <a:avLst>
              <a:gd name="adj" fmla="val 3636"/>
            </a:avLst>
          </a:prstGeom>
          <a:solidFill>
            <a:srgbClr val="F6F3EE"/>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17" name="Text 15"/>
          <p:cNvSpPr txBox="1"/>
          <p:nvPr/>
        </p:nvSpPr>
        <p:spPr>
          <a:xfrm>
            <a:off x="4566818" y="4251960"/>
            <a:ext cx="914400" cy="502920"/>
          </a:xfrm>
          <a:prstGeom prst="rect">
            <a:avLst/>
          </a:prstGeom>
          <a:noFill/>
          <a:ln/>
        </p:spPr>
        <p:txBody>
          <a:bodyPr wrap="square" lIns="0" tIns="0" rIns="0" bIns="0" rtlCol="0" anchor="ctr"/>
          <a:lstStyle/>
          <a:p>
            <a:pPr indent="0" marL="0">
              <a:buNone/>
            </a:pPr>
            <a:r>
              <a:rPr lang="en-US" sz="2800" b="1" dirty="0">
                <a:solidFill>
                  <a:srgbClr val="FF5723"/>
                </a:solidFill>
                <a:latin typeface="Playfair Display" pitchFamily="34" charset="0"/>
                <a:ea typeface="Playfair Display" pitchFamily="34" charset="-122"/>
                <a:cs typeface="Playfair Display" pitchFamily="34" charset="-120"/>
              </a:rPr>
              <a:t>05</a:t>
            </a:r>
            <a:endParaRPr lang="en-US" sz="2800" dirty="0"/>
          </a:p>
        </p:txBody>
      </p:sp>
      <p:sp>
        <p:nvSpPr>
          <p:cNvPr id="18" name="Text 16"/>
          <p:cNvSpPr txBox="1"/>
          <p:nvPr/>
        </p:nvSpPr>
        <p:spPr>
          <a:xfrm>
            <a:off x="4566818" y="4800600"/>
            <a:ext cx="3058058" cy="1143000"/>
          </a:xfrm>
          <a:prstGeom prst="rect">
            <a:avLst/>
          </a:prstGeom>
          <a:noFill/>
          <a:ln/>
        </p:spPr>
        <p:txBody>
          <a:bodyPr wrap="square" lIns="0" tIns="0" rIns="0" bIns="0" rtlCol="0" anchor="t"/>
          <a:lstStyle/>
          <a:p>
            <a:pPr indent="0" marL="0">
              <a:buNone/>
            </a:pPr>
            <a:r>
              <a:rPr lang="en-US" sz="1600" b="1" dirty="0">
                <a:solidFill>
                  <a:srgbClr val="272827"/>
                </a:solidFill>
                <a:latin typeface="Inter" pitchFamily="34" charset="0"/>
                <a:ea typeface="Inter" pitchFamily="34" charset="-122"/>
                <a:cs typeface="Inter" pitchFamily="34" charset="-120"/>
              </a:rPr>
              <a:t>Rate limit</a:t>
            </a:r>
            <a:pPr indent="0" marL="0">
              <a:buNone/>
            </a:pPr>
            <a:r>
              <a:rPr lang="en-US" sz="1600" dirty="0">
                <a:solidFill>
                  <a:srgbClr val="272827"/>
                </a:solidFill>
                <a:latin typeface="Inter" pitchFamily="34" charset="0"/>
                <a:ea typeface="Inter" pitchFamily="34" charset="-122"/>
                <a:cs typeface="Inter" pitchFamily="34" charset="-120"/>
              </a:rPr>
              <a:t> and </a:t>
            </a:r>
            <a:pPr indent="0" marL="0">
              <a:buNone/>
            </a:pPr>
            <a:r>
              <a:rPr lang="en-US" sz="1600" b="1" dirty="0">
                <a:solidFill>
                  <a:srgbClr val="272827"/>
                </a:solidFill>
                <a:latin typeface="Inter" pitchFamily="34" charset="0"/>
                <a:ea typeface="Inter" pitchFamily="34" charset="-122"/>
                <a:cs typeface="Inter" pitchFamily="34" charset="-120"/>
              </a:rPr>
              <a:t>observe</a:t>
            </a:r>
            <a:pPr indent="0" marL="0">
              <a:buNone/>
            </a:pPr>
            <a:r>
              <a:rPr lang="en-US" sz="1600" dirty="0">
                <a:solidFill>
                  <a:srgbClr val="272827"/>
                </a:solidFill>
                <a:latin typeface="Inter" pitchFamily="34" charset="0"/>
                <a:ea typeface="Inter" pitchFamily="34" charset="-122"/>
                <a:cs typeface="Inter" pitchFamily="34" charset="-120"/>
              </a:rPr>
              <a:t>: structured logs, request IDs, query counts, Horizon</a:t>
            </a:r>
            <a:endParaRPr lang="en-US" sz="1600" dirty="0"/>
          </a:p>
        </p:txBody>
      </p:sp>
      <p:sp>
        <p:nvSpPr>
          <p:cNvPr id="19" name="Shape 17"/>
          <p:cNvSpPr/>
          <p:nvPr/>
        </p:nvSpPr>
        <p:spPr>
          <a:xfrm>
            <a:off x="8127797" y="4069080"/>
            <a:ext cx="3515258" cy="2011680"/>
          </a:xfrm>
          <a:prstGeom prst="roundRect">
            <a:avLst>
              <a:gd name="adj" fmla="val 3636"/>
            </a:avLst>
          </a:prstGeom>
          <a:solidFill>
            <a:srgbClr val="F6F3EE"/>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20" name="Text 18"/>
          <p:cNvSpPr txBox="1"/>
          <p:nvPr/>
        </p:nvSpPr>
        <p:spPr>
          <a:xfrm>
            <a:off x="8356397" y="4251960"/>
            <a:ext cx="914400" cy="502920"/>
          </a:xfrm>
          <a:prstGeom prst="rect">
            <a:avLst/>
          </a:prstGeom>
          <a:noFill/>
          <a:ln/>
        </p:spPr>
        <p:txBody>
          <a:bodyPr wrap="square" lIns="0" tIns="0" rIns="0" bIns="0" rtlCol="0" anchor="ctr"/>
          <a:lstStyle/>
          <a:p>
            <a:pPr indent="0" marL="0">
              <a:buNone/>
            </a:pPr>
            <a:r>
              <a:rPr lang="en-US" sz="2800" b="1" dirty="0">
                <a:solidFill>
                  <a:srgbClr val="FF5723"/>
                </a:solidFill>
                <a:latin typeface="Playfair Display" pitchFamily="34" charset="0"/>
                <a:ea typeface="Playfair Display" pitchFamily="34" charset="-122"/>
                <a:cs typeface="Playfair Display" pitchFamily="34" charset="-120"/>
              </a:rPr>
              <a:t>06</a:t>
            </a:r>
            <a:endParaRPr lang="en-US" sz="2800" dirty="0"/>
          </a:p>
        </p:txBody>
      </p:sp>
      <p:sp>
        <p:nvSpPr>
          <p:cNvPr id="21" name="Text 19"/>
          <p:cNvSpPr txBox="1"/>
          <p:nvPr/>
        </p:nvSpPr>
        <p:spPr>
          <a:xfrm>
            <a:off x="8356397" y="4800600"/>
            <a:ext cx="3058058" cy="1143000"/>
          </a:xfrm>
          <a:prstGeom prst="rect">
            <a:avLst/>
          </a:prstGeom>
          <a:noFill/>
          <a:ln/>
        </p:spPr>
        <p:txBody>
          <a:bodyPr wrap="square" lIns="0" tIns="0" rIns="0" bIns="0" rtlCol="0" anchor="t"/>
          <a:lstStyle/>
          <a:p>
            <a:pPr indent="0" marL="0">
              <a:buNone/>
            </a:pPr>
            <a:r>
              <a:rPr lang="en-US" sz="1600" dirty="0">
                <a:solidFill>
                  <a:srgbClr val="272827"/>
                </a:solidFill>
                <a:latin typeface="Inter" pitchFamily="34" charset="0"/>
                <a:ea typeface="Inter" pitchFamily="34" charset="-122"/>
                <a:cs typeface="Inter" pitchFamily="34" charset="-120"/>
              </a:rPr>
              <a:t>Load-test with </a:t>
            </a:r>
            <a:pPr indent="0" marL="0">
              <a:buNone/>
            </a:pPr>
            <a:r>
              <a:rPr lang="en-US" sz="1600" b="1" dirty="0">
                <a:solidFill>
                  <a:srgbClr val="272827"/>
                </a:solidFill>
                <a:latin typeface="Inter" pitchFamily="34" charset="0"/>
                <a:ea typeface="Inter" pitchFamily="34" charset="-122"/>
                <a:cs typeface="Inter" pitchFamily="34" charset="-120"/>
              </a:rPr>
              <a:t>k6</a:t>
            </a:r>
            <a:pPr indent="0" marL="0">
              <a:buNone/>
            </a:pPr>
            <a:r>
              <a:rPr lang="en-US" sz="1600" dirty="0">
                <a:solidFill>
                  <a:srgbClr val="272827"/>
                </a:solidFill>
                <a:latin typeface="Inter" pitchFamily="34" charset="0"/>
                <a:ea typeface="Inter" pitchFamily="34" charset="-122"/>
                <a:cs typeface="Inter" pitchFamily="34" charset="-120"/>
              </a:rPr>
              <a:t> and verify the agent's claims with numbers</a:t>
            </a:r>
            <a:endParaRPr lang="en-US" sz="1600" dirty="0"/>
          </a:p>
        </p:txBody>
      </p:sp>
      <p:sp>
        <p:nvSpPr>
          <p:cNvPr id="25" name="Slide Number Placeholder 0"/>
          <p:cNvSpPr>
            <a:spLocks noGrp="1"/>
          </p:cNvSpPr>
          <p:nvPr>
            <p:ph type="sldNum" sz="quarter" idx="4294967295"/>
          </p:nvPr>
        </p:nvSpPr>
        <p:spPr>
          <a:xfrm>
            <a:off x="10911535" y="6419088"/>
            <a:ext cx="73152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280"/>
                </a:solidFill>
                <a:latin typeface="Inter"/>
                <a:ea typeface="Inter"/>
                <a:cs typeface="Inter"/>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1828800"/>
            <a:ext cx="6949440" cy="320040"/>
          </a:xfrm>
          <a:prstGeom prst="rect">
            <a:avLst/>
          </a:prstGeom>
          <a:noFill/>
          <a:ln/>
        </p:spPr>
        <p:txBody>
          <a:bodyPr wrap="square" lIns="0" tIns="0" rIns="0" bIns="0" rtlCol="0" anchor="ctr"/>
          <a:lstStyle/>
          <a:p>
            <a:pPr indent="0" marL="0">
              <a:buNone/>
            </a:pPr>
            <a:r>
              <a:rPr lang="en-US" sz="1300" b="1" spc="300" kern="0" dirty="0">
                <a:solidFill>
                  <a:srgbClr val="FF5723"/>
                </a:solidFill>
                <a:latin typeface="Inter" pitchFamily="34" charset="0"/>
                <a:ea typeface="Inter" pitchFamily="34" charset="-122"/>
                <a:cs typeface="Inter" pitchFamily="34" charset="-120"/>
              </a:rPr>
              <a:t>SESSION A · 09:30–10:45</a:t>
            </a:r>
            <a:endParaRPr lang="en-US" sz="1300" dirty="0"/>
          </a:p>
        </p:txBody>
      </p:sp>
      <p:sp>
        <p:nvSpPr>
          <p:cNvPr id="3" name="Text 1"/>
          <p:cNvSpPr txBox="1"/>
          <p:nvPr/>
        </p:nvSpPr>
        <p:spPr>
          <a:xfrm>
            <a:off x="548640" y="2240280"/>
            <a:ext cx="7498080" cy="1737360"/>
          </a:xfrm>
          <a:prstGeom prst="rect">
            <a:avLst/>
          </a:prstGeom>
          <a:noFill/>
          <a:ln/>
        </p:spPr>
        <p:txBody>
          <a:bodyPr wrap="square" lIns="0" tIns="0" rIns="0" bIns="0" rtlCol="0" anchor="t"/>
          <a:lstStyle/>
          <a:p>
            <a:pPr indent="0" marL="0">
              <a:buNone/>
            </a:pPr>
            <a:r>
              <a:rPr lang="en-US" sz="4600" b="1" dirty="0">
                <a:solidFill>
                  <a:srgbClr val="FFFFFF"/>
                </a:solidFill>
                <a:latin typeface="Playfair Display" pitchFamily="34" charset="0"/>
                <a:ea typeface="Playfair Display" pitchFamily="34" charset="-122"/>
                <a:cs typeface="Playfair Display" pitchFamily="34" charset="-120"/>
              </a:rPr>
              <a:t>Scale is a </a:t>
            </a:r>
            <a:pPr indent="0" marL="0">
              <a:buNone/>
            </a:pPr>
            <a:r>
              <a:rPr lang="en-US" sz="4600" b="1" dirty="0">
                <a:solidFill>
                  <a:srgbClr val="FF5723"/>
                </a:solidFill>
                <a:latin typeface="Playfair Display" pitchFamily="34" charset="0"/>
                <a:ea typeface="Playfair Display" pitchFamily="34" charset="-122"/>
                <a:cs typeface="Playfair Display" pitchFamily="34" charset="-120"/>
              </a:rPr>
              <a:t>design</a:t>
            </a:r>
            <a:pPr indent="0" marL="0">
              <a:buNone/>
            </a:pPr>
            <a:r>
              <a:rPr lang="en-US" sz="4600" b="1" dirty="0">
                <a:solidFill>
                  <a:srgbClr val="FFFFFF"/>
                </a:solidFill>
                <a:latin typeface="Playfair Display" pitchFamily="34" charset="0"/>
                <a:ea typeface="Playfair Display" pitchFamily="34" charset="-122"/>
                <a:cs typeface="Playfair Display" pitchFamily="34" charset="-120"/>
              </a:rPr>
              <a:t> choice</a:t>
            </a:r>
            <a:endParaRPr lang="en-US" sz="4600" dirty="0"/>
          </a:p>
        </p:txBody>
      </p:sp>
      <p:sp>
        <p:nvSpPr>
          <p:cNvPr id="4" name="Text 2"/>
          <p:cNvSpPr txBox="1"/>
          <p:nvPr/>
        </p:nvSpPr>
        <p:spPr>
          <a:xfrm>
            <a:off x="548640" y="4023360"/>
            <a:ext cx="7315200" cy="548640"/>
          </a:xfrm>
          <a:prstGeom prst="rect">
            <a:avLst/>
          </a:prstGeom>
          <a:noFill/>
          <a:ln/>
        </p:spPr>
        <p:txBody>
          <a:bodyPr wrap="square" lIns="0" tIns="0" rIns="0" bIns="0" rtlCol="0" anchor="t"/>
          <a:lstStyle/>
          <a:p>
            <a:pPr rtl="1" algn="l" indent="0" marL="0">
              <a:buNone/>
            </a:pPr>
            <a:r>
              <a:rPr lang="ar-LY" altLang="en-US" sz="2800" dirty="0">
                <a:solidFill>
                  <a:srgbClr val="9CA3AF"/>
                </a:solidFill>
                <a:latin typeface="Tajawal" pitchFamily="34" charset="0"/>
                <a:ea typeface="Tajawal" pitchFamily="34" charset="-122"/>
                <a:cs typeface="Tajawal" pitchFamily="34" charset="-120"/>
              </a:rPr>
              <a:t>التوسع قرار تصميمي</a:t>
            </a:r>
            <a:endParaRPr lang="ar-LY" sz="2800" dirty="0"/>
          </a:p>
        </p:txBody>
      </p:sp>
      <p:sp>
        <p:nvSpPr>
          <p:cNvPr id="5" name="Text 3"/>
          <p:cNvSpPr txBox="1"/>
          <p:nvPr/>
        </p:nvSpPr>
        <p:spPr>
          <a:xfrm>
            <a:off x="548640" y="5120640"/>
            <a:ext cx="7863840" cy="548640"/>
          </a:xfrm>
          <a:prstGeom prst="rect">
            <a:avLst/>
          </a:prstGeom>
          <a:noFill/>
          <a:ln/>
        </p:spPr>
        <p:txBody>
          <a:bodyPr wrap="square" lIns="0" tIns="0" rIns="0" bIns="0" rtlCol="0" anchor="t"/>
          <a:lstStyle/>
          <a:p>
            <a:pPr indent="0" marL="0">
              <a:buNone/>
            </a:pPr>
            <a:r>
              <a:rPr lang="en-US" sz="1300" dirty="0">
                <a:solidFill>
                  <a:srgbClr val="9CA3AF"/>
                </a:solidFill>
                <a:latin typeface="Inter" pitchFamily="34" charset="0"/>
                <a:ea typeface="Inter" pitchFamily="34" charset="-122"/>
                <a:cs typeface="Inter" pitchFamily="34" charset="-120"/>
              </a:rPr>
              <a:t>Stateless servers   ·   Horizontal scaling   ·   The database bottleneck   ·   Queues &amp; events   ·   Race conditions   ·   Idempotency</a:t>
            </a:r>
            <a:endParaRPr lang="en-US" sz="1300" dirty="0"/>
          </a:p>
        </p:txBody>
      </p:sp>
      <p:sp>
        <p:nvSpPr>
          <p:cNvPr id="6" name="Text 4"/>
          <p:cNvSpPr txBox="1"/>
          <p:nvPr/>
        </p:nvSpPr>
        <p:spPr>
          <a:xfrm>
            <a:off x="8138160" y="1188720"/>
            <a:ext cx="3566160" cy="3108960"/>
          </a:xfrm>
          <a:prstGeom prst="rect">
            <a:avLst/>
          </a:prstGeom>
          <a:noFill/>
          <a:ln/>
        </p:spPr>
        <p:txBody>
          <a:bodyPr wrap="square" lIns="0" tIns="0" rIns="0" bIns="0" rtlCol="0" anchor="ctr"/>
          <a:lstStyle/>
          <a:p>
            <a:pPr algn="r" indent="0" marL="0">
              <a:buNone/>
            </a:pPr>
            <a:r>
              <a:rPr lang="en-US" sz="21000" b="1" dirty="0">
                <a:solidFill>
                  <a:srgbClr val="FF5723"/>
                </a:solidFill>
                <a:latin typeface="Playfair Display" pitchFamily="34" charset="0"/>
                <a:ea typeface="Playfair Display" pitchFamily="34" charset="-122"/>
                <a:cs typeface="Playfair Display" pitchFamily="34" charset="-120"/>
              </a:rPr>
              <a:t>01</a:t>
            </a:r>
            <a:endParaRPr lang="en-US" sz="21000" dirty="0"/>
          </a:p>
        </p:txBody>
      </p:sp>
      <p:sp>
        <p:nvSpPr>
          <p:cNvPr id="25" name="Slide Number Placeholder 0"/>
          <p:cNvSpPr>
            <a:spLocks noGrp="1"/>
          </p:cNvSpPr>
          <p:nvPr>
            <p:ph type="sldNum" sz="quarter" idx="4294967295"/>
          </p:nvPr>
        </p:nvSpPr>
        <p:spPr>
          <a:xfrm>
            <a:off x="10911535" y="6419088"/>
            <a:ext cx="73152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9CA3AF"/>
                </a:solidFill>
                <a:latin typeface="Inter"/>
                <a:ea typeface="Inter"/>
                <a:cs typeface="Inter"/>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94415" cy="640080"/>
          </a:xfrm>
          <a:prstGeom prst="rect">
            <a:avLst/>
          </a:prstGeom>
          <a:noFill/>
          <a:ln/>
        </p:spPr>
        <p:txBody>
          <a:bodyPr wrap="square" lIns="0" tIns="0" rIns="0" bIns="0" rtlCol="0" anchor="b"/>
          <a:lstStyle/>
          <a:p>
            <a:pPr algn="l" indent="0" marL="0">
              <a:buNone/>
            </a:pPr>
            <a:r>
              <a:rPr lang="en-US" sz="3200" b="1" dirty="0">
                <a:solidFill>
                  <a:srgbClr val="272827"/>
                </a:solidFill>
                <a:latin typeface="Playfair Display" pitchFamily="34" charset="0"/>
                <a:ea typeface="Playfair Display" pitchFamily="34" charset="-122"/>
                <a:cs typeface="Playfair Display" pitchFamily="34" charset="-120"/>
              </a:rPr>
              <a:t>The scalability mental model</a:t>
            </a:r>
            <a:endParaRPr lang="en-US" sz="3200" dirty="0"/>
          </a:p>
        </p:txBody>
      </p:sp>
      <p:sp>
        <p:nvSpPr>
          <p:cNvPr id="3" name="Text 1"/>
          <p:cNvSpPr txBox="1"/>
          <p:nvPr/>
        </p:nvSpPr>
        <p:spPr>
          <a:xfrm>
            <a:off x="548640" y="1060704"/>
            <a:ext cx="8229600" cy="384048"/>
          </a:xfrm>
          <a:prstGeom prst="rect">
            <a:avLst/>
          </a:prstGeom>
          <a:noFill/>
          <a:ln/>
        </p:spPr>
        <p:txBody>
          <a:bodyPr wrap="square" lIns="0" tIns="0" rIns="0" bIns="0" rtlCol="0" anchor="t"/>
          <a:lstStyle/>
          <a:p>
            <a:pPr rtl="1" algn="l" indent="0" marL="0">
              <a:buNone/>
            </a:pPr>
            <a:r>
              <a:rPr lang="ar-LY" altLang="en-US" sz="1700" dirty="0">
                <a:solidFill>
                  <a:srgbClr val="FF5723"/>
                </a:solidFill>
                <a:latin typeface="Tajawal" pitchFamily="34" charset="0"/>
                <a:ea typeface="Tajawal" pitchFamily="34" charset="-122"/>
                <a:cs typeface="Tajawal" pitchFamily="34" charset="-120"/>
              </a:rPr>
              <a:t>النموذج الذهني للتوسع</a:t>
            </a:r>
            <a:endParaRPr lang="ar-LY" sz="1700" dirty="0"/>
          </a:p>
        </p:txBody>
      </p:sp>
      <p:sp>
        <p:nvSpPr>
          <p:cNvPr id="4" name="Text 2"/>
          <p:cNvSpPr txBox="1"/>
          <p:nvPr/>
        </p:nvSpPr>
        <p:spPr>
          <a:xfrm>
            <a:off x="548640" y="1828800"/>
            <a:ext cx="6583680" cy="4343400"/>
          </a:xfrm>
          <a:prstGeom prst="rect">
            <a:avLst/>
          </a:prstGeom>
          <a:noFill/>
          <a:ln/>
        </p:spPr>
        <p:txBody>
          <a:bodyPr wrap="square" lIns="0" tIns="0" rIns="0" bIns="0" rtlCol="0" anchor="t"/>
          <a:lstStyle/>
          <a:p>
            <a:pPr marL="228600" indent="-228600">
              <a:spcAft>
                <a:spcPts val="1000"/>
              </a:spcAft>
              <a:buSzPct val="100000"/>
              <a:buChar char="•"/>
            </a:pPr>
            <a:r>
              <a:rPr lang="en-US" sz="1900" dirty="0">
                <a:solidFill>
                  <a:srgbClr val="272827"/>
                </a:solidFill>
                <a:latin typeface="Inter" pitchFamily="34" charset="0"/>
                <a:ea typeface="Inter" pitchFamily="34" charset="-122"/>
                <a:cs typeface="Inter" pitchFamily="34" charset="-120"/>
              </a:rPr>
              <a:t>App servers are </a:t>
            </a:r>
            <a:pPr indent="0" marL="0">
              <a:buNone/>
            </a:pPr>
            <a:r>
              <a:rPr lang="en-US" sz="1900" b="1" dirty="0">
                <a:solidFill>
                  <a:srgbClr val="272827"/>
                </a:solidFill>
                <a:latin typeface="Inter" pitchFamily="34" charset="0"/>
                <a:ea typeface="Inter" pitchFamily="34" charset="-122"/>
                <a:cs typeface="Inter" pitchFamily="34" charset="-120"/>
              </a:rPr>
              <a:t>stateless</a:t>
            </a:r>
            <a:pPr indent="0" marL="0">
              <a:buNone/>
            </a:pPr>
            <a:r>
              <a:rPr lang="en-US" sz="1900" dirty="0">
                <a:solidFill>
                  <a:srgbClr val="272827"/>
                </a:solidFill>
                <a:latin typeface="Inter" pitchFamily="34" charset="0"/>
                <a:ea typeface="Inter" pitchFamily="34" charset="-122"/>
                <a:cs typeface="Inter" pitchFamily="34" charset="-120"/>
              </a:rPr>
              <a:t>: any request can go to any server</a:t>
            </a:r>
            <a:endParaRPr lang="en-US" sz="1900" dirty="0"/>
          </a:p>
          <a:p>
            <a:pPr marL="228600" indent="-228600">
              <a:spcAft>
                <a:spcPts val="1000"/>
              </a:spcAft>
              <a:buSzPct val="100000"/>
              <a:buChar char="•"/>
            </a:pPr>
            <a:r>
              <a:rPr lang="en-US" sz="1900" dirty="0">
                <a:solidFill>
                  <a:srgbClr val="272827"/>
                </a:solidFill>
                <a:latin typeface="Inter" pitchFamily="34" charset="0"/>
                <a:ea typeface="Inter" pitchFamily="34" charset="-122"/>
                <a:cs typeface="Inter" pitchFamily="34" charset="-120"/>
              </a:rPr>
              <a:t>Scale </a:t>
            </a:r>
            <a:pPr indent="0" marL="0">
              <a:buNone/>
            </a:pPr>
            <a:r>
              <a:rPr lang="en-US" sz="1900" b="1" dirty="0">
                <a:solidFill>
                  <a:srgbClr val="272827"/>
                </a:solidFill>
                <a:latin typeface="Inter" pitchFamily="34" charset="0"/>
                <a:ea typeface="Inter" pitchFamily="34" charset="-122"/>
                <a:cs typeface="Inter" pitchFamily="34" charset="-120"/>
              </a:rPr>
              <a:t>out</a:t>
            </a:r>
            <a:pPr indent="0" marL="0">
              <a:buNone/>
            </a:pPr>
            <a:r>
              <a:rPr lang="en-US" sz="1900" dirty="0">
                <a:solidFill>
                  <a:srgbClr val="272827"/>
                </a:solidFill>
                <a:latin typeface="Inter" pitchFamily="34" charset="0"/>
                <a:ea typeface="Inter" pitchFamily="34" charset="-122"/>
                <a:cs typeface="Inter" pitchFamily="34" charset="-120"/>
              </a:rPr>
              <a:t> by adding servers behind a load balancer</a:t>
            </a:r>
            <a:endParaRPr lang="en-US" sz="1900" dirty="0"/>
          </a:p>
          <a:p>
            <a:pPr marL="228600" indent="-228600">
              <a:spcAft>
                <a:spcPts val="1000"/>
              </a:spcAft>
              <a:buSzPct val="100000"/>
              <a:buChar char="•"/>
            </a:pPr>
            <a:r>
              <a:rPr lang="en-US" sz="1900" dirty="0">
                <a:solidFill>
                  <a:srgbClr val="272827"/>
                </a:solidFill>
                <a:latin typeface="Inter" pitchFamily="34" charset="0"/>
                <a:ea typeface="Inter" pitchFamily="34" charset="-122"/>
                <a:cs typeface="Inter" pitchFamily="34" charset="-120"/>
              </a:rPr>
              <a:t>Shared state lives in </a:t>
            </a:r>
            <a:pPr indent="0" marL="0">
              <a:buNone/>
            </a:pPr>
            <a:r>
              <a:rPr lang="en-US" sz="1900" b="1" dirty="0">
                <a:solidFill>
                  <a:srgbClr val="272827"/>
                </a:solidFill>
                <a:latin typeface="Inter" pitchFamily="34" charset="0"/>
                <a:ea typeface="Inter" pitchFamily="34" charset="-122"/>
                <a:cs typeface="Inter" pitchFamily="34" charset="-120"/>
              </a:rPr>
              <a:t>PostgreSQL</a:t>
            </a:r>
            <a:pPr indent="0" marL="0">
              <a:buNone/>
            </a:pPr>
            <a:r>
              <a:rPr lang="en-US" sz="1900" dirty="0">
                <a:solidFill>
                  <a:srgbClr val="272827"/>
                </a:solidFill>
                <a:latin typeface="Inter" pitchFamily="34" charset="0"/>
                <a:ea typeface="Inter" pitchFamily="34" charset="-122"/>
                <a:cs typeface="Inter" pitchFamily="34" charset="-120"/>
              </a:rPr>
              <a:t> and </a:t>
            </a:r>
            <a:pPr indent="0" marL="0">
              <a:buNone/>
            </a:pPr>
            <a:r>
              <a:rPr lang="en-US" sz="1900" b="1" dirty="0">
                <a:solidFill>
                  <a:srgbClr val="272827"/>
                </a:solidFill>
                <a:latin typeface="Inter" pitchFamily="34" charset="0"/>
                <a:ea typeface="Inter" pitchFamily="34" charset="-122"/>
                <a:cs typeface="Inter" pitchFamily="34" charset="-120"/>
              </a:rPr>
              <a:t>Redis</a:t>
            </a:r>
            <a:pPr indent="0" marL="0">
              <a:buNone/>
            </a:pPr>
            <a:r>
              <a:rPr lang="en-US" sz="1900" dirty="0">
                <a:solidFill>
                  <a:srgbClr val="272827"/>
                </a:solidFill>
                <a:latin typeface="Inter" pitchFamily="34" charset="0"/>
                <a:ea typeface="Inter" pitchFamily="34" charset="-122"/>
                <a:cs typeface="Inter" pitchFamily="34" charset="-120"/>
              </a:rPr>
              <a:t>, never in server memory</a:t>
            </a:r>
            <a:endParaRPr lang="en-US" sz="1900" dirty="0"/>
          </a:p>
          <a:p>
            <a:pPr marL="228600" indent="-228600">
              <a:spcAft>
                <a:spcPts val="1000"/>
              </a:spcAft>
              <a:buSzPct val="100000"/>
              <a:buChar char="•"/>
            </a:pPr>
            <a:r>
              <a:rPr lang="en-US" sz="1900" dirty="0">
                <a:solidFill>
                  <a:srgbClr val="272827"/>
                </a:solidFill>
                <a:latin typeface="Inter" pitchFamily="34" charset="0"/>
                <a:ea typeface="Inter" pitchFamily="34" charset="-122"/>
                <a:cs typeface="Inter" pitchFamily="34" charset="-120"/>
              </a:rPr>
              <a:t>The </a:t>
            </a:r>
            <a:pPr indent="0" marL="0">
              <a:buNone/>
            </a:pPr>
            <a:r>
              <a:rPr lang="en-US" sz="1900" b="1" dirty="0">
                <a:solidFill>
                  <a:srgbClr val="272827"/>
                </a:solidFill>
                <a:latin typeface="Inter" pitchFamily="34" charset="0"/>
                <a:ea typeface="Inter" pitchFamily="34" charset="-122"/>
                <a:cs typeface="Inter" pitchFamily="34" charset="-120"/>
              </a:rPr>
              <a:t>database</a:t>
            </a:r>
            <a:pPr indent="0" marL="0">
              <a:buNone/>
            </a:pPr>
            <a:r>
              <a:rPr lang="en-US" sz="1900" dirty="0">
                <a:solidFill>
                  <a:srgbClr val="272827"/>
                </a:solidFill>
                <a:latin typeface="Inter" pitchFamily="34" charset="0"/>
                <a:ea typeface="Inter" pitchFamily="34" charset="-122"/>
                <a:cs typeface="Inter" pitchFamily="34" charset="-120"/>
              </a:rPr>
              <a:t> is usually the first bottleneck, not PHP</a:t>
            </a:r>
            <a:endParaRPr lang="en-US" sz="1900" dirty="0"/>
          </a:p>
          <a:p>
            <a:pPr marL="228600" indent="-228600">
              <a:spcAft>
                <a:spcPts val="1000"/>
              </a:spcAft>
              <a:buSzPct val="100000"/>
              <a:buChar char="•"/>
            </a:pPr>
            <a:r>
              <a:rPr lang="en-US" sz="1900" dirty="0">
                <a:solidFill>
                  <a:srgbClr val="272827"/>
                </a:solidFill>
                <a:latin typeface="Inter" pitchFamily="34" charset="0"/>
                <a:ea typeface="Inter" pitchFamily="34" charset="-122"/>
                <a:cs typeface="Inter" pitchFamily="34" charset="-120"/>
              </a:rPr>
              <a:t>Slow or unreliable work leaves the request and goes to a </a:t>
            </a:r>
            <a:pPr indent="0" marL="0">
              <a:buNone/>
            </a:pPr>
            <a:r>
              <a:rPr lang="en-US" sz="1900" b="1" dirty="0">
                <a:solidFill>
                  <a:srgbClr val="272827"/>
                </a:solidFill>
                <a:latin typeface="Inter" pitchFamily="34" charset="0"/>
                <a:ea typeface="Inter" pitchFamily="34" charset="-122"/>
                <a:cs typeface="Inter" pitchFamily="34" charset="-120"/>
              </a:rPr>
              <a:t>queue</a:t>
            </a:r>
            <a:endParaRPr lang="en-US" sz="1900" dirty="0"/>
          </a:p>
        </p:txBody>
      </p:sp>
      <p:sp>
        <p:nvSpPr>
          <p:cNvPr id="5" name="Shape 3"/>
          <p:cNvSpPr/>
          <p:nvPr/>
        </p:nvSpPr>
        <p:spPr>
          <a:xfrm>
            <a:off x="7589520" y="1783080"/>
            <a:ext cx="4053535" cy="4206240"/>
          </a:xfrm>
          <a:prstGeom prst="roundRect">
            <a:avLst>
              <a:gd name="adj" fmla="val 2256"/>
            </a:avLst>
          </a:prstGeom>
          <a:solidFill>
            <a:srgbClr val="272827"/>
          </a:solidFill>
          <a:ln w="12700">
            <a:solidFill>
              <a:srgbClr val="272827"/>
            </a:solidFill>
            <a:prstDash val="solid"/>
          </a:ln>
        </p:spPr>
      </p:sp>
      <p:sp>
        <p:nvSpPr>
          <p:cNvPr id="6" name="Text 4"/>
          <p:cNvSpPr txBox="1"/>
          <p:nvPr/>
        </p:nvSpPr>
        <p:spPr>
          <a:xfrm>
            <a:off x="7909560" y="2057400"/>
            <a:ext cx="3413455" cy="274320"/>
          </a:xfrm>
          <a:prstGeom prst="rect">
            <a:avLst/>
          </a:prstGeom>
          <a:noFill/>
          <a:ln/>
        </p:spPr>
        <p:txBody>
          <a:bodyPr wrap="square" lIns="0" tIns="0" rIns="0" bIns="0" rtlCol="0" anchor="ctr"/>
          <a:lstStyle/>
          <a:p>
            <a:pPr indent="0" marL="0">
              <a:buNone/>
            </a:pPr>
            <a:r>
              <a:rPr lang="en-US" sz="1100" b="1" spc="300" kern="0" dirty="0">
                <a:solidFill>
                  <a:srgbClr val="9CA3AF"/>
                </a:solidFill>
                <a:latin typeface="Inter" pitchFamily="34" charset="0"/>
                <a:ea typeface="Inter" pitchFamily="34" charset="-122"/>
                <a:cs typeface="Inter" pitchFamily="34" charset="-120"/>
              </a:rPr>
              <a:t>KEY IDEA</a:t>
            </a:r>
            <a:endParaRPr lang="en-US" sz="1100" dirty="0"/>
          </a:p>
        </p:txBody>
      </p:sp>
      <p:sp>
        <p:nvSpPr>
          <p:cNvPr id="7" name="Text 5"/>
          <p:cNvSpPr txBox="1"/>
          <p:nvPr/>
        </p:nvSpPr>
        <p:spPr>
          <a:xfrm>
            <a:off x="7909560" y="2423160"/>
            <a:ext cx="3413455" cy="1737360"/>
          </a:xfrm>
          <a:prstGeom prst="rect">
            <a:avLst/>
          </a:prstGeom>
          <a:noFill/>
          <a:ln/>
        </p:spPr>
        <p:txBody>
          <a:bodyPr wrap="square" lIns="0" tIns="0" rIns="0" bIns="0" rtlCol="0" anchor="t"/>
          <a:lstStyle/>
          <a:p>
            <a:pPr indent="0" marL="0">
              <a:buNone/>
            </a:pPr>
            <a:r>
              <a:rPr lang="en-US" sz="3200" b="1" dirty="0">
                <a:solidFill>
                  <a:srgbClr val="FF5723"/>
                </a:solidFill>
                <a:latin typeface="Playfair Display" pitchFamily="34" charset="0"/>
                <a:ea typeface="Playfair Display" pitchFamily="34" charset="-122"/>
                <a:cs typeface="Playfair Display" pitchFamily="34" charset="-120"/>
              </a:rPr>
              <a:t>Stateless app, shared state</a:t>
            </a:r>
            <a:endParaRPr lang="en-US" sz="3200" dirty="0"/>
          </a:p>
        </p:txBody>
      </p:sp>
      <p:sp>
        <p:nvSpPr>
          <p:cNvPr id="8" name="Text 6"/>
          <p:cNvSpPr txBox="1"/>
          <p:nvPr/>
        </p:nvSpPr>
        <p:spPr>
          <a:xfrm>
            <a:off x="7909560" y="4251960"/>
            <a:ext cx="3413455" cy="1463040"/>
          </a:xfrm>
          <a:prstGeom prst="rect">
            <a:avLst/>
          </a:prstGeom>
          <a:noFill/>
          <a:ln/>
        </p:spPr>
        <p:txBody>
          <a:bodyPr wrap="square" lIns="0" tIns="0" rIns="0" bIns="0" rtlCol="0" anchor="t"/>
          <a:lstStyle/>
          <a:p>
            <a:pPr indent="0" marL="0">
              <a:buNone/>
            </a:pPr>
            <a:r>
              <a:rPr lang="en-US" sz="1500" dirty="0">
                <a:solidFill>
                  <a:srgbClr val="E8E2D9"/>
                </a:solidFill>
                <a:latin typeface="Inter" pitchFamily="34" charset="0"/>
                <a:ea typeface="Inter" pitchFamily="34" charset="-122"/>
                <a:cs typeface="Inter" pitchFamily="34" charset="-120"/>
              </a:rPr>
              <a:t>If a server dies mid-request, nothing is lost: the next server picks up from </a:t>
            </a:r>
            <a:pPr indent="0" marL="0">
              <a:buNone/>
            </a:pPr>
            <a:r>
              <a:rPr lang="en-US" sz="1500" b="1" dirty="0">
                <a:solidFill>
                  <a:srgbClr val="E8E2D9"/>
                </a:solidFill>
                <a:latin typeface="Inter" pitchFamily="34" charset="0"/>
                <a:ea typeface="Inter" pitchFamily="34" charset="-122"/>
                <a:cs typeface="Inter" pitchFamily="34" charset="-120"/>
              </a:rPr>
              <a:t>Postgres</a:t>
            </a:r>
            <a:pPr indent="0" marL="0">
              <a:buNone/>
            </a:pPr>
            <a:r>
              <a:rPr lang="en-US" sz="1500" dirty="0">
                <a:solidFill>
                  <a:srgbClr val="E8E2D9"/>
                </a:solidFill>
                <a:latin typeface="Inter" pitchFamily="34" charset="0"/>
                <a:ea typeface="Inter" pitchFamily="34" charset="-122"/>
                <a:cs typeface="Inter" pitchFamily="34" charset="-120"/>
              </a:rPr>
              <a:t> and </a:t>
            </a:r>
            <a:pPr indent="0" marL="0">
              <a:buNone/>
            </a:pPr>
            <a:r>
              <a:rPr lang="en-US" sz="1500" b="1" dirty="0">
                <a:solidFill>
                  <a:srgbClr val="E8E2D9"/>
                </a:solidFill>
                <a:latin typeface="Inter" pitchFamily="34" charset="0"/>
                <a:ea typeface="Inter" pitchFamily="34" charset="-122"/>
                <a:cs typeface="Inter" pitchFamily="34" charset="-120"/>
              </a:rPr>
              <a:t>Redis</a:t>
            </a:r>
            <a:pPr indent="0" marL="0">
              <a:buNone/>
            </a:pPr>
            <a:r>
              <a:rPr lang="en-US" sz="1500" dirty="0">
                <a:solidFill>
                  <a:srgbClr val="E8E2D9"/>
                </a:solidFill>
                <a:latin typeface="Inter" pitchFamily="34" charset="0"/>
                <a:ea typeface="Inter" pitchFamily="34" charset="-122"/>
                <a:cs typeface="Inter" pitchFamily="34" charset="-120"/>
              </a:rPr>
              <a:t>.</a:t>
            </a:r>
            <a:endParaRPr lang="en-US" sz="1500" dirty="0"/>
          </a:p>
        </p:txBody>
      </p:sp>
      <p:sp>
        <p:nvSpPr>
          <p:cNvPr id="25" name="Slide Number Placeholder 0"/>
          <p:cNvSpPr>
            <a:spLocks noGrp="1"/>
          </p:cNvSpPr>
          <p:nvPr>
            <p:ph type="sldNum" sz="quarter" idx="4294967295"/>
          </p:nvPr>
        </p:nvSpPr>
        <p:spPr>
          <a:xfrm>
            <a:off x="10911535" y="6419088"/>
            <a:ext cx="73152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280"/>
                </a:solidFill>
                <a:latin typeface="Inter"/>
                <a:ea typeface="Inter"/>
                <a:cs typeface="Inter"/>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94415" cy="640080"/>
          </a:xfrm>
          <a:prstGeom prst="rect">
            <a:avLst/>
          </a:prstGeom>
          <a:noFill/>
          <a:ln/>
        </p:spPr>
        <p:txBody>
          <a:bodyPr wrap="square" lIns="0" tIns="0" rIns="0" bIns="0" rtlCol="0" anchor="b"/>
          <a:lstStyle/>
          <a:p>
            <a:pPr algn="l" indent="0" marL="0">
              <a:buNone/>
            </a:pPr>
            <a:r>
              <a:rPr lang="en-US" sz="3200" b="1" dirty="0">
                <a:solidFill>
                  <a:srgbClr val="272827"/>
                </a:solidFill>
                <a:latin typeface="Playfair Display" pitchFamily="34" charset="0"/>
                <a:ea typeface="Playfair Display" pitchFamily="34" charset="-122"/>
                <a:cs typeface="Playfair Display" pitchFamily="34" charset="-120"/>
              </a:rPr>
              <a:t>Horizontal scaling</a:t>
            </a:r>
            <a:endParaRPr lang="en-US" sz="3200" dirty="0"/>
          </a:p>
        </p:txBody>
      </p:sp>
      <p:sp>
        <p:nvSpPr>
          <p:cNvPr id="3" name="Text 1"/>
          <p:cNvSpPr txBox="1"/>
          <p:nvPr/>
        </p:nvSpPr>
        <p:spPr>
          <a:xfrm>
            <a:off x="548640" y="1060704"/>
            <a:ext cx="8229600" cy="384048"/>
          </a:xfrm>
          <a:prstGeom prst="rect">
            <a:avLst/>
          </a:prstGeom>
          <a:noFill/>
          <a:ln/>
        </p:spPr>
        <p:txBody>
          <a:bodyPr wrap="square" lIns="0" tIns="0" rIns="0" bIns="0" rtlCol="0" anchor="t"/>
          <a:lstStyle/>
          <a:p>
            <a:pPr rtl="1" algn="l" indent="0" marL="0">
              <a:buNone/>
            </a:pPr>
            <a:r>
              <a:rPr lang="ar-LY" altLang="en-US" sz="1700" dirty="0">
                <a:solidFill>
                  <a:srgbClr val="FF5723"/>
                </a:solidFill>
                <a:latin typeface="Tajawal" pitchFamily="34" charset="0"/>
                <a:ea typeface="Tajawal" pitchFamily="34" charset="-122"/>
                <a:cs typeface="Tajawal" pitchFamily="34" charset="-120"/>
              </a:rPr>
              <a:t>التوسع الأفقي</a:t>
            </a:r>
            <a:endParaRPr lang="ar-LY" sz="1700" dirty="0"/>
          </a:p>
        </p:txBody>
      </p:sp>
      <p:sp>
        <p:nvSpPr>
          <p:cNvPr id="4" name="Shape 2"/>
          <p:cNvSpPr/>
          <p:nvPr/>
        </p:nvSpPr>
        <p:spPr>
          <a:xfrm>
            <a:off x="5349240" y="1691640"/>
            <a:ext cx="2468880" cy="3429000"/>
          </a:xfrm>
          <a:prstGeom prst="roundRect">
            <a:avLst>
              <a:gd name="adj" fmla="val 3704"/>
            </a:avLst>
          </a:prstGeom>
          <a:ln w="12700">
            <a:solidFill>
              <a:srgbClr val="9CA3AF"/>
            </a:solidFill>
            <a:prstDash val="dash"/>
          </a:ln>
        </p:spPr>
      </p:sp>
      <p:sp>
        <p:nvSpPr>
          <p:cNvPr id="5" name="Text 3"/>
          <p:cNvSpPr txBox="1"/>
          <p:nvPr/>
        </p:nvSpPr>
        <p:spPr>
          <a:xfrm>
            <a:off x="5486400" y="1764792"/>
            <a:ext cx="2194560" cy="274320"/>
          </a:xfrm>
          <a:prstGeom prst="rect">
            <a:avLst/>
          </a:prstGeom>
          <a:noFill/>
          <a:ln/>
        </p:spPr>
        <p:txBody>
          <a:bodyPr wrap="square" lIns="0" tIns="0" rIns="0" bIns="0" rtlCol="0" anchor="ctr"/>
          <a:lstStyle/>
          <a:p>
            <a:pPr indent="0" marL="0">
              <a:buNone/>
            </a:pPr>
            <a:r>
              <a:rPr lang="en-US" sz="1100" b="1" spc="200" kern="0" dirty="0">
                <a:solidFill>
                  <a:srgbClr val="6B7280"/>
                </a:solidFill>
                <a:latin typeface="Inter" pitchFamily="34" charset="0"/>
                <a:ea typeface="Inter" pitchFamily="34" charset="-122"/>
                <a:cs typeface="Inter" pitchFamily="34" charset="-120"/>
              </a:rPr>
              <a:t>STATELESS · ADD MORE</a:t>
            </a:r>
            <a:endParaRPr lang="en-US" sz="1100" dirty="0"/>
          </a:p>
        </p:txBody>
      </p:sp>
      <p:sp>
        <p:nvSpPr>
          <p:cNvPr id="6" name="Shape 4"/>
          <p:cNvSpPr/>
          <p:nvPr/>
        </p:nvSpPr>
        <p:spPr>
          <a:xfrm>
            <a:off x="548640" y="3063240"/>
            <a:ext cx="1645920" cy="914400"/>
          </a:xfrm>
          <a:prstGeom prst="roundRect">
            <a:avLst>
              <a:gd name="adj" fmla="val 8000"/>
            </a:avLst>
          </a:prstGeom>
          <a:solidFill>
            <a:srgbClr val="F6F3EE"/>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7" name="Text 5"/>
          <p:cNvSpPr txBox="1"/>
          <p:nvPr/>
        </p:nvSpPr>
        <p:spPr>
          <a:xfrm>
            <a:off x="621792" y="3099816"/>
            <a:ext cx="1499616" cy="841248"/>
          </a:xfrm>
          <a:prstGeom prst="rect">
            <a:avLst/>
          </a:prstGeom>
          <a:noFill/>
          <a:ln/>
        </p:spPr>
        <p:txBody>
          <a:bodyPr wrap="square" lIns="508" tIns="508" rIns="508" bIns="508" rtlCol="0" anchor="ctr"/>
          <a:lstStyle/>
          <a:p>
            <a:pPr algn="ctr" indent="0" marL="0">
              <a:spcAft>
                <a:spcPts val="200"/>
              </a:spcAft>
              <a:buNone/>
            </a:pPr>
            <a:r>
              <a:rPr lang="en-US" sz="1500" b="1" dirty="0">
                <a:solidFill>
                  <a:srgbClr val="272827"/>
                </a:solidFill>
                <a:latin typeface="Inter" pitchFamily="34" charset="0"/>
                <a:ea typeface="Inter" pitchFamily="34" charset="-122"/>
                <a:cs typeface="Inter" pitchFamily="34" charset="-120"/>
              </a:rPr>
              <a:t>Clients</a:t>
            </a:r>
            <a:endParaRPr lang="en-US" sz="1500" dirty="0"/>
          </a:p>
          <a:p>
            <a:pPr algn="ctr" indent="0" marL="0">
              <a:spcAft>
                <a:spcPts val="200"/>
              </a:spcAft>
              <a:buNone/>
            </a:pPr>
            <a:r>
              <a:rPr lang="en-US" sz="1200" dirty="0">
                <a:solidFill>
                  <a:srgbClr val="6B7280"/>
                </a:solidFill>
                <a:latin typeface="Inter" pitchFamily="34" charset="0"/>
                <a:ea typeface="Inter" pitchFamily="34" charset="-122"/>
                <a:cs typeface="Inter" pitchFamily="34" charset="-120"/>
              </a:rPr>
              <a:t>mobile · web · k6</a:t>
            </a:r>
            <a:endParaRPr lang="en-US" sz="1500" dirty="0"/>
          </a:p>
        </p:txBody>
      </p:sp>
      <p:sp>
        <p:nvSpPr>
          <p:cNvPr id="8" name="Shape 6"/>
          <p:cNvSpPr/>
          <p:nvPr/>
        </p:nvSpPr>
        <p:spPr>
          <a:xfrm>
            <a:off x="2834640" y="3063240"/>
            <a:ext cx="1828800" cy="914400"/>
          </a:xfrm>
          <a:prstGeom prst="roundRect">
            <a:avLst>
              <a:gd name="adj" fmla="val 8000"/>
            </a:avLst>
          </a:prstGeom>
          <a:solidFill>
            <a:srgbClr val="FF5723"/>
          </a:solidFill>
          <a:ln w="12700">
            <a:solidFill>
              <a:srgbClr val="FF5723"/>
            </a:solidFill>
            <a:prstDash val="solid"/>
          </a:ln>
        </p:spPr>
      </p:sp>
      <p:sp>
        <p:nvSpPr>
          <p:cNvPr id="9" name="Text 7"/>
          <p:cNvSpPr txBox="1"/>
          <p:nvPr/>
        </p:nvSpPr>
        <p:spPr>
          <a:xfrm>
            <a:off x="2907792" y="3099816"/>
            <a:ext cx="1682496" cy="841248"/>
          </a:xfrm>
          <a:prstGeom prst="rect">
            <a:avLst/>
          </a:prstGeom>
          <a:noFill/>
          <a:ln/>
        </p:spPr>
        <p:txBody>
          <a:bodyPr wrap="square" lIns="508" tIns="508" rIns="508" bIns="508" rtlCol="0" anchor="ctr"/>
          <a:lstStyle/>
          <a:p>
            <a:pPr algn="ctr" indent="0" marL="0">
              <a:spcAft>
                <a:spcPts val="200"/>
              </a:spcAft>
              <a:buNone/>
            </a:pPr>
            <a:r>
              <a:rPr lang="en-US" sz="1500" b="1" dirty="0">
                <a:solidFill>
                  <a:srgbClr val="FFFFFF"/>
                </a:solidFill>
                <a:latin typeface="Inter" pitchFamily="34" charset="0"/>
                <a:ea typeface="Inter" pitchFamily="34" charset="-122"/>
                <a:cs typeface="Inter" pitchFamily="34" charset="-120"/>
              </a:rPr>
              <a:t>Load balancer</a:t>
            </a:r>
            <a:endParaRPr lang="en-US" sz="1500" dirty="0"/>
          </a:p>
          <a:p>
            <a:pPr algn="ctr" indent="0" marL="0">
              <a:spcAft>
                <a:spcPts val="200"/>
              </a:spcAft>
              <a:buNone/>
            </a:pPr>
            <a:r>
              <a:rPr lang="en-US" sz="1200" dirty="0">
                <a:solidFill>
                  <a:srgbClr val="FFE3D9"/>
                </a:solidFill>
                <a:latin typeface="Inter" pitchFamily="34" charset="0"/>
                <a:ea typeface="Inter" pitchFamily="34" charset="-122"/>
                <a:cs typeface="Inter" pitchFamily="34" charset="-120"/>
              </a:rPr>
              <a:t>spreads requests</a:t>
            </a:r>
            <a:endParaRPr lang="en-US" sz="1500" dirty="0"/>
          </a:p>
        </p:txBody>
      </p:sp>
      <p:sp>
        <p:nvSpPr>
          <p:cNvPr id="10" name="Shape 8"/>
          <p:cNvSpPr/>
          <p:nvPr/>
        </p:nvSpPr>
        <p:spPr>
          <a:xfrm>
            <a:off x="5532120" y="2103120"/>
            <a:ext cx="2103120" cy="777240"/>
          </a:xfrm>
          <a:prstGeom prst="roundRect">
            <a:avLst>
              <a:gd name="adj" fmla="val 9412"/>
            </a:avLst>
          </a:prstGeom>
          <a:solidFill>
            <a:srgbClr val="FFFFFF"/>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11" name="Text 9"/>
          <p:cNvSpPr txBox="1"/>
          <p:nvPr/>
        </p:nvSpPr>
        <p:spPr>
          <a:xfrm>
            <a:off x="5605272" y="2139696"/>
            <a:ext cx="1956816" cy="704088"/>
          </a:xfrm>
          <a:prstGeom prst="rect">
            <a:avLst/>
          </a:prstGeom>
          <a:noFill/>
          <a:ln/>
        </p:spPr>
        <p:txBody>
          <a:bodyPr wrap="square" lIns="508" tIns="508" rIns="508" bIns="508" rtlCol="0" anchor="ctr"/>
          <a:lstStyle/>
          <a:p>
            <a:pPr algn="ctr" indent="0" marL="0">
              <a:spcAft>
                <a:spcPts val="200"/>
              </a:spcAft>
              <a:buNone/>
            </a:pPr>
            <a:r>
              <a:rPr lang="en-US" sz="1400" b="1" dirty="0">
                <a:solidFill>
                  <a:srgbClr val="272827"/>
                </a:solidFill>
                <a:latin typeface="Inter" pitchFamily="34" charset="0"/>
                <a:ea typeface="Inter" pitchFamily="34" charset="-122"/>
                <a:cs typeface="Inter" pitchFamily="34" charset="-120"/>
              </a:rPr>
              <a:t>App server 1</a:t>
            </a:r>
            <a:endParaRPr lang="en-US" sz="1400" dirty="0"/>
          </a:p>
          <a:p>
            <a:pPr algn="ctr" indent="0" marL="0">
              <a:spcAft>
                <a:spcPts val="200"/>
              </a:spcAft>
              <a:buNone/>
            </a:pPr>
            <a:r>
              <a:rPr lang="en-US" sz="1100" dirty="0">
                <a:solidFill>
                  <a:srgbClr val="6B7280"/>
                </a:solidFill>
                <a:latin typeface="Inter" pitchFamily="34" charset="0"/>
                <a:ea typeface="Inter" pitchFamily="34" charset="-122"/>
                <a:cs typeface="Inter" pitchFamily="34" charset="-120"/>
              </a:rPr>
              <a:t>Laravel</a:t>
            </a:r>
            <a:endParaRPr lang="en-US" sz="1400" dirty="0"/>
          </a:p>
        </p:txBody>
      </p:sp>
      <p:sp>
        <p:nvSpPr>
          <p:cNvPr id="12" name="Shape 10"/>
          <p:cNvSpPr/>
          <p:nvPr/>
        </p:nvSpPr>
        <p:spPr>
          <a:xfrm>
            <a:off x="5532120" y="3136392"/>
            <a:ext cx="2103120" cy="777240"/>
          </a:xfrm>
          <a:prstGeom prst="roundRect">
            <a:avLst>
              <a:gd name="adj" fmla="val 9412"/>
            </a:avLst>
          </a:prstGeom>
          <a:solidFill>
            <a:srgbClr val="FFFFFF"/>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13" name="Text 11"/>
          <p:cNvSpPr txBox="1"/>
          <p:nvPr/>
        </p:nvSpPr>
        <p:spPr>
          <a:xfrm>
            <a:off x="5605272" y="3172968"/>
            <a:ext cx="1956816" cy="704088"/>
          </a:xfrm>
          <a:prstGeom prst="rect">
            <a:avLst/>
          </a:prstGeom>
          <a:noFill/>
          <a:ln/>
        </p:spPr>
        <p:txBody>
          <a:bodyPr wrap="square" lIns="508" tIns="508" rIns="508" bIns="508" rtlCol="0" anchor="ctr"/>
          <a:lstStyle/>
          <a:p>
            <a:pPr algn="ctr" indent="0" marL="0">
              <a:spcAft>
                <a:spcPts val="200"/>
              </a:spcAft>
              <a:buNone/>
            </a:pPr>
            <a:r>
              <a:rPr lang="en-US" sz="1400" b="1" dirty="0">
                <a:solidFill>
                  <a:srgbClr val="272827"/>
                </a:solidFill>
                <a:latin typeface="Inter" pitchFamily="34" charset="0"/>
                <a:ea typeface="Inter" pitchFamily="34" charset="-122"/>
                <a:cs typeface="Inter" pitchFamily="34" charset="-120"/>
              </a:rPr>
              <a:t>App server 2</a:t>
            </a:r>
            <a:endParaRPr lang="en-US" sz="1400" dirty="0"/>
          </a:p>
          <a:p>
            <a:pPr algn="ctr" indent="0" marL="0">
              <a:spcAft>
                <a:spcPts val="200"/>
              </a:spcAft>
              <a:buNone/>
            </a:pPr>
            <a:r>
              <a:rPr lang="en-US" sz="1100" dirty="0">
                <a:solidFill>
                  <a:srgbClr val="6B7280"/>
                </a:solidFill>
                <a:latin typeface="Inter" pitchFamily="34" charset="0"/>
                <a:ea typeface="Inter" pitchFamily="34" charset="-122"/>
                <a:cs typeface="Inter" pitchFamily="34" charset="-120"/>
              </a:rPr>
              <a:t>Laravel</a:t>
            </a:r>
            <a:endParaRPr lang="en-US" sz="1400" dirty="0"/>
          </a:p>
        </p:txBody>
      </p:sp>
      <p:sp>
        <p:nvSpPr>
          <p:cNvPr id="14" name="Shape 12"/>
          <p:cNvSpPr/>
          <p:nvPr/>
        </p:nvSpPr>
        <p:spPr>
          <a:xfrm>
            <a:off x="5532120" y="4169664"/>
            <a:ext cx="2103120" cy="777240"/>
          </a:xfrm>
          <a:prstGeom prst="roundRect">
            <a:avLst>
              <a:gd name="adj" fmla="val 9412"/>
            </a:avLst>
          </a:prstGeom>
          <a:solidFill>
            <a:srgbClr val="FFFFFF"/>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15" name="Text 13"/>
          <p:cNvSpPr txBox="1"/>
          <p:nvPr/>
        </p:nvSpPr>
        <p:spPr>
          <a:xfrm>
            <a:off x="5605272" y="4206240"/>
            <a:ext cx="1956816" cy="704088"/>
          </a:xfrm>
          <a:prstGeom prst="rect">
            <a:avLst/>
          </a:prstGeom>
          <a:noFill/>
          <a:ln/>
        </p:spPr>
        <p:txBody>
          <a:bodyPr wrap="square" lIns="508" tIns="508" rIns="508" bIns="508" rtlCol="0" anchor="ctr"/>
          <a:lstStyle/>
          <a:p>
            <a:pPr algn="ctr" indent="0" marL="0">
              <a:spcAft>
                <a:spcPts val="200"/>
              </a:spcAft>
              <a:buNone/>
            </a:pPr>
            <a:r>
              <a:rPr lang="en-US" sz="1400" b="1" dirty="0">
                <a:solidFill>
                  <a:srgbClr val="272827"/>
                </a:solidFill>
                <a:latin typeface="Inter" pitchFamily="34" charset="0"/>
                <a:ea typeface="Inter" pitchFamily="34" charset="-122"/>
                <a:cs typeface="Inter" pitchFamily="34" charset="-120"/>
              </a:rPr>
              <a:t>App server N</a:t>
            </a:r>
            <a:endParaRPr lang="en-US" sz="1400" dirty="0"/>
          </a:p>
          <a:p>
            <a:pPr algn="ctr" indent="0" marL="0">
              <a:spcAft>
                <a:spcPts val="200"/>
              </a:spcAft>
              <a:buNone/>
            </a:pPr>
            <a:r>
              <a:rPr lang="en-US" sz="1100" dirty="0">
                <a:solidFill>
                  <a:srgbClr val="6B7280"/>
                </a:solidFill>
                <a:latin typeface="Inter" pitchFamily="34" charset="0"/>
                <a:ea typeface="Inter" pitchFamily="34" charset="-122"/>
                <a:cs typeface="Inter" pitchFamily="34" charset="-120"/>
              </a:rPr>
              <a:t>Laravel</a:t>
            </a:r>
            <a:endParaRPr lang="en-US" sz="1400" dirty="0"/>
          </a:p>
        </p:txBody>
      </p:sp>
      <p:sp>
        <p:nvSpPr>
          <p:cNvPr id="16" name="Shape 14"/>
          <p:cNvSpPr/>
          <p:nvPr/>
        </p:nvSpPr>
        <p:spPr>
          <a:xfrm>
            <a:off x="8778240" y="2194560"/>
            <a:ext cx="2862072" cy="1005840"/>
          </a:xfrm>
          <a:prstGeom prst="roundRect">
            <a:avLst>
              <a:gd name="adj" fmla="val 7273"/>
            </a:avLst>
          </a:prstGeom>
          <a:solidFill>
            <a:srgbClr val="272827"/>
          </a:solidFill>
          <a:ln w="12700">
            <a:solidFill>
              <a:srgbClr val="272827"/>
            </a:solidFill>
            <a:prstDash val="solid"/>
          </a:ln>
        </p:spPr>
      </p:sp>
      <p:sp>
        <p:nvSpPr>
          <p:cNvPr id="17" name="Text 15"/>
          <p:cNvSpPr txBox="1"/>
          <p:nvPr/>
        </p:nvSpPr>
        <p:spPr>
          <a:xfrm>
            <a:off x="8851392" y="2231136"/>
            <a:ext cx="2715768" cy="932688"/>
          </a:xfrm>
          <a:prstGeom prst="rect">
            <a:avLst/>
          </a:prstGeom>
          <a:noFill/>
          <a:ln/>
        </p:spPr>
        <p:txBody>
          <a:bodyPr wrap="square" lIns="508" tIns="508" rIns="508" bIns="508" rtlCol="0" anchor="ctr"/>
          <a:lstStyle/>
          <a:p>
            <a:pPr algn="ctr" indent="0" marL="0">
              <a:spcAft>
                <a:spcPts val="200"/>
              </a:spcAft>
              <a:buNone/>
            </a:pPr>
            <a:r>
              <a:rPr lang="en-US" sz="1500" b="1" dirty="0">
                <a:solidFill>
                  <a:srgbClr val="FFFFFF"/>
                </a:solidFill>
                <a:latin typeface="Inter" pitchFamily="34" charset="0"/>
                <a:ea typeface="Inter" pitchFamily="34" charset="-122"/>
                <a:cs typeface="Inter" pitchFamily="34" charset="-120"/>
              </a:rPr>
              <a:t>PostgreSQL 16</a:t>
            </a:r>
            <a:endParaRPr lang="en-US" sz="1500" dirty="0"/>
          </a:p>
          <a:p>
            <a:pPr algn="ctr" indent="0" marL="0">
              <a:spcAft>
                <a:spcPts val="200"/>
              </a:spcAft>
              <a:buNone/>
            </a:pPr>
            <a:r>
              <a:rPr lang="en-US" sz="1200" dirty="0">
                <a:solidFill>
                  <a:srgbClr val="9CA3AF"/>
                </a:solidFill>
                <a:latin typeface="Inter" pitchFamily="34" charset="0"/>
                <a:ea typeface="Inter" pitchFamily="34" charset="-122"/>
                <a:cs typeface="Inter" pitchFamily="34" charset="-120"/>
              </a:rPr>
              <a:t>source of truth</a:t>
            </a:r>
            <a:endParaRPr lang="en-US" sz="1500" dirty="0"/>
          </a:p>
        </p:txBody>
      </p:sp>
      <p:sp>
        <p:nvSpPr>
          <p:cNvPr id="18" name="Shape 16"/>
          <p:cNvSpPr/>
          <p:nvPr/>
        </p:nvSpPr>
        <p:spPr>
          <a:xfrm>
            <a:off x="8778240" y="3794760"/>
            <a:ext cx="2862072" cy="1005840"/>
          </a:xfrm>
          <a:prstGeom prst="roundRect">
            <a:avLst>
              <a:gd name="adj" fmla="val 7273"/>
            </a:avLst>
          </a:prstGeom>
          <a:solidFill>
            <a:srgbClr val="272827"/>
          </a:solidFill>
          <a:ln w="12700">
            <a:solidFill>
              <a:srgbClr val="272827"/>
            </a:solidFill>
            <a:prstDash val="solid"/>
          </a:ln>
        </p:spPr>
      </p:sp>
      <p:sp>
        <p:nvSpPr>
          <p:cNvPr id="19" name="Text 17"/>
          <p:cNvSpPr txBox="1"/>
          <p:nvPr/>
        </p:nvSpPr>
        <p:spPr>
          <a:xfrm>
            <a:off x="8851392" y="3831336"/>
            <a:ext cx="2715768" cy="932688"/>
          </a:xfrm>
          <a:prstGeom prst="rect">
            <a:avLst/>
          </a:prstGeom>
          <a:noFill/>
          <a:ln/>
        </p:spPr>
        <p:txBody>
          <a:bodyPr wrap="square" lIns="508" tIns="508" rIns="508" bIns="508" rtlCol="0" anchor="ctr"/>
          <a:lstStyle/>
          <a:p>
            <a:pPr algn="ctr" indent="0" marL="0">
              <a:spcAft>
                <a:spcPts val="200"/>
              </a:spcAft>
              <a:buNone/>
            </a:pPr>
            <a:r>
              <a:rPr lang="en-US" sz="1500" b="1" dirty="0">
                <a:solidFill>
                  <a:srgbClr val="FFFFFF"/>
                </a:solidFill>
                <a:latin typeface="Inter" pitchFamily="34" charset="0"/>
                <a:ea typeface="Inter" pitchFamily="34" charset="-122"/>
                <a:cs typeface="Inter" pitchFamily="34" charset="-120"/>
              </a:rPr>
              <a:t>Redis 7</a:t>
            </a:r>
            <a:endParaRPr lang="en-US" sz="1500" dirty="0"/>
          </a:p>
          <a:p>
            <a:pPr algn="ctr" indent="0" marL="0">
              <a:spcAft>
                <a:spcPts val="200"/>
              </a:spcAft>
              <a:buNone/>
            </a:pPr>
            <a:r>
              <a:rPr lang="en-US" sz="1200" dirty="0">
                <a:solidFill>
                  <a:srgbClr val="9CA3AF"/>
                </a:solidFill>
                <a:latin typeface="Inter" pitchFamily="34" charset="0"/>
                <a:ea typeface="Inter" pitchFamily="34" charset="-122"/>
                <a:cs typeface="Inter" pitchFamily="34" charset="-120"/>
              </a:rPr>
              <a:t>cache · queues · rate limits</a:t>
            </a:r>
            <a:endParaRPr lang="en-US" sz="1500" dirty="0"/>
          </a:p>
        </p:txBody>
      </p:sp>
      <p:sp>
        <p:nvSpPr>
          <p:cNvPr id="20" name="Shape 18"/>
          <p:cNvSpPr/>
          <p:nvPr/>
        </p:nvSpPr>
        <p:spPr>
          <a:xfrm>
            <a:off x="2194560" y="3520440"/>
            <a:ext cx="640080" cy="914"/>
          </a:xfrm>
          <a:prstGeom prst="line">
            <a:avLst/>
          </a:prstGeom>
          <a:noFill/>
          <a:ln w="19050">
            <a:solidFill>
              <a:srgbClr val="3A3B3A"/>
            </a:solidFill>
            <a:prstDash val="solid"/>
            <a:tailEnd type="triangle"/>
          </a:ln>
        </p:spPr>
      </p:sp>
      <p:sp>
        <p:nvSpPr>
          <p:cNvPr id="21" name="Shape 19"/>
          <p:cNvSpPr/>
          <p:nvPr/>
        </p:nvSpPr>
        <p:spPr>
          <a:xfrm flipV="1">
            <a:off x="4663440" y="2491740"/>
            <a:ext cx="868680" cy="1028700"/>
          </a:xfrm>
          <a:prstGeom prst="line">
            <a:avLst/>
          </a:prstGeom>
          <a:noFill/>
          <a:ln w="19050">
            <a:solidFill>
              <a:srgbClr val="3A3B3A"/>
            </a:solidFill>
            <a:prstDash val="solid"/>
            <a:tailEnd type="triangle"/>
          </a:ln>
        </p:spPr>
      </p:sp>
      <p:sp>
        <p:nvSpPr>
          <p:cNvPr id="22" name="Shape 20"/>
          <p:cNvSpPr/>
          <p:nvPr/>
        </p:nvSpPr>
        <p:spPr>
          <a:xfrm>
            <a:off x="4663440" y="3525012"/>
            <a:ext cx="868680" cy="914"/>
          </a:xfrm>
          <a:prstGeom prst="line">
            <a:avLst/>
          </a:prstGeom>
          <a:noFill/>
          <a:ln w="19050">
            <a:solidFill>
              <a:srgbClr val="3A3B3A"/>
            </a:solidFill>
            <a:prstDash val="solid"/>
            <a:tailEnd type="triangle"/>
          </a:ln>
        </p:spPr>
      </p:sp>
      <p:sp>
        <p:nvSpPr>
          <p:cNvPr id="23" name="Shape 21"/>
          <p:cNvSpPr/>
          <p:nvPr/>
        </p:nvSpPr>
        <p:spPr>
          <a:xfrm>
            <a:off x="4663440" y="3520440"/>
            <a:ext cx="868680" cy="1037844"/>
          </a:xfrm>
          <a:prstGeom prst="line">
            <a:avLst/>
          </a:prstGeom>
          <a:noFill/>
          <a:ln w="19050">
            <a:solidFill>
              <a:srgbClr val="3A3B3A"/>
            </a:solidFill>
            <a:prstDash val="solid"/>
            <a:tailEnd type="triangle"/>
          </a:ln>
        </p:spPr>
      </p:sp>
      <p:sp>
        <p:nvSpPr>
          <p:cNvPr id="24" name="Shape 22"/>
          <p:cNvSpPr/>
          <p:nvPr/>
        </p:nvSpPr>
        <p:spPr>
          <a:xfrm>
            <a:off x="7635240" y="2537460"/>
            <a:ext cx="1143000" cy="914"/>
          </a:xfrm>
          <a:prstGeom prst="line">
            <a:avLst/>
          </a:prstGeom>
          <a:noFill/>
          <a:ln w="19050">
            <a:solidFill>
              <a:srgbClr val="3A3B3A"/>
            </a:solidFill>
            <a:prstDash val="solid"/>
            <a:tailEnd type="triangle"/>
          </a:ln>
        </p:spPr>
      </p:sp>
      <p:sp>
        <p:nvSpPr>
          <p:cNvPr id="25" name="Shape 23"/>
          <p:cNvSpPr/>
          <p:nvPr/>
        </p:nvSpPr>
        <p:spPr>
          <a:xfrm>
            <a:off x="7635240" y="3168396"/>
            <a:ext cx="1143000" cy="914"/>
          </a:xfrm>
          <a:prstGeom prst="line">
            <a:avLst/>
          </a:prstGeom>
          <a:noFill/>
          <a:ln w="19050">
            <a:solidFill>
              <a:srgbClr val="3A3B3A"/>
            </a:solidFill>
            <a:prstDash val="solid"/>
            <a:tailEnd type="triangle"/>
          </a:ln>
        </p:spPr>
      </p:sp>
      <p:sp>
        <p:nvSpPr>
          <p:cNvPr id="26" name="Shape 24"/>
          <p:cNvSpPr/>
          <p:nvPr/>
        </p:nvSpPr>
        <p:spPr>
          <a:xfrm>
            <a:off x="7635240" y="3854196"/>
            <a:ext cx="1143000" cy="914"/>
          </a:xfrm>
          <a:prstGeom prst="line">
            <a:avLst/>
          </a:prstGeom>
          <a:noFill/>
          <a:ln w="19050">
            <a:solidFill>
              <a:srgbClr val="3A3B3A"/>
            </a:solidFill>
            <a:prstDash val="solid"/>
            <a:tailEnd type="triangle"/>
          </a:ln>
        </p:spPr>
      </p:sp>
      <p:sp>
        <p:nvSpPr>
          <p:cNvPr id="27" name="Shape 25"/>
          <p:cNvSpPr/>
          <p:nvPr/>
        </p:nvSpPr>
        <p:spPr>
          <a:xfrm>
            <a:off x="7635240" y="4485132"/>
            <a:ext cx="1143000" cy="914"/>
          </a:xfrm>
          <a:prstGeom prst="line">
            <a:avLst/>
          </a:prstGeom>
          <a:noFill/>
          <a:ln w="19050">
            <a:solidFill>
              <a:srgbClr val="3A3B3A"/>
            </a:solidFill>
            <a:prstDash val="solid"/>
            <a:tailEnd type="triangle"/>
          </a:ln>
        </p:spPr>
      </p:sp>
      <p:sp>
        <p:nvSpPr>
          <p:cNvPr id="28" name="Text 26"/>
          <p:cNvSpPr txBox="1"/>
          <p:nvPr/>
        </p:nvSpPr>
        <p:spPr>
          <a:xfrm>
            <a:off x="548640" y="5760720"/>
            <a:ext cx="11094415" cy="365760"/>
          </a:xfrm>
          <a:prstGeom prst="rect">
            <a:avLst/>
          </a:prstGeom>
          <a:noFill/>
          <a:ln/>
        </p:spPr>
        <p:txBody>
          <a:bodyPr wrap="square" lIns="0" tIns="0" rIns="0" bIns="0" rtlCol="0" anchor="ctr"/>
          <a:lstStyle/>
          <a:p>
            <a:pPr indent="0" marL="0">
              <a:buNone/>
            </a:pPr>
            <a:r>
              <a:rPr lang="en-US" sz="1400" i="1" dirty="0">
                <a:solidFill>
                  <a:srgbClr val="3A3B3A"/>
                </a:solidFill>
                <a:latin typeface="Inter" pitchFamily="34" charset="0"/>
                <a:ea typeface="Inter" pitchFamily="34" charset="-122"/>
                <a:cs typeface="Inter" pitchFamily="34" charset="-120"/>
              </a:rPr>
              <a:t>Adding app servers is cheap. Every one of them talks to the </a:t>
            </a:r>
            <a:pPr indent="0" marL="0">
              <a:buNone/>
            </a:pPr>
            <a:r>
              <a:rPr lang="en-US" sz="1400" b="1" i="1" dirty="0">
                <a:solidFill>
                  <a:srgbClr val="3A3B3A"/>
                </a:solidFill>
                <a:latin typeface="Inter" pitchFamily="34" charset="0"/>
                <a:ea typeface="Inter" pitchFamily="34" charset="-122"/>
                <a:cs typeface="Inter" pitchFamily="34" charset="-120"/>
              </a:rPr>
              <a:t>same</a:t>
            </a:r>
            <a:pPr indent="0" marL="0">
              <a:buNone/>
            </a:pPr>
            <a:r>
              <a:rPr lang="en-US" sz="1400" i="1" dirty="0">
                <a:solidFill>
                  <a:srgbClr val="3A3B3A"/>
                </a:solidFill>
                <a:latin typeface="Inter" pitchFamily="34" charset="0"/>
                <a:ea typeface="Inter" pitchFamily="34" charset="-122"/>
                <a:cs typeface="Inter" pitchFamily="34" charset="-120"/>
              </a:rPr>
              <a:t> database, so that is where load piles up.</a:t>
            </a:r>
            <a:endParaRPr lang="en-US" sz="1400" dirty="0"/>
          </a:p>
        </p:txBody>
      </p:sp>
      <p:sp>
        <p:nvSpPr>
          <p:cNvPr id="25" name="Slide Number Placeholder 0"/>
          <p:cNvSpPr>
            <a:spLocks noGrp="1"/>
          </p:cNvSpPr>
          <p:nvPr>
            <p:ph type="sldNum" sz="quarter" idx="4294967295"/>
          </p:nvPr>
        </p:nvSpPr>
        <p:spPr>
          <a:xfrm>
            <a:off x="10911535" y="6419088"/>
            <a:ext cx="73152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280"/>
                </a:solidFill>
                <a:latin typeface="Inter"/>
                <a:ea typeface="Inter"/>
                <a:cs typeface="Inter"/>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94415" cy="640080"/>
          </a:xfrm>
          <a:prstGeom prst="rect">
            <a:avLst/>
          </a:prstGeom>
          <a:noFill/>
          <a:ln/>
        </p:spPr>
        <p:txBody>
          <a:bodyPr wrap="square" lIns="0" tIns="0" rIns="0" bIns="0" rtlCol="0" anchor="b"/>
          <a:lstStyle/>
          <a:p>
            <a:pPr algn="l" indent="0" marL="0">
              <a:buNone/>
            </a:pPr>
            <a:r>
              <a:rPr lang="en-US" sz="3200" b="1" dirty="0">
                <a:solidFill>
                  <a:srgbClr val="272827"/>
                </a:solidFill>
                <a:latin typeface="Playfair Display" pitchFamily="34" charset="0"/>
                <a:ea typeface="Playfair Display" pitchFamily="34" charset="-122"/>
                <a:cs typeface="Playfair Display" pitchFamily="34" charset="-120"/>
              </a:rPr>
              <a:t>Where Shahna slows down</a:t>
            </a:r>
            <a:endParaRPr lang="en-US" sz="3200" dirty="0"/>
          </a:p>
        </p:txBody>
      </p:sp>
      <p:sp>
        <p:nvSpPr>
          <p:cNvPr id="3" name="Text 1"/>
          <p:cNvSpPr txBox="1"/>
          <p:nvPr/>
        </p:nvSpPr>
        <p:spPr>
          <a:xfrm>
            <a:off x="548640" y="1060704"/>
            <a:ext cx="8229600" cy="384048"/>
          </a:xfrm>
          <a:prstGeom prst="rect">
            <a:avLst/>
          </a:prstGeom>
          <a:noFill/>
          <a:ln/>
        </p:spPr>
        <p:txBody>
          <a:bodyPr wrap="square" lIns="0" tIns="0" rIns="0" bIns="0" rtlCol="0" anchor="t"/>
          <a:lstStyle/>
          <a:p>
            <a:pPr rtl="1" algn="l" indent="0" marL="0">
              <a:buNone/>
            </a:pPr>
            <a:r>
              <a:rPr lang="ar-LY" altLang="en-US" sz="1700" dirty="0">
                <a:solidFill>
                  <a:srgbClr val="FF5723"/>
                </a:solidFill>
                <a:latin typeface="Tajawal" pitchFamily="34" charset="0"/>
                <a:ea typeface="Tajawal" pitchFamily="34" charset="-122"/>
                <a:cs typeface="Tajawal" pitchFamily="34" charset="-120"/>
              </a:rPr>
              <a:t>أين يتباطأ نظام شحنة</a:t>
            </a:r>
            <a:endParaRPr lang="ar-LY" sz="1700" dirty="0"/>
          </a:p>
        </p:txBody>
      </p:sp>
      <p:sp>
        <p:nvSpPr>
          <p:cNvPr id="4" name="Shape 2"/>
          <p:cNvSpPr/>
          <p:nvPr/>
        </p:nvSpPr>
        <p:spPr>
          <a:xfrm>
            <a:off x="548640" y="1783080"/>
            <a:ext cx="5410048" cy="2057400"/>
          </a:xfrm>
          <a:prstGeom prst="roundRect">
            <a:avLst>
              <a:gd name="adj" fmla="val 3556"/>
            </a:avLst>
          </a:prstGeom>
          <a:solidFill>
            <a:srgbClr val="F6F3EE"/>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5" name="Shape 3"/>
          <p:cNvSpPr/>
          <p:nvPr/>
        </p:nvSpPr>
        <p:spPr>
          <a:xfrm>
            <a:off x="777240" y="2011680"/>
            <a:ext cx="457200" cy="457200"/>
          </a:xfrm>
          <a:prstGeom prst="ellipse">
            <a:avLst/>
          </a:prstGeom>
          <a:solidFill>
            <a:srgbClr val="FF5723"/>
          </a:solidFill>
          <a:ln w="12700">
            <a:solidFill>
              <a:srgbClr val="FF5723"/>
            </a:solidFill>
            <a:prstDash val="solid"/>
          </a:ln>
        </p:spPr>
      </p:sp>
      <p:sp>
        <p:nvSpPr>
          <p:cNvPr id="6" name="Text 4"/>
          <p:cNvSpPr txBox="1"/>
          <p:nvPr/>
        </p:nvSpPr>
        <p:spPr>
          <a:xfrm>
            <a:off x="777240" y="20116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Inter" pitchFamily="34" charset="0"/>
                <a:ea typeface="Inter" pitchFamily="34" charset="-122"/>
                <a:cs typeface="Inter" pitchFamily="34" charset="-120"/>
              </a:rPr>
              <a:t>1</a:t>
            </a:r>
            <a:endParaRPr lang="en-US" sz="1400" dirty="0"/>
          </a:p>
        </p:txBody>
      </p:sp>
      <p:sp>
        <p:nvSpPr>
          <p:cNvPr id="7" name="Text 5"/>
          <p:cNvSpPr txBox="1"/>
          <p:nvPr/>
        </p:nvSpPr>
        <p:spPr>
          <a:xfrm>
            <a:off x="1371600" y="2011680"/>
            <a:ext cx="4404208" cy="457200"/>
          </a:xfrm>
          <a:prstGeom prst="rect">
            <a:avLst/>
          </a:prstGeom>
          <a:noFill/>
          <a:ln/>
        </p:spPr>
        <p:txBody>
          <a:bodyPr wrap="square" lIns="0" tIns="0" rIns="0" bIns="0" rtlCol="0" anchor="ctr"/>
          <a:lstStyle/>
          <a:p>
            <a:pPr indent="0" marL="0">
              <a:buNone/>
            </a:pPr>
            <a:r>
              <a:rPr lang="en-US" sz="1700" b="1" dirty="0">
                <a:solidFill>
                  <a:srgbClr val="272827"/>
                </a:solidFill>
                <a:latin typeface="Inter" pitchFamily="34" charset="0"/>
                <a:ea typeface="Inter" pitchFamily="34" charset="-122"/>
                <a:cs typeface="Inter" pitchFamily="34" charset="-120"/>
              </a:rPr>
              <a:t>N+1 queries</a:t>
            </a:r>
            <a:endParaRPr lang="en-US" sz="1700" dirty="0"/>
          </a:p>
        </p:txBody>
      </p:sp>
      <p:sp>
        <p:nvSpPr>
          <p:cNvPr id="8" name="Text 6"/>
          <p:cNvSpPr txBox="1"/>
          <p:nvPr/>
        </p:nvSpPr>
        <p:spPr>
          <a:xfrm>
            <a:off x="777240" y="2606040"/>
            <a:ext cx="4952848" cy="1097280"/>
          </a:xfrm>
          <a:prstGeom prst="rect">
            <a:avLst/>
          </a:prstGeom>
          <a:noFill/>
          <a:ln/>
        </p:spPr>
        <p:txBody>
          <a:bodyPr wrap="square" lIns="0" tIns="0" rIns="0" bIns="0" rtlCol="0" anchor="t"/>
          <a:lstStyle/>
          <a:p>
            <a:pPr indent="0" marL="0">
              <a:buNone/>
            </a:pPr>
            <a:r>
              <a:rPr lang="en-US" sz="1400" dirty="0">
                <a:solidFill>
                  <a:srgbClr val="C2410C"/>
                </a:solidFill>
                <a:latin typeface="JetBrains Mono" pitchFamily="34" charset="0"/>
                <a:ea typeface="JetBrains Mono" pitchFamily="34" charset="-122"/>
                <a:cs typeface="JetBrains Mono" pitchFamily="34" charset="-120"/>
              </a:rPr>
              <a:t>GET /shipments</a:t>
            </a:r>
            <a:pPr indent="0" marL="0">
              <a:buNone/>
            </a:pPr>
            <a:r>
              <a:rPr lang="en-US" sz="1400" dirty="0">
                <a:solidFill>
                  <a:srgbClr val="3A3B3A"/>
                </a:solidFill>
                <a:latin typeface="Inter" pitchFamily="34" charset="0"/>
                <a:ea typeface="Inter" pitchFamily="34" charset="-122"/>
                <a:cs typeface="Inter" pitchFamily="34" charset="-120"/>
              </a:rPr>
              <a:t> loads a page of 15, then 3 extra queries </a:t>
            </a:r>
            <a:pPr indent="0" marL="0">
              <a:buNone/>
            </a:pPr>
            <a:r>
              <a:rPr lang="en-US" sz="1400" b="1" dirty="0">
                <a:solidFill>
                  <a:srgbClr val="3A3B3A"/>
                </a:solidFill>
                <a:latin typeface="Inter" pitchFamily="34" charset="0"/>
                <a:ea typeface="Inter" pitchFamily="34" charset="-122"/>
                <a:cs typeface="Inter" pitchFamily="34" charset="-120"/>
              </a:rPr>
              <a:t>per row</a:t>
            </a:r>
            <a:pPr indent="0" marL="0">
              <a:buNone/>
            </a:pPr>
            <a:r>
              <a:rPr lang="en-US" sz="1400" dirty="0">
                <a:solidFill>
                  <a:srgbClr val="3A3B3A"/>
                </a:solidFill>
                <a:latin typeface="Inter" pitchFamily="34" charset="0"/>
                <a:ea typeface="Inter" pitchFamily="34" charset="-122"/>
                <a:cs typeface="Inter" pitchFamily="34" charset="-120"/>
              </a:rPr>
              <a:t> for origin, destination and vehicle.</a:t>
            </a:r>
            <a:endParaRPr lang="en-US" sz="1400" dirty="0"/>
          </a:p>
        </p:txBody>
      </p:sp>
      <p:sp>
        <p:nvSpPr>
          <p:cNvPr id="9" name="Shape 7"/>
          <p:cNvSpPr/>
          <p:nvPr/>
        </p:nvSpPr>
        <p:spPr>
          <a:xfrm>
            <a:off x="6233008" y="1783080"/>
            <a:ext cx="5410048" cy="2057400"/>
          </a:xfrm>
          <a:prstGeom prst="roundRect">
            <a:avLst>
              <a:gd name="adj" fmla="val 3556"/>
            </a:avLst>
          </a:prstGeom>
          <a:solidFill>
            <a:srgbClr val="F6F3EE"/>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10" name="Shape 8"/>
          <p:cNvSpPr/>
          <p:nvPr/>
        </p:nvSpPr>
        <p:spPr>
          <a:xfrm>
            <a:off x="6461608" y="2011680"/>
            <a:ext cx="457200" cy="457200"/>
          </a:xfrm>
          <a:prstGeom prst="ellipse">
            <a:avLst/>
          </a:prstGeom>
          <a:solidFill>
            <a:srgbClr val="FF5723"/>
          </a:solidFill>
          <a:ln w="12700">
            <a:solidFill>
              <a:srgbClr val="FF5723"/>
            </a:solidFill>
            <a:prstDash val="solid"/>
          </a:ln>
        </p:spPr>
      </p:sp>
      <p:sp>
        <p:nvSpPr>
          <p:cNvPr id="11" name="Text 9"/>
          <p:cNvSpPr txBox="1"/>
          <p:nvPr/>
        </p:nvSpPr>
        <p:spPr>
          <a:xfrm>
            <a:off x="6461608" y="20116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Inter" pitchFamily="34" charset="0"/>
                <a:ea typeface="Inter" pitchFamily="34" charset="-122"/>
                <a:cs typeface="Inter" pitchFamily="34" charset="-120"/>
              </a:rPr>
              <a:t>2</a:t>
            </a:r>
            <a:endParaRPr lang="en-US" sz="1400" dirty="0"/>
          </a:p>
        </p:txBody>
      </p:sp>
      <p:sp>
        <p:nvSpPr>
          <p:cNvPr id="12" name="Text 10"/>
          <p:cNvSpPr txBox="1"/>
          <p:nvPr/>
        </p:nvSpPr>
        <p:spPr>
          <a:xfrm>
            <a:off x="7055968" y="2011680"/>
            <a:ext cx="4404208" cy="457200"/>
          </a:xfrm>
          <a:prstGeom prst="rect">
            <a:avLst/>
          </a:prstGeom>
          <a:noFill/>
          <a:ln/>
        </p:spPr>
        <p:txBody>
          <a:bodyPr wrap="square" lIns="0" tIns="0" rIns="0" bIns="0" rtlCol="0" anchor="ctr"/>
          <a:lstStyle/>
          <a:p>
            <a:pPr indent="0" marL="0">
              <a:buNone/>
            </a:pPr>
            <a:r>
              <a:rPr lang="en-US" sz="1700" b="1" dirty="0">
                <a:solidFill>
                  <a:srgbClr val="272827"/>
                </a:solidFill>
                <a:latin typeface="Inter" pitchFamily="34" charset="0"/>
                <a:ea typeface="Inter" pitchFamily="34" charset="-122"/>
                <a:cs typeface="Inter" pitchFamily="34" charset="-120"/>
              </a:rPr>
              <a:t>Missing indexes</a:t>
            </a:r>
            <a:endParaRPr lang="en-US" sz="1700" dirty="0"/>
          </a:p>
        </p:txBody>
      </p:sp>
      <p:sp>
        <p:nvSpPr>
          <p:cNvPr id="13" name="Text 11"/>
          <p:cNvSpPr txBox="1"/>
          <p:nvPr/>
        </p:nvSpPr>
        <p:spPr>
          <a:xfrm>
            <a:off x="6461608" y="2606040"/>
            <a:ext cx="4952848" cy="1097280"/>
          </a:xfrm>
          <a:prstGeom prst="rect">
            <a:avLst/>
          </a:prstGeom>
          <a:noFill/>
          <a:ln/>
        </p:spPr>
        <p:txBody>
          <a:bodyPr wrap="square" lIns="0" tIns="0" rIns="0" bIns="0" rtlCol="0" anchor="t"/>
          <a:lstStyle/>
          <a:p>
            <a:pPr indent="0" marL="0">
              <a:buNone/>
            </a:pPr>
            <a:r>
              <a:rPr lang="en-US" sz="1400" dirty="0">
                <a:solidFill>
                  <a:srgbClr val="3A3B3A"/>
                </a:solidFill>
                <a:latin typeface="Inter" pitchFamily="34" charset="0"/>
                <a:ea typeface="Inter" pitchFamily="34" charset="-122"/>
                <a:cs typeface="Inter" pitchFamily="34" charset="-120"/>
              </a:rPr>
              <a:t>Finding a free truck filters </a:t>
            </a:r>
            <a:pPr indent="0" marL="0">
              <a:buNone/>
            </a:pPr>
            <a:r>
              <a:rPr lang="en-US" sz="1400" dirty="0">
                <a:solidFill>
                  <a:srgbClr val="C2410C"/>
                </a:solidFill>
                <a:latin typeface="JetBrains Mono" pitchFamily="34" charset="0"/>
                <a:ea typeface="JetBrains Mono" pitchFamily="34" charset="-122"/>
                <a:cs typeface="JetBrains Mono" pitchFamily="34" charset="-120"/>
              </a:rPr>
              <a:t>vehicles</a:t>
            </a:r>
            <a:pPr indent="0" marL="0">
              <a:buNone/>
            </a:pPr>
            <a:r>
              <a:rPr lang="en-US" sz="1400" dirty="0">
                <a:solidFill>
                  <a:srgbClr val="3A3B3A"/>
                </a:solidFill>
                <a:latin typeface="Inter" pitchFamily="34" charset="0"/>
                <a:ea typeface="Inter" pitchFamily="34" charset="-122"/>
                <a:cs typeface="Inter" pitchFamily="34" charset="-120"/>
              </a:rPr>
              <a:t> by city, type and status: without an index, a full scan per booking.</a:t>
            </a:r>
            <a:endParaRPr lang="en-US" sz="1400" dirty="0"/>
          </a:p>
        </p:txBody>
      </p:sp>
      <p:sp>
        <p:nvSpPr>
          <p:cNvPr id="14" name="Shape 12"/>
          <p:cNvSpPr/>
          <p:nvPr/>
        </p:nvSpPr>
        <p:spPr>
          <a:xfrm>
            <a:off x="548640" y="4114800"/>
            <a:ext cx="5410048" cy="2057400"/>
          </a:xfrm>
          <a:prstGeom prst="roundRect">
            <a:avLst>
              <a:gd name="adj" fmla="val 3556"/>
            </a:avLst>
          </a:prstGeom>
          <a:solidFill>
            <a:srgbClr val="F6F3EE"/>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15" name="Shape 13"/>
          <p:cNvSpPr/>
          <p:nvPr/>
        </p:nvSpPr>
        <p:spPr>
          <a:xfrm>
            <a:off x="777240" y="4343400"/>
            <a:ext cx="457200" cy="457200"/>
          </a:xfrm>
          <a:prstGeom prst="ellipse">
            <a:avLst/>
          </a:prstGeom>
          <a:solidFill>
            <a:srgbClr val="FF5723"/>
          </a:solidFill>
          <a:ln w="12700">
            <a:solidFill>
              <a:srgbClr val="FF5723"/>
            </a:solidFill>
            <a:prstDash val="solid"/>
          </a:ln>
        </p:spPr>
      </p:sp>
      <p:sp>
        <p:nvSpPr>
          <p:cNvPr id="16" name="Text 14"/>
          <p:cNvSpPr txBox="1"/>
          <p:nvPr/>
        </p:nvSpPr>
        <p:spPr>
          <a:xfrm>
            <a:off x="777240" y="43434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Inter" pitchFamily="34" charset="0"/>
                <a:ea typeface="Inter" pitchFamily="34" charset="-122"/>
                <a:cs typeface="Inter" pitchFamily="34" charset="-120"/>
              </a:rPr>
              <a:t>3</a:t>
            </a:r>
            <a:endParaRPr lang="en-US" sz="1400" dirty="0"/>
          </a:p>
        </p:txBody>
      </p:sp>
      <p:sp>
        <p:nvSpPr>
          <p:cNvPr id="17" name="Text 15"/>
          <p:cNvSpPr txBox="1"/>
          <p:nvPr/>
        </p:nvSpPr>
        <p:spPr>
          <a:xfrm>
            <a:off x="1371600" y="4343400"/>
            <a:ext cx="4404208" cy="457200"/>
          </a:xfrm>
          <a:prstGeom prst="rect">
            <a:avLst/>
          </a:prstGeom>
          <a:noFill/>
          <a:ln/>
        </p:spPr>
        <p:txBody>
          <a:bodyPr wrap="square" lIns="0" tIns="0" rIns="0" bIns="0" rtlCol="0" anchor="ctr"/>
          <a:lstStyle/>
          <a:p>
            <a:pPr indent="0" marL="0">
              <a:buNone/>
            </a:pPr>
            <a:r>
              <a:rPr lang="en-US" sz="1700" b="1" dirty="0">
                <a:solidFill>
                  <a:srgbClr val="272827"/>
                </a:solidFill>
                <a:latin typeface="Inter" pitchFamily="34" charset="0"/>
                <a:ea typeface="Inter" pitchFamily="34" charset="-122"/>
                <a:cs typeface="Inter" pitchFamily="34" charset="-120"/>
              </a:rPr>
              <a:t>Sync work in the request</a:t>
            </a:r>
            <a:endParaRPr lang="en-US" sz="1700" dirty="0"/>
          </a:p>
        </p:txBody>
      </p:sp>
      <p:sp>
        <p:nvSpPr>
          <p:cNvPr id="18" name="Text 16"/>
          <p:cNvSpPr txBox="1"/>
          <p:nvPr/>
        </p:nvSpPr>
        <p:spPr>
          <a:xfrm>
            <a:off x="777240" y="4937760"/>
            <a:ext cx="4952848" cy="1097280"/>
          </a:xfrm>
          <a:prstGeom prst="rect">
            <a:avLst/>
          </a:prstGeom>
          <a:noFill/>
          <a:ln/>
        </p:spPr>
        <p:txBody>
          <a:bodyPr wrap="square" lIns="0" tIns="0" rIns="0" bIns="0" rtlCol="0" anchor="t"/>
          <a:lstStyle/>
          <a:p>
            <a:pPr indent="0" marL="0">
              <a:buNone/>
            </a:pPr>
            <a:r>
              <a:rPr lang="en-US" sz="1400" dirty="0">
                <a:solidFill>
                  <a:srgbClr val="3A3B3A"/>
                </a:solidFill>
                <a:latin typeface="Inter" pitchFamily="34" charset="0"/>
                <a:ea typeface="Inter" pitchFamily="34" charset="-122"/>
                <a:cs typeface="Inter" pitchFamily="34" charset="-120"/>
              </a:rPr>
              <a:t>Assigning a vehicle and sending the confirmation while the customer waits.</a:t>
            </a:r>
            <a:endParaRPr lang="en-US" sz="1400" dirty="0"/>
          </a:p>
        </p:txBody>
      </p:sp>
      <p:sp>
        <p:nvSpPr>
          <p:cNvPr id="19" name="Shape 17"/>
          <p:cNvSpPr/>
          <p:nvPr/>
        </p:nvSpPr>
        <p:spPr>
          <a:xfrm>
            <a:off x="6233008" y="4114800"/>
            <a:ext cx="5410048" cy="2057400"/>
          </a:xfrm>
          <a:prstGeom prst="roundRect">
            <a:avLst>
              <a:gd name="adj" fmla="val 3556"/>
            </a:avLst>
          </a:prstGeom>
          <a:solidFill>
            <a:srgbClr val="F6F3EE"/>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20" name="Shape 18"/>
          <p:cNvSpPr/>
          <p:nvPr/>
        </p:nvSpPr>
        <p:spPr>
          <a:xfrm>
            <a:off x="6461608" y="4343400"/>
            <a:ext cx="457200" cy="457200"/>
          </a:xfrm>
          <a:prstGeom prst="ellipse">
            <a:avLst/>
          </a:prstGeom>
          <a:solidFill>
            <a:srgbClr val="FF5723"/>
          </a:solidFill>
          <a:ln w="12700">
            <a:solidFill>
              <a:srgbClr val="FF5723"/>
            </a:solidFill>
            <a:prstDash val="solid"/>
          </a:ln>
        </p:spPr>
      </p:sp>
      <p:sp>
        <p:nvSpPr>
          <p:cNvPr id="21" name="Text 19"/>
          <p:cNvSpPr txBox="1"/>
          <p:nvPr/>
        </p:nvSpPr>
        <p:spPr>
          <a:xfrm>
            <a:off x="6461608" y="43434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Inter" pitchFamily="34" charset="0"/>
                <a:ea typeface="Inter" pitchFamily="34" charset="-122"/>
                <a:cs typeface="Inter" pitchFamily="34" charset="-120"/>
              </a:rPr>
              <a:t>4</a:t>
            </a:r>
            <a:endParaRPr lang="en-US" sz="1400" dirty="0"/>
          </a:p>
        </p:txBody>
      </p:sp>
      <p:sp>
        <p:nvSpPr>
          <p:cNvPr id="22" name="Text 20"/>
          <p:cNvSpPr txBox="1"/>
          <p:nvPr/>
        </p:nvSpPr>
        <p:spPr>
          <a:xfrm>
            <a:off x="7055968" y="4343400"/>
            <a:ext cx="4404208" cy="457200"/>
          </a:xfrm>
          <a:prstGeom prst="rect">
            <a:avLst/>
          </a:prstGeom>
          <a:noFill/>
          <a:ln/>
        </p:spPr>
        <p:txBody>
          <a:bodyPr wrap="square" lIns="0" tIns="0" rIns="0" bIns="0" rtlCol="0" anchor="ctr"/>
          <a:lstStyle/>
          <a:p>
            <a:pPr indent="0" marL="0">
              <a:buNone/>
            </a:pPr>
            <a:r>
              <a:rPr lang="en-US" sz="1700" b="1" dirty="0">
                <a:solidFill>
                  <a:srgbClr val="272827"/>
                </a:solidFill>
                <a:latin typeface="Inter" pitchFamily="34" charset="0"/>
                <a:ea typeface="Inter" pitchFamily="34" charset="-122"/>
                <a:cs typeface="Inter" pitchFamily="34" charset="-120"/>
              </a:rPr>
              <a:t>Race conditions</a:t>
            </a:r>
            <a:endParaRPr lang="en-US" sz="1700" dirty="0"/>
          </a:p>
        </p:txBody>
      </p:sp>
      <p:sp>
        <p:nvSpPr>
          <p:cNvPr id="23" name="Text 21"/>
          <p:cNvSpPr txBox="1"/>
          <p:nvPr/>
        </p:nvSpPr>
        <p:spPr>
          <a:xfrm>
            <a:off x="6461608" y="4937760"/>
            <a:ext cx="4952848" cy="1097280"/>
          </a:xfrm>
          <a:prstGeom prst="rect">
            <a:avLst/>
          </a:prstGeom>
          <a:noFill/>
          <a:ln/>
        </p:spPr>
        <p:txBody>
          <a:bodyPr wrap="square" lIns="0" tIns="0" rIns="0" bIns="0" rtlCol="0" anchor="t"/>
          <a:lstStyle/>
          <a:p>
            <a:pPr indent="0" marL="0">
              <a:buNone/>
            </a:pPr>
            <a:r>
              <a:rPr lang="en-US" sz="1400" dirty="0">
                <a:solidFill>
                  <a:srgbClr val="3A3B3A"/>
                </a:solidFill>
                <a:latin typeface="Inter" pitchFamily="34" charset="0"/>
                <a:ea typeface="Inter" pitchFamily="34" charset="-122"/>
                <a:cs typeface="Inter" pitchFamily="34" charset="-120"/>
              </a:rPr>
              <a:t>A double tap books the </a:t>
            </a:r>
            <a:pPr indent="0" marL="0">
              <a:buNone/>
            </a:pPr>
            <a:r>
              <a:rPr lang="en-US" sz="1400" b="1" dirty="0">
                <a:solidFill>
                  <a:srgbClr val="3A3B3A"/>
                </a:solidFill>
                <a:latin typeface="Inter" pitchFamily="34" charset="0"/>
                <a:ea typeface="Inter" pitchFamily="34" charset="-122"/>
                <a:cs typeface="Inter" pitchFamily="34" charset="-120"/>
              </a:rPr>
              <a:t>same quote</a:t>
            </a:r>
            <a:pPr indent="0" marL="0">
              <a:buNone/>
            </a:pPr>
            <a:r>
              <a:rPr lang="en-US" sz="1400" dirty="0">
                <a:solidFill>
                  <a:srgbClr val="3A3B3A"/>
                </a:solidFill>
                <a:latin typeface="Inter" pitchFamily="34" charset="0"/>
                <a:ea typeface="Inter" pitchFamily="34" charset="-122"/>
                <a:cs typeface="Inter" pitchFamily="34" charset="-120"/>
              </a:rPr>
              <a:t> twice; two workers grab the </a:t>
            </a:r>
            <a:pPr indent="0" marL="0">
              <a:buNone/>
            </a:pPr>
            <a:r>
              <a:rPr lang="en-US" sz="1400" b="1" dirty="0">
                <a:solidFill>
                  <a:srgbClr val="3A3B3A"/>
                </a:solidFill>
                <a:latin typeface="Inter" pitchFamily="34" charset="0"/>
                <a:ea typeface="Inter" pitchFamily="34" charset="-122"/>
                <a:cs typeface="Inter" pitchFamily="34" charset="-120"/>
              </a:rPr>
              <a:t>same truck</a:t>
            </a:r>
            <a:pPr indent="0" marL="0">
              <a:buNone/>
            </a:pPr>
            <a:r>
              <a:rPr lang="en-US" sz="1400" dirty="0">
                <a:solidFill>
                  <a:srgbClr val="3A3B3A"/>
                </a:solidFill>
                <a:latin typeface="Inter" pitchFamily="34" charset="0"/>
                <a:ea typeface="Inter" pitchFamily="34" charset="-122"/>
                <a:cs typeface="Inter" pitchFamily="34" charset="-120"/>
              </a:rPr>
              <a:t>.</a:t>
            </a:r>
            <a:endParaRPr lang="en-US" sz="1400" dirty="0"/>
          </a:p>
        </p:txBody>
      </p:sp>
      <p:sp>
        <p:nvSpPr>
          <p:cNvPr id="25" name="Slide Number Placeholder 0"/>
          <p:cNvSpPr>
            <a:spLocks noGrp="1"/>
          </p:cNvSpPr>
          <p:nvPr>
            <p:ph type="sldNum" sz="quarter" idx="4294967295"/>
          </p:nvPr>
        </p:nvSpPr>
        <p:spPr>
          <a:xfrm>
            <a:off x="10911535" y="6419088"/>
            <a:ext cx="73152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280"/>
                </a:solidFill>
                <a:latin typeface="Inter"/>
                <a:ea typeface="Inter"/>
                <a:cs typeface="Inter"/>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94415" cy="640080"/>
          </a:xfrm>
          <a:prstGeom prst="rect">
            <a:avLst/>
          </a:prstGeom>
          <a:noFill/>
          <a:ln/>
        </p:spPr>
        <p:txBody>
          <a:bodyPr wrap="square" lIns="0" tIns="0" rIns="0" bIns="0" rtlCol="0" anchor="b"/>
          <a:lstStyle/>
          <a:p>
            <a:pPr algn="l" indent="0" marL="0">
              <a:buNone/>
            </a:pPr>
            <a:r>
              <a:rPr lang="en-US" sz="3200" b="1" dirty="0">
                <a:solidFill>
                  <a:srgbClr val="272827"/>
                </a:solidFill>
                <a:latin typeface="Playfair Display" pitchFamily="34" charset="0"/>
                <a:ea typeface="Playfair Display" pitchFamily="34" charset="-122"/>
                <a:cs typeface="Playfair Display" pitchFamily="34" charset="-120"/>
              </a:rPr>
              <a:t>Booking: sync vs async</a:t>
            </a:r>
            <a:endParaRPr lang="en-US" sz="3200" dirty="0"/>
          </a:p>
        </p:txBody>
      </p:sp>
      <p:sp>
        <p:nvSpPr>
          <p:cNvPr id="3" name="Text 1"/>
          <p:cNvSpPr txBox="1"/>
          <p:nvPr/>
        </p:nvSpPr>
        <p:spPr>
          <a:xfrm>
            <a:off x="548640" y="1060704"/>
            <a:ext cx="8229600" cy="384048"/>
          </a:xfrm>
          <a:prstGeom prst="rect">
            <a:avLst/>
          </a:prstGeom>
          <a:noFill/>
          <a:ln/>
        </p:spPr>
        <p:txBody>
          <a:bodyPr wrap="square" lIns="0" tIns="0" rIns="0" bIns="0" rtlCol="0" anchor="t"/>
          <a:lstStyle/>
          <a:p>
            <a:pPr rtl="1" algn="l" indent="0" marL="0">
              <a:buNone/>
            </a:pPr>
            <a:r>
              <a:rPr lang="ar-LY" altLang="en-US" sz="1700" dirty="0">
                <a:solidFill>
                  <a:srgbClr val="FF5723"/>
                </a:solidFill>
                <a:latin typeface="Tajawal" pitchFamily="34" charset="0"/>
                <a:ea typeface="Tajawal" pitchFamily="34" charset="-122"/>
                <a:cs typeface="Tajawal" pitchFamily="34" charset="-120"/>
              </a:rPr>
              <a:t>الحجز: متزامن أم غير متزامن</a:t>
            </a:r>
            <a:endParaRPr lang="ar-LY" sz="1700" dirty="0"/>
          </a:p>
        </p:txBody>
      </p:sp>
      <p:sp>
        <p:nvSpPr>
          <p:cNvPr id="4" name="Shape 2"/>
          <p:cNvSpPr/>
          <p:nvPr/>
        </p:nvSpPr>
        <p:spPr>
          <a:xfrm>
            <a:off x="548640" y="1737360"/>
            <a:ext cx="5364328" cy="4206240"/>
          </a:xfrm>
          <a:prstGeom prst="roundRect">
            <a:avLst>
              <a:gd name="adj" fmla="val 1739"/>
            </a:avLst>
          </a:prstGeom>
          <a:solidFill>
            <a:srgbClr val="F6F3EE"/>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5" name="Text 3"/>
          <p:cNvSpPr txBox="1"/>
          <p:nvPr/>
        </p:nvSpPr>
        <p:spPr>
          <a:xfrm>
            <a:off x="868680" y="1965960"/>
            <a:ext cx="4724248" cy="411480"/>
          </a:xfrm>
          <a:prstGeom prst="rect">
            <a:avLst/>
          </a:prstGeom>
          <a:noFill/>
          <a:ln/>
        </p:spPr>
        <p:txBody>
          <a:bodyPr wrap="square" lIns="0" tIns="0" rIns="0" bIns="0" rtlCol="0" anchor="ctr"/>
          <a:lstStyle/>
          <a:p>
            <a:pPr indent="0" marL="0">
              <a:buNone/>
            </a:pPr>
            <a:r>
              <a:rPr lang="en-US" sz="2200" b="1" dirty="0">
                <a:solidFill>
                  <a:srgbClr val="272827"/>
                </a:solidFill>
                <a:latin typeface="Playfair Display" pitchFamily="34" charset="0"/>
                <a:ea typeface="Playfair Display" pitchFamily="34" charset="-122"/>
                <a:cs typeface="Playfair Display" pitchFamily="34" charset="-120"/>
              </a:rPr>
              <a:t>Everything in the request</a:t>
            </a:r>
            <a:endParaRPr lang="en-US" sz="2200" dirty="0"/>
          </a:p>
        </p:txBody>
      </p:sp>
      <p:sp>
        <p:nvSpPr>
          <p:cNvPr id="6" name="Text 4"/>
          <p:cNvSpPr txBox="1"/>
          <p:nvPr/>
        </p:nvSpPr>
        <p:spPr>
          <a:xfrm>
            <a:off x="868680" y="2560320"/>
            <a:ext cx="4724248" cy="3200400"/>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rgbClr val="272827"/>
                </a:solidFill>
                <a:latin typeface="Inter" pitchFamily="34" charset="0"/>
                <a:ea typeface="Inter" pitchFamily="34" charset="-122"/>
                <a:cs typeface="Inter" pitchFamily="34" charset="-120"/>
              </a:rPr>
              <a:t>Insert shipment, find a vehicle, send email</a:t>
            </a:r>
            <a:endParaRPr lang="en-US" sz="1600" dirty="0"/>
          </a:p>
          <a:p>
            <a:pPr marL="228600" indent="-228600">
              <a:spcAft>
                <a:spcPts val="800"/>
              </a:spcAft>
              <a:buSzPct val="100000"/>
              <a:buChar char="•"/>
            </a:pPr>
            <a:r>
              <a:rPr lang="en-US" sz="1600" dirty="0">
                <a:solidFill>
                  <a:srgbClr val="272827"/>
                </a:solidFill>
                <a:latin typeface="Inter" pitchFamily="34" charset="0"/>
                <a:ea typeface="Inter" pitchFamily="34" charset="-122"/>
                <a:cs typeface="Inter" pitchFamily="34" charset="-120"/>
              </a:rPr>
              <a:t>Customer waits for all of it</a:t>
            </a:r>
            <a:endParaRPr lang="en-US" sz="1600" dirty="0"/>
          </a:p>
          <a:p>
            <a:pPr marL="228600" indent="-228600">
              <a:spcAft>
                <a:spcPts val="800"/>
              </a:spcAft>
              <a:buSzPct val="100000"/>
              <a:buChar char="•"/>
            </a:pPr>
            <a:r>
              <a:rPr lang="en-US" sz="1600" dirty="0">
                <a:solidFill>
                  <a:srgbClr val="272827"/>
                </a:solidFill>
                <a:latin typeface="Inter" pitchFamily="34" charset="0"/>
                <a:ea typeface="Inter" pitchFamily="34" charset="-122"/>
                <a:cs typeface="Inter" pitchFamily="34" charset="-120"/>
              </a:rPr>
              <a:t>Mail server down → booking fails</a:t>
            </a:r>
            <a:endParaRPr lang="en-US" sz="1600" dirty="0"/>
          </a:p>
          <a:p>
            <a:pPr marL="228600" indent="-228600">
              <a:spcAft>
                <a:spcPts val="800"/>
              </a:spcAft>
              <a:buSzPct val="100000"/>
              <a:buChar char="•"/>
            </a:pPr>
            <a:r>
              <a:rPr lang="en-US" sz="1600" dirty="0">
                <a:solidFill>
                  <a:srgbClr val="272827"/>
                </a:solidFill>
                <a:latin typeface="Inter" pitchFamily="34" charset="0"/>
                <a:ea typeface="Inter" pitchFamily="34" charset="-122"/>
                <a:cs typeface="Inter" pitchFamily="34" charset="-120"/>
              </a:rPr>
              <a:t>No retries, no visibility</a:t>
            </a:r>
            <a:endParaRPr lang="en-US" sz="1600" dirty="0"/>
          </a:p>
        </p:txBody>
      </p:sp>
      <p:sp>
        <p:nvSpPr>
          <p:cNvPr id="7" name="Shape 5"/>
          <p:cNvSpPr/>
          <p:nvPr/>
        </p:nvSpPr>
        <p:spPr>
          <a:xfrm>
            <a:off x="6278728" y="1737360"/>
            <a:ext cx="5364328" cy="4206240"/>
          </a:xfrm>
          <a:prstGeom prst="roundRect">
            <a:avLst>
              <a:gd name="adj" fmla="val 1739"/>
            </a:avLst>
          </a:prstGeom>
          <a:solidFill>
            <a:srgbClr val="272827"/>
          </a:solidFill>
          <a:ln w="12700">
            <a:solidFill>
              <a:srgbClr val="272827"/>
            </a:solidFill>
            <a:prstDash val="solid"/>
          </a:ln>
          <a:effectLst>
            <a:outerShdw sx="100000" sy="100000" kx="0" ky="0" algn="bl" rotWithShape="0" blurRad="76200" dist="25400" dir="5400000">
              <a:srgbClr val="000000">
                <a:alpha val="12000"/>
              </a:srgbClr>
            </a:outerShdw>
          </a:effectLst>
        </p:spPr>
      </p:sp>
      <p:sp>
        <p:nvSpPr>
          <p:cNvPr id="8" name="Text 6"/>
          <p:cNvSpPr txBox="1"/>
          <p:nvPr/>
        </p:nvSpPr>
        <p:spPr>
          <a:xfrm>
            <a:off x="6598768" y="1965960"/>
            <a:ext cx="4724248" cy="411480"/>
          </a:xfrm>
          <a:prstGeom prst="rect">
            <a:avLst/>
          </a:prstGeom>
          <a:noFill/>
          <a:ln/>
        </p:spPr>
        <p:txBody>
          <a:bodyPr wrap="square" lIns="0" tIns="0" rIns="0" bIns="0" rtlCol="0" anchor="ctr"/>
          <a:lstStyle/>
          <a:p>
            <a:pPr indent="0" marL="0">
              <a:buNone/>
            </a:pPr>
            <a:r>
              <a:rPr lang="en-US" sz="2200" b="1" dirty="0">
                <a:solidFill>
                  <a:srgbClr val="FF5723"/>
                </a:solidFill>
                <a:latin typeface="Playfair Display" pitchFamily="34" charset="0"/>
                <a:ea typeface="Playfair Display" pitchFamily="34" charset="-122"/>
                <a:cs typeface="Playfair Display" pitchFamily="34" charset="-120"/>
              </a:rPr>
              <a:t>Return fast, work on queues</a:t>
            </a:r>
            <a:endParaRPr lang="en-US" sz="2200" dirty="0"/>
          </a:p>
        </p:txBody>
      </p:sp>
      <p:sp>
        <p:nvSpPr>
          <p:cNvPr id="9" name="Text 7"/>
          <p:cNvSpPr txBox="1"/>
          <p:nvPr/>
        </p:nvSpPr>
        <p:spPr>
          <a:xfrm>
            <a:off x="6598768" y="2560320"/>
            <a:ext cx="4724248" cy="3200400"/>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rgbClr val="FFFFFF"/>
                </a:solidFill>
                <a:latin typeface="Inter" pitchFamily="34" charset="0"/>
                <a:ea typeface="Inter" pitchFamily="34" charset="-122"/>
                <a:cs typeface="Inter" pitchFamily="34" charset="-120"/>
              </a:rPr>
              <a:t>Insert shipment, fire </a:t>
            </a:r>
            <a:pPr indent="0" marL="0">
              <a:buNone/>
            </a:pPr>
            <a:r>
              <a:rPr lang="en-US" sz="1600" dirty="0">
                <a:solidFill>
                  <a:srgbClr val="FFB59C"/>
                </a:solidFill>
                <a:latin typeface="JetBrains Mono" pitchFamily="34" charset="0"/>
                <a:ea typeface="JetBrains Mono" pitchFamily="34" charset="-122"/>
                <a:cs typeface="JetBrains Mono" pitchFamily="34" charset="-120"/>
              </a:rPr>
              <a:t>ShipmentBooked</a:t>
            </a:r>
            <a:endParaRPr lang="en-US" sz="1600" dirty="0"/>
          </a:p>
          <a:p>
            <a:pPr marL="228600" indent="-228600">
              <a:spcAft>
                <a:spcPts val="800"/>
              </a:spcAft>
              <a:buSzPct val="100000"/>
              <a:buChar char="•"/>
            </a:pPr>
            <a:r>
              <a:rPr lang="en-US" sz="1600" dirty="0">
                <a:solidFill>
                  <a:srgbClr val="FFFFFF"/>
                </a:solidFill>
                <a:latin typeface="Inter" pitchFamily="34" charset="0"/>
                <a:ea typeface="Inter" pitchFamily="34" charset="-122"/>
                <a:cs typeface="Inter" pitchFamily="34" charset="-120"/>
              </a:rPr>
              <a:t>Respond </a:t>
            </a:r>
            <a:pPr indent="0" marL="0">
              <a:buNone/>
            </a:pPr>
            <a:r>
              <a:rPr lang="en-US" sz="1600" b="1" dirty="0">
                <a:solidFill>
                  <a:srgbClr val="FFFFFF"/>
                </a:solidFill>
                <a:latin typeface="Inter" pitchFamily="34" charset="0"/>
                <a:ea typeface="Inter" pitchFamily="34" charset="-122"/>
                <a:cs typeface="Inter" pitchFamily="34" charset="-120"/>
              </a:rPr>
              <a:t>201</a:t>
            </a:r>
            <a:pPr indent="0" marL="0">
              <a:buNone/>
            </a:pPr>
            <a:r>
              <a:rPr lang="en-US" sz="1600" dirty="0">
                <a:solidFill>
                  <a:srgbClr val="FFFFFF"/>
                </a:solidFill>
                <a:latin typeface="Inter" pitchFamily="34" charset="0"/>
                <a:ea typeface="Inter" pitchFamily="34" charset="-122"/>
                <a:cs typeface="Inter" pitchFamily="34" charset="-120"/>
              </a:rPr>
              <a:t> with status </a:t>
            </a:r>
            <a:pPr indent="0" marL="0">
              <a:buNone/>
            </a:pPr>
            <a:r>
              <a:rPr lang="en-US" sz="1600" dirty="0">
                <a:solidFill>
                  <a:srgbClr val="FFB59C"/>
                </a:solidFill>
                <a:latin typeface="JetBrains Mono" pitchFamily="34" charset="0"/>
                <a:ea typeface="JetBrains Mono" pitchFamily="34" charset="-122"/>
                <a:cs typeface="JetBrains Mono" pitchFamily="34" charset="-120"/>
              </a:rPr>
              <a:t>confirmed</a:t>
            </a:r>
            <a:endParaRPr lang="en-US" sz="1600" dirty="0"/>
          </a:p>
          <a:p>
            <a:pPr marL="228600" indent="-228600">
              <a:spcAft>
                <a:spcPts val="800"/>
              </a:spcAft>
              <a:buSzPct val="100000"/>
              <a:buChar char="•"/>
            </a:pPr>
            <a:r>
              <a:rPr lang="en-US" sz="1600" dirty="0">
                <a:solidFill>
                  <a:srgbClr val="FFFFFF"/>
                </a:solidFill>
                <a:latin typeface="Inter" pitchFamily="34" charset="0"/>
                <a:ea typeface="Inter" pitchFamily="34" charset="-122"/>
                <a:cs typeface="Inter" pitchFamily="34" charset="-120"/>
              </a:rPr>
              <a:t>Vehicle assignment on the </a:t>
            </a:r>
            <a:pPr indent="0" marL="0">
              <a:buNone/>
            </a:pPr>
            <a:r>
              <a:rPr lang="en-US" sz="1600" dirty="0">
                <a:solidFill>
                  <a:srgbClr val="FFB59C"/>
                </a:solidFill>
                <a:latin typeface="JetBrains Mono" pitchFamily="34" charset="0"/>
                <a:ea typeface="JetBrains Mono" pitchFamily="34" charset="-122"/>
                <a:cs typeface="JetBrains Mono" pitchFamily="34" charset="-120"/>
              </a:rPr>
              <a:t>dispatch</a:t>
            </a:r>
            <a:pPr indent="0" marL="0">
              <a:buNone/>
            </a:pPr>
            <a:r>
              <a:rPr lang="en-US" sz="1600" dirty="0">
                <a:solidFill>
                  <a:srgbClr val="FFFFFF"/>
                </a:solidFill>
                <a:latin typeface="Inter" pitchFamily="34" charset="0"/>
                <a:ea typeface="Inter" pitchFamily="34" charset="-122"/>
                <a:cs typeface="Inter" pitchFamily="34" charset="-120"/>
              </a:rPr>
              <a:t> queue</a:t>
            </a:r>
            <a:endParaRPr lang="en-US" sz="1600" dirty="0"/>
          </a:p>
          <a:p>
            <a:pPr marL="228600" indent="-228600">
              <a:spcAft>
                <a:spcPts val="800"/>
              </a:spcAft>
              <a:buSzPct val="100000"/>
              <a:buChar char="•"/>
            </a:pPr>
            <a:r>
              <a:rPr lang="en-US" sz="1600" dirty="0">
                <a:solidFill>
                  <a:srgbClr val="FFFFFF"/>
                </a:solidFill>
                <a:latin typeface="Inter" pitchFamily="34" charset="0"/>
                <a:ea typeface="Inter" pitchFamily="34" charset="-122"/>
                <a:cs typeface="Inter" pitchFamily="34" charset="-120"/>
              </a:rPr>
              <a:t>Email on the </a:t>
            </a:r>
            <a:pPr indent="0" marL="0">
              <a:buNone/>
            </a:pPr>
            <a:r>
              <a:rPr lang="en-US" sz="1600" dirty="0">
                <a:solidFill>
                  <a:srgbClr val="FFB59C"/>
                </a:solidFill>
                <a:latin typeface="JetBrains Mono" pitchFamily="34" charset="0"/>
                <a:ea typeface="JetBrains Mono" pitchFamily="34" charset="-122"/>
                <a:cs typeface="JetBrains Mono" pitchFamily="34" charset="-120"/>
              </a:rPr>
              <a:t>notifications</a:t>
            </a:r>
            <a:pPr indent="0" marL="0">
              <a:buNone/>
            </a:pPr>
            <a:r>
              <a:rPr lang="en-US" sz="1600" dirty="0">
                <a:solidFill>
                  <a:srgbClr val="FFFFFF"/>
                </a:solidFill>
                <a:latin typeface="Inter" pitchFamily="34" charset="0"/>
                <a:ea typeface="Inter" pitchFamily="34" charset="-122"/>
                <a:cs typeface="Inter" pitchFamily="34" charset="-120"/>
              </a:rPr>
              <a:t> queue</a:t>
            </a:r>
            <a:endParaRPr lang="en-US" sz="1600" dirty="0"/>
          </a:p>
          <a:p>
            <a:pPr marL="228600" indent="-228600">
              <a:spcAft>
                <a:spcPts val="800"/>
              </a:spcAft>
              <a:buSzPct val="100000"/>
              <a:buChar char="•"/>
            </a:pPr>
            <a:r>
              <a:rPr lang="en-US" sz="1600" dirty="0">
                <a:solidFill>
                  <a:srgbClr val="FFFFFF"/>
                </a:solidFill>
                <a:latin typeface="Inter" pitchFamily="34" charset="0"/>
                <a:ea typeface="Inter" pitchFamily="34" charset="-122"/>
                <a:cs typeface="Inter" pitchFamily="34" charset="-120"/>
              </a:rPr>
              <a:t>Retries and a Horizon dashboard</a:t>
            </a:r>
            <a:endParaRPr lang="en-US" sz="1600" dirty="0"/>
          </a:p>
        </p:txBody>
      </p:sp>
      <p:sp>
        <p:nvSpPr>
          <p:cNvPr id="25" name="Slide Number Placeholder 0"/>
          <p:cNvSpPr>
            <a:spLocks noGrp="1"/>
          </p:cNvSpPr>
          <p:nvPr>
            <p:ph type="sldNum" sz="quarter" idx="4294967295"/>
          </p:nvPr>
        </p:nvSpPr>
        <p:spPr>
          <a:xfrm>
            <a:off x="10911535" y="6419088"/>
            <a:ext cx="73152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280"/>
                </a:solidFill>
                <a:latin typeface="Inter"/>
                <a:ea typeface="Inter"/>
                <a:cs typeface="Inter"/>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94415" cy="640080"/>
          </a:xfrm>
          <a:prstGeom prst="rect">
            <a:avLst/>
          </a:prstGeom>
          <a:noFill/>
          <a:ln/>
        </p:spPr>
        <p:txBody>
          <a:bodyPr wrap="square" lIns="0" tIns="0" rIns="0" bIns="0" rtlCol="0" anchor="b"/>
          <a:lstStyle/>
          <a:p>
            <a:pPr algn="l" indent="0" marL="0">
              <a:buNone/>
            </a:pPr>
            <a:r>
              <a:rPr lang="en-US" sz="3200" b="1" dirty="0">
                <a:solidFill>
                  <a:srgbClr val="272827"/>
                </a:solidFill>
                <a:latin typeface="Playfair Display" pitchFamily="34" charset="0"/>
                <a:ea typeface="Playfair Display" pitchFamily="34" charset="-122"/>
                <a:cs typeface="Playfair Display" pitchFamily="34" charset="-120"/>
              </a:rPr>
              <a:t>Queues, events and workers</a:t>
            </a:r>
            <a:endParaRPr lang="en-US" sz="3200" dirty="0"/>
          </a:p>
        </p:txBody>
      </p:sp>
      <p:sp>
        <p:nvSpPr>
          <p:cNvPr id="3" name="Text 1"/>
          <p:cNvSpPr txBox="1"/>
          <p:nvPr/>
        </p:nvSpPr>
        <p:spPr>
          <a:xfrm>
            <a:off x="548640" y="1060704"/>
            <a:ext cx="8229600" cy="384048"/>
          </a:xfrm>
          <a:prstGeom prst="rect">
            <a:avLst/>
          </a:prstGeom>
          <a:noFill/>
          <a:ln/>
        </p:spPr>
        <p:txBody>
          <a:bodyPr wrap="square" lIns="0" tIns="0" rIns="0" bIns="0" rtlCol="0" anchor="t"/>
          <a:lstStyle/>
          <a:p>
            <a:pPr rtl="1" algn="l" indent="0" marL="0">
              <a:buNone/>
            </a:pPr>
            <a:r>
              <a:rPr lang="ar-LY" altLang="en-US" sz="1700" dirty="0">
                <a:solidFill>
                  <a:srgbClr val="FF5723"/>
                </a:solidFill>
                <a:latin typeface="Tajawal" pitchFamily="34" charset="0"/>
                <a:ea typeface="Tajawal" pitchFamily="34" charset="-122"/>
                <a:cs typeface="Tajawal" pitchFamily="34" charset="-120"/>
              </a:rPr>
              <a:t>الطوابير والأحداث والعمّال</a:t>
            </a:r>
            <a:endParaRPr lang="ar-LY" sz="1700" dirty="0"/>
          </a:p>
        </p:txBody>
      </p:sp>
      <p:sp>
        <p:nvSpPr>
          <p:cNvPr id="4" name="Shape 2"/>
          <p:cNvSpPr/>
          <p:nvPr/>
        </p:nvSpPr>
        <p:spPr>
          <a:xfrm>
            <a:off x="7726680" y="1691640"/>
            <a:ext cx="2011680" cy="3657600"/>
          </a:xfrm>
          <a:prstGeom prst="roundRect">
            <a:avLst>
              <a:gd name="adj" fmla="val 4545"/>
            </a:avLst>
          </a:prstGeom>
          <a:ln w="12700">
            <a:solidFill>
              <a:srgbClr val="9CA3AF"/>
            </a:solidFill>
            <a:prstDash val="dash"/>
          </a:ln>
        </p:spPr>
      </p:sp>
      <p:sp>
        <p:nvSpPr>
          <p:cNvPr id="5" name="Text 3"/>
          <p:cNvSpPr txBox="1"/>
          <p:nvPr/>
        </p:nvSpPr>
        <p:spPr>
          <a:xfrm>
            <a:off x="7863840" y="1764792"/>
            <a:ext cx="1737360" cy="274320"/>
          </a:xfrm>
          <a:prstGeom prst="rect">
            <a:avLst/>
          </a:prstGeom>
          <a:noFill/>
          <a:ln/>
        </p:spPr>
        <p:txBody>
          <a:bodyPr wrap="square" lIns="0" tIns="0" rIns="0" bIns="0" rtlCol="0" anchor="ctr"/>
          <a:lstStyle/>
          <a:p>
            <a:pPr indent="0" marL="0">
              <a:buNone/>
            </a:pPr>
            <a:r>
              <a:rPr lang="en-US" sz="1100" b="1" spc="200" kern="0" dirty="0">
                <a:solidFill>
                  <a:srgbClr val="6B7280"/>
                </a:solidFill>
                <a:latin typeface="Inter" pitchFamily="34" charset="0"/>
                <a:ea typeface="Inter" pitchFamily="34" charset="-122"/>
                <a:cs typeface="Inter" pitchFamily="34" charset="-120"/>
              </a:rPr>
              <a:t>REDIS QUEUES</a:t>
            </a:r>
            <a:endParaRPr lang="en-US" sz="1100" dirty="0"/>
          </a:p>
        </p:txBody>
      </p:sp>
      <p:sp>
        <p:nvSpPr>
          <p:cNvPr id="6" name="Shape 4"/>
          <p:cNvSpPr/>
          <p:nvPr/>
        </p:nvSpPr>
        <p:spPr>
          <a:xfrm>
            <a:off x="548640" y="3017520"/>
            <a:ext cx="1737360" cy="1005840"/>
          </a:xfrm>
          <a:prstGeom prst="roundRect">
            <a:avLst>
              <a:gd name="adj" fmla="val 7273"/>
            </a:avLst>
          </a:prstGeom>
          <a:solidFill>
            <a:srgbClr val="F6F3EE"/>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7" name="Text 5"/>
          <p:cNvSpPr txBox="1"/>
          <p:nvPr/>
        </p:nvSpPr>
        <p:spPr>
          <a:xfrm>
            <a:off x="621792" y="3054096"/>
            <a:ext cx="1591056" cy="932688"/>
          </a:xfrm>
          <a:prstGeom prst="rect">
            <a:avLst/>
          </a:prstGeom>
          <a:noFill/>
          <a:ln/>
        </p:spPr>
        <p:txBody>
          <a:bodyPr wrap="square" lIns="508" tIns="508" rIns="508" bIns="508" rtlCol="0" anchor="ctr"/>
          <a:lstStyle/>
          <a:p>
            <a:pPr algn="ctr" indent="0" marL="0">
              <a:spcAft>
                <a:spcPts val="200"/>
              </a:spcAft>
              <a:buNone/>
            </a:pPr>
            <a:r>
              <a:rPr lang="en-US" sz="1400" b="1" dirty="0">
                <a:solidFill>
                  <a:srgbClr val="272827"/>
                </a:solidFill>
                <a:latin typeface="Inter" pitchFamily="34" charset="0"/>
                <a:ea typeface="Inter" pitchFamily="34" charset="-122"/>
                <a:cs typeface="Inter" pitchFamily="34" charset="-120"/>
              </a:rPr>
              <a:t>POST /shipments</a:t>
            </a:r>
            <a:endParaRPr lang="en-US" sz="1400" dirty="0"/>
          </a:p>
          <a:p>
            <a:pPr algn="ctr" indent="0" marL="0">
              <a:spcAft>
                <a:spcPts val="200"/>
              </a:spcAft>
              <a:buNone/>
            </a:pPr>
            <a:r>
              <a:rPr lang="en-US" sz="1100" dirty="0">
                <a:solidFill>
                  <a:srgbClr val="6B7280"/>
                </a:solidFill>
                <a:latin typeface="Inter" pitchFamily="34" charset="0"/>
                <a:ea typeface="Inter" pitchFamily="34" charset="-122"/>
                <a:cs typeface="Inter" pitchFamily="34" charset="-120"/>
              </a:rPr>
              <a:t>201, fast</a:t>
            </a:r>
            <a:endParaRPr lang="en-US" sz="1400" dirty="0"/>
          </a:p>
        </p:txBody>
      </p:sp>
      <p:sp>
        <p:nvSpPr>
          <p:cNvPr id="8" name="Shape 6"/>
          <p:cNvSpPr/>
          <p:nvPr/>
        </p:nvSpPr>
        <p:spPr>
          <a:xfrm>
            <a:off x="2880360" y="3017520"/>
            <a:ext cx="1828800" cy="1005840"/>
          </a:xfrm>
          <a:prstGeom prst="roundRect">
            <a:avLst>
              <a:gd name="adj" fmla="val 7273"/>
            </a:avLst>
          </a:prstGeom>
          <a:solidFill>
            <a:srgbClr val="FF5723"/>
          </a:solidFill>
          <a:ln w="12700">
            <a:solidFill>
              <a:srgbClr val="FF5723"/>
            </a:solidFill>
            <a:prstDash val="solid"/>
          </a:ln>
        </p:spPr>
      </p:sp>
      <p:sp>
        <p:nvSpPr>
          <p:cNvPr id="9" name="Text 7"/>
          <p:cNvSpPr txBox="1"/>
          <p:nvPr/>
        </p:nvSpPr>
        <p:spPr>
          <a:xfrm>
            <a:off x="2953512" y="3054096"/>
            <a:ext cx="1682496" cy="932688"/>
          </a:xfrm>
          <a:prstGeom prst="rect">
            <a:avLst/>
          </a:prstGeom>
          <a:noFill/>
          <a:ln/>
        </p:spPr>
        <p:txBody>
          <a:bodyPr wrap="square" lIns="508" tIns="508" rIns="508" bIns="508" rtlCol="0" anchor="ctr"/>
          <a:lstStyle/>
          <a:p>
            <a:pPr algn="ctr" indent="0" marL="0">
              <a:spcAft>
                <a:spcPts val="200"/>
              </a:spcAft>
              <a:buNone/>
            </a:pPr>
            <a:r>
              <a:rPr lang="en-US" sz="1400" b="1" dirty="0">
                <a:solidFill>
                  <a:srgbClr val="FFFFFF"/>
                </a:solidFill>
                <a:latin typeface="Inter" pitchFamily="34" charset="0"/>
                <a:ea typeface="Inter" pitchFamily="34" charset="-122"/>
                <a:cs typeface="Inter" pitchFamily="34" charset="-120"/>
              </a:rPr>
              <a:t>ShipmentBooked</a:t>
            </a:r>
            <a:endParaRPr lang="en-US" sz="1400" dirty="0"/>
          </a:p>
          <a:p>
            <a:pPr algn="ctr" indent="0" marL="0">
              <a:spcAft>
                <a:spcPts val="200"/>
              </a:spcAft>
              <a:buNone/>
            </a:pPr>
            <a:r>
              <a:rPr lang="en-US" sz="1100" dirty="0">
                <a:solidFill>
                  <a:srgbClr val="FFE3D9"/>
                </a:solidFill>
                <a:latin typeface="Inter" pitchFamily="34" charset="0"/>
                <a:ea typeface="Inter" pitchFamily="34" charset="-122"/>
                <a:cs typeface="Inter" pitchFamily="34" charset="-120"/>
              </a:rPr>
              <a:t>event</a:t>
            </a:r>
            <a:endParaRPr lang="en-US" sz="1400" dirty="0"/>
          </a:p>
        </p:txBody>
      </p:sp>
      <p:sp>
        <p:nvSpPr>
          <p:cNvPr id="10" name="Shape 8"/>
          <p:cNvSpPr/>
          <p:nvPr/>
        </p:nvSpPr>
        <p:spPr>
          <a:xfrm>
            <a:off x="5303520" y="3017520"/>
            <a:ext cx="1920240" cy="1005840"/>
          </a:xfrm>
          <a:prstGeom prst="roundRect">
            <a:avLst>
              <a:gd name="adj" fmla="val 7273"/>
            </a:avLst>
          </a:prstGeom>
          <a:solidFill>
            <a:srgbClr val="FFFFFF"/>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11" name="Text 9"/>
          <p:cNvSpPr txBox="1"/>
          <p:nvPr/>
        </p:nvSpPr>
        <p:spPr>
          <a:xfrm>
            <a:off x="5376672" y="3054096"/>
            <a:ext cx="1773936" cy="932688"/>
          </a:xfrm>
          <a:prstGeom prst="rect">
            <a:avLst/>
          </a:prstGeom>
          <a:noFill/>
          <a:ln/>
        </p:spPr>
        <p:txBody>
          <a:bodyPr wrap="square" lIns="508" tIns="508" rIns="508" bIns="508" rtlCol="0" anchor="ctr"/>
          <a:lstStyle/>
          <a:p>
            <a:pPr algn="ctr" indent="0" marL="0">
              <a:spcAft>
                <a:spcPts val="200"/>
              </a:spcAft>
              <a:buNone/>
            </a:pPr>
            <a:r>
              <a:rPr lang="en-US" sz="1300" b="1" dirty="0">
                <a:solidFill>
                  <a:srgbClr val="272827"/>
                </a:solidFill>
                <a:latin typeface="Inter" pitchFamily="34" charset="0"/>
                <a:ea typeface="Inter" pitchFamily="34" charset="-122"/>
                <a:cs typeface="Inter" pitchFamily="34" charset="-120"/>
              </a:rPr>
              <a:t>QueueBookingJobs</a:t>
            </a:r>
            <a:endParaRPr lang="en-US" sz="1300" dirty="0"/>
          </a:p>
          <a:p>
            <a:pPr algn="ctr" indent="0" marL="0">
              <a:spcAft>
                <a:spcPts val="200"/>
              </a:spcAft>
              <a:buNone/>
            </a:pPr>
            <a:r>
              <a:rPr lang="en-US" sz="1100" dirty="0">
                <a:solidFill>
                  <a:srgbClr val="6B7280"/>
                </a:solidFill>
                <a:latin typeface="Inter" pitchFamily="34" charset="0"/>
                <a:ea typeface="Inter" pitchFamily="34" charset="-122"/>
                <a:cs typeface="Inter" pitchFamily="34" charset="-120"/>
              </a:rPr>
              <a:t>listener</a:t>
            </a:r>
            <a:endParaRPr lang="en-US" sz="1300" dirty="0"/>
          </a:p>
        </p:txBody>
      </p:sp>
      <p:sp>
        <p:nvSpPr>
          <p:cNvPr id="12" name="Shape 10"/>
          <p:cNvSpPr/>
          <p:nvPr/>
        </p:nvSpPr>
        <p:spPr>
          <a:xfrm>
            <a:off x="7909560" y="2103120"/>
            <a:ext cx="1645920" cy="566928"/>
          </a:xfrm>
          <a:prstGeom prst="roundRect">
            <a:avLst>
              <a:gd name="adj" fmla="val 12903"/>
            </a:avLst>
          </a:prstGeom>
          <a:solidFill>
            <a:srgbClr val="272827"/>
          </a:solidFill>
          <a:ln w="12700">
            <a:solidFill>
              <a:srgbClr val="272827"/>
            </a:solidFill>
            <a:prstDash val="solid"/>
          </a:ln>
        </p:spPr>
      </p:sp>
      <p:sp>
        <p:nvSpPr>
          <p:cNvPr id="13" name="Text 11"/>
          <p:cNvSpPr txBox="1"/>
          <p:nvPr/>
        </p:nvSpPr>
        <p:spPr>
          <a:xfrm>
            <a:off x="7982712" y="2139696"/>
            <a:ext cx="1499616" cy="493776"/>
          </a:xfrm>
          <a:prstGeom prst="rect">
            <a:avLst/>
          </a:prstGeom>
          <a:noFill/>
          <a:ln/>
        </p:spPr>
        <p:txBody>
          <a:bodyPr wrap="square" lIns="508" tIns="508" rIns="508" bIns="508" rtlCol="0" anchor="ctr"/>
          <a:lstStyle/>
          <a:p>
            <a:pPr algn="ctr" indent="0" marL="0">
              <a:spcAft>
                <a:spcPts val="200"/>
              </a:spcAft>
              <a:buNone/>
            </a:pPr>
            <a:r>
              <a:rPr lang="en-US" sz="1300" b="1" dirty="0">
                <a:solidFill>
                  <a:srgbClr val="FFFFFF"/>
                </a:solidFill>
                <a:latin typeface="Inter" pitchFamily="34" charset="0"/>
                <a:ea typeface="Inter" pitchFamily="34" charset="-122"/>
                <a:cs typeface="Inter" pitchFamily="34" charset="-120"/>
              </a:rPr>
              <a:t>dispatch</a:t>
            </a:r>
            <a:endParaRPr lang="en-US" sz="1300" dirty="0"/>
          </a:p>
        </p:txBody>
      </p:sp>
      <p:sp>
        <p:nvSpPr>
          <p:cNvPr id="14" name="Shape 12"/>
          <p:cNvSpPr/>
          <p:nvPr/>
        </p:nvSpPr>
        <p:spPr>
          <a:xfrm>
            <a:off x="7909560" y="2880360"/>
            <a:ext cx="1645920" cy="566928"/>
          </a:xfrm>
          <a:prstGeom prst="roundRect">
            <a:avLst>
              <a:gd name="adj" fmla="val 12903"/>
            </a:avLst>
          </a:prstGeom>
          <a:solidFill>
            <a:srgbClr val="272827"/>
          </a:solidFill>
          <a:ln w="12700">
            <a:solidFill>
              <a:srgbClr val="272827"/>
            </a:solidFill>
            <a:prstDash val="solid"/>
          </a:ln>
        </p:spPr>
      </p:sp>
      <p:sp>
        <p:nvSpPr>
          <p:cNvPr id="15" name="Text 13"/>
          <p:cNvSpPr txBox="1"/>
          <p:nvPr/>
        </p:nvSpPr>
        <p:spPr>
          <a:xfrm>
            <a:off x="7982712" y="2916936"/>
            <a:ext cx="1499616" cy="493776"/>
          </a:xfrm>
          <a:prstGeom prst="rect">
            <a:avLst/>
          </a:prstGeom>
          <a:noFill/>
          <a:ln/>
        </p:spPr>
        <p:txBody>
          <a:bodyPr wrap="square" lIns="508" tIns="508" rIns="508" bIns="508" rtlCol="0" anchor="ctr"/>
          <a:lstStyle/>
          <a:p>
            <a:pPr algn="ctr" indent="0" marL="0">
              <a:spcAft>
                <a:spcPts val="200"/>
              </a:spcAft>
              <a:buNone/>
            </a:pPr>
            <a:r>
              <a:rPr lang="en-US" sz="1300" b="1" dirty="0">
                <a:solidFill>
                  <a:srgbClr val="FFFFFF"/>
                </a:solidFill>
                <a:latin typeface="Inter" pitchFamily="34" charset="0"/>
                <a:ea typeface="Inter" pitchFamily="34" charset="-122"/>
                <a:cs typeface="Inter" pitchFamily="34" charset="-120"/>
              </a:rPr>
              <a:t>notifications</a:t>
            </a:r>
            <a:endParaRPr lang="en-US" sz="1300" dirty="0"/>
          </a:p>
        </p:txBody>
      </p:sp>
      <p:sp>
        <p:nvSpPr>
          <p:cNvPr id="16" name="Shape 14"/>
          <p:cNvSpPr/>
          <p:nvPr/>
        </p:nvSpPr>
        <p:spPr>
          <a:xfrm>
            <a:off x="7909560" y="3657600"/>
            <a:ext cx="1645920" cy="566928"/>
          </a:xfrm>
          <a:prstGeom prst="roundRect">
            <a:avLst>
              <a:gd name="adj" fmla="val 12903"/>
            </a:avLst>
          </a:prstGeom>
          <a:solidFill>
            <a:srgbClr val="272827"/>
          </a:solidFill>
          <a:ln w="12700">
            <a:solidFill>
              <a:srgbClr val="272827"/>
            </a:solidFill>
            <a:prstDash val="solid"/>
          </a:ln>
        </p:spPr>
      </p:sp>
      <p:sp>
        <p:nvSpPr>
          <p:cNvPr id="17" name="Text 15"/>
          <p:cNvSpPr txBox="1"/>
          <p:nvPr/>
        </p:nvSpPr>
        <p:spPr>
          <a:xfrm>
            <a:off x="7982712" y="3694176"/>
            <a:ext cx="1499616" cy="493776"/>
          </a:xfrm>
          <a:prstGeom prst="rect">
            <a:avLst/>
          </a:prstGeom>
          <a:noFill/>
          <a:ln/>
        </p:spPr>
        <p:txBody>
          <a:bodyPr wrap="square" lIns="508" tIns="508" rIns="508" bIns="508" rtlCol="0" anchor="ctr"/>
          <a:lstStyle/>
          <a:p>
            <a:pPr algn="ctr" indent="0" marL="0">
              <a:spcAft>
                <a:spcPts val="200"/>
              </a:spcAft>
              <a:buNone/>
            </a:pPr>
            <a:r>
              <a:rPr lang="en-US" sz="1300" b="1" dirty="0">
                <a:solidFill>
                  <a:srgbClr val="FFFFFF"/>
                </a:solidFill>
                <a:latin typeface="Inter" pitchFamily="34" charset="0"/>
                <a:ea typeface="Inter" pitchFamily="34" charset="-122"/>
                <a:cs typeface="Inter" pitchFamily="34" charset="-120"/>
              </a:rPr>
              <a:t>default</a:t>
            </a:r>
            <a:endParaRPr lang="en-US" sz="1300" dirty="0"/>
          </a:p>
        </p:txBody>
      </p:sp>
      <p:sp>
        <p:nvSpPr>
          <p:cNvPr id="18" name="Shape 16"/>
          <p:cNvSpPr/>
          <p:nvPr/>
        </p:nvSpPr>
        <p:spPr>
          <a:xfrm>
            <a:off x="7909560" y="4434840"/>
            <a:ext cx="1645920" cy="566928"/>
          </a:xfrm>
          <a:prstGeom prst="roundRect">
            <a:avLst>
              <a:gd name="adj" fmla="val 12903"/>
            </a:avLst>
          </a:prstGeom>
          <a:solidFill>
            <a:srgbClr val="272827"/>
          </a:solidFill>
          <a:ln w="12700">
            <a:solidFill>
              <a:srgbClr val="272827"/>
            </a:solidFill>
            <a:prstDash val="solid"/>
          </a:ln>
        </p:spPr>
      </p:sp>
      <p:sp>
        <p:nvSpPr>
          <p:cNvPr id="19" name="Text 17"/>
          <p:cNvSpPr txBox="1"/>
          <p:nvPr/>
        </p:nvSpPr>
        <p:spPr>
          <a:xfrm>
            <a:off x="7982712" y="4471416"/>
            <a:ext cx="1499616" cy="493776"/>
          </a:xfrm>
          <a:prstGeom prst="rect">
            <a:avLst/>
          </a:prstGeom>
          <a:noFill/>
          <a:ln/>
        </p:spPr>
        <p:txBody>
          <a:bodyPr wrap="square" lIns="508" tIns="508" rIns="508" bIns="508" rtlCol="0" anchor="ctr"/>
          <a:lstStyle/>
          <a:p>
            <a:pPr algn="ctr" indent="0" marL="0">
              <a:spcAft>
                <a:spcPts val="200"/>
              </a:spcAft>
              <a:buNone/>
            </a:pPr>
            <a:r>
              <a:rPr lang="en-US" sz="1300" b="1" dirty="0">
                <a:solidFill>
                  <a:srgbClr val="FFFFFF"/>
                </a:solidFill>
                <a:latin typeface="Inter" pitchFamily="34" charset="0"/>
                <a:ea typeface="Inter" pitchFamily="34" charset="-122"/>
                <a:cs typeface="Inter" pitchFamily="34" charset="-120"/>
              </a:rPr>
              <a:t>ai</a:t>
            </a:r>
            <a:endParaRPr lang="en-US" sz="1300" dirty="0"/>
          </a:p>
        </p:txBody>
      </p:sp>
      <p:sp>
        <p:nvSpPr>
          <p:cNvPr id="20" name="Shape 18"/>
          <p:cNvSpPr/>
          <p:nvPr/>
        </p:nvSpPr>
        <p:spPr>
          <a:xfrm>
            <a:off x="10149840" y="2103120"/>
            <a:ext cx="1490472" cy="2121408"/>
          </a:xfrm>
          <a:prstGeom prst="roundRect">
            <a:avLst>
              <a:gd name="adj" fmla="val 4908"/>
            </a:avLst>
          </a:prstGeom>
          <a:solidFill>
            <a:srgbClr val="FF5723"/>
          </a:solidFill>
          <a:ln w="12700">
            <a:solidFill>
              <a:srgbClr val="FF5723"/>
            </a:solidFill>
            <a:prstDash val="solid"/>
          </a:ln>
        </p:spPr>
      </p:sp>
      <p:sp>
        <p:nvSpPr>
          <p:cNvPr id="21" name="Text 19"/>
          <p:cNvSpPr txBox="1"/>
          <p:nvPr/>
        </p:nvSpPr>
        <p:spPr>
          <a:xfrm>
            <a:off x="10222992" y="2139696"/>
            <a:ext cx="1344168" cy="2048256"/>
          </a:xfrm>
          <a:prstGeom prst="rect">
            <a:avLst/>
          </a:prstGeom>
          <a:noFill/>
          <a:ln/>
        </p:spPr>
        <p:txBody>
          <a:bodyPr wrap="square" lIns="508" tIns="508" rIns="508" bIns="508" rtlCol="0" anchor="ctr"/>
          <a:lstStyle/>
          <a:p>
            <a:pPr algn="ctr" indent="0" marL="0">
              <a:spcAft>
                <a:spcPts val="200"/>
              </a:spcAft>
              <a:buNone/>
            </a:pPr>
            <a:r>
              <a:rPr lang="en-US" sz="1300" b="1" dirty="0">
                <a:solidFill>
                  <a:srgbClr val="FFFFFF"/>
                </a:solidFill>
                <a:latin typeface="Inter" pitchFamily="34" charset="0"/>
                <a:ea typeface="Inter" pitchFamily="34" charset="-122"/>
                <a:cs typeface="Inter" pitchFamily="34" charset="-120"/>
              </a:rPr>
              <a:t>supervisor-1</a:t>
            </a:r>
            <a:endParaRPr lang="en-US" sz="1300" dirty="0"/>
          </a:p>
          <a:p>
            <a:pPr algn="ctr" indent="0" marL="0">
              <a:spcAft>
                <a:spcPts val="200"/>
              </a:spcAft>
              <a:buNone/>
            </a:pPr>
            <a:r>
              <a:rPr lang="en-US" sz="1100" dirty="0">
                <a:solidFill>
                  <a:srgbClr val="FFE3D9"/>
                </a:solidFill>
                <a:latin typeface="Inter" pitchFamily="34" charset="0"/>
                <a:ea typeface="Inter" pitchFamily="34" charset="-122"/>
                <a:cs typeface="Inter" pitchFamily="34" charset="-120"/>
              </a:rPr>
              <a:t>Horizon · auto-balanced · 3 tries</a:t>
            </a:r>
            <a:endParaRPr lang="en-US" sz="1300" dirty="0"/>
          </a:p>
        </p:txBody>
      </p:sp>
      <p:sp>
        <p:nvSpPr>
          <p:cNvPr id="22" name="Shape 20"/>
          <p:cNvSpPr/>
          <p:nvPr/>
        </p:nvSpPr>
        <p:spPr>
          <a:xfrm>
            <a:off x="10149840" y="4434840"/>
            <a:ext cx="1490472" cy="566928"/>
          </a:xfrm>
          <a:prstGeom prst="roundRect">
            <a:avLst>
              <a:gd name="adj" fmla="val 12903"/>
            </a:avLst>
          </a:prstGeom>
          <a:solidFill>
            <a:srgbClr val="FF5723"/>
          </a:solidFill>
          <a:ln w="12700">
            <a:solidFill>
              <a:srgbClr val="FF5723"/>
            </a:solidFill>
            <a:prstDash val="solid"/>
          </a:ln>
        </p:spPr>
      </p:sp>
      <p:sp>
        <p:nvSpPr>
          <p:cNvPr id="23" name="Text 21"/>
          <p:cNvSpPr txBox="1"/>
          <p:nvPr/>
        </p:nvSpPr>
        <p:spPr>
          <a:xfrm>
            <a:off x="10222992" y="4471416"/>
            <a:ext cx="1344168" cy="493776"/>
          </a:xfrm>
          <a:prstGeom prst="rect">
            <a:avLst/>
          </a:prstGeom>
          <a:noFill/>
          <a:ln/>
        </p:spPr>
        <p:txBody>
          <a:bodyPr wrap="square" lIns="508" tIns="508" rIns="508" bIns="508" rtlCol="0" anchor="ctr"/>
          <a:lstStyle/>
          <a:p>
            <a:pPr algn="ctr" indent="0" marL="0">
              <a:spcAft>
                <a:spcPts val="200"/>
              </a:spcAft>
              <a:buNone/>
            </a:pPr>
            <a:r>
              <a:rPr lang="en-US" sz="1200" b="1" dirty="0">
                <a:solidFill>
                  <a:srgbClr val="FFFFFF"/>
                </a:solidFill>
                <a:latin typeface="Inter" pitchFamily="34" charset="0"/>
                <a:ea typeface="Inter" pitchFamily="34" charset="-122"/>
                <a:cs typeface="Inter" pitchFamily="34" charset="-120"/>
              </a:rPr>
              <a:t>supervisor-ai</a:t>
            </a:r>
            <a:endParaRPr lang="en-US" sz="1200" dirty="0"/>
          </a:p>
          <a:p>
            <a:pPr algn="ctr" indent="0" marL="0">
              <a:spcAft>
                <a:spcPts val="200"/>
              </a:spcAft>
              <a:buNone/>
            </a:pPr>
            <a:r>
              <a:rPr lang="en-US" sz="1000" dirty="0">
                <a:solidFill>
                  <a:srgbClr val="FFE3D9"/>
                </a:solidFill>
                <a:latin typeface="Inter" pitchFamily="34" charset="0"/>
                <a:ea typeface="Inter" pitchFamily="34" charset="-122"/>
                <a:cs typeface="Inter" pitchFamily="34" charset="-120"/>
              </a:rPr>
              <a:t>timeout 180 s</a:t>
            </a:r>
            <a:endParaRPr lang="en-US" sz="1200" dirty="0"/>
          </a:p>
        </p:txBody>
      </p:sp>
      <p:sp>
        <p:nvSpPr>
          <p:cNvPr id="24" name="Shape 22"/>
          <p:cNvSpPr/>
          <p:nvPr/>
        </p:nvSpPr>
        <p:spPr>
          <a:xfrm>
            <a:off x="2286000" y="3520440"/>
            <a:ext cx="594360" cy="914"/>
          </a:xfrm>
          <a:prstGeom prst="line">
            <a:avLst/>
          </a:prstGeom>
          <a:noFill/>
          <a:ln w="19050">
            <a:solidFill>
              <a:srgbClr val="3A3B3A"/>
            </a:solidFill>
            <a:prstDash val="solid"/>
            <a:tailEnd type="triangle"/>
          </a:ln>
        </p:spPr>
      </p:sp>
      <p:sp>
        <p:nvSpPr>
          <p:cNvPr id="25" name="Shape 23"/>
          <p:cNvSpPr/>
          <p:nvPr/>
        </p:nvSpPr>
        <p:spPr>
          <a:xfrm>
            <a:off x="4709160" y="3520440"/>
            <a:ext cx="594360" cy="914"/>
          </a:xfrm>
          <a:prstGeom prst="line">
            <a:avLst/>
          </a:prstGeom>
          <a:noFill/>
          <a:ln w="19050">
            <a:solidFill>
              <a:srgbClr val="3A3B3A"/>
            </a:solidFill>
            <a:prstDash val="solid"/>
            <a:tailEnd type="triangle"/>
          </a:ln>
        </p:spPr>
      </p:sp>
      <p:sp>
        <p:nvSpPr>
          <p:cNvPr id="26" name="Shape 24"/>
          <p:cNvSpPr/>
          <p:nvPr/>
        </p:nvSpPr>
        <p:spPr>
          <a:xfrm flipV="1">
            <a:off x="7223760" y="2386584"/>
            <a:ext cx="685800" cy="1133856"/>
          </a:xfrm>
          <a:prstGeom prst="line">
            <a:avLst/>
          </a:prstGeom>
          <a:noFill/>
          <a:ln w="19050">
            <a:solidFill>
              <a:srgbClr val="3A3B3A"/>
            </a:solidFill>
            <a:prstDash val="solid"/>
            <a:tailEnd type="triangle"/>
          </a:ln>
        </p:spPr>
      </p:sp>
      <p:sp>
        <p:nvSpPr>
          <p:cNvPr id="27" name="Shape 25"/>
          <p:cNvSpPr/>
          <p:nvPr/>
        </p:nvSpPr>
        <p:spPr>
          <a:xfrm>
            <a:off x="7223760" y="3232404"/>
            <a:ext cx="685800" cy="914"/>
          </a:xfrm>
          <a:prstGeom prst="line">
            <a:avLst/>
          </a:prstGeom>
          <a:noFill/>
          <a:ln w="19050">
            <a:solidFill>
              <a:srgbClr val="3A3B3A"/>
            </a:solidFill>
            <a:prstDash val="solid"/>
            <a:tailEnd type="triangle"/>
          </a:ln>
        </p:spPr>
      </p:sp>
      <p:sp>
        <p:nvSpPr>
          <p:cNvPr id="28" name="Shape 26"/>
          <p:cNvSpPr/>
          <p:nvPr/>
        </p:nvSpPr>
        <p:spPr>
          <a:xfrm>
            <a:off x="9555480" y="2386584"/>
            <a:ext cx="594360" cy="914"/>
          </a:xfrm>
          <a:prstGeom prst="line">
            <a:avLst/>
          </a:prstGeom>
          <a:noFill/>
          <a:ln w="19050">
            <a:solidFill>
              <a:srgbClr val="3A3B3A"/>
            </a:solidFill>
            <a:prstDash val="solid"/>
            <a:tailEnd type="triangle"/>
          </a:ln>
        </p:spPr>
      </p:sp>
      <p:sp>
        <p:nvSpPr>
          <p:cNvPr id="29" name="Shape 27"/>
          <p:cNvSpPr/>
          <p:nvPr/>
        </p:nvSpPr>
        <p:spPr>
          <a:xfrm>
            <a:off x="9555480" y="3163824"/>
            <a:ext cx="594360" cy="914"/>
          </a:xfrm>
          <a:prstGeom prst="line">
            <a:avLst/>
          </a:prstGeom>
          <a:noFill/>
          <a:ln w="19050">
            <a:solidFill>
              <a:srgbClr val="3A3B3A"/>
            </a:solidFill>
            <a:prstDash val="solid"/>
            <a:tailEnd type="triangle"/>
          </a:ln>
        </p:spPr>
      </p:sp>
      <p:sp>
        <p:nvSpPr>
          <p:cNvPr id="30" name="Shape 28"/>
          <p:cNvSpPr/>
          <p:nvPr/>
        </p:nvSpPr>
        <p:spPr>
          <a:xfrm>
            <a:off x="9555480" y="3941064"/>
            <a:ext cx="594360" cy="914"/>
          </a:xfrm>
          <a:prstGeom prst="line">
            <a:avLst/>
          </a:prstGeom>
          <a:noFill/>
          <a:ln w="19050">
            <a:solidFill>
              <a:srgbClr val="3A3B3A"/>
            </a:solidFill>
            <a:prstDash val="solid"/>
            <a:tailEnd type="triangle"/>
          </a:ln>
        </p:spPr>
      </p:sp>
      <p:sp>
        <p:nvSpPr>
          <p:cNvPr id="31" name="Shape 29"/>
          <p:cNvSpPr/>
          <p:nvPr/>
        </p:nvSpPr>
        <p:spPr>
          <a:xfrm>
            <a:off x="9555480" y="4718304"/>
            <a:ext cx="594360" cy="914"/>
          </a:xfrm>
          <a:prstGeom prst="line">
            <a:avLst/>
          </a:prstGeom>
          <a:noFill/>
          <a:ln w="19050">
            <a:solidFill>
              <a:srgbClr val="3A3B3A"/>
            </a:solidFill>
            <a:prstDash val="solid"/>
            <a:tailEnd type="triangle"/>
          </a:ln>
        </p:spPr>
      </p:sp>
      <p:sp>
        <p:nvSpPr>
          <p:cNvPr id="32" name="Text 30"/>
          <p:cNvSpPr txBox="1"/>
          <p:nvPr/>
        </p:nvSpPr>
        <p:spPr>
          <a:xfrm>
            <a:off x="548640" y="5760720"/>
            <a:ext cx="11094415" cy="365760"/>
          </a:xfrm>
          <a:prstGeom prst="rect">
            <a:avLst/>
          </a:prstGeom>
          <a:noFill/>
          <a:ln/>
        </p:spPr>
        <p:txBody>
          <a:bodyPr wrap="square" lIns="0" tIns="0" rIns="0" bIns="0" rtlCol="0" anchor="ctr"/>
          <a:lstStyle/>
          <a:p>
            <a:pPr indent="0" marL="0">
              <a:buNone/>
            </a:pPr>
            <a:r>
              <a:rPr lang="en-US" sz="1400" i="1" dirty="0">
                <a:solidFill>
                  <a:srgbClr val="C2410C"/>
                </a:solidFill>
                <a:latin typeface="JetBrains Mono" pitchFamily="34" charset="0"/>
                <a:ea typeface="JetBrains Mono" pitchFamily="34" charset="-122"/>
                <a:cs typeface="JetBrains Mono" pitchFamily="34" charset="-120"/>
              </a:rPr>
              <a:t>AssignVehicleJob</a:t>
            </a:r>
            <a:pPr indent="0" marL="0">
              <a:buNone/>
            </a:pPr>
            <a:r>
              <a:rPr lang="en-US" sz="1400" i="1" dirty="0">
                <a:solidFill>
                  <a:srgbClr val="3A3B3A"/>
                </a:solidFill>
                <a:latin typeface="Inter" pitchFamily="34" charset="0"/>
                <a:ea typeface="Inter" pitchFamily="34" charset="-122"/>
                <a:cs typeface="Inter" pitchFamily="34" charset="-120"/>
              </a:rPr>
              <a:t> → </a:t>
            </a:r>
            <a:pPr indent="0" marL="0">
              <a:buNone/>
            </a:pPr>
            <a:r>
              <a:rPr lang="en-US" sz="1400" b="1" i="1" dirty="0">
                <a:solidFill>
                  <a:srgbClr val="3A3B3A"/>
                </a:solidFill>
                <a:latin typeface="Inter" pitchFamily="34" charset="0"/>
                <a:ea typeface="Inter" pitchFamily="34" charset="-122"/>
                <a:cs typeface="Inter" pitchFamily="34" charset="-120"/>
              </a:rPr>
              <a:t>dispatch</a:t>
            </a:r>
            <a:pPr indent="0" marL="0">
              <a:buNone/>
            </a:pPr>
            <a:r>
              <a:rPr lang="en-US" sz="1400" i="1" dirty="0">
                <a:solidFill>
                  <a:srgbClr val="3A3B3A"/>
                </a:solidFill>
                <a:latin typeface="Inter" pitchFamily="34" charset="0"/>
                <a:ea typeface="Inter" pitchFamily="34" charset="-122"/>
                <a:cs typeface="Inter" pitchFamily="34" charset="-120"/>
              </a:rPr>
              <a:t> · </a:t>
            </a:r>
            <a:pPr indent="0" marL="0">
              <a:buNone/>
            </a:pPr>
            <a:r>
              <a:rPr lang="en-US" sz="1400" i="1" dirty="0">
                <a:solidFill>
                  <a:srgbClr val="C2410C"/>
                </a:solidFill>
                <a:latin typeface="JetBrains Mono" pitchFamily="34" charset="0"/>
                <a:ea typeface="JetBrains Mono" pitchFamily="34" charset="-122"/>
                <a:cs typeface="JetBrains Mono" pitchFamily="34" charset="-120"/>
              </a:rPr>
              <a:t>SendBookingConfirmationJob</a:t>
            </a:r>
            <a:pPr indent="0" marL="0">
              <a:buNone/>
            </a:pPr>
            <a:r>
              <a:rPr lang="en-US" sz="1400" i="1" dirty="0">
                <a:solidFill>
                  <a:srgbClr val="3A3B3A"/>
                </a:solidFill>
                <a:latin typeface="Inter" pitchFamily="34" charset="0"/>
                <a:ea typeface="Inter" pitchFamily="34" charset="-122"/>
                <a:cs typeface="Inter" pitchFamily="34" charset="-120"/>
              </a:rPr>
              <a:t> → </a:t>
            </a:r>
            <a:pPr indent="0" marL="0">
              <a:buNone/>
            </a:pPr>
            <a:r>
              <a:rPr lang="en-US" sz="1400" b="1" i="1" dirty="0">
                <a:solidFill>
                  <a:srgbClr val="3A3B3A"/>
                </a:solidFill>
                <a:latin typeface="Inter" pitchFamily="34" charset="0"/>
                <a:ea typeface="Inter" pitchFamily="34" charset="-122"/>
                <a:cs typeface="Inter" pitchFamily="34" charset="-120"/>
              </a:rPr>
              <a:t>notifications</a:t>
            </a:r>
            <a:pPr indent="0" marL="0">
              <a:buNone/>
            </a:pPr>
            <a:r>
              <a:rPr lang="en-US" sz="1400" i="1" dirty="0">
                <a:solidFill>
                  <a:srgbClr val="3A3B3A"/>
                </a:solidFill>
                <a:latin typeface="Inter" pitchFamily="34" charset="0"/>
                <a:ea typeface="Inter" pitchFamily="34" charset="-122"/>
                <a:cs typeface="Inter" pitchFamily="34" charset="-120"/>
              </a:rPr>
              <a:t> · </a:t>
            </a:r>
            <a:pPr indent="0" marL="0">
              <a:buNone/>
            </a:pPr>
            <a:r>
              <a:rPr lang="en-US" sz="1400" b="1" i="1" dirty="0">
                <a:solidFill>
                  <a:srgbClr val="3A3B3A"/>
                </a:solidFill>
                <a:latin typeface="Inter" pitchFamily="34" charset="0"/>
                <a:ea typeface="Inter" pitchFamily="34" charset="-122"/>
                <a:cs typeface="Inter" pitchFamily="34" charset="-120"/>
              </a:rPr>
              <a:t>ai</a:t>
            </a:r>
            <a:pPr indent="0" marL="0">
              <a:buNone/>
            </a:pPr>
            <a:r>
              <a:rPr lang="en-US" sz="1400" i="1" dirty="0">
                <a:solidFill>
                  <a:srgbClr val="3A3B3A"/>
                </a:solidFill>
                <a:latin typeface="Inter" pitchFamily="34" charset="0"/>
                <a:ea typeface="Inter" pitchFamily="34" charset="-122"/>
                <a:cs typeface="Inter" pitchFamily="34" charset="-120"/>
              </a:rPr>
              <a:t> is for agent work on Day 4–5</a:t>
            </a:r>
            <a:endParaRPr lang="en-US" sz="1400" dirty="0"/>
          </a:p>
        </p:txBody>
      </p:sp>
      <p:sp>
        <p:nvSpPr>
          <p:cNvPr id="25" name="Slide Number Placeholder 0"/>
          <p:cNvSpPr>
            <a:spLocks noGrp="1"/>
          </p:cNvSpPr>
          <p:nvPr>
            <p:ph type="sldNum" sz="quarter" idx="4294967295"/>
          </p:nvPr>
        </p:nvSpPr>
        <p:spPr>
          <a:xfrm>
            <a:off x="10911535" y="6419088"/>
            <a:ext cx="73152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280"/>
                </a:solidFill>
                <a:latin typeface="Inter"/>
                <a:ea typeface="Inter"/>
                <a:cs typeface="Inter"/>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94415" cy="640080"/>
          </a:xfrm>
          <a:prstGeom prst="rect">
            <a:avLst/>
          </a:prstGeom>
          <a:noFill/>
          <a:ln/>
        </p:spPr>
        <p:txBody>
          <a:bodyPr wrap="square" lIns="0" tIns="0" rIns="0" bIns="0" rtlCol="0" anchor="b"/>
          <a:lstStyle/>
          <a:p>
            <a:pPr algn="l" indent="0" marL="0">
              <a:buNone/>
            </a:pPr>
            <a:r>
              <a:rPr lang="en-US" sz="3200" b="1" dirty="0">
                <a:solidFill>
                  <a:srgbClr val="272827"/>
                </a:solidFill>
                <a:latin typeface="Playfair Display" pitchFamily="34" charset="0"/>
                <a:ea typeface="Playfair Display" pitchFamily="34" charset="-122"/>
                <a:cs typeface="Playfair Display" pitchFamily="34" charset="-120"/>
              </a:rPr>
              <a:t>Events decouple the request</a:t>
            </a:r>
            <a:endParaRPr lang="en-US" sz="3200" dirty="0"/>
          </a:p>
        </p:txBody>
      </p:sp>
      <p:sp>
        <p:nvSpPr>
          <p:cNvPr id="3" name="Text 1"/>
          <p:cNvSpPr txBox="1"/>
          <p:nvPr/>
        </p:nvSpPr>
        <p:spPr>
          <a:xfrm>
            <a:off x="548640" y="1060704"/>
            <a:ext cx="8229600" cy="384048"/>
          </a:xfrm>
          <a:prstGeom prst="rect">
            <a:avLst/>
          </a:prstGeom>
          <a:noFill/>
          <a:ln/>
        </p:spPr>
        <p:txBody>
          <a:bodyPr wrap="square" lIns="0" tIns="0" rIns="0" bIns="0" rtlCol="0" anchor="t"/>
          <a:lstStyle/>
          <a:p>
            <a:pPr rtl="1" algn="l" indent="0" marL="0">
              <a:buNone/>
            </a:pPr>
            <a:r>
              <a:rPr lang="ar-LY" altLang="en-US" sz="1700" dirty="0">
                <a:solidFill>
                  <a:srgbClr val="FF5723"/>
                </a:solidFill>
                <a:latin typeface="Tajawal" pitchFamily="34" charset="0"/>
                <a:ea typeface="Tajawal" pitchFamily="34" charset="-122"/>
                <a:cs typeface="Tajawal" pitchFamily="34" charset="-120"/>
              </a:rPr>
              <a:t>الأحداث تفصل العمل عن الطلب</a:t>
            </a:r>
            <a:endParaRPr lang="ar-LY" sz="1700" dirty="0"/>
          </a:p>
        </p:txBody>
      </p:sp>
      <p:sp>
        <p:nvSpPr>
          <p:cNvPr id="4" name="Shape 2"/>
          <p:cNvSpPr/>
          <p:nvPr/>
        </p:nvSpPr>
        <p:spPr>
          <a:xfrm>
            <a:off x="548640" y="1691640"/>
            <a:ext cx="7315200" cy="4434840"/>
          </a:xfrm>
          <a:prstGeom prst="roundRect">
            <a:avLst>
              <a:gd name="adj" fmla="val 1649"/>
            </a:avLst>
          </a:prstGeom>
          <a:solidFill>
            <a:srgbClr val="272827"/>
          </a:solidFill>
          <a:ln w="12700">
            <a:solidFill>
              <a:srgbClr val="272827"/>
            </a:solidFill>
            <a:prstDash val="solid"/>
          </a:ln>
        </p:spPr>
      </p:sp>
      <p:sp>
        <p:nvSpPr>
          <p:cNvPr id="5" name="Text 3"/>
          <p:cNvSpPr txBox="1"/>
          <p:nvPr/>
        </p:nvSpPr>
        <p:spPr>
          <a:xfrm>
            <a:off x="822960" y="1828800"/>
            <a:ext cx="6766560" cy="274320"/>
          </a:xfrm>
          <a:prstGeom prst="rect">
            <a:avLst/>
          </a:prstGeom>
          <a:noFill/>
          <a:ln/>
        </p:spPr>
        <p:txBody>
          <a:bodyPr wrap="square" lIns="0" tIns="0" rIns="0" bIns="0" rtlCol="0" anchor="ctr"/>
          <a:lstStyle/>
          <a:p>
            <a:pPr indent="0" marL="0">
              <a:buNone/>
            </a:pPr>
            <a:r>
              <a:rPr lang="en-US" sz="1100" dirty="0">
                <a:solidFill>
                  <a:srgbClr val="FF5723"/>
                </a:solidFill>
                <a:latin typeface="JetBrains Mono" pitchFamily="34" charset="0"/>
                <a:ea typeface="JetBrains Mono" pitchFamily="34" charset="-122"/>
                <a:cs typeface="JetBrains Mono" pitchFamily="34" charset="-120"/>
              </a:rPr>
              <a:t>app/Events/ShipmentBooked.php · app/Listeners/QueueBookingJobs.php</a:t>
            </a:r>
            <a:endParaRPr lang="en-US" sz="1100" dirty="0"/>
          </a:p>
        </p:txBody>
      </p:sp>
      <p:sp>
        <p:nvSpPr>
          <p:cNvPr id="6" name="Shape 4"/>
          <p:cNvSpPr/>
          <p:nvPr/>
        </p:nvSpPr>
        <p:spPr>
          <a:xfrm>
            <a:off x="822960" y="2194560"/>
            <a:ext cx="6766560" cy="0"/>
          </a:xfrm>
          <a:prstGeom prst="line">
            <a:avLst/>
          </a:prstGeom>
          <a:noFill/>
          <a:ln w="12700">
            <a:solidFill>
              <a:srgbClr val="3A3B3A"/>
            </a:solidFill>
            <a:prstDash val="solid"/>
          </a:ln>
        </p:spPr>
      </p:sp>
      <p:sp>
        <p:nvSpPr>
          <p:cNvPr id="7" name="Text 5"/>
          <p:cNvSpPr txBox="1"/>
          <p:nvPr/>
        </p:nvSpPr>
        <p:spPr>
          <a:xfrm>
            <a:off x="822960" y="2331720"/>
            <a:ext cx="6858000" cy="3657600"/>
          </a:xfrm>
          <a:prstGeom prst="rect">
            <a:avLst/>
          </a:prstGeom>
          <a:noFill/>
          <a:ln/>
        </p:spPr>
        <p:txBody>
          <a:bodyPr wrap="square" lIns="0" tIns="0" rIns="0" bIns="0" rtlCol="0" anchor="t"/>
          <a:lstStyle/>
          <a:p>
            <a:pPr indent="0" marL="0">
              <a:lnSpc>
                <a:spcPct val="105000"/>
              </a:lnSpc>
              <a:buNone/>
            </a:pPr>
            <a:r>
              <a:rPr lang="en-US" sz="1100" b="1" dirty="0">
                <a:solidFill>
                  <a:srgbClr val="FF5723"/>
                </a:solidFill>
                <a:highlight>
                  <a:srgbClr val="4A3A33"/>
                </a:highlight>
                <a:latin typeface="JetBrains Mono" pitchFamily="34" charset="0"/>
                <a:ea typeface="JetBrains Mono" pitchFamily="34" charset="-122"/>
                <a:cs typeface="JetBrains Mono" pitchFamily="34" charset="-120"/>
              </a:rPr>
              <a:t>class</a:t>
            </a:r>
            <a:pPr indent="0" marL="0">
              <a:lnSpc>
                <a:spcPct val="105000"/>
              </a:lnSpc>
              <a:buNone/>
            </a:pPr>
            <a:r>
              <a:rPr lang="en-US" sz="1100" dirty="0">
                <a:solidFill>
                  <a:srgbClr val="FFFFFF"/>
                </a:solidFill>
                <a:highlight>
                  <a:srgbClr val="4A3A33"/>
                </a:highlight>
                <a:latin typeface="JetBrains Mono" pitchFamily="34" charset="0"/>
                <a:ea typeface="JetBrains Mono" pitchFamily="34" charset="-122"/>
                <a:cs typeface="JetBrains Mono" pitchFamily="34" charset="-120"/>
              </a:rPr>
              <a:t> </a:t>
            </a:r>
            <a:pPr indent="0" marL="0">
              <a:lnSpc>
                <a:spcPct val="105000"/>
              </a:lnSpc>
              <a:buNone/>
            </a:pPr>
            <a:r>
              <a:rPr lang="en-US" sz="1100" dirty="0">
                <a:solidFill>
                  <a:srgbClr val="F2EDE6"/>
                </a:solidFill>
                <a:highlight>
                  <a:srgbClr val="4A3A33"/>
                </a:highlight>
                <a:latin typeface="JetBrains Mono" pitchFamily="34" charset="0"/>
                <a:ea typeface="JetBrains Mono" pitchFamily="34" charset="-122"/>
                <a:cs typeface="JetBrains Mono" pitchFamily="34" charset="-120"/>
              </a:rPr>
              <a:t>ShipmentBooked</a:t>
            </a:r>
            <a:pPr indent="0" marL="0">
              <a:lnSpc>
                <a:spcPct val="105000"/>
              </a:lnSpc>
              <a:buNone/>
            </a:pPr>
            <a:r>
              <a:rPr lang="en-US" sz="1100" dirty="0">
                <a:solidFill>
                  <a:srgbClr val="FFFFFF"/>
                </a:solidFill>
                <a:highlight>
                  <a:srgbClr val="4A3A33"/>
                </a:highlight>
                <a:latin typeface="JetBrains Mono" pitchFamily="34" charset="0"/>
                <a:ea typeface="JetBrains Mono" pitchFamily="34" charset="-122"/>
                <a:cs typeface="JetBrains Mono" pitchFamily="34" charset="-120"/>
              </a:rPr>
              <a:t> </a:t>
            </a:r>
            <a:pPr indent="0" marL="0">
              <a:lnSpc>
                <a:spcPct val="105000"/>
              </a:lnSpc>
              <a:buNone/>
            </a:pPr>
            <a:r>
              <a:rPr lang="en-US" sz="1100" b="1" dirty="0">
                <a:solidFill>
                  <a:srgbClr val="FF5723"/>
                </a:solidFill>
                <a:highlight>
                  <a:srgbClr val="4A3A33"/>
                </a:highlight>
                <a:latin typeface="JetBrains Mono" pitchFamily="34" charset="0"/>
                <a:ea typeface="JetBrains Mono" pitchFamily="34" charset="-122"/>
                <a:cs typeface="JetBrains Mono" pitchFamily="34" charset="-120"/>
              </a:rPr>
              <a:t>implements</a:t>
            </a:r>
            <a:pPr indent="0" marL="0">
              <a:lnSpc>
                <a:spcPct val="105000"/>
              </a:lnSpc>
              <a:buNone/>
            </a:pPr>
            <a:r>
              <a:rPr lang="en-US" sz="1100" dirty="0">
                <a:solidFill>
                  <a:srgbClr val="FFFFFF"/>
                </a:solidFill>
                <a:highlight>
                  <a:srgbClr val="4A3A33"/>
                </a:highlight>
                <a:latin typeface="JetBrains Mono" pitchFamily="34" charset="0"/>
                <a:ea typeface="JetBrains Mono" pitchFamily="34" charset="-122"/>
                <a:cs typeface="JetBrains Mono" pitchFamily="34" charset="-120"/>
              </a:rPr>
              <a:t> </a:t>
            </a:r>
            <a:pPr indent="0" marL="0">
              <a:lnSpc>
                <a:spcPct val="105000"/>
              </a:lnSpc>
              <a:buNone/>
            </a:pPr>
            <a:r>
              <a:rPr lang="en-US" sz="1100" dirty="0">
                <a:solidFill>
                  <a:srgbClr val="F2EDE6"/>
                </a:solidFill>
                <a:highlight>
                  <a:srgbClr val="4A3A33"/>
                </a:highlight>
                <a:latin typeface="JetBrains Mono" pitchFamily="34" charset="0"/>
                <a:ea typeface="JetBrains Mono" pitchFamily="34" charset="-122"/>
                <a:cs typeface="JetBrains Mono" pitchFamily="34" charset="-120"/>
              </a:rPr>
              <a:t>ShouldDispatchAfterCommit</a:t>
            </a:r>
            <a:endParaRPr lang="en-US" sz="1100" dirty="0"/>
          </a:p>
          <a:p>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a:t>
            </a:r>
            <a:endParaRPr lang="en-US" sz="1100" dirty="0"/>
          </a:p>
          <a:p>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100" dirty="0">
                <a:solidFill>
                  <a:srgbClr val="FF5723"/>
                </a:solidFill>
                <a:latin typeface="JetBrains Mono" pitchFamily="34" charset="0"/>
                <a:ea typeface="JetBrains Mono" pitchFamily="34" charset="-122"/>
                <a:cs typeface="JetBrains Mono" pitchFamily="34" charset="-120"/>
              </a:rPr>
              <a:t>use</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100" dirty="0">
                <a:solidFill>
                  <a:srgbClr val="F2EDE6"/>
                </a:solidFill>
                <a:latin typeface="JetBrains Mono" pitchFamily="34" charset="0"/>
                <a:ea typeface="JetBrains Mono" pitchFamily="34" charset="-122"/>
                <a:cs typeface="JetBrains Mono" pitchFamily="34" charset="-120"/>
              </a:rPr>
              <a:t>Dispatchable</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100" dirty="0">
                <a:solidFill>
                  <a:srgbClr val="F2EDE6"/>
                </a:solidFill>
                <a:latin typeface="JetBrains Mono" pitchFamily="34" charset="0"/>
                <a:ea typeface="JetBrains Mono" pitchFamily="34" charset="-122"/>
                <a:cs typeface="JetBrains Mono" pitchFamily="34" charset="-120"/>
              </a:rPr>
              <a:t>SerializesModels</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a:t>
            </a:r>
            <a:endParaRPr lang="en-US" sz="1100" dirty="0"/>
          </a:p>
          <a:p>
            <a:pPr indent="0" marL="0">
              <a:lnSpc>
                <a:spcPct val="105000"/>
              </a:lnSpc>
              <a:buNone/>
            </a:pPr>
            <a:r>
              <a:rPr lang="en-US" sz="1100" dirty="0">
                <a:solidFill>
                  <a:srgbClr val="000000"/>
                </a:solidFill>
                <a:latin typeface="JetBrains Mono" pitchFamily="34" charset="0"/>
                <a:ea typeface="JetBrains Mono" pitchFamily="34" charset="-122"/>
                <a:cs typeface="JetBrains Mono" pitchFamily="34" charset="-120"/>
              </a:rPr>
              <a:t> </a:t>
            </a:r>
            <a:endParaRPr lang="en-US" sz="1100" dirty="0"/>
          </a:p>
          <a:p>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100" dirty="0">
                <a:solidFill>
                  <a:srgbClr val="FF5723"/>
                </a:solidFill>
                <a:latin typeface="JetBrains Mono" pitchFamily="34" charset="0"/>
                <a:ea typeface="JetBrains Mono" pitchFamily="34" charset="-122"/>
                <a:cs typeface="JetBrains Mono" pitchFamily="34" charset="-120"/>
              </a:rPr>
              <a:t>public</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100" dirty="0">
                <a:solidFill>
                  <a:srgbClr val="FF5723"/>
                </a:solidFill>
                <a:latin typeface="JetBrains Mono" pitchFamily="34" charset="0"/>
                <a:ea typeface="JetBrains Mono" pitchFamily="34" charset="-122"/>
                <a:cs typeface="JetBrains Mono" pitchFamily="34" charset="-120"/>
              </a:rPr>
              <a:t>function</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__construct</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100" dirty="0">
                <a:solidFill>
                  <a:srgbClr val="FF5723"/>
                </a:solidFill>
                <a:latin typeface="JetBrains Mono" pitchFamily="34" charset="0"/>
                <a:ea typeface="JetBrains Mono" pitchFamily="34" charset="-122"/>
                <a:cs typeface="JetBrains Mono" pitchFamily="34" charset="-120"/>
              </a:rPr>
              <a:t>public</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100" dirty="0">
                <a:solidFill>
                  <a:srgbClr val="F2EDE6"/>
                </a:solidFill>
                <a:latin typeface="JetBrains Mono" pitchFamily="34" charset="0"/>
                <a:ea typeface="JetBrains Mono" pitchFamily="34" charset="-122"/>
                <a:cs typeface="JetBrains Mono" pitchFamily="34" charset="-120"/>
              </a:rPr>
              <a:t>Shipment</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100" dirty="0">
                <a:solidFill>
                  <a:srgbClr val="F5C9A8"/>
                </a:solidFill>
                <a:latin typeface="JetBrains Mono" pitchFamily="34" charset="0"/>
                <a:ea typeface="JetBrains Mono" pitchFamily="34" charset="-122"/>
                <a:cs typeface="JetBrains Mono" pitchFamily="34" charset="-120"/>
              </a:rPr>
              <a:t>$shipment</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 {}</a:t>
            </a:r>
            <a:endParaRPr lang="en-US" sz="1100" dirty="0"/>
          </a:p>
          <a:p>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a:t>
            </a:r>
            <a:endParaRPr lang="en-US" sz="1100" dirty="0"/>
          </a:p>
          <a:p>
            <a:pPr indent="0" marL="0">
              <a:lnSpc>
                <a:spcPct val="105000"/>
              </a:lnSpc>
              <a:buNone/>
            </a:pPr>
            <a:r>
              <a:rPr lang="en-US" sz="1100" dirty="0">
                <a:solidFill>
                  <a:srgbClr val="000000"/>
                </a:solidFill>
                <a:latin typeface="JetBrains Mono" pitchFamily="34" charset="0"/>
                <a:ea typeface="JetBrains Mono" pitchFamily="34" charset="-122"/>
                <a:cs typeface="JetBrains Mono" pitchFamily="34" charset="-120"/>
              </a:rPr>
              <a:t> </a:t>
            </a:r>
            <a:endParaRPr lang="en-US" sz="1100" dirty="0"/>
          </a:p>
          <a:p>
            <a:pPr indent="0" marL="0">
              <a:lnSpc>
                <a:spcPct val="105000"/>
              </a:lnSpc>
              <a:buNone/>
            </a:pPr>
            <a:r>
              <a:rPr lang="en-US" sz="1100" dirty="0">
                <a:solidFill>
                  <a:srgbClr val="FF5723"/>
                </a:solidFill>
                <a:latin typeface="JetBrains Mono" pitchFamily="34" charset="0"/>
                <a:ea typeface="JetBrains Mono" pitchFamily="34" charset="-122"/>
                <a:cs typeface="JetBrains Mono" pitchFamily="34" charset="-120"/>
              </a:rPr>
              <a:t>class</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100" dirty="0">
                <a:solidFill>
                  <a:srgbClr val="F2EDE6"/>
                </a:solidFill>
                <a:latin typeface="JetBrains Mono" pitchFamily="34" charset="0"/>
                <a:ea typeface="JetBrains Mono" pitchFamily="34" charset="-122"/>
                <a:cs typeface="JetBrains Mono" pitchFamily="34" charset="-120"/>
              </a:rPr>
              <a:t>QueueBookingJobs</a:t>
            </a:r>
            <a:endParaRPr lang="en-US" sz="1100" dirty="0"/>
          </a:p>
          <a:p>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a:t>
            </a:r>
            <a:endParaRPr lang="en-US" sz="1100" dirty="0"/>
          </a:p>
          <a:p>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100" dirty="0">
                <a:solidFill>
                  <a:srgbClr val="FF5723"/>
                </a:solidFill>
                <a:latin typeface="JetBrains Mono" pitchFamily="34" charset="0"/>
                <a:ea typeface="JetBrains Mono" pitchFamily="34" charset="-122"/>
                <a:cs typeface="JetBrains Mono" pitchFamily="34" charset="-120"/>
              </a:rPr>
              <a:t>public</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100" dirty="0">
                <a:solidFill>
                  <a:srgbClr val="FF5723"/>
                </a:solidFill>
                <a:latin typeface="JetBrains Mono" pitchFamily="34" charset="0"/>
                <a:ea typeface="JetBrains Mono" pitchFamily="34" charset="-122"/>
                <a:cs typeface="JetBrains Mono" pitchFamily="34" charset="-120"/>
              </a:rPr>
              <a:t>function</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handle</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100" dirty="0">
                <a:solidFill>
                  <a:srgbClr val="F2EDE6"/>
                </a:solidFill>
                <a:latin typeface="JetBrains Mono" pitchFamily="34" charset="0"/>
                <a:ea typeface="JetBrains Mono" pitchFamily="34" charset="-122"/>
                <a:cs typeface="JetBrains Mono" pitchFamily="34" charset="-120"/>
              </a:rPr>
              <a:t>ShipmentBooked</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100" dirty="0">
                <a:solidFill>
                  <a:srgbClr val="F5C9A8"/>
                </a:solidFill>
                <a:latin typeface="JetBrains Mono" pitchFamily="34" charset="0"/>
                <a:ea typeface="JetBrains Mono" pitchFamily="34" charset="-122"/>
                <a:cs typeface="JetBrains Mono" pitchFamily="34" charset="-120"/>
              </a:rPr>
              <a:t>$event</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100" dirty="0">
                <a:solidFill>
                  <a:srgbClr val="FF5723"/>
                </a:solidFill>
                <a:latin typeface="JetBrains Mono" pitchFamily="34" charset="0"/>
                <a:ea typeface="JetBrains Mono" pitchFamily="34" charset="-122"/>
                <a:cs typeface="JetBrains Mono" pitchFamily="34" charset="-120"/>
              </a:rPr>
              <a:t>void</a:t>
            </a:r>
            <a:endParaRPr lang="en-US" sz="1100" dirty="0"/>
          </a:p>
          <a:p>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    {</a:t>
            </a:r>
            <a:endParaRPr lang="en-US" sz="1100" dirty="0"/>
          </a:p>
          <a:p>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100" dirty="0">
                <a:solidFill>
                  <a:srgbClr val="F2EDE6"/>
                </a:solidFill>
                <a:latin typeface="JetBrains Mono" pitchFamily="34" charset="0"/>
                <a:ea typeface="JetBrains Mono" pitchFamily="34" charset="-122"/>
                <a:cs typeface="JetBrains Mono" pitchFamily="34" charset="-120"/>
              </a:rPr>
              <a:t>AssignVehicleJob</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dispatch</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100" dirty="0">
                <a:solidFill>
                  <a:srgbClr val="F5C9A8"/>
                </a:solidFill>
                <a:latin typeface="JetBrains Mono" pitchFamily="34" charset="0"/>
                <a:ea typeface="JetBrains Mono" pitchFamily="34" charset="-122"/>
                <a:cs typeface="JetBrains Mono" pitchFamily="34" charset="-120"/>
              </a:rPr>
              <a:t>$event</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shipment</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100" dirty="0">
                <a:solidFill>
                  <a:srgbClr val="8B8F97"/>
                </a:solidFill>
                <a:latin typeface="JetBrains Mono" pitchFamily="34" charset="0"/>
                <a:ea typeface="JetBrains Mono" pitchFamily="34" charset="-122"/>
                <a:cs typeface="JetBrains Mono" pitchFamily="34" charset="-120"/>
              </a:rPr>
              <a:t>// 'dispatch'</a:t>
            </a:r>
            <a:endParaRPr lang="en-US" sz="1100" dirty="0"/>
          </a:p>
          <a:p>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100" dirty="0">
                <a:solidFill>
                  <a:srgbClr val="F2EDE6"/>
                </a:solidFill>
                <a:latin typeface="JetBrains Mono" pitchFamily="34" charset="0"/>
                <a:ea typeface="JetBrains Mono" pitchFamily="34" charset="-122"/>
                <a:cs typeface="JetBrains Mono" pitchFamily="34" charset="-120"/>
              </a:rPr>
              <a:t>SendBookingConfirmationJob</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dispatch</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100" dirty="0">
                <a:solidFill>
                  <a:srgbClr val="F5C9A8"/>
                </a:solidFill>
                <a:latin typeface="JetBrains Mono" pitchFamily="34" charset="0"/>
                <a:ea typeface="JetBrains Mono" pitchFamily="34" charset="-122"/>
                <a:cs typeface="JetBrains Mono" pitchFamily="34" charset="-120"/>
              </a:rPr>
              <a:t>$event</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shipment</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100" dirty="0">
                <a:solidFill>
                  <a:srgbClr val="8B8F97"/>
                </a:solidFill>
                <a:latin typeface="JetBrains Mono" pitchFamily="34" charset="0"/>
                <a:ea typeface="JetBrains Mono" pitchFamily="34" charset="-122"/>
                <a:cs typeface="JetBrains Mono" pitchFamily="34" charset="-120"/>
              </a:rPr>
              <a:t>// 'notifications'</a:t>
            </a:r>
            <a:endParaRPr lang="en-US" sz="1100" dirty="0"/>
          </a:p>
          <a:p>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    }</a:t>
            </a:r>
            <a:endParaRPr lang="en-US" sz="1100" dirty="0"/>
          </a:p>
          <a:p>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a:t>
            </a:r>
            <a:endParaRPr lang="en-US" sz="1100" dirty="0"/>
          </a:p>
          <a:p>
            <a:pPr indent="0" marL="0">
              <a:lnSpc>
                <a:spcPct val="105000"/>
              </a:lnSpc>
              <a:buNone/>
            </a:pPr>
            <a:r>
              <a:rPr lang="en-US" sz="1100" dirty="0">
                <a:solidFill>
                  <a:srgbClr val="000000"/>
                </a:solidFill>
                <a:latin typeface="JetBrains Mono" pitchFamily="34" charset="0"/>
                <a:ea typeface="JetBrains Mono" pitchFamily="34" charset="-122"/>
                <a:cs typeface="JetBrains Mono" pitchFamily="34" charset="-120"/>
              </a:rPr>
              <a:t> </a:t>
            </a:r>
            <a:endParaRPr lang="en-US" sz="1100" dirty="0"/>
          </a:p>
          <a:p>
            <a:pPr indent="0" marL="0">
              <a:lnSpc>
                <a:spcPct val="105000"/>
              </a:lnSpc>
              <a:buNone/>
            </a:pPr>
            <a:r>
              <a:rPr lang="en-US" sz="1100" i="1" dirty="0">
                <a:solidFill>
                  <a:srgbClr val="8B8F97"/>
                </a:solidFill>
                <a:latin typeface="JetBrains Mono" pitchFamily="34" charset="0"/>
                <a:ea typeface="JetBrains Mono" pitchFamily="34" charset="-122"/>
                <a:cs typeface="JetBrains Mono" pitchFamily="34" charset="-120"/>
              </a:rPr>
              <a:t>// BookingService::book(), inside the transaction:</a:t>
            </a:r>
            <a:endParaRPr lang="en-US" sz="1100" dirty="0"/>
          </a:p>
          <a:p>
            <a:pPr indent="0" marL="0">
              <a:lnSpc>
                <a:spcPct val="105000"/>
              </a:lnSpc>
              <a:buNone/>
            </a:pPr>
            <a:r>
              <a:rPr lang="en-US" sz="1100" dirty="0">
                <a:solidFill>
                  <a:srgbClr val="F2EDE6"/>
                </a:solidFill>
                <a:highlight>
                  <a:srgbClr val="4A3A33"/>
                </a:highlight>
                <a:latin typeface="JetBrains Mono" pitchFamily="34" charset="0"/>
                <a:ea typeface="JetBrains Mono" pitchFamily="34" charset="-122"/>
                <a:cs typeface="JetBrains Mono" pitchFamily="34" charset="-120"/>
              </a:rPr>
              <a:t>ShipmentBooked</a:t>
            </a:r>
            <a:pPr indent="0" marL="0">
              <a:lnSpc>
                <a:spcPct val="105000"/>
              </a:lnSpc>
              <a:buNone/>
            </a:pPr>
            <a:r>
              <a:rPr lang="en-US" sz="1100" dirty="0">
                <a:solidFill>
                  <a:srgbClr val="FFFFFF"/>
                </a:solidFill>
                <a:highlight>
                  <a:srgbClr val="4A3A33"/>
                </a:highlight>
                <a:latin typeface="JetBrains Mono" pitchFamily="34" charset="0"/>
                <a:ea typeface="JetBrains Mono" pitchFamily="34" charset="-122"/>
                <a:cs typeface="JetBrains Mono" pitchFamily="34" charset="-120"/>
              </a:rPr>
              <a:t>::</a:t>
            </a:r>
            <a:pPr indent="0" marL="0">
              <a:lnSpc>
                <a:spcPct val="105000"/>
              </a:lnSpc>
              <a:buNone/>
            </a:pPr>
            <a:r>
              <a:rPr lang="en-US" sz="1100" dirty="0">
                <a:solidFill>
                  <a:srgbClr val="FFFFFF"/>
                </a:solidFill>
                <a:highlight>
                  <a:srgbClr val="4A3A33"/>
                </a:highlight>
                <a:latin typeface="JetBrains Mono" pitchFamily="34" charset="0"/>
                <a:ea typeface="JetBrains Mono" pitchFamily="34" charset="-122"/>
                <a:cs typeface="JetBrains Mono" pitchFamily="34" charset="-120"/>
              </a:rPr>
              <a:t>dispatch</a:t>
            </a:r>
            <a:pPr indent="0" marL="0">
              <a:lnSpc>
                <a:spcPct val="105000"/>
              </a:lnSpc>
              <a:buNone/>
            </a:pPr>
            <a:r>
              <a:rPr lang="en-US" sz="1100" dirty="0">
                <a:solidFill>
                  <a:srgbClr val="FFFFFF"/>
                </a:solidFill>
                <a:highlight>
                  <a:srgbClr val="4A3A33"/>
                </a:highlight>
                <a:latin typeface="JetBrains Mono" pitchFamily="34" charset="0"/>
                <a:ea typeface="JetBrains Mono" pitchFamily="34" charset="-122"/>
                <a:cs typeface="JetBrains Mono" pitchFamily="34" charset="-120"/>
              </a:rPr>
              <a:t>(</a:t>
            </a:r>
            <a:pPr indent="0" marL="0">
              <a:lnSpc>
                <a:spcPct val="105000"/>
              </a:lnSpc>
              <a:buNone/>
            </a:pPr>
            <a:r>
              <a:rPr lang="en-US" sz="1100" dirty="0">
                <a:solidFill>
                  <a:srgbClr val="F5C9A8"/>
                </a:solidFill>
                <a:highlight>
                  <a:srgbClr val="4A3A33"/>
                </a:highlight>
                <a:latin typeface="JetBrains Mono" pitchFamily="34" charset="0"/>
                <a:ea typeface="JetBrains Mono" pitchFamily="34" charset="-122"/>
                <a:cs typeface="JetBrains Mono" pitchFamily="34" charset="-120"/>
              </a:rPr>
              <a:t>$shipment</a:t>
            </a:r>
            <a:pPr indent="0" marL="0">
              <a:lnSpc>
                <a:spcPct val="105000"/>
              </a:lnSpc>
              <a:buNone/>
            </a:pPr>
            <a:r>
              <a:rPr lang="en-US" sz="1100" dirty="0">
                <a:solidFill>
                  <a:srgbClr val="FFFFFF"/>
                </a:solidFill>
                <a:highlight>
                  <a:srgbClr val="4A3A33"/>
                </a:highlight>
                <a:latin typeface="JetBrains Mono" pitchFamily="34" charset="0"/>
                <a:ea typeface="JetBrains Mono" pitchFamily="34" charset="-122"/>
                <a:cs typeface="JetBrains Mono" pitchFamily="34" charset="-120"/>
              </a:rPr>
              <a:t>);</a:t>
            </a:r>
            <a:endParaRPr lang="en-US" sz="1100" dirty="0"/>
          </a:p>
          <a:p>
            <a:pPr indent="0" marL="0">
              <a:lnSpc>
                <a:spcPct val="105000"/>
              </a:lnSpc>
              <a:buNone/>
            </a:pPr>
            <a:r>
              <a:rPr lang="en-US" sz="1100" dirty="0">
                <a:solidFill>
                  <a:srgbClr val="000000"/>
                </a:solidFill>
                <a:latin typeface="JetBrains Mono" pitchFamily="34" charset="0"/>
                <a:ea typeface="JetBrains Mono" pitchFamily="34" charset="-122"/>
                <a:cs typeface="JetBrains Mono" pitchFamily="34" charset="-120"/>
              </a:rPr>
              <a:t> </a:t>
            </a:r>
            <a:endParaRPr lang="en-US" sz="1100" dirty="0"/>
          </a:p>
          <a:p>
            <a:pPr indent="0" marL="0">
              <a:lnSpc>
                <a:spcPct val="105000"/>
              </a:lnSpc>
              <a:buNone/>
            </a:pPr>
            <a:r>
              <a:rPr lang="en-US" sz="1100" i="1" dirty="0">
                <a:solidFill>
                  <a:srgbClr val="8B8F97"/>
                </a:solidFill>
                <a:latin typeface="JetBrains Mono" pitchFamily="34" charset="0"/>
                <a:ea typeface="JetBrains Mono" pitchFamily="34" charset="-122"/>
                <a:cs typeface="JetBrains Mono" pitchFamily="34" charset="-120"/>
              </a:rPr>
              <a:t>// Each job picks its queue in its constructor:</a:t>
            </a:r>
            <a:endParaRPr lang="en-US" sz="1100" dirty="0"/>
          </a:p>
          <a:p>
            <a:pPr indent="0" marL="0">
              <a:lnSpc>
                <a:spcPct val="105000"/>
              </a:lnSpc>
              <a:buNone/>
            </a:pPr>
            <a:r>
              <a:rPr lang="en-US" sz="1100" i="1" dirty="0">
                <a:solidFill>
                  <a:srgbClr val="8B8F97"/>
                </a:solidFill>
                <a:latin typeface="JetBrains Mono" pitchFamily="34" charset="0"/>
                <a:ea typeface="JetBrains Mono" pitchFamily="34" charset="-122"/>
                <a:cs typeface="JetBrains Mono" pitchFamily="34" charset="-120"/>
              </a:rPr>
              <a:t>// $this-&gt;onQueue('dispatch');</a:t>
            </a:r>
            <a:endParaRPr lang="en-US" sz="1100" dirty="0"/>
          </a:p>
        </p:txBody>
      </p:sp>
      <p:sp>
        <p:nvSpPr>
          <p:cNvPr id="8" name="Text 6"/>
          <p:cNvSpPr txBox="1"/>
          <p:nvPr/>
        </p:nvSpPr>
        <p:spPr>
          <a:xfrm>
            <a:off x="8275320" y="1783080"/>
            <a:ext cx="3367735" cy="43434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272827"/>
                </a:solidFill>
                <a:latin typeface="Inter" pitchFamily="34" charset="0"/>
                <a:ea typeface="Inter" pitchFamily="34" charset="-122"/>
                <a:cs typeface="Inter" pitchFamily="34" charset="-120"/>
              </a:rPr>
              <a:t>The service does not know which jobs exist</a:t>
            </a:r>
            <a:endParaRPr lang="en-US" sz="1500" dirty="0"/>
          </a:p>
          <a:p>
            <a:pPr marL="228600" indent="-228600">
              <a:spcAft>
                <a:spcPts val="1000"/>
              </a:spcAft>
              <a:buSzPct val="100000"/>
              <a:buChar char="•"/>
            </a:pPr>
            <a:r>
              <a:rPr lang="en-US" sz="1500" dirty="0">
                <a:solidFill>
                  <a:srgbClr val="272827"/>
                </a:solidFill>
                <a:latin typeface="Inter" pitchFamily="34" charset="0"/>
                <a:ea typeface="Inter" pitchFamily="34" charset="-122"/>
                <a:cs typeface="Inter" pitchFamily="34" charset="-120"/>
              </a:rPr>
              <a:t>New side effect later? Add a listener, not an </a:t>
            </a:r>
            <a:pPr indent="0" marL="0">
              <a:buNone/>
            </a:pPr>
            <a:r>
              <a:rPr lang="en-US" sz="1500" dirty="0">
                <a:solidFill>
                  <a:srgbClr val="C2410C"/>
                </a:solidFill>
                <a:latin typeface="JetBrains Mono" pitchFamily="34" charset="0"/>
                <a:ea typeface="JetBrains Mono" pitchFamily="34" charset="-122"/>
                <a:cs typeface="JetBrains Mono" pitchFamily="34" charset="-120"/>
              </a:rPr>
              <a:t>if</a:t>
            </a:r>
            <a:endParaRPr lang="en-US" sz="1500" dirty="0"/>
          </a:p>
          <a:p>
            <a:pPr marL="228600" indent="-228600">
              <a:spcAft>
                <a:spcPts val="1000"/>
              </a:spcAft>
              <a:buSzPct val="100000"/>
              <a:buChar char="•"/>
            </a:pPr>
            <a:r>
              <a:rPr lang="en-US" sz="1500" dirty="0">
                <a:solidFill>
                  <a:srgbClr val="272827"/>
                </a:solidFill>
                <a:latin typeface="Inter" pitchFamily="34" charset="0"/>
                <a:ea typeface="Inter" pitchFamily="34" charset="-122"/>
                <a:cs typeface="Inter" pitchFamily="34" charset="-120"/>
              </a:rPr>
              <a:t>Jobs get the model by ID, re-fetched fresh on the worker</a:t>
            </a:r>
            <a:endParaRPr lang="en-US" sz="1500" dirty="0"/>
          </a:p>
          <a:p>
            <a:pPr marL="228600" indent="-228600">
              <a:spcAft>
                <a:spcPts val="1000"/>
              </a:spcAft>
              <a:buSzPct val="100000"/>
              <a:buChar char="•"/>
            </a:pPr>
            <a:r>
              <a:rPr lang="en-US" sz="1500" dirty="0">
                <a:solidFill>
                  <a:srgbClr val="C2410C"/>
                </a:solidFill>
                <a:latin typeface="JetBrains Mono" pitchFamily="34" charset="0"/>
                <a:ea typeface="JetBrains Mono" pitchFamily="34" charset="-122"/>
                <a:cs typeface="JetBrains Mono" pitchFamily="34" charset="-120"/>
              </a:rPr>
              <a:t>ShouldDispatchAfterCommit</a:t>
            </a:r>
            <a:pPr indent="0" marL="0">
              <a:buNone/>
            </a:pPr>
            <a:r>
              <a:rPr lang="en-US" sz="1500" dirty="0">
                <a:solidFill>
                  <a:srgbClr val="272827"/>
                </a:solidFill>
                <a:latin typeface="Inter" pitchFamily="34" charset="0"/>
                <a:ea typeface="Inter" pitchFamily="34" charset="-122"/>
                <a:cs typeface="Inter" pitchFamily="34" charset="-120"/>
              </a:rPr>
              <a:t>: fired only once the booking commits</a:t>
            </a:r>
            <a:endParaRPr lang="en-US" sz="1500" dirty="0"/>
          </a:p>
        </p:txBody>
      </p:sp>
      <p:sp>
        <p:nvSpPr>
          <p:cNvPr id="25" name="Slide Number Placeholder 0"/>
          <p:cNvSpPr>
            <a:spLocks noGrp="1"/>
          </p:cNvSpPr>
          <p:nvPr>
            <p:ph type="sldNum" sz="quarter" idx="4294967295"/>
          </p:nvPr>
        </p:nvSpPr>
        <p:spPr>
          <a:xfrm>
            <a:off x="10911535" y="6419088"/>
            <a:ext cx="73152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280"/>
                </a:solidFill>
                <a:latin typeface="Inter"/>
                <a:ea typeface="Inter"/>
                <a:cs typeface="Inter"/>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94415" cy="640080"/>
          </a:xfrm>
          <a:prstGeom prst="rect">
            <a:avLst/>
          </a:prstGeom>
          <a:noFill/>
          <a:ln/>
        </p:spPr>
        <p:txBody>
          <a:bodyPr wrap="square" lIns="0" tIns="0" rIns="0" bIns="0" rtlCol="0" anchor="b"/>
          <a:lstStyle/>
          <a:p>
            <a:pPr algn="l" indent="0" marL="0">
              <a:buNone/>
            </a:pPr>
            <a:r>
              <a:rPr lang="en-US" sz="3200" b="1" dirty="0">
                <a:solidFill>
                  <a:srgbClr val="272827"/>
                </a:solidFill>
                <a:latin typeface="Playfair Display" pitchFamily="34" charset="0"/>
                <a:ea typeface="Playfair Display" pitchFamily="34" charset="-122"/>
                <a:cs typeface="Playfair Display" pitchFamily="34" charset="-120"/>
              </a:rPr>
              <a:t>AssignVehicleJob: lock, then assign</a:t>
            </a:r>
            <a:endParaRPr lang="en-US" sz="3200" dirty="0"/>
          </a:p>
        </p:txBody>
      </p:sp>
      <p:sp>
        <p:nvSpPr>
          <p:cNvPr id="3" name="Text 1"/>
          <p:cNvSpPr txBox="1"/>
          <p:nvPr/>
        </p:nvSpPr>
        <p:spPr>
          <a:xfrm>
            <a:off x="548640" y="1060704"/>
            <a:ext cx="8229600" cy="384048"/>
          </a:xfrm>
          <a:prstGeom prst="rect">
            <a:avLst/>
          </a:prstGeom>
          <a:noFill/>
          <a:ln/>
        </p:spPr>
        <p:txBody>
          <a:bodyPr wrap="square" lIns="0" tIns="0" rIns="0" bIns="0" rtlCol="0" anchor="t"/>
          <a:lstStyle/>
          <a:p>
            <a:pPr rtl="1" algn="l" indent="0" marL="0">
              <a:buNone/>
            </a:pPr>
            <a:r>
              <a:rPr lang="ar-LY" altLang="en-US" sz="1700" dirty="0">
                <a:solidFill>
                  <a:srgbClr val="FF5723"/>
                </a:solidFill>
                <a:latin typeface="Tajawal" pitchFamily="34" charset="0"/>
                <a:ea typeface="Tajawal" pitchFamily="34" charset="-122"/>
                <a:cs typeface="Tajawal" pitchFamily="34" charset="-120"/>
              </a:rPr>
              <a:t>مهمة تعيين المركبة: اقفل ثم عيّن</a:t>
            </a:r>
            <a:endParaRPr lang="ar-LY" sz="1700" dirty="0"/>
          </a:p>
        </p:txBody>
      </p:sp>
      <p:sp>
        <p:nvSpPr>
          <p:cNvPr id="4" name="Shape 2"/>
          <p:cNvSpPr/>
          <p:nvPr/>
        </p:nvSpPr>
        <p:spPr>
          <a:xfrm>
            <a:off x="548640" y="1691640"/>
            <a:ext cx="7315200" cy="4434840"/>
          </a:xfrm>
          <a:prstGeom prst="roundRect">
            <a:avLst>
              <a:gd name="adj" fmla="val 1649"/>
            </a:avLst>
          </a:prstGeom>
          <a:solidFill>
            <a:srgbClr val="272827"/>
          </a:solidFill>
          <a:ln w="12700">
            <a:solidFill>
              <a:srgbClr val="272827"/>
            </a:solidFill>
            <a:prstDash val="solid"/>
          </a:ln>
        </p:spPr>
      </p:sp>
      <p:sp>
        <p:nvSpPr>
          <p:cNvPr id="5" name="Text 3"/>
          <p:cNvSpPr txBox="1"/>
          <p:nvPr/>
        </p:nvSpPr>
        <p:spPr>
          <a:xfrm>
            <a:off x="822960" y="1828800"/>
            <a:ext cx="6766560" cy="274320"/>
          </a:xfrm>
          <a:prstGeom prst="rect">
            <a:avLst/>
          </a:prstGeom>
          <a:noFill/>
          <a:ln/>
        </p:spPr>
        <p:txBody>
          <a:bodyPr wrap="square" lIns="0" tIns="0" rIns="0" bIns="0" rtlCol="0" anchor="ctr"/>
          <a:lstStyle/>
          <a:p>
            <a:pPr indent="0" marL="0">
              <a:buNone/>
            </a:pPr>
            <a:r>
              <a:rPr lang="en-US" sz="1100" dirty="0">
                <a:solidFill>
                  <a:srgbClr val="FF5723"/>
                </a:solidFill>
                <a:latin typeface="JetBrains Mono" pitchFamily="34" charset="0"/>
                <a:ea typeface="JetBrains Mono" pitchFamily="34" charset="-122"/>
                <a:cs typeface="JetBrains Mono" pitchFamily="34" charset="-120"/>
              </a:rPr>
              <a:t>app/Jobs/AssignVehicleJob.php</a:t>
            </a:r>
            <a:endParaRPr lang="en-US" sz="1100" dirty="0"/>
          </a:p>
        </p:txBody>
      </p:sp>
      <p:sp>
        <p:nvSpPr>
          <p:cNvPr id="6" name="Shape 4"/>
          <p:cNvSpPr/>
          <p:nvPr/>
        </p:nvSpPr>
        <p:spPr>
          <a:xfrm>
            <a:off x="822960" y="2194560"/>
            <a:ext cx="6766560" cy="0"/>
          </a:xfrm>
          <a:prstGeom prst="line">
            <a:avLst/>
          </a:prstGeom>
          <a:noFill/>
          <a:ln w="12700">
            <a:solidFill>
              <a:srgbClr val="3A3B3A"/>
            </a:solidFill>
            <a:prstDash val="solid"/>
          </a:ln>
        </p:spPr>
      </p:sp>
      <p:sp>
        <p:nvSpPr>
          <p:cNvPr id="7" name="Text 5"/>
          <p:cNvSpPr txBox="1"/>
          <p:nvPr/>
        </p:nvSpPr>
        <p:spPr>
          <a:xfrm>
            <a:off x="822960" y="2331720"/>
            <a:ext cx="6858000" cy="3657600"/>
          </a:xfrm>
          <a:prstGeom prst="rect">
            <a:avLst/>
          </a:prstGeom>
          <a:noFill/>
          <a:ln/>
        </p:spPr>
        <p:txBody>
          <a:bodyPr wrap="square" lIns="0" tIns="0" rIns="0" bIns="0" rtlCol="0" anchor="t"/>
          <a:lstStyle/>
          <a:p>
            <a:pPr indent="0" marL="0">
              <a:lnSpc>
                <a:spcPct val="105000"/>
              </a:lnSpc>
              <a:buNone/>
            </a:pPr>
            <a:r>
              <a:rPr lang="en-US" sz="1050" dirty="0">
                <a:solidFill>
                  <a:srgbClr val="FF5723"/>
                </a:solidFill>
                <a:latin typeface="JetBrains Mono" pitchFamily="34" charset="0"/>
                <a:ea typeface="JetBrains Mono" pitchFamily="34" charset="-122"/>
                <a:cs typeface="JetBrains Mono" pitchFamily="34" charset="-120"/>
              </a:rPr>
              <a:t>public</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F5723"/>
                </a:solidFill>
                <a:latin typeface="JetBrains Mono" pitchFamily="34" charset="0"/>
                <a:ea typeface="JetBrains Mono" pitchFamily="34" charset="-122"/>
                <a:cs typeface="JetBrains Mono" pitchFamily="34" charset="-120"/>
              </a:rPr>
              <a:t>function</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handle</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F2EDE6"/>
                </a:solidFill>
                <a:latin typeface="JetBrains Mono" pitchFamily="34" charset="0"/>
                <a:ea typeface="JetBrains Mono" pitchFamily="34" charset="-122"/>
                <a:cs typeface="JetBrains Mono" pitchFamily="34" charset="-120"/>
              </a:rPr>
              <a:t>BookingService</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5C9A8"/>
                </a:solidFill>
                <a:latin typeface="JetBrains Mono" pitchFamily="34" charset="0"/>
                <a:ea typeface="JetBrains Mono" pitchFamily="34" charset="-122"/>
                <a:cs typeface="JetBrains Mono" pitchFamily="34" charset="-120"/>
              </a:rPr>
              <a:t>$booking</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F5723"/>
                </a:solidFill>
                <a:latin typeface="JetBrains Mono" pitchFamily="34" charset="0"/>
                <a:ea typeface="JetBrains Mono" pitchFamily="34" charset="-122"/>
                <a:cs typeface="JetBrains Mono" pitchFamily="34" charset="-120"/>
              </a:rPr>
              <a:t>void</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2EDE6"/>
                </a:solidFill>
                <a:latin typeface="JetBrains Mono" pitchFamily="34" charset="0"/>
                <a:ea typeface="JetBrains Mono" pitchFamily="34" charset="-122"/>
                <a:cs typeface="JetBrains Mono" pitchFamily="34" charset="-120"/>
              </a:rPr>
              <a:t>DB</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transaction</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FF5723"/>
                </a:solidFill>
                <a:latin typeface="JetBrains Mono" pitchFamily="34" charset="0"/>
                <a:ea typeface="JetBrains Mono" pitchFamily="34" charset="-122"/>
                <a:cs typeface="JetBrains Mono" pitchFamily="34" charset="-120"/>
              </a:rPr>
              <a:t>function</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 </a:t>
            </a:r>
            <a:pPr indent="0" marL="0">
              <a:lnSpc>
                <a:spcPct val="105000"/>
              </a:lnSpc>
              <a:buNone/>
            </a:pPr>
            <a:r>
              <a:rPr lang="en-US" sz="1050" dirty="0">
                <a:solidFill>
                  <a:srgbClr val="FF5723"/>
                </a:solidFill>
                <a:latin typeface="JetBrains Mono" pitchFamily="34" charset="0"/>
                <a:ea typeface="JetBrains Mono" pitchFamily="34" charset="-122"/>
                <a:cs typeface="JetBrains Mono" pitchFamily="34" charset="-120"/>
              </a:rPr>
              <a:t>use</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5C9A8"/>
                </a:solidFill>
                <a:latin typeface="JetBrains Mono" pitchFamily="34" charset="0"/>
                <a:ea typeface="JetBrains Mono" pitchFamily="34" charset="-122"/>
                <a:cs typeface="JetBrains Mono" pitchFamily="34" charset="-120"/>
              </a:rPr>
              <a:t>$booking</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endParaRPr lang="en-US" sz="1050" dirty="0"/>
          </a:p>
          <a:p>
            <a:pPr indent="0" marL="0">
              <a:lnSpc>
                <a:spcPct val="105000"/>
              </a:lnSpc>
              <a:buNone/>
            </a:pPr>
            <a:r>
              <a:rPr lang="en-US" sz="1050" dirty="0">
                <a:solidFill>
                  <a:srgbClr val="FFFFFF"/>
                </a:solidFill>
                <a:highlight>
                  <a:srgbClr val="4A3A33"/>
                </a:highlight>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5C9A8"/>
                </a:solidFill>
                <a:highlight>
                  <a:srgbClr val="4A3A33"/>
                </a:highlight>
                <a:latin typeface="JetBrains Mono" pitchFamily="34" charset="0"/>
                <a:ea typeface="JetBrains Mono" pitchFamily="34" charset="-122"/>
                <a:cs typeface="JetBrains Mono" pitchFamily="34" charset="-120"/>
              </a:rPr>
              <a:t>$shipment</a:t>
            </a:r>
            <a:pPr indent="0" marL="0">
              <a:lnSpc>
                <a:spcPct val="105000"/>
              </a:lnSpc>
              <a:buNone/>
            </a:pPr>
            <a:r>
              <a:rPr lang="en-US" sz="1050" dirty="0">
                <a:solidFill>
                  <a:srgbClr val="FFFFFF"/>
                </a:solidFill>
                <a:highlight>
                  <a:srgbClr val="4A3A33"/>
                </a:highlight>
                <a:latin typeface="JetBrains Mono" pitchFamily="34" charset="0"/>
                <a:ea typeface="JetBrains Mono" pitchFamily="34" charset="-122"/>
                <a:cs typeface="JetBrains Mono" pitchFamily="34" charset="-120"/>
              </a:rPr>
              <a:t> = </a:t>
            </a:r>
            <a:pPr indent="0" marL="0">
              <a:lnSpc>
                <a:spcPct val="105000"/>
              </a:lnSpc>
              <a:buNone/>
            </a:pPr>
            <a:r>
              <a:rPr lang="en-US" sz="1050" dirty="0">
                <a:solidFill>
                  <a:srgbClr val="F2EDE6"/>
                </a:solidFill>
                <a:highlight>
                  <a:srgbClr val="4A3A33"/>
                </a:highlight>
                <a:latin typeface="JetBrains Mono" pitchFamily="34" charset="0"/>
                <a:ea typeface="JetBrains Mono" pitchFamily="34" charset="-122"/>
                <a:cs typeface="JetBrains Mono" pitchFamily="34" charset="-120"/>
              </a:rPr>
              <a:t>Shipment</a:t>
            </a:r>
            <a:pPr indent="0" marL="0">
              <a:lnSpc>
                <a:spcPct val="105000"/>
              </a:lnSpc>
              <a:buNone/>
            </a:pPr>
            <a:r>
              <a:rPr lang="en-US" sz="1050" dirty="0">
                <a:solidFill>
                  <a:srgbClr val="FFFFFF"/>
                </a:solidFill>
                <a:highlight>
                  <a:srgbClr val="4A3A33"/>
                </a:highlight>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FFFFFF"/>
                </a:solidFill>
                <a:highlight>
                  <a:srgbClr val="4A3A33"/>
                </a:highlight>
                <a:latin typeface="JetBrains Mono" pitchFamily="34" charset="0"/>
                <a:ea typeface="JetBrains Mono" pitchFamily="34" charset="-122"/>
                <a:cs typeface="JetBrains Mono" pitchFamily="34" charset="-120"/>
              </a:rPr>
              <a:t>lockForUpdate</a:t>
            </a:r>
            <a:pPr indent="0" marL="0">
              <a:lnSpc>
                <a:spcPct val="105000"/>
              </a:lnSpc>
              <a:buNone/>
            </a:pPr>
            <a:r>
              <a:rPr lang="en-US" sz="1050" dirty="0">
                <a:solidFill>
                  <a:srgbClr val="FFFFFF"/>
                </a:solidFill>
                <a:highlight>
                  <a:srgbClr val="4A3A33"/>
                </a:highlight>
                <a:latin typeface="JetBrains Mono" pitchFamily="34" charset="0"/>
                <a:ea typeface="JetBrains Mono" pitchFamily="34" charset="-122"/>
                <a:cs typeface="JetBrains Mono" pitchFamily="34" charset="-120"/>
              </a:rPr>
              <a:t>()-&gt;</a:t>
            </a:r>
            <a:pPr indent="0" marL="0">
              <a:lnSpc>
                <a:spcPct val="105000"/>
              </a:lnSpc>
              <a:buNone/>
            </a:pPr>
            <a:r>
              <a:rPr lang="en-US" sz="1050" dirty="0">
                <a:solidFill>
                  <a:srgbClr val="FFFFFF"/>
                </a:solidFill>
                <a:highlight>
                  <a:srgbClr val="4A3A33"/>
                </a:highlight>
                <a:latin typeface="JetBrains Mono" pitchFamily="34" charset="0"/>
                <a:ea typeface="JetBrains Mono" pitchFamily="34" charset="-122"/>
                <a:cs typeface="JetBrains Mono" pitchFamily="34" charset="-120"/>
              </a:rPr>
              <a:t>find</a:t>
            </a:r>
            <a:pPr indent="0" marL="0">
              <a:lnSpc>
                <a:spcPct val="105000"/>
              </a:lnSpc>
              <a:buNone/>
            </a:pPr>
            <a:r>
              <a:rPr lang="en-US" sz="1050" dirty="0">
                <a:solidFill>
                  <a:srgbClr val="FFFFFF"/>
                </a:solidFill>
                <a:highlight>
                  <a:srgbClr val="4A3A33"/>
                </a:highlight>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F5C9A8"/>
                </a:solidFill>
                <a:highlight>
                  <a:srgbClr val="4A3A33"/>
                </a:highlight>
                <a:latin typeface="JetBrains Mono" pitchFamily="34" charset="0"/>
                <a:ea typeface="JetBrains Mono" pitchFamily="34" charset="-122"/>
                <a:cs typeface="JetBrains Mono" pitchFamily="34" charset="-120"/>
              </a:rPr>
              <a:t>$this</a:t>
            </a:r>
            <a:pPr indent="0" marL="0">
              <a:lnSpc>
                <a:spcPct val="105000"/>
              </a:lnSpc>
              <a:buNone/>
            </a:pPr>
            <a:r>
              <a:rPr lang="en-US" sz="1050" dirty="0">
                <a:solidFill>
                  <a:srgbClr val="FFFFFF"/>
                </a:solidFill>
                <a:highlight>
                  <a:srgbClr val="4A3A33"/>
                </a:highlight>
                <a:latin typeface="JetBrains Mono" pitchFamily="34" charset="0"/>
                <a:ea typeface="JetBrains Mono" pitchFamily="34" charset="-122"/>
                <a:cs typeface="JetBrains Mono" pitchFamily="34" charset="-120"/>
              </a:rPr>
              <a:t>-&gt;</a:t>
            </a:r>
            <a:pPr indent="0" marL="0">
              <a:lnSpc>
                <a:spcPct val="105000"/>
              </a:lnSpc>
              <a:buNone/>
            </a:pPr>
            <a:r>
              <a:rPr lang="en-US" sz="1050" dirty="0">
                <a:solidFill>
                  <a:srgbClr val="FFFFFF"/>
                </a:solidFill>
                <a:highlight>
                  <a:srgbClr val="4A3A33"/>
                </a:highlight>
                <a:latin typeface="JetBrains Mono" pitchFamily="34" charset="0"/>
                <a:ea typeface="JetBrains Mono" pitchFamily="34" charset="-122"/>
                <a:cs typeface="JetBrains Mono" pitchFamily="34" charset="-120"/>
              </a:rPr>
              <a:t>shipment</a:t>
            </a:r>
            <a:pPr indent="0" marL="0">
              <a:lnSpc>
                <a:spcPct val="105000"/>
              </a:lnSpc>
              <a:buNone/>
            </a:pPr>
            <a:r>
              <a:rPr lang="en-US" sz="1050" dirty="0">
                <a:solidFill>
                  <a:srgbClr val="FFFFFF"/>
                </a:solidFill>
                <a:highlight>
                  <a:srgbClr val="4A3A33"/>
                </a:highlight>
                <a:latin typeface="JetBrains Mono" pitchFamily="34" charset="0"/>
                <a:ea typeface="JetBrains Mono" pitchFamily="34" charset="-122"/>
                <a:cs typeface="JetBrains Mono" pitchFamily="34" charset="-120"/>
              </a:rPr>
              <a:t>-&gt;</a:t>
            </a:r>
            <a:pPr indent="0" marL="0">
              <a:lnSpc>
                <a:spcPct val="105000"/>
              </a:lnSpc>
              <a:buNone/>
            </a:pPr>
            <a:r>
              <a:rPr lang="en-US" sz="1050" dirty="0">
                <a:solidFill>
                  <a:srgbClr val="FFFFFF"/>
                </a:solidFill>
                <a:highlight>
                  <a:srgbClr val="4A3A33"/>
                </a:highlight>
                <a:latin typeface="JetBrains Mono" pitchFamily="34" charset="0"/>
                <a:ea typeface="JetBrains Mono" pitchFamily="34" charset="-122"/>
                <a:cs typeface="JetBrains Mono" pitchFamily="34" charset="-120"/>
              </a:rPr>
              <a:t>id</a:t>
            </a:r>
            <a:pPr indent="0" marL="0">
              <a:lnSpc>
                <a:spcPct val="105000"/>
              </a:lnSpc>
              <a:buNone/>
            </a:pPr>
            <a:r>
              <a:rPr lang="en-US" sz="1050" dirty="0">
                <a:solidFill>
                  <a:srgbClr val="FFFFFF"/>
                </a:solidFill>
                <a:highlight>
                  <a:srgbClr val="4A3A33"/>
                </a:highlight>
                <a:latin typeface="JetBrains Mono" pitchFamily="34" charset="0"/>
                <a:ea typeface="JetBrains Mono" pitchFamily="34" charset="-122"/>
                <a:cs typeface="JetBrains Mono" pitchFamily="34" charset="-120"/>
              </a:rPr>
              <a:t>);</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F5723"/>
                </a:solidFill>
                <a:latin typeface="JetBrains Mono" pitchFamily="34" charset="0"/>
                <a:ea typeface="JetBrains Mono" pitchFamily="34" charset="-122"/>
                <a:cs typeface="JetBrains Mono" pitchFamily="34" charset="-120"/>
              </a:rPr>
              <a:t>if</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5C9A8"/>
                </a:solidFill>
                <a:latin typeface="JetBrains Mono" pitchFamily="34" charset="0"/>
                <a:ea typeface="JetBrains Mono" pitchFamily="34" charset="-122"/>
                <a:cs typeface="JetBrains Mono" pitchFamily="34" charset="-120"/>
              </a:rPr>
              <a:t>$shipment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status</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 </a:t>
            </a:r>
            <a:pPr indent="0" marL="0">
              <a:lnSpc>
                <a:spcPct val="105000"/>
              </a:lnSpc>
              <a:buNone/>
            </a:pPr>
            <a:r>
              <a:rPr lang="en-US" sz="1050" dirty="0">
                <a:solidFill>
                  <a:srgbClr val="F2EDE6"/>
                </a:solidFill>
                <a:latin typeface="JetBrains Mono" pitchFamily="34" charset="0"/>
                <a:ea typeface="JetBrains Mono" pitchFamily="34" charset="-122"/>
                <a:cs typeface="JetBrains Mono" pitchFamily="34" charset="-120"/>
              </a:rPr>
              <a:t>ShipmentStatus</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F2EDE6"/>
                </a:solidFill>
                <a:latin typeface="JetBrains Mono" pitchFamily="34" charset="0"/>
                <a:ea typeface="JetBrains Mono" pitchFamily="34" charset="-122"/>
                <a:cs typeface="JetBrains Mono" pitchFamily="34" charset="-120"/>
              </a:rPr>
              <a:t>Confirmed</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F5723"/>
                </a:solidFill>
                <a:latin typeface="JetBrains Mono" pitchFamily="34" charset="0"/>
                <a:ea typeface="JetBrains Mono" pitchFamily="34" charset="-122"/>
                <a:cs typeface="JetBrains Mono" pitchFamily="34" charset="-120"/>
              </a:rPr>
              <a:t>return</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8B8F97"/>
                </a:solidFill>
                <a:latin typeface="JetBrains Mono" pitchFamily="34" charset="0"/>
                <a:ea typeface="JetBrains Mono" pitchFamily="34" charset="-122"/>
                <a:cs typeface="JetBrains Mono" pitchFamily="34" charset="-120"/>
              </a:rPr>
              <a:t>// already handled: safe to retry</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endParaRPr lang="en-US" sz="1050" dirty="0"/>
          </a:p>
          <a:p>
            <a:pPr indent="0" marL="0">
              <a:lnSpc>
                <a:spcPct val="105000"/>
              </a:lnSpc>
              <a:buNone/>
            </a:pPr>
            <a:r>
              <a:rPr lang="en-US" sz="1050" dirty="0">
                <a:solidFill>
                  <a:srgbClr val="000000"/>
                </a:solidFill>
                <a:latin typeface="JetBrains Mono" pitchFamily="34" charset="0"/>
                <a:ea typeface="JetBrains Mono" pitchFamily="34" charset="-122"/>
                <a:cs typeface="JetBrains Mono" pitchFamily="34" charset="-120"/>
              </a:rPr>
              <a:t> </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5C9A8"/>
                </a:solidFill>
                <a:latin typeface="JetBrains Mono" pitchFamily="34" charset="0"/>
                <a:ea typeface="JetBrains Mono" pitchFamily="34" charset="-122"/>
                <a:cs typeface="JetBrains Mono" pitchFamily="34" charset="-120"/>
              </a:rPr>
              <a:t>$vehicle</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 </a:t>
            </a:r>
            <a:pPr indent="0" marL="0">
              <a:lnSpc>
                <a:spcPct val="105000"/>
              </a:lnSpc>
              <a:buNone/>
            </a:pPr>
            <a:r>
              <a:rPr lang="en-US" sz="1050" dirty="0">
                <a:solidFill>
                  <a:srgbClr val="F2EDE6"/>
                </a:solidFill>
                <a:latin typeface="JetBrains Mono" pitchFamily="34" charset="0"/>
                <a:ea typeface="JetBrains Mono" pitchFamily="34" charset="-122"/>
                <a:cs typeface="JetBrains Mono" pitchFamily="34" charset="-120"/>
              </a:rPr>
              <a:t>Vehicle</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where</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FFB59C"/>
                </a:solidFill>
                <a:latin typeface="JetBrains Mono" pitchFamily="34" charset="0"/>
                <a:ea typeface="JetBrains Mono" pitchFamily="34" charset="-122"/>
                <a:cs typeface="JetBrains Mono" pitchFamily="34" charset="-120"/>
              </a:rPr>
              <a:t>'status'</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2EDE6"/>
                </a:solidFill>
                <a:latin typeface="JetBrains Mono" pitchFamily="34" charset="0"/>
                <a:ea typeface="JetBrains Mono" pitchFamily="34" charset="-122"/>
                <a:cs typeface="JetBrains Mono" pitchFamily="34" charset="-120"/>
              </a:rPr>
              <a:t>VehicleStatus</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F2EDE6"/>
                </a:solidFill>
                <a:latin typeface="JetBrains Mono" pitchFamily="34" charset="0"/>
                <a:ea typeface="JetBrains Mono" pitchFamily="34" charset="-122"/>
                <a:cs typeface="JetBrains Mono" pitchFamily="34" charset="-120"/>
              </a:rPr>
              <a:t>Available</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-&gt;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where</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FFB59C"/>
                </a:solidFill>
                <a:latin typeface="JetBrains Mono" pitchFamily="34" charset="0"/>
                <a:ea typeface="JetBrains Mono" pitchFamily="34" charset="-122"/>
                <a:cs typeface="JetBrains Mono" pitchFamily="34" charset="-120"/>
              </a:rPr>
              <a:t>'type'</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5C9A8"/>
                </a:solidFill>
                <a:latin typeface="JetBrains Mono" pitchFamily="34" charset="0"/>
                <a:ea typeface="JetBrains Mono" pitchFamily="34" charset="-122"/>
                <a:cs typeface="JetBrains Mono" pitchFamily="34" charset="-120"/>
              </a:rPr>
              <a:t>$shipment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vehicle_type</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-&gt;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where</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FFB59C"/>
                </a:solidFill>
                <a:latin typeface="JetBrains Mono" pitchFamily="34" charset="0"/>
                <a:ea typeface="JetBrains Mono" pitchFamily="34" charset="-122"/>
                <a:cs typeface="JetBrains Mono" pitchFamily="34" charset="-120"/>
              </a:rPr>
              <a:t>'current_city_id'</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5C9A8"/>
                </a:solidFill>
                <a:latin typeface="JetBrains Mono" pitchFamily="34" charset="0"/>
                <a:ea typeface="JetBrains Mono" pitchFamily="34" charset="-122"/>
                <a:cs typeface="JetBrains Mono" pitchFamily="34" charset="-120"/>
              </a:rPr>
              <a:t>$shipment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origin_city_id</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-&gt;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where</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FFB59C"/>
                </a:solidFill>
                <a:latin typeface="JetBrains Mono" pitchFamily="34" charset="0"/>
                <a:ea typeface="JetBrains Mono" pitchFamily="34" charset="-122"/>
                <a:cs typeface="JetBrains Mono" pitchFamily="34" charset="-120"/>
              </a:rPr>
              <a:t>'capacity_kg'</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FB59C"/>
                </a:solidFill>
                <a:latin typeface="JetBrains Mono" pitchFamily="34" charset="0"/>
                <a:ea typeface="JetBrains Mono" pitchFamily="34" charset="-122"/>
                <a:cs typeface="JetBrains Mono" pitchFamily="34" charset="-120"/>
              </a:rPr>
              <a:t>'&gt;='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5C9A8"/>
                </a:solidFill>
                <a:latin typeface="JetBrains Mono" pitchFamily="34" charset="0"/>
                <a:ea typeface="JetBrains Mono" pitchFamily="34" charset="-122"/>
                <a:cs typeface="JetBrains Mono" pitchFamily="34" charset="-120"/>
              </a:rPr>
              <a:t>$shipment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weight_kg</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-&gt;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orderBy</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FFB59C"/>
                </a:solidFill>
                <a:latin typeface="JetBrains Mono" pitchFamily="34" charset="0"/>
                <a:ea typeface="JetBrains Mono" pitchFamily="34" charset="-122"/>
                <a:cs typeface="JetBrains Mono" pitchFamily="34" charset="-120"/>
              </a:rPr>
              <a:t>'capacity_kg'</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endParaRPr lang="en-US" sz="1050" dirty="0"/>
          </a:p>
          <a:p>
            <a:pPr indent="0" marL="0">
              <a:lnSpc>
                <a:spcPct val="105000"/>
              </a:lnSpc>
              <a:buNone/>
            </a:pPr>
            <a:r>
              <a:rPr lang="en-US" sz="1050" dirty="0">
                <a:solidFill>
                  <a:srgbClr val="FFFFFF"/>
                </a:solidFill>
                <a:highlight>
                  <a:srgbClr val="4A3A33"/>
                </a:highlight>
                <a:latin typeface="JetBrains Mono" pitchFamily="34" charset="0"/>
                <a:ea typeface="JetBrains Mono" pitchFamily="34" charset="-122"/>
                <a:cs typeface="JetBrains Mono" pitchFamily="34" charset="-120"/>
              </a:rPr>
              <a:t>            -&gt;</a:t>
            </a:r>
            <a:pPr indent="0" marL="0">
              <a:lnSpc>
                <a:spcPct val="105000"/>
              </a:lnSpc>
              <a:buNone/>
            </a:pPr>
            <a:r>
              <a:rPr lang="en-US" sz="1050" dirty="0">
                <a:solidFill>
                  <a:srgbClr val="FFFFFF"/>
                </a:solidFill>
                <a:highlight>
                  <a:srgbClr val="4A3A33"/>
                </a:highlight>
                <a:latin typeface="JetBrains Mono" pitchFamily="34" charset="0"/>
                <a:ea typeface="JetBrains Mono" pitchFamily="34" charset="-122"/>
                <a:cs typeface="JetBrains Mono" pitchFamily="34" charset="-120"/>
              </a:rPr>
              <a:t>lockForUpdate</a:t>
            </a:r>
            <a:pPr indent="0" marL="0">
              <a:lnSpc>
                <a:spcPct val="105000"/>
              </a:lnSpc>
              <a:buNone/>
            </a:pPr>
            <a:r>
              <a:rPr lang="en-US" sz="1050" dirty="0">
                <a:solidFill>
                  <a:srgbClr val="FFFFFF"/>
                </a:solidFill>
                <a:highlight>
                  <a:srgbClr val="4A3A33"/>
                </a:highlight>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8B8F97"/>
                </a:solidFill>
                <a:highlight>
                  <a:srgbClr val="4A3A33"/>
                </a:highlight>
                <a:latin typeface="JetBrains Mono" pitchFamily="34" charset="0"/>
                <a:ea typeface="JetBrains Mono" pitchFamily="34" charset="-122"/>
                <a:cs typeface="JetBrains Mono" pitchFamily="34" charset="-120"/>
              </a:rPr>
              <a:t>// SELECT ... FOR UPDATE</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-&gt;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first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F5723"/>
                </a:solidFill>
                <a:latin typeface="JetBrains Mono" pitchFamily="34" charset="0"/>
                <a:ea typeface="JetBrains Mono" pitchFamily="34" charset="-122"/>
                <a:cs typeface="JetBrains Mono" pitchFamily="34" charset="-120"/>
              </a:rPr>
              <a:t>if</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 </a:t>
            </a:r>
            <a:pPr indent="0" marL="0">
              <a:lnSpc>
                <a:spcPct val="105000"/>
              </a:lnSpc>
              <a:buNone/>
            </a:pPr>
            <a:r>
              <a:rPr lang="en-US" sz="1050" dirty="0">
                <a:solidFill>
                  <a:srgbClr val="F5C9A8"/>
                </a:solidFill>
                <a:latin typeface="JetBrains Mono" pitchFamily="34" charset="0"/>
                <a:ea typeface="JetBrains Mono" pitchFamily="34" charset="-122"/>
                <a:cs typeface="JetBrains Mono" pitchFamily="34" charset="-120"/>
              </a:rPr>
              <a:t>$vehicle</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2EDE6"/>
                </a:solidFill>
                <a:latin typeface="JetBrains Mono" pitchFamily="34" charset="0"/>
                <a:ea typeface="JetBrains Mono" pitchFamily="34" charset="-122"/>
                <a:cs typeface="JetBrains Mono" pitchFamily="34" charset="-120"/>
              </a:rPr>
              <a:t>Log</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warning</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FFB59C"/>
                </a:solidFill>
                <a:latin typeface="JetBrains Mono" pitchFamily="34" charset="0"/>
                <a:ea typeface="JetBrains Mono" pitchFamily="34" charset="-122"/>
                <a:cs typeface="JetBrains Mono" pitchFamily="34" charset="-120"/>
              </a:rPr>
              <a:t>'No vehicle available, waiting for a dispatcher.'</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F5723"/>
                </a:solidFill>
                <a:latin typeface="JetBrains Mono" pitchFamily="34" charset="0"/>
                <a:ea typeface="JetBrains Mono" pitchFamily="34" charset="-122"/>
                <a:cs typeface="JetBrains Mono" pitchFamily="34" charset="-120"/>
              </a:rPr>
              <a:t>return</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endParaRPr lang="en-US" sz="1050" dirty="0"/>
          </a:p>
          <a:p>
            <a:pPr indent="0" marL="0">
              <a:lnSpc>
                <a:spcPct val="105000"/>
              </a:lnSpc>
              <a:buNone/>
            </a:pPr>
            <a:r>
              <a:rPr lang="en-US" sz="1050" dirty="0">
                <a:solidFill>
                  <a:srgbClr val="000000"/>
                </a:solidFill>
                <a:latin typeface="JetBrains Mono" pitchFamily="34" charset="0"/>
                <a:ea typeface="JetBrains Mono" pitchFamily="34" charset="-122"/>
                <a:cs typeface="JetBrains Mono" pitchFamily="34" charset="-120"/>
              </a:rPr>
              <a:t> </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5C9A8"/>
                </a:solidFill>
                <a:latin typeface="JetBrains Mono" pitchFamily="34" charset="0"/>
                <a:ea typeface="JetBrains Mono" pitchFamily="34" charset="-122"/>
                <a:cs typeface="JetBrains Mono" pitchFamily="34" charset="-120"/>
              </a:rPr>
              <a:t>$booking</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assign</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F5C9A8"/>
                </a:solidFill>
                <a:latin typeface="JetBrains Mono" pitchFamily="34" charset="0"/>
                <a:ea typeface="JetBrains Mono" pitchFamily="34" charset="-122"/>
                <a:cs typeface="JetBrains Mono" pitchFamily="34" charset="-120"/>
              </a:rPr>
              <a:t>$shipment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5C9A8"/>
                </a:solidFill>
                <a:latin typeface="JetBrains Mono" pitchFamily="34" charset="0"/>
                <a:ea typeface="JetBrains Mono" pitchFamily="34" charset="-122"/>
                <a:cs typeface="JetBrains Mono" pitchFamily="34" charset="-120"/>
              </a:rPr>
              <a:t>$vehicle</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FB59C"/>
                </a:solidFill>
                <a:latin typeface="JetBrains Mono" pitchFamily="34" charset="0"/>
                <a:ea typeface="JetBrains Mono" pitchFamily="34" charset="-122"/>
                <a:cs typeface="JetBrains Mono" pitchFamily="34" charset="-120"/>
              </a:rPr>
              <a:t>"Vehicle {$vehicle-&gt;plate} assigned."</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endParaRPr lang="en-US" sz="1050" dirty="0"/>
          </a:p>
        </p:txBody>
      </p:sp>
      <p:sp>
        <p:nvSpPr>
          <p:cNvPr id="8" name="Text 6"/>
          <p:cNvSpPr txBox="1"/>
          <p:nvPr/>
        </p:nvSpPr>
        <p:spPr>
          <a:xfrm>
            <a:off x="8275320" y="1783080"/>
            <a:ext cx="3367735" cy="43434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272827"/>
                </a:solidFill>
                <a:latin typeface="Inter" pitchFamily="34" charset="0"/>
                <a:ea typeface="Inter" pitchFamily="34" charset="-122"/>
                <a:cs typeface="Inter" pitchFamily="34" charset="-120"/>
              </a:rPr>
              <a:t>Two workers, one free truck: the lock makes the second </a:t>
            </a:r>
            <a:pPr indent="0" marL="0">
              <a:buNone/>
            </a:pPr>
            <a:r>
              <a:rPr lang="en-US" sz="1500" b="1" dirty="0">
                <a:solidFill>
                  <a:srgbClr val="272827"/>
                </a:solidFill>
                <a:latin typeface="Inter" pitchFamily="34" charset="0"/>
                <a:ea typeface="Inter" pitchFamily="34" charset="-122"/>
                <a:cs typeface="Inter" pitchFamily="34" charset="-120"/>
              </a:rPr>
              <a:t>wait</a:t>
            </a:r>
            <a:endParaRPr lang="en-US" sz="1500" dirty="0"/>
          </a:p>
          <a:p>
            <a:pPr marL="228600" indent="-228600">
              <a:spcAft>
                <a:spcPts val="1000"/>
              </a:spcAft>
              <a:buSzPct val="100000"/>
              <a:buChar char="•"/>
            </a:pPr>
            <a:r>
              <a:rPr lang="en-US" sz="1500" dirty="0">
                <a:solidFill>
                  <a:srgbClr val="272827"/>
                </a:solidFill>
                <a:latin typeface="Inter" pitchFamily="34" charset="0"/>
                <a:ea typeface="Inter" pitchFamily="34" charset="-122"/>
                <a:cs typeface="Inter" pitchFamily="34" charset="-120"/>
              </a:rPr>
              <a:t>Status check first: a retried job does nothing twice</a:t>
            </a:r>
            <a:endParaRPr lang="en-US" sz="1500" dirty="0"/>
          </a:p>
          <a:p>
            <a:pPr marL="228600" indent="-228600">
              <a:spcAft>
                <a:spcPts val="1000"/>
              </a:spcAft>
              <a:buSzPct val="100000"/>
              <a:buChar char="•"/>
            </a:pPr>
            <a:r>
              <a:rPr lang="en-US" sz="1500" dirty="0">
                <a:solidFill>
                  <a:srgbClr val="272827"/>
                </a:solidFill>
                <a:latin typeface="Inter" pitchFamily="34" charset="0"/>
                <a:ea typeface="Inter" pitchFamily="34" charset="-122"/>
                <a:cs typeface="Inter" pitchFamily="34" charset="-120"/>
              </a:rPr>
              <a:t>Smallest truck that fits: </a:t>
            </a:r>
            <a:pPr indent="0" marL="0">
              <a:buNone/>
            </a:pPr>
            <a:r>
              <a:rPr lang="en-US" sz="1500" dirty="0">
                <a:solidFill>
                  <a:srgbClr val="C2410C"/>
                </a:solidFill>
                <a:latin typeface="JetBrains Mono" pitchFamily="34" charset="0"/>
                <a:ea typeface="JetBrains Mono" pitchFamily="34" charset="-122"/>
                <a:cs typeface="JetBrains Mono" pitchFamily="34" charset="-120"/>
              </a:rPr>
              <a:t>orderBy('capacity_kg')</a:t>
            </a:r>
            <a:endParaRPr lang="en-US" sz="1500" dirty="0"/>
          </a:p>
          <a:p>
            <a:pPr marL="228600" indent="-228600">
              <a:spcAft>
                <a:spcPts val="1000"/>
              </a:spcAft>
              <a:buSzPct val="100000"/>
              <a:buChar char="•"/>
            </a:pPr>
            <a:r>
              <a:rPr lang="en-US" sz="1500" dirty="0">
                <a:solidFill>
                  <a:srgbClr val="272827"/>
                </a:solidFill>
                <a:latin typeface="Inter" pitchFamily="34" charset="0"/>
                <a:ea typeface="Inter" pitchFamily="34" charset="-122"/>
                <a:cs typeface="Inter" pitchFamily="34" charset="-120"/>
              </a:rPr>
              <a:t>No vehicle? Log it; a dispatcher assigns one manually</a:t>
            </a:r>
            <a:endParaRPr lang="en-US" sz="1500" dirty="0"/>
          </a:p>
        </p:txBody>
      </p:sp>
      <p:sp>
        <p:nvSpPr>
          <p:cNvPr id="25" name="Slide Number Placeholder 0"/>
          <p:cNvSpPr>
            <a:spLocks noGrp="1"/>
          </p:cNvSpPr>
          <p:nvPr>
            <p:ph type="sldNum" sz="quarter" idx="4294967295"/>
          </p:nvPr>
        </p:nvSpPr>
        <p:spPr>
          <a:xfrm>
            <a:off x="10911535" y="6419088"/>
            <a:ext cx="73152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280"/>
                </a:solidFill>
                <a:latin typeface="Inter"/>
                <a:ea typeface="Inter"/>
                <a:cs typeface="Inter"/>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94415" cy="640080"/>
          </a:xfrm>
          <a:prstGeom prst="rect">
            <a:avLst/>
          </a:prstGeom>
          <a:noFill/>
          <a:ln/>
        </p:spPr>
        <p:txBody>
          <a:bodyPr wrap="square" lIns="0" tIns="0" rIns="0" bIns="0" rtlCol="0" anchor="b"/>
          <a:lstStyle/>
          <a:p>
            <a:pPr algn="l" indent="0" marL="0">
              <a:buNone/>
            </a:pPr>
            <a:r>
              <a:rPr lang="en-US" sz="3200" b="1" dirty="0">
                <a:solidFill>
                  <a:srgbClr val="272827"/>
                </a:solidFill>
                <a:latin typeface="Playfair Display" pitchFamily="34" charset="0"/>
                <a:ea typeface="Playfair Display" pitchFamily="34" charset="-122"/>
                <a:cs typeface="Playfair Display" pitchFamily="34" charset="-120"/>
              </a:rPr>
              <a:t>The double-booking race</a:t>
            </a:r>
            <a:endParaRPr lang="en-US" sz="3200" dirty="0"/>
          </a:p>
        </p:txBody>
      </p:sp>
      <p:sp>
        <p:nvSpPr>
          <p:cNvPr id="3" name="Text 1"/>
          <p:cNvSpPr txBox="1"/>
          <p:nvPr/>
        </p:nvSpPr>
        <p:spPr>
          <a:xfrm>
            <a:off x="548640" y="1060704"/>
            <a:ext cx="8229600" cy="384048"/>
          </a:xfrm>
          <a:prstGeom prst="rect">
            <a:avLst/>
          </a:prstGeom>
          <a:noFill/>
          <a:ln/>
        </p:spPr>
        <p:txBody>
          <a:bodyPr wrap="square" lIns="0" tIns="0" rIns="0" bIns="0" rtlCol="0" anchor="t"/>
          <a:lstStyle/>
          <a:p>
            <a:pPr rtl="1" algn="l" indent="0" marL="0">
              <a:buNone/>
            </a:pPr>
            <a:r>
              <a:rPr lang="ar-LY" altLang="en-US" sz="1700" dirty="0">
                <a:solidFill>
                  <a:srgbClr val="FF5723"/>
                </a:solidFill>
                <a:latin typeface="Tajawal" pitchFamily="34" charset="0"/>
                <a:ea typeface="Tajawal" pitchFamily="34" charset="-122"/>
                <a:cs typeface="Tajawal" pitchFamily="34" charset="-120"/>
              </a:rPr>
              <a:t>سباق الحجز المزدوج</a:t>
            </a:r>
            <a:endParaRPr lang="ar-LY" sz="1700" dirty="0"/>
          </a:p>
        </p:txBody>
      </p:sp>
      <p:sp>
        <p:nvSpPr>
          <p:cNvPr id="4" name="Shape 2"/>
          <p:cNvSpPr/>
          <p:nvPr/>
        </p:nvSpPr>
        <p:spPr>
          <a:xfrm>
            <a:off x="1508760" y="2240280"/>
            <a:ext cx="914" cy="3557016"/>
          </a:xfrm>
          <a:prstGeom prst="line">
            <a:avLst/>
          </a:prstGeom>
          <a:noFill/>
          <a:ln w="12700">
            <a:solidFill>
              <a:srgbClr val="9CA3AF"/>
            </a:solidFill>
            <a:prstDash val="dash"/>
          </a:ln>
        </p:spPr>
      </p:sp>
      <p:sp>
        <p:nvSpPr>
          <p:cNvPr id="5" name="Shape 3"/>
          <p:cNvSpPr/>
          <p:nvPr/>
        </p:nvSpPr>
        <p:spPr>
          <a:xfrm>
            <a:off x="548640" y="1737360"/>
            <a:ext cx="1920240" cy="502920"/>
          </a:xfrm>
          <a:prstGeom prst="roundRect">
            <a:avLst>
              <a:gd name="adj" fmla="val 14545"/>
            </a:avLst>
          </a:prstGeom>
          <a:solidFill>
            <a:srgbClr val="272827"/>
          </a:solidFill>
          <a:ln w="12700">
            <a:solidFill>
              <a:srgbClr val="272827"/>
            </a:solidFill>
            <a:prstDash val="solid"/>
          </a:ln>
        </p:spPr>
      </p:sp>
      <p:sp>
        <p:nvSpPr>
          <p:cNvPr id="6" name="Text 4"/>
          <p:cNvSpPr txBox="1"/>
          <p:nvPr/>
        </p:nvSpPr>
        <p:spPr>
          <a:xfrm>
            <a:off x="621792" y="1773936"/>
            <a:ext cx="1773936" cy="429768"/>
          </a:xfrm>
          <a:prstGeom prst="rect">
            <a:avLst/>
          </a:prstGeom>
          <a:noFill/>
          <a:ln/>
        </p:spPr>
        <p:txBody>
          <a:bodyPr wrap="square" lIns="508" tIns="508" rIns="508" bIns="508" rtlCol="0" anchor="ctr"/>
          <a:lstStyle/>
          <a:p>
            <a:pPr algn="ctr" indent="0" marL="0">
              <a:spcAft>
                <a:spcPts val="200"/>
              </a:spcAft>
              <a:buNone/>
            </a:pPr>
            <a:r>
              <a:rPr lang="en-US" sz="1400" b="1" dirty="0">
                <a:solidFill>
                  <a:srgbClr val="FFFFFF"/>
                </a:solidFill>
                <a:latin typeface="Inter" pitchFamily="34" charset="0"/>
                <a:ea typeface="Inter" pitchFamily="34" charset="-122"/>
                <a:cs typeface="Inter" pitchFamily="34" charset="-120"/>
              </a:rPr>
              <a:t>Phone (double tap)</a:t>
            </a:r>
            <a:endParaRPr lang="en-US" sz="1400" dirty="0"/>
          </a:p>
        </p:txBody>
      </p:sp>
      <p:sp>
        <p:nvSpPr>
          <p:cNvPr id="7" name="Shape 5"/>
          <p:cNvSpPr/>
          <p:nvPr/>
        </p:nvSpPr>
        <p:spPr>
          <a:xfrm>
            <a:off x="4566818" y="2240280"/>
            <a:ext cx="914" cy="3557016"/>
          </a:xfrm>
          <a:prstGeom prst="line">
            <a:avLst/>
          </a:prstGeom>
          <a:noFill/>
          <a:ln w="12700">
            <a:solidFill>
              <a:srgbClr val="9CA3AF"/>
            </a:solidFill>
            <a:prstDash val="dash"/>
          </a:ln>
        </p:spPr>
      </p:sp>
      <p:sp>
        <p:nvSpPr>
          <p:cNvPr id="8" name="Shape 6"/>
          <p:cNvSpPr/>
          <p:nvPr/>
        </p:nvSpPr>
        <p:spPr>
          <a:xfrm>
            <a:off x="3606698" y="1737360"/>
            <a:ext cx="1920240" cy="502920"/>
          </a:xfrm>
          <a:prstGeom prst="roundRect">
            <a:avLst>
              <a:gd name="adj" fmla="val 14545"/>
            </a:avLst>
          </a:prstGeom>
          <a:solidFill>
            <a:srgbClr val="272827"/>
          </a:solidFill>
          <a:ln w="12700">
            <a:solidFill>
              <a:srgbClr val="272827"/>
            </a:solidFill>
            <a:prstDash val="solid"/>
          </a:ln>
        </p:spPr>
      </p:sp>
      <p:sp>
        <p:nvSpPr>
          <p:cNvPr id="9" name="Text 7"/>
          <p:cNvSpPr txBox="1"/>
          <p:nvPr/>
        </p:nvSpPr>
        <p:spPr>
          <a:xfrm>
            <a:off x="3679850" y="1773936"/>
            <a:ext cx="1773936" cy="429768"/>
          </a:xfrm>
          <a:prstGeom prst="rect">
            <a:avLst/>
          </a:prstGeom>
          <a:noFill/>
          <a:ln/>
        </p:spPr>
        <p:txBody>
          <a:bodyPr wrap="square" lIns="508" tIns="508" rIns="508" bIns="508" rtlCol="0" anchor="ctr"/>
          <a:lstStyle/>
          <a:p>
            <a:pPr algn="ctr" indent="0" marL="0">
              <a:spcAft>
                <a:spcPts val="200"/>
              </a:spcAft>
              <a:buNone/>
            </a:pPr>
            <a:r>
              <a:rPr lang="en-US" sz="1400" b="1" dirty="0">
                <a:solidFill>
                  <a:srgbClr val="FFFFFF"/>
                </a:solidFill>
                <a:latin typeface="Inter" pitchFamily="34" charset="0"/>
                <a:ea typeface="Inter" pitchFamily="34" charset="-122"/>
                <a:cs typeface="Inter" pitchFamily="34" charset="-120"/>
              </a:rPr>
              <a:t>Request A</a:t>
            </a:r>
            <a:endParaRPr lang="en-US" sz="1400" dirty="0"/>
          </a:p>
        </p:txBody>
      </p:sp>
      <p:sp>
        <p:nvSpPr>
          <p:cNvPr id="10" name="Shape 8"/>
          <p:cNvSpPr/>
          <p:nvPr/>
        </p:nvSpPr>
        <p:spPr>
          <a:xfrm>
            <a:off x="7624877" y="2240280"/>
            <a:ext cx="914" cy="3557016"/>
          </a:xfrm>
          <a:prstGeom prst="line">
            <a:avLst/>
          </a:prstGeom>
          <a:noFill/>
          <a:ln w="12700">
            <a:solidFill>
              <a:srgbClr val="9CA3AF"/>
            </a:solidFill>
            <a:prstDash val="dash"/>
          </a:ln>
        </p:spPr>
      </p:sp>
      <p:sp>
        <p:nvSpPr>
          <p:cNvPr id="11" name="Shape 9"/>
          <p:cNvSpPr/>
          <p:nvPr/>
        </p:nvSpPr>
        <p:spPr>
          <a:xfrm>
            <a:off x="6664757" y="1737360"/>
            <a:ext cx="1920240" cy="502920"/>
          </a:xfrm>
          <a:prstGeom prst="roundRect">
            <a:avLst>
              <a:gd name="adj" fmla="val 14545"/>
            </a:avLst>
          </a:prstGeom>
          <a:solidFill>
            <a:srgbClr val="FF5723"/>
          </a:solidFill>
          <a:ln w="12700">
            <a:solidFill>
              <a:srgbClr val="FF5723"/>
            </a:solidFill>
            <a:prstDash val="solid"/>
          </a:ln>
        </p:spPr>
      </p:sp>
      <p:sp>
        <p:nvSpPr>
          <p:cNvPr id="12" name="Text 10"/>
          <p:cNvSpPr txBox="1"/>
          <p:nvPr/>
        </p:nvSpPr>
        <p:spPr>
          <a:xfrm>
            <a:off x="6737909" y="1773936"/>
            <a:ext cx="1773936" cy="429768"/>
          </a:xfrm>
          <a:prstGeom prst="rect">
            <a:avLst/>
          </a:prstGeom>
          <a:noFill/>
          <a:ln/>
        </p:spPr>
        <p:txBody>
          <a:bodyPr wrap="square" lIns="508" tIns="508" rIns="508" bIns="508" rtlCol="0" anchor="ctr"/>
          <a:lstStyle/>
          <a:p>
            <a:pPr algn="ctr" indent="0" marL="0">
              <a:spcAft>
                <a:spcPts val="200"/>
              </a:spcAft>
              <a:buNone/>
            </a:pPr>
            <a:r>
              <a:rPr lang="en-US" sz="1400" b="1" dirty="0">
                <a:solidFill>
                  <a:srgbClr val="FFFFFF"/>
                </a:solidFill>
                <a:latin typeface="Inter" pitchFamily="34" charset="0"/>
                <a:ea typeface="Inter" pitchFamily="34" charset="-122"/>
                <a:cs typeface="Inter" pitchFamily="34" charset="-120"/>
              </a:rPr>
              <a:t>PostgreSQL</a:t>
            </a:r>
            <a:endParaRPr lang="en-US" sz="1400" dirty="0"/>
          </a:p>
        </p:txBody>
      </p:sp>
      <p:sp>
        <p:nvSpPr>
          <p:cNvPr id="13" name="Shape 11"/>
          <p:cNvSpPr/>
          <p:nvPr/>
        </p:nvSpPr>
        <p:spPr>
          <a:xfrm>
            <a:off x="10682935" y="2240280"/>
            <a:ext cx="914" cy="3557016"/>
          </a:xfrm>
          <a:prstGeom prst="line">
            <a:avLst/>
          </a:prstGeom>
          <a:noFill/>
          <a:ln w="12700">
            <a:solidFill>
              <a:srgbClr val="9CA3AF"/>
            </a:solidFill>
            <a:prstDash val="dash"/>
          </a:ln>
        </p:spPr>
      </p:sp>
      <p:sp>
        <p:nvSpPr>
          <p:cNvPr id="14" name="Shape 12"/>
          <p:cNvSpPr/>
          <p:nvPr/>
        </p:nvSpPr>
        <p:spPr>
          <a:xfrm>
            <a:off x="9722815" y="1737360"/>
            <a:ext cx="1920240" cy="502920"/>
          </a:xfrm>
          <a:prstGeom prst="roundRect">
            <a:avLst>
              <a:gd name="adj" fmla="val 14545"/>
            </a:avLst>
          </a:prstGeom>
          <a:solidFill>
            <a:srgbClr val="272827"/>
          </a:solidFill>
          <a:ln w="12700">
            <a:solidFill>
              <a:srgbClr val="272827"/>
            </a:solidFill>
            <a:prstDash val="solid"/>
          </a:ln>
        </p:spPr>
      </p:sp>
      <p:sp>
        <p:nvSpPr>
          <p:cNvPr id="15" name="Text 13"/>
          <p:cNvSpPr txBox="1"/>
          <p:nvPr/>
        </p:nvSpPr>
        <p:spPr>
          <a:xfrm>
            <a:off x="9795967" y="1773936"/>
            <a:ext cx="1773936" cy="429768"/>
          </a:xfrm>
          <a:prstGeom prst="rect">
            <a:avLst/>
          </a:prstGeom>
          <a:noFill/>
          <a:ln/>
        </p:spPr>
        <p:txBody>
          <a:bodyPr wrap="square" lIns="508" tIns="508" rIns="508" bIns="508" rtlCol="0" anchor="ctr"/>
          <a:lstStyle/>
          <a:p>
            <a:pPr algn="ctr" indent="0" marL="0">
              <a:spcAft>
                <a:spcPts val="200"/>
              </a:spcAft>
              <a:buNone/>
            </a:pPr>
            <a:r>
              <a:rPr lang="en-US" sz="1400" b="1" dirty="0">
                <a:solidFill>
                  <a:srgbClr val="FFFFFF"/>
                </a:solidFill>
                <a:latin typeface="Inter" pitchFamily="34" charset="0"/>
                <a:ea typeface="Inter" pitchFamily="34" charset="-122"/>
                <a:cs typeface="Inter" pitchFamily="34" charset="-120"/>
              </a:rPr>
              <a:t>Request B</a:t>
            </a:r>
            <a:endParaRPr lang="en-US" sz="1400" dirty="0"/>
          </a:p>
        </p:txBody>
      </p:sp>
      <p:sp>
        <p:nvSpPr>
          <p:cNvPr id="16" name="Shape 14"/>
          <p:cNvSpPr/>
          <p:nvPr/>
        </p:nvSpPr>
        <p:spPr>
          <a:xfrm>
            <a:off x="1545336" y="2708453"/>
            <a:ext cx="2984906" cy="914"/>
          </a:xfrm>
          <a:prstGeom prst="line">
            <a:avLst/>
          </a:prstGeom>
          <a:noFill/>
          <a:ln w="19050">
            <a:solidFill>
              <a:srgbClr val="272827"/>
            </a:solidFill>
            <a:prstDash val="solid"/>
            <a:tailEnd type="triangle"/>
          </a:ln>
        </p:spPr>
      </p:sp>
      <p:sp>
        <p:nvSpPr>
          <p:cNvPr id="17" name="Text 15"/>
          <p:cNvSpPr txBox="1"/>
          <p:nvPr/>
        </p:nvSpPr>
        <p:spPr>
          <a:xfrm>
            <a:off x="1600200" y="2415845"/>
            <a:ext cx="2875178" cy="274320"/>
          </a:xfrm>
          <a:prstGeom prst="rect">
            <a:avLst/>
          </a:prstGeom>
          <a:noFill/>
          <a:ln/>
        </p:spPr>
        <p:txBody>
          <a:bodyPr wrap="square" lIns="0" tIns="0" rIns="0" bIns="0" rtlCol="0" anchor="b"/>
          <a:lstStyle/>
          <a:p>
            <a:pPr algn="ctr" indent="0" marL="0">
              <a:buNone/>
            </a:pPr>
            <a:r>
              <a:rPr lang="en-US" sz="1200" dirty="0">
                <a:solidFill>
                  <a:srgbClr val="272827"/>
                </a:solidFill>
                <a:latin typeface="Inter" pitchFamily="34" charset="0"/>
                <a:ea typeface="Inter" pitchFamily="34" charset="-122"/>
                <a:cs typeface="Inter" pitchFamily="34" charset="-120"/>
              </a:rPr>
              <a:t>POST /shipments · quote 42</a:t>
            </a:r>
            <a:endParaRPr lang="en-US" sz="1200" dirty="0"/>
          </a:p>
        </p:txBody>
      </p:sp>
      <p:sp>
        <p:nvSpPr>
          <p:cNvPr id="18" name="Shape 16"/>
          <p:cNvSpPr/>
          <p:nvPr/>
        </p:nvSpPr>
        <p:spPr>
          <a:xfrm>
            <a:off x="1545336" y="3183941"/>
            <a:ext cx="9101023" cy="914"/>
          </a:xfrm>
          <a:prstGeom prst="line">
            <a:avLst/>
          </a:prstGeom>
          <a:noFill/>
          <a:ln w="19050">
            <a:solidFill>
              <a:srgbClr val="272827"/>
            </a:solidFill>
            <a:prstDash val="solid"/>
            <a:tailEnd type="triangle"/>
          </a:ln>
        </p:spPr>
      </p:sp>
      <p:sp>
        <p:nvSpPr>
          <p:cNvPr id="19" name="Text 17"/>
          <p:cNvSpPr txBox="1"/>
          <p:nvPr/>
        </p:nvSpPr>
        <p:spPr>
          <a:xfrm>
            <a:off x="1600200" y="2891333"/>
            <a:ext cx="8991295" cy="274320"/>
          </a:xfrm>
          <a:prstGeom prst="rect">
            <a:avLst/>
          </a:prstGeom>
          <a:noFill/>
          <a:ln/>
        </p:spPr>
        <p:txBody>
          <a:bodyPr wrap="square" lIns="0" tIns="0" rIns="0" bIns="0" rtlCol="0" anchor="b"/>
          <a:lstStyle/>
          <a:p>
            <a:pPr algn="ctr" indent="0" marL="0">
              <a:buNone/>
            </a:pPr>
            <a:r>
              <a:rPr lang="en-US" sz="1200" dirty="0">
                <a:solidFill>
                  <a:srgbClr val="272827"/>
                </a:solidFill>
                <a:latin typeface="Inter" pitchFamily="34" charset="0"/>
                <a:ea typeface="Inter" pitchFamily="34" charset="-122"/>
                <a:cs typeface="Inter" pitchFamily="34" charset="-120"/>
              </a:rPr>
              <a:t>POST /shipments · quote 42 (again)</a:t>
            </a:r>
            <a:endParaRPr lang="en-US" sz="1200" dirty="0"/>
          </a:p>
        </p:txBody>
      </p:sp>
      <p:sp>
        <p:nvSpPr>
          <p:cNvPr id="20" name="Shape 18"/>
          <p:cNvSpPr/>
          <p:nvPr/>
        </p:nvSpPr>
        <p:spPr>
          <a:xfrm>
            <a:off x="4603394" y="3659429"/>
            <a:ext cx="2984906" cy="914"/>
          </a:xfrm>
          <a:prstGeom prst="line">
            <a:avLst/>
          </a:prstGeom>
          <a:noFill/>
          <a:ln w="19050">
            <a:solidFill>
              <a:srgbClr val="272827"/>
            </a:solidFill>
            <a:prstDash val="solid"/>
            <a:tailEnd type="triangle"/>
          </a:ln>
        </p:spPr>
      </p:sp>
      <p:sp>
        <p:nvSpPr>
          <p:cNvPr id="21" name="Text 19"/>
          <p:cNvSpPr txBox="1"/>
          <p:nvPr/>
        </p:nvSpPr>
        <p:spPr>
          <a:xfrm>
            <a:off x="4658258" y="3366821"/>
            <a:ext cx="2875178" cy="274320"/>
          </a:xfrm>
          <a:prstGeom prst="rect">
            <a:avLst/>
          </a:prstGeom>
          <a:noFill/>
          <a:ln/>
        </p:spPr>
        <p:txBody>
          <a:bodyPr wrap="square" lIns="0" tIns="0" rIns="0" bIns="0" rtlCol="0" anchor="b"/>
          <a:lstStyle/>
          <a:p>
            <a:pPr algn="ctr" indent="0" marL="0">
              <a:buNone/>
            </a:pPr>
            <a:r>
              <a:rPr lang="en-US" sz="1200" dirty="0">
                <a:solidFill>
                  <a:srgbClr val="272827"/>
                </a:solidFill>
                <a:latin typeface="Inter" pitchFamily="34" charset="0"/>
                <a:ea typeface="Inter" pitchFamily="34" charset="-122"/>
                <a:cs typeface="Inter" pitchFamily="34" charset="-120"/>
              </a:rPr>
              <a:t>is quote 42 used? → no</a:t>
            </a:r>
            <a:endParaRPr lang="en-US" sz="1200" dirty="0"/>
          </a:p>
        </p:txBody>
      </p:sp>
      <p:sp>
        <p:nvSpPr>
          <p:cNvPr id="22" name="Shape 20"/>
          <p:cNvSpPr/>
          <p:nvPr/>
        </p:nvSpPr>
        <p:spPr>
          <a:xfrm flipH="1">
            <a:off x="7661453" y="4134917"/>
            <a:ext cx="2984906" cy="914"/>
          </a:xfrm>
          <a:prstGeom prst="line">
            <a:avLst/>
          </a:prstGeom>
          <a:noFill/>
          <a:ln w="19050">
            <a:solidFill>
              <a:srgbClr val="272827"/>
            </a:solidFill>
            <a:prstDash val="solid"/>
            <a:tailEnd type="triangle"/>
          </a:ln>
        </p:spPr>
      </p:sp>
      <p:sp>
        <p:nvSpPr>
          <p:cNvPr id="23" name="Text 21"/>
          <p:cNvSpPr txBox="1"/>
          <p:nvPr/>
        </p:nvSpPr>
        <p:spPr>
          <a:xfrm>
            <a:off x="7716317" y="3842309"/>
            <a:ext cx="2875178" cy="274320"/>
          </a:xfrm>
          <a:prstGeom prst="rect">
            <a:avLst/>
          </a:prstGeom>
          <a:noFill/>
          <a:ln/>
        </p:spPr>
        <p:txBody>
          <a:bodyPr wrap="square" lIns="0" tIns="0" rIns="0" bIns="0" rtlCol="0" anchor="b"/>
          <a:lstStyle/>
          <a:p>
            <a:pPr algn="ctr" indent="0" marL="0">
              <a:buNone/>
            </a:pPr>
            <a:r>
              <a:rPr lang="en-US" sz="1200" dirty="0">
                <a:solidFill>
                  <a:srgbClr val="272827"/>
                </a:solidFill>
                <a:latin typeface="Inter" pitchFamily="34" charset="0"/>
                <a:ea typeface="Inter" pitchFamily="34" charset="-122"/>
                <a:cs typeface="Inter" pitchFamily="34" charset="-120"/>
              </a:rPr>
              <a:t>is quote 42 used? → no</a:t>
            </a:r>
            <a:endParaRPr lang="en-US" sz="1200" dirty="0"/>
          </a:p>
        </p:txBody>
      </p:sp>
      <p:sp>
        <p:nvSpPr>
          <p:cNvPr id="24" name="Shape 22"/>
          <p:cNvSpPr/>
          <p:nvPr/>
        </p:nvSpPr>
        <p:spPr>
          <a:xfrm>
            <a:off x="4603394" y="4610405"/>
            <a:ext cx="2984906" cy="914"/>
          </a:xfrm>
          <a:prstGeom prst="line">
            <a:avLst/>
          </a:prstGeom>
          <a:noFill/>
          <a:ln w="19050">
            <a:solidFill>
              <a:srgbClr val="272827"/>
            </a:solidFill>
            <a:prstDash val="solid"/>
            <a:tailEnd type="triangle"/>
          </a:ln>
        </p:spPr>
      </p:sp>
      <p:sp>
        <p:nvSpPr>
          <p:cNvPr id="25" name="Text 23"/>
          <p:cNvSpPr txBox="1"/>
          <p:nvPr/>
        </p:nvSpPr>
        <p:spPr>
          <a:xfrm>
            <a:off x="4658258" y="4317797"/>
            <a:ext cx="2875178" cy="274320"/>
          </a:xfrm>
          <a:prstGeom prst="rect">
            <a:avLst/>
          </a:prstGeom>
          <a:noFill/>
          <a:ln/>
        </p:spPr>
        <p:txBody>
          <a:bodyPr wrap="square" lIns="0" tIns="0" rIns="0" bIns="0" rtlCol="0" anchor="b"/>
          <a:lstStyle/>
          <a:p>
            <a:pPr algn="ctr" indent="0" marL="0">
              <a:buNone/>
            </a:pPr>
            <a:r>
              <a:rPr lang="en-US" sz="1200" dirty="0">
                <a:solidFill>
                  <a:srgbClr val="272827"/>
                </a:solidFill>
                <a:latin typeface="Inter" pitchFamily="34" charset="0"/>
                <a:ea typeface="Inter" pitchFamily="34" charset="-122"/>
                <a:cs typeface="Inter" pitchFamily="34" charset="-120"/>
              </a:rPr>
              <a:t>INSERT shipment ✓</a:t>
            </a:r>
            <a:endParaRPr lang="en-US" sz="1200" dirty="0"/>
          </a:p>
        </p:txBody>
      </p:sp>
      <p:sp>
        <p:nvSpPr>
          <p:cNvPr id="26" name="Shape 24"/>
          <p:cNvSpPr/>
          <p:nvPr/>
        </p:nvSpPr>
        <p:spPr>
          <a:xfrm flipH="1">
            <a:off x="7661453" y="5085893"/>
            <a:ext cx="2984906" cy="914"/>
          </a:xfrm>
          <a:prstGeom prst="line">
            <a:avLst/>
          </a:prstGeom>
          <a:noFill/>
          <a:ln w="19050">
            <a:solidFill>
              <a:srgbClr val="272827"/>
            </a:solidFill>
            <a:prstDash val="solid"/>
            <a:tailEnd type="triangle"/>
          </a:ln>
        </p:spPr>
      </p:sp>
      <p:sp>
        <p:nvSpPr>
          <p:cNvPr id="27" name="Text 25"/>
          <p:cNvSpPr txBox="1"/>
          <p:nvPr/>
        </p:nvSpPr>
        <p:spPr>
          <a:xfrm>
            <a:off x="7716317" y="4793285"/>
            <a:ext cx="2875178" cy="274320"/>
          </a:xfrm>
          <a:prstGeom prst="rect">
            <a:avLst/>
          </a:prstGeom>
          <a:noFill/>
          <a:ln/>
        </p:spPr>
        <p:txBody>
          <a:bodyPr wrap="square" lIns="0" tIns="0" rIns="0" bIns="0" rtlCol="0" anchor="b"/>
          <a:lstStyle/>
          <a:p>
            <a:pPr algn="ctr" indent="0" marL="0">
              <a:buNone/>
            </a:pPr>
            <a:r>
              <a:rPr lang="en-US" sz="1200" dirty="0">
                <a:solidFill>
                  <a:srgbClr val="272827"/>
                </a:solidFill>
                <a:latin typeface="Inter" pitchFamily="34" charset="0"/>
                <a:ea typeface="Inter" pitchFamily="34" charset="-122"/>
                <a:cs typeface="Inter" pitchFamily="34" charset="-120"/>
              </a:rPr>
              <a:t>INSERT shipment ✓</a:t>
            </a:r>
            <a:endParaRPr lang="en-US" sz="1200" dirty="0"/>
          </a:p>
        </p:txBody>
      </p:sp>
      <p:sp>
        <p:nvSpPr>
          <p:cNvPr id="28" name="Shape 26"/>
          <p:cNvSpPr/>
          <p:nvPr/>
        </p:nvSpPr>
        <p:spPr>
          <a:xfrm>
            <a:off x="7570013" y="5360213"/>
            <a:ext cx="109728" cy="274320"/>
          </a:xfrm>
          <a:prstGeom prst="roundRect">
            <a:avLst>
              <a:gd name="adj" fmla="val 16667"/>
            </a:avLst>
          </a:prstGeom>
          <a:solidFill>
            <a:srgbClr val="FF5723"/>
          </a:solidFill>
          <a:ln w="12700">
            <a:solidFill>
              <a:srgbClr val="FF5723"/>
            </a:solidFill>
            <a:prstDash val="solid"/>
          </a:ln>
        </p:spPr>
      </p:sp>
      <p:sp>
        <p:nvSpPr>
          <p:cNvPr id="29" name="Text 27"/>
          <p:cNvSpPr txBox="1"/>
          <p:nvPr/>
        </p:nvSpPr>
        <p:spPr>
          <a:xfrm>
            <a:off x="7762037" y="5287061"/>
            <a:ext cx="2783738" cy="365760"/>
          </a:xfrm>
          <a:prstGeom prst="rect">
            <a:avLst/>
          </a:prstGeom>
          <a:noFill/>
          <a:ln/>
        </p:spPr>
        <p:txBody>
          <a:bodyPr wrap="square" lIns="0" tIns="0" rIns="0" bIns="0" rtlCol="0" anchor="ctr"/>
          <a:lstStyle/>
          <a:p>
            <a:pPr indent="0" marL="0">
              <a:buNone/>
            </a:pPr>
            <a:r>
              <a:rPr lang="en-US" sz="1200" dirty="0">
                <a:solidFill>
                  <a:srgbClr val="272827"/>
                </a:solidFill>
                <a:latin typeface="Inter" pitchFamily="34" charset="0"/>
                <a:ea typeface="Inter" pitchFamily="34" charset="-122"/>
                <a:cs typeface="Inter" pitchFamily="34" charset="-120"/>
              </a:rPr>
              <a:t>two shipments, one quote, one customer charged twice</a:t>
            </a:r>
            <a:endParaRPr lang="en-US" sz="1200" dirty="0"/>
          </a:p>
        </p:txBody>
      </p:sp>
      <p:sp>
        <p:nvSpPr>
          <p:cNvPr id="30" name="Text 28"/>
          <p:cNvSpPr txBox="1"/>
          <p:nvPr/>
        </p:nvSpPr>
        <p:spPr>
          <a:xfrm>
            <a:off x="548640" y="5806440"/>
            <a:ext cx="11094415" cy="365760"/>
          </a:xfrm>
          <a:prstGeom prst="rect">
            <a:avLst/>
          </a:prstGeom>
          <a:noFill/>
          <a:ln/>
        </p:spPr>
        <p:txBody>
          <a:bodyPr wrap="square" lIns="0" tIns="0" rIns="0" bIns="0" rtlCol="0" anchor="ctr"/>
          <a:lstStyle/>
          <a:p>
            <a:pPr indent="0" marL="0">
              <a:buNone/>
            </a:pPr>
            <a:r>
              <a:rPr lang="en-US" sz="1400" i="1" dirty="0">
                <a:solidFill>
                  <a:srgbClr val="3A3B3A"/>
                </a:solidFill>
                <a:latin typeface="Inter" pitchFamily="34" charset="0"/>
                <a:ea typeface="Inter" pitchFamily="34" charset="-122"/>
                <a:cs typeface="Inter" pitchFamily="34" charset="-120"/>
              </a:rPr>
              <a:t>Naive check-then-insert is </a:t>
            </a:r>
            <a:pPr indent="0" marL="0">
              <a:buNone/>
            </a:pPr>
            <a:r>
              <a:rPr lang="en-US" sz="1400" b="1" i="1" dirty="0">
                <a:solidFill>
                  <a:srgbClr val="3A3B3A"/>
                </a:solidFill>
                <a:latin typeface="Inter" pitchFamily="34" charset="0"/>
                <a:ea typeface="Inter" pitchFamily="34" charset="-122"/>
                <a:cs typeface="Inter" pitchFamily="34" charset="-120"/>
              </a:rPr>
              <a:t>not atomic</a:t>
            </a:r>
            <a:pPr indent="0" marL="0">
              <a:buNone/>
            </a:pPr>
            <a:r>
              <a:rPr lang="en-US" sz="1400" i="1" dirty="0">
                <a:solidFill>
                  <a:srgbClr val="3A3B3A"/>
                </a:solidFill>
                <a:latin typeface="Inter" pitchFamily="34" charset="0"/>
                <a:ea typeface="Inter" pitchFamily="34" charset="-122"/>
                <a:cs typeface="Inter" pitchFamily="34" charset="-120"/>
              </a:rPr>
              <a:t>. Both checks pass before either insert happens.</a:t>
            </a:r>
            <a:endParaRPr lang="en-US" sz="1400" dirty="0"/>
          </a:p>
        </p:txBody>
      </p:sp>
      <p:sp>
        <p:nvSpPr>
          <p:cNvPr id="25" name="Slide Number Placeholder 0"/>
          <p:cNvSpPr>
            <a:spLocks noGrp="1"/>
          </p:cNvSpPr>
          <p:nvPr>
            <p:ph type="sldNum" sz="quarter" idx="4294967295"/>
          </p:nvPr>
        </p:nvSpPr>
        <p:spPr>
          <a:xfrm>
            <a:off x="10911535" y="6419088"/>
            <a:ext cx="73152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280"/>
                </a:solidFill>
                <a:latin typeface="Inter"/>
                <a:ea typeface="Inter"/>
                <a:cs typeface="Inter"/>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94415" cy="640080"/>
          </a:xfrm>
          <a:prstGeom prst="rect">
            <a:avLst/>
          </a:prstGeom>
          <a:noFill/>
          <a:ln/>
        </p:spPr>
        <p:txBody>
          <a:bodyPr wrap="square" lIns="0" tIns="0" rIns="0" bIns="0" rtlCol="0" anchor="b"/>
          <a:lstStyle/>
          <a:p>
            <a:pPr algn="l" indent="0" marL="0">
              <a:buNone/>
            </a:pPr>
            <a:r>
              <a:rPr lang="en-US" sz="3200" b="1" dirty="0">
                <a:solidFill>
                  <a:srgbClr val="272827"/>
                </a:solidFill>
                <a:latin typeface="Playfair Display" pitchFamily="34" charset="0"/>
                <a:ea typeface="Playfair Display" pitchFamily="34" charset="-122"/>
                <a:cs typeface="Playfair Display" pitchFamily="34" charset="-120"/>
              </a:rPr>
              <a:t>Three layers against double booking</a:t>
            </a:r>
            <a:endParaRPr lang="en-US" sz="3200" dirty="0"/>
          </a:p>
        </p:txBody>
      </p:sp>
      <p:sp>
        <p:nvSpPr>
          <p:cNvPr id="3" name="Text 1"/>
          <p:cNvSpPr txBox="1"/>
          <p:nvPr/>
        </p:nvSpPr>
        <p:spPr>
          <a:xfrm>
            <a:off x="548640" y="1060704"/>
            <a:ext cx="8229600" cy="384048"/>
          </a:xfrm>
          <a:prstGeom prst="rect">
            <a:avLst/>
          </a:prstGeom>
          <a:noFill/>
          <a:ln/>
        </p:spPr>
        <p:txBody>
          <a:bodyPr wrap="square" lIns="0" tIns="0" rIns="0" bIns="0" rtlCol="0" anchor="t"/>
          <a:lstStyle/>
          <a:p>
            <a:pPr rtl="1" algn="l" indent="0" marL="0">
              <a:buNone/>
            </a:pPr>
            <a:r>
              <a:rPr lang="ar-LY" altLang="en-US" sz="1700" dirty="0">
                <a:solidFill>
                  <a:srgbClr val="FF5723"/>
                </a:solidFill>
                <a:latin typeface="Tajawal" pitchFamily="34" charset="0"/>
                <a:ea typeface="Tajawal" pitchFamily="34" charset="-122"/>
                <a:cs typeface="Tajawal" pitchFamily="34" charset="-120"/>
              </a:rPr>
              <a:t>ثلاث طبقات ضد الحجز المزدوج</a:t>
            </a:r>
            <a:endParaRPr lang="ar-LY" sz="1700" dirty="0"/>
          </a:p>
        </p:txBody>
      </p:sp>
      <p:sp>
        <p:nvSpPr>
          <p:cNvPr id="4" name="Shape 2"/>
          <p:cNvSpPr/>
          <p:nvPr/>
        </p:nvSpPr>
        <p:spPr>
          <a:xfrm>
            <a:off x="548640" y="1783080"/>
            <a:ext cx="3515258" cy="3291840"/>
          </a:xfrm>
          <a:prstGeom prst="roundRect">
            <a:avLst>
              <a:gd name="adj" fmla="val 2222"/>
            </a:avLst>
          </a:prstGeom>
          <a:solidFill>
            <a:srgbClr val="F6F3EE"/>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5" name="Shape 3"/>
          <p:cNvSpPr/>
          <p:nvPr/>
        </p:nvSpPr>
        <p:spPr>
          <a:xfrm>
            <a:off x="777240" y="2011680"/>
            <a:ext cx="457200" cy="457200"/>
          </a:xfrm>
          <a:prstGeom prst="ellipse">
            <a:avLst/>
          </a:prstGeom>
          <a:solidFill>
            <a:srgbClr val="FF5723"/>
          </a:solidFill>
          <a:ln w="12700">
            <a:solidFill>
              <a:srgbClr val="FF5723"/>
            </a:solidFill>
            <a:prstDash val="solid"/>
          </a:ln>
        </p:spPr>
      </p:sp>
      <p:sp>
        <p:nvSpPr>
          <p:cNvPr id="6" name="Text 4"/>
          <p:cNvSpPr txBox="1"/>
          <p:nvPr/>
        </p:nvSpPr>
        <p:spPr>
          <a:xfrm>
            <a:off x="777240" y="20116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Inter" pitchFamily="34" charset="0"/>
                <a:ea typeface="Inter" pitchFamily="34" charset="-122"/>
                <a:cs typeface="Inter" pitchFamily="34" charset="-120"/>
              </a:rPr>
              <a:t>1</a:t>
            </a:r>
            <a:endParaRPr lang="en-US" sz="1400" dirty="0"/>
          </a:p>
        </p:txBody>
      </p:sp>
      <p:sp>
        <p:nvSpPr>
          <p:cNvPr id="7" name="Text 5"/>
          <p:cNvSpPr txBox="1"/>
          <p:nvPr/>
        </p:nvSpPr>
        <p:spPr>
          <a:xfrm>
            <a:off x="1371600" y="2011680"/>
            <a:ext cx="2509418" cy="457200"/>
          </a:xfrm>
          <a:prstGeom prst="rect">
            <a:avLst/>
          </a:prstGeom>
          <a:noFill/>
          <a:ln/>
        </p:spPr>
        <p:txBody>
          <a:bodyPr wrap="square" lIns="0" tIns="0" rIns="0" bIns="0" rtlCol="0" anchor="ctr"/>
          <a:lstStyle/>
          <a:p>
            <a:pPr indent="0" marL="0">
              <a:buNone/>
            </a:pPr>
            <a:r>
              <a:rPr lang="en-US" sz="1700" b="1" dirty="0">
                <a:solidFill>
                  <a:srgbClr val="272827"/>
                </a:solidFill>
                <a:latin typeface="Inter" pitchFamily="34" charset="0"/>
                <a:ea typeface="Inter" pitchFamily="34" charset="-122"/>
                <a:cs typeface="Inter" pitchFamily="34" charset="-120"/>
              </a:rPr>
              <a:t>Database constraint</a:t>
            </a:r>
            <a:endParaRPr lang="en-US" sz="1700" dirty="0"/>
          </a:p>
        </p:txBody>
      </p:sp>
      <p:sp>
        <p:nvSpPr>
          <p:cNvPr id="8" name="Text 6"/>
          <p:cNvSpPr txBox="1"/>
          <p:nvPr/>
        </p:nvSpPr>
        <p:spPr>
          <a:xfrm>
            <a:off x="777240" y="2606040"/>
            <a:ext cx="3058058" cy="2331720"/>
          </a:xfrm>
          <a:prstGeom prst="rect">
            <a:avLst/>
          </a:prstGeom>
          <a:noFill/>
          <a:ln/>
        </p:spPr>
        <p:txBody>
          <a:bodyPr wrap="square" lIns="0" tIns="0" rIns="0" bIns="0" rtlCol="0" anchor="t"/>
          <a:lstStyle/>
          <a:p>
            <a:pPr indent="0" marL="0">
              <a:buNone/>
            </a:pPr>
            <a:r>
              <a:rPr lang="en-US" sz="1400" dirty="0">
                <a:solidFill>
                  <a:srgbClr val="C2410C"/>
                </a:solidFill>
                <a:latin typeface="JetBrains Mono" pitchFamily="34" charset="0"/>
                <a:ea typeface="JetBrains Mono" pitchFamily="34" charset="-122"/>
                <a:cs typeface="JetBrains Mono" pitchFamily="34" charset="-120"/>
              </a:rPr>
              <a:t>UNIQUE(quote_id)</a:t>
            </a:r>
            <a:pPr indent="0" marL="0">
              <a:buNone/>
            </a:pPr>
            <a:r>
              <a:rPr lang="en-US" sz="1400" dirty="0">
                <a:solidFill>
                  <a:srgbClr val="3A3B3A"/>
                </a:solidFill>
                <a:latin typeface="Inter" pitchFamily="34" charset="0"/>
                <a:ea typeface="Inter" pitchFamily="34" charset="-122"/>
                <a:cs typeface="Inter" pitchFamily="34" charset="-120"/>
              </a:rPr>
              <a:t> on shipments. The last line of defence: the second insert </a:t>
            </a:r>
            <a:pPr indent="0" marL="0">
              <a:buNone/>
            </a:pPr>
            <a:r>
              <a:rPr lang="en-US" sz="1400" b="1" dirty="0">
                <a:solidFill>
                  <a:srgbClr val="3A3B3A"/>
                </a:solidFill>
                <a:latin typeface="Inter" pitchFamily="34" charset="0"/>
                <a:ea typeface="Inter" pitchFamily="34" charset="-122"/>
                <a:cs typeface="Inter" pitchFamily="34" charset="-120"/>
              </a:rPr>
              <a:t>fails</a:t>
            </a:r>
            <a:pPr indent="0" marL="0">
              <a:buNone/>
            </a:pPr>
            <a:r>
              <a:rPr lang="en-US" sz="1400" dirty="0">
                <a:solidFill>
                  <a:srgbClr val="3A3B3A"/>
                </a:solidFill>
                <a:latin typeface="Inter" pitchFamily="34" charset="0"/>
                <a:ea typeface="Inter" pitchFamily="34" charset="-122"/>
                <a:cs typeface="Inter" pitchFamily="34" charset="-120"/>
              </a:rPr>
              <a:t>, always.</a:t>
            </a:r>
            <a:endParaRPr lang="en-US" sz="1400" dirty="0"/>
          </a:p>
        </p:txBody>
      </p:sp>
      <p:sp>
        <p:nvSpPr>
          <p:cNvPr id="9" name="Shape 7"/>
          <p:cNvSpPr/>
          <p:nvPr/>
        </p:nvSpPr>
        <p:spPr>
          <a:xfrm>
            <a:off x="4338218" y="1783080"/>
            <a:ext cx="3515258" cy="3291840"/>
          </a:xfrm>
          <a:prstGeom prst="roundRect">
            <a:avLst>
              <a:gd name="adj" fmla="val 2222"/>
            </a:avLst>
          </a:prstGeom>
          <a:solidFill>
            <a:srgbClr val="272827"/>
          </a:solidFill>
          <a:ln w="12700">
            <a:solidFill>
              <a:srgbClr val="272827"/>
            </a:solidFill>
            <a:prstDash val="solid"/>
          </a:ln>
          <a:effectLst>
            <a:outerShdw sx="100000" sy="100000" kx="0" ky="0" algn="bl" rotWithShape="0" blurRad="76200" dist="25400" dir="5400000">
              <a:srgbClr val="000000">
                <a:alpha val="12000"/>
              </a:srgbClr>
            </a:outerShdw>
          </a:effectLst>
        </p:spPr>
      </p:sp>
      <p:sp>
        <p:nvSpPr>
          <p:cNvPr id="10" name="Shape 8"/>
          <p:cNvSpPr/>
          <p:nvPr/>
        </p:nvSpPr>
        <p:spPr>
          <a:xfrm>
            <a:off x="4566818" y="2011680"/>
            <a:ext cx="457200" cy="457200"/>
          </a:xfrm>
          <a:prstGeom prst="ellipse">
            <a:avLst/>
          </a:prstGeom>
          <a:solidFill>
            <a:srgbClr val="FF5723"/>
          </a:solidFill>
          <a:ln w="12700">
            <a:solidFill>
              <a:srgbClr val="FF5723"/>
            </a:solidFill>
            <a:prstDash val="solid"/>
          </a:ln>
        </p:spPr>
      </p:sp>
      <p:sp>
        <p:nvSpPr>
          <p:cNvPr id="11" name="Text 9"/>
          <p:cNvSpPr txBox="1"/>
          <p:nvPr/>
        </p:nvSpPr>
        <p:spPr>
          <a:xfrm>
            <a:off x="4566818" y="20116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Inter" pitchFamily="34" charset="0"/>
                <a:ea typeface="Inter" pitchFamily="34" charset="-122"/>
                <a:cs typeface="Inter" pitchFamily="34" charset="-120"/>
              </a:rPr>
              <a:t>2</a:t>
            </a:r>
            <a:endParaRPr lang="en-US" sz="1400" dirty="0"/>
          </a:p>
        </p:txBody>
      </p:sp>
      <p:sp>
        <p:nvSpPr>
          <p:cNvPr id="12" name="Text 10"/>
          <p:cNvSpPr txBox="1"/>
          <p:nvPr/>
        </p:nvSpPr>
        <p:spPr>
          <a:xfrm>
            <a:off x="5161178" y="2011680"/>
            <a:ext cx="2509418" cy="457200"/>
          </a:xfrm>
          <a:prstGeom prst="rect">
            <a:avLst/>
          </a:prstGeom>
          <a:noFill/>
          <a:ln/>
        </p:spPr>
        <p:txBody>
          <a:bodyPr wrap="square" lIns="0" tIns="0" rIns="0" bIns="0" rtlCol="0" anchor="ctr"/>
          <a:lstStyle/>
          <a:p>
            <a:pPr indent="0" marL="0">
              <a:buNone/>
            </a:pPr>
            <a:r>
              <a:rPr lang="en-US" sz="1700" b="1" dirty="0">
                <a:solidFill>
                  <a:srgbClr val="FFFFFF"/>
                </a:solidFill>
                <a:latin typeface="Inter" pitchFamily="34" charset="0"/>
                <a:ea typeface="Inter" pitchFamily="34" charset="-122"/>
                <a:cs typeface="Inter" pitchFamily="34" charset="-120"/>
              </a:rPr>
              <a:t>Idempotency key</a:t>
            </a:r>
            <a:endParaRPr lang="en-US" sz="1700" dirty="0"/>
          </a:p>
        </p:txBody>
      </p:sp>
      <p:sp>
        <p:nvSpPr>
          <p:cNvPr id="13" name="Text 11"/>
          <p:cNvSpPr txBox="1"/>
          <p:nvPr/>
        </p:nvSpPr>
        <p:spPr>
          <a:xfrm>
            <a:off x="4566818" y="2606040"/>
            <a:ext cx="3058058" cy="2331720"/>
          </a:xfrm>
          <a:prstGeom prst="rect">
            <a:avLst/>
          </a:prstGeom>
          <a:noFill/>
          <a:ln/>
        </p:spPr>
        <p:txBody>
          <a:bodyPr wrap="square" lIns="0" tIns="0" rIns="0" bIns="0" rtlCol="0" anchor="t"/>
          <a:lstStyle/>
          <a:p>
            <a:pPr indent="0" marL="0">
              <a:buNone/>
            </a:pPr>
            <a:r>
              <a:rPr lang="en-US" sz="1400" dirty="0">
                <a:solidFill>
                  <a:srgbClr val="E8E2D9"/>
                </a:solidFill>
                <a:latin typeface="Inter" pitchFamily="34" charset="0"/>
                <a:ea typeface="Inter" pitchFamily="34" charset="-122"/>
                <a:cs typeface="Inter" pitchFamily="34" charset="-120"/>
              </a:rPr>
              <a:t>The client sends </a:t>
            </a:r>
            <a:pPr indent="0" marL="0">
              <a:buNone/>
            </a:pPr>
            <a:r>
              <a:rPr lang="en-US" sz="1400" dirty="0">
                <a:solidFill>
                  <a:srgbClr val="FFB59C"/>
                </a:solidFill>
                <a:latin typeface="JetBrains Mono" pitchFamily="34" charset="0"/>
                <a:ea typeface="JetBrains Mono" pitchFamily="34" charset="-122"/>
                <a:cs typeface="JetBrains Mono" pitchFamily="34" charset="-120"/>
              </a:rPr>
              <a:t>Idempotency-Key</a:t>
            </a:r>
            <a:pPr indent="0" marL="0">
              <a:buNone/>
            </a:pPr>
            <a:r>
              <a:rPr lang="en-US" sz="1400" dirty="0">
                <a:solidFill>
                  <a:srgbClr val="E8E2D9"/>
                </a:solidFill>
                <a:latin typeface="Inter" pitchFamily="34" charset="0"/>
                <a:ea typeface="Inter" pitchFamily="34" charset="-122"/>
                <a:cs typeface="Inter" pitchFamily="34" charset="-120"/>
              </a:rPr>
              <a:t>. A retry gets the </a:t>
            </a:r>
            <a:pPr indent="0" marL="0">
              <a:buNone/>
            </a:pPr>
            <a:r>
              <a:rPr lang="en-US" sz="1400" b="1" dirty="0">
                <a:solidFill>
                  <a:srgbClr val="E8E2D9"/>
                </a:solidFill>
                <a:latin typeface="Inter" pitchFamily="34" charset="0"/>
                <a:ea typeface="Inter" pitchFamily="34" charset="-122"/>
                <a:cs typeface="Inter" pitchFamily="34" charset="-120"/>
              </a:rPr>
              <a:t>same</a:t>
            </a:r>
            <a:pPr indent="0" marL="0">
              <a:buNone/>
            </a:pPr>
            <a:r>
              <a:rPr lang="en-US" sz="1400" dirty="0">
                <a:solidFill>
                  <a:srgbClr val="E8E2D9"/>
                </a:solidFill>
                <a:latin typeface="Inter" pitchFamily="34" charset="0"/>
                <a:ea typeface="Inter" pitchFamily="34" charset="-122"/>
                <a:cs typeface="Inter" pitchFamily="34" charset="-120"/>
              </a:rPr>
              <a:t> 201 again, not a 422 or a duplicate.</a:t>
            </a:r>
            <a:endParaRPr lang="en-US" sz="1400" dirty="0"/>
          </a:p>
        </p:txBody>
      </p:sp>
      <p:sp>
        <p:nvSpPr>
          <p:cNvPr id="14" name="Shape 12"/>
          <p:cNvSpPr/>
          <p:nvPr/>
        </p:nvSpPr>
        <p:spPr>
          <a:xfrm>
            <a:off x="8127797" y="1783080"/>
            <a:ext cx="3515258" cy="3291840"/>
          </a:xfrm>
          <a:prstGeom prst="roundRect">
            <a:avLst>
              <a:gd name="adj" fmla="val 2222"/>
            </a:avLst>
          </a:prstGeom>
          <a:solidFill>
            <a:srgbClr val="F6F3EE"/>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15" name="Shape 13"/>
          <p:cNvSpPr/>
          <p:nvPr/>
        </p:nvSpPr>
        <p:spPr>
          <a:xfrm>
            <a:off x="8356397" y="2011680"/>
            <a:ext cx="457200" cy="457200"/>
          </a:xfrm>
          <a:prstGeom prst="ellipse">
            <a:avLst/>
          </a:prstGeom>
          <a:solidFill>
            <a:srgbClr val="FF5723"/>
          </a:solidFill>
          <a:ln w="12700">
            <a:solidFill>
              <a:srgbClr val="FF5723"/>
            </a:solidFill>
            <a:prstDash val="solid"/>
          </a:ln>
        </p:spPr>
      </p:sp>
      <p:sp>
        <p:nvSpPr>
          <p:cNvPr id="16" name="Text 14"/>
          <p:cNvSpPr txBox="1"/>
          <p:nvPr/>
        </p:nvSpPr>
        <p:spPr>
          <a:xfrm>
            <a:off x="8356397" y="20116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Inter" pitchFamily="34" charset="0"/>
                <a:ea typeface="Inter" pitchFamily="34" charset="-122"/>
                <a:cs typeface="Inter" pitchFamily="34" charset="-120"/>
              </a:rPr>
              <a:t>3</a:t>
            </a:r>
            <a:endParaRPr lang="en-US" sz="1400" dirty="0"/>
          </a:p>
        </p:txBody>
      </p:sp>
      <p:sp>
        <p:nvSpPr>
          <p:cNvPr id="17" name="Text 15"/>
          <p:cNvSpPr txBox="1"/>
          <p:nvPr/>
        </p:nvSpPr>
        <p:spPr>
          <a:xfrm>
            <a:off x="8950757" y="2011680"/>
            <a:ext cx="2509418" cy="457200"/>
          </a:xfrm>
          <a:prstGeom prst="rect">
            <a:avLst/>
          </a:prstGeom>
          <a:noFill/>
          <a:ln/>
        </p:spPr>
        <p:txBody>
          <a:bodyPr wrap="square" lIns="0" tIns="0" rIns="0" bIns="0" rtlCol="0" anchor="ctr"/>
          <a:lstStyle/>
          <a:p>
            <a:pPr indent="0" marL="0">
              <a:buNone/>
            </a:pPr>
            <a:r>
              <a:rPr lang="en-US" sz="1700" b="1" dirty="0">
                <a:solidFill>
                  <a:srgbClr val="272827"/>
                </a:solidFill>
                <a:latin typeface="Inter" pitchFamily="34" charset="0"/>
                <a:ea typeface="Inter" pitchFamily="34" charset="-122"/>
                <a:cs typeface="Inter" pitchFamily="34" charset="-120"/>
              </a:rPr>
              <a:t>Row locks</a:t>
            </a:r>
            <a:endParaRPr lang="en-US" sz="1700" dirty="0"/>
          </a:p>
        </p:txBody>
      </p:sp>
      <p:sp>
        <p:nvSpPr>
          <p:cNvPr id="18" name="Text 16"/>
          <p:cNvSpPr txBox="1"/>
          <p:nvPr/>
        </p:nvSpPr>
        <p:spPr>
          <a:xfrm>
            <a:off x="8356397" y="2606040"/>
            <a:ext cx="3058058" cy="2331720"/>
          </a:xfrm>
          <a:prstGeom prst="rect">
            <a:avLst/>
          </a:prstGeom>
          <a:noFill/>
          <a:ln/>
        </p:spPr>
        <p:txBody>
          <a:bodyPr wrap="square" lIns="0" tIns="0" rIns="0" bIns="0" rtlCol="0" anchor="t"/>
          <a:lstStyle/>
          <a:p>
            <a:pPr indent="0" marL="0">
              <a:buNone/>
            </a:pPr>
            <a:r>
              <a:rPr lang="en-US" sz="1400" dirty="0">
                <a:solidFill>
                  <a:srgbClr val="C2410C"/>
                </a:solidFill>
                <a:latin typeface="JetBrains Mono" pitchFamily="34" charset="0"/>
                <a:ea typeface="JetBrains Mono" pitchFamily="34" charset="-122"/>
                <a:cs typeface="JetBrains Mono" pitchFamily="34" charset="-120"/>
              </a:rPr>
              <a:t>lockForUpdate()</a:t>
            </a:r>
            <a:pPr indent="0" marL="0">
              <a:buNone/>
            </a:pPr>
            <a:r>
              <a:rPr lang="en-US" sz="1400" dirty="0">
                <a:solidFill>
                  <a:srgbClr val="3A3B3A"/>
                </a:solidFill>
                <a:latin typeface="Inter" pitchFamily="34" charset="0"/>
                <a:ea typeface="Inter" pitchFamily="34" charset="-122"/>
                <a:cs typeface="Inter" pitchFamily="34" charset="-120"/>
              </a:rPr>
              <a:t> inside a transaction: the </a:t>
            </a:r>
            <a:pPr indent="0" marL="0">
              <a:buNone/>
            </a:pPr>
            <a:r>
              <a:rPr lang="en-US" sz="1400" b="1" dirty="0">
                <a:solidFill>
                  <a:srgbClr val="3A3B3A"/>
                </a:solidFill>
                <a:latin typeface="Inter" pitchFamily="34" charset="0"/>
                <a:ea typeface="Inter" pitchFamily="34" charset="-122"/>
                <a:cs typeface="Inter" pitchFamily="34" charset="-120"/>
              </a:rPr>
              <a:t>quote</a:t>
            </a:r>
            <a:pPr indent="0" marL="0">
              <a:buNone/>
            </a:pPr>
            <a:r>
              <a:rPr lang="en-US" sz="1400" dirty="0">
                <a:solidFill>
                  <a:srgbClr val="3A3B3A"/>
                </a:solidFill>
                <a:latin typeface="Inter" pitchFamily="34" charset="0"/>
                <a:ea typeface="Inter" pitchFamily="34" charset="-122"/>
                <a:cs typeface="Inter" pitchFamily="34" charset="-120"/>
              </a:rPr>
              <a:t> row while booking, </a:t>
            </a:r>
            <a:pPr indent="0" marL="0">
              <a:buNone/>
            </a:pPr>
            <a:r>
              <a:rPr lang="en-US" sz="1400" b="1" dirty="0">
                <a:solidFill>
                  <a:srgbClr val="3A3B3A"/>
                </a:solidFill>
                <a:latin typeface="Inter" pitchFamily="34" charset="0"/>
                <a:ea typeface="Inter" pitchFamily="34" charset="-122"/>
                <a:cs typeface="Inter" pitchFamily="34" charset="-120"/>
              </a:rPr>
              <a:t>vehicle</a:t>
            </a:r>
            <a:pPr indent="0" marL="0">
              <a:buNone/>
            </a:pPr>
            <a:r>
              <a:rPr lang="en-US" sz="1400" dirty="0">
                <a:solidFill>
                  <a:srgbClr val="3A3B3A"/>
                </a:solidFill>
                <a:latin typeface="Inter" pitchFamily="34" charset="0"/>
                <a:ea typeface="Inter" pitchFamily="34" charset="-122"/>
                <a:cs typeface="Inter" pitchFamily="34" charset="-120"/>
              </a:rPr>
              <a:t> rows while assigning.</a:t>
            </a:r>
            <a:endParaRPr lang="en-US" sz="1400" dirty="0"/>
          </a:p>
        </p:txBody>
      </p:sp>
      <p:sp>
        <p:nvSpPr>
          <p:cNvPr id="19" name="Text 17"/>
          <p:cNvSpPr txBox="1"/>
          <p:nvPr/>
        </p:nvSpPr>
        <p:spPr>
          <a:xfrm>
            <a:off x="548640" y="5760720"/>
            <a:ext cx="11094415" cy="365760"/>
          </a:xfrm>
          <a:prstGeom prst="rect">
            <a:avLst/>
          </a:prstGeom>
          <a:noFill/>
          <a:ln/>
        </p:spPr>
        <p:txBody>
          <a:bodyPr wrap="square" lIns="0" tIns="0" rIns="0" bIns="0" rtlCol="0" anchor="ctr"/>
          <a:lstStyle/>
          <a:p>
            <a:pPr indent="0" marL="0">
              <a:buNone/>
            </a:pPr>
            <a:r>
              <a:rPr lang="en-US" sz="1400" i="1" dirty="0">
                <a:solidFill>
                  <a:srgbClr val="3A3B3A"/>
                </a:solidFill>
                <a:latin typeface="Inter" pitchFamily="34" charset="0"/>
                <a:ea typeface="Inter" pitchFamily="34" charset="-122"/>
                <a:cs typeface="Inter" pitchFamily="34" charset="-120"/>
              </a:rPr>
              <a:t>Constraints keep data correct. Idempotency keeps the </a:t>
            </a:r>
            <a:pPr indent="0" marL="0">
              <a:buNone/>
            </a:pPr>
            <a:r>
              <a:rPr lang="en-US" sz="1400" b="1" i="1" dirty="0">
                <a:solidFill>
                  <a:srgbClr val="3A3B3A"/>
                </a:solidFill>
                <a:latin typeface="Inter" pitchFamily="34" charset="0"/>
                <a:ea typeface="Inter" pitchFamily="34" charset="-122"/>
                <a:cs typeface="Inter" pitchFamily="34" charset="-120"/>
              </a:rPr>
              <a:t>client experience</a:t>
            </a:r>
            <a:pPr indent="0" marL="0">
              <a:buNone/>
            </a:pPr>
            <a:r>
              <a:rPr lang="en-US" sz="1400" i="1" dirty="0">
                <a:solidFill>
                  <a:srgbClr val="3A3B3A"/>
                </a:solidFill>
                <a:latin typeface="Inter" pitchFamily="34" charset="0"/>
                <a:ea typeface="Inter" pitchFamily="34" charset="-122"/>
                <a:cs typeface="Inter" pitchFamily="34" charset="-120"/>
              </a:rPr>
              <a:t> correct.</a:t>
            </a:r>
            <a:endParaRPr lang="en-US" sz="1400" dirty="0"/>
          </a:p>
        </p:txBody>
      </p:sp>
      <p:sp>
        <p:nvSpPr>
          <p:cNvPr id="25" name="Slide Number Placeholder 0"/>
          <p:cNvSpPr>
            <a:spLocks noGrp="1"/>
          </p:cNvSpPr>
          <p:nvPr>
            <p:ph type="sldNum" sz="quarter" idx="4294967295"/>
          </p:nvPr>
        </p:nvSpPr>
        <p:spPr>
          <a:xfrm>
            <a:off x="10911535" y="6419088"/>
            <a:ext cx="73152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280"/>
                </a:solidFill>
                <a:latin typeface="Inter"/>
                <a:ea typeface="Inter"/>
                <a:cs typeface="Inter"/>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94415" cy="640080"/>
          </a:xfrm>
          <a:prstGeom prst="rect">
            <a:avLst/>
          </a:prstGeom>
          <a:noFill/>
          <a:ln/>
        </p:spPr>
        <p:txBody>
          <a:bodyPr wrap="square" lIns="0" tIns="0" rIns="0" bIns="0" rtlCol="0" anchor="b"/>
          <a:lstStyle/>
          <a:p>
            <a:pPr algn="l" indent="0" marL="0">
              <a:buNone/>
            </a:pPr>
            <a:r>
              <a:rPr lang="en-US" sz="3200" b="1" dirty="0">
                <a:solidFill>
                  <a:srgbClr val="272827"/>
                </a:solidFill>
                <a:latin typeface="Playfair Display" pitchFamily="34" charset="0"/>
                <a:ea typeface="Playfair Display" pitchFamily="34" charset="-122"/>
                <a:cs typeface="Playfair Display" pitchFamily="34" charset="-120"/>
              </a:rPr>
              <a:t>Idempotency-Key, step by step</a:t>
            </a:r>
            <a:endParaRPr lang="en-US" sz="3200" dirty="0"/>
          </a:p>
        </p:txBody>
      </p:sp>
      <p:sp>
        <p:nvSpPr>
          <p:cNvPr id="3" name="Text 1"/>
          <p:cNvSpPr txBox="1"/>
          <p:nvPr/>
        </p:nvSpPr>
        <p:spPr>
          <a:xfrm>
            <a:off x="548640" y="1060704"/>
            <a:ext cx="8229600" cy="384048"/>
          </a:xfrm>
          <a:prstGeom prst="rect">
            <a:avLst/>
          </a:prstGeom>
          <a:noFill/>
          <a:ln/>
        </p:spPr>
        <p:txBody>
          <a:bodyPr wrap="square" lIns="0" tIns="0" rIns="0" bIns="0" rtlCol="0" anchor="t"/>
          <a:lstStyle/>
          <a:p>
            <a:pPr rtl="1" algn="l" indent="0" marL="0">
              <a:buNone/>
            </a:pPr>
            <a:r>
              <a:rPr lang="ar-LY" altLang="en-US" sz="1700" dirty="0">
                <a:solidFill>
                  <a:srgbClr val="FF5723"/>
                </a:solidFill>
                <a:latin typeface="Tajawal" pitchFamily="34" charset="0"/>
                <a:ea typeface="Tajawal" pitchFamily="34" charset="-122"/>
                <a:cs typeface="Tajawal" pitchFamily="34" charset="-120"/>
              </a:rPr>
              <a:t>مفتاح عدم التكرار خطوة بخطوة</a:t>
            </a:r>
            <a:endParaRPr lang="ar-LY" sz="1700" dirty="0"/>
          </a:p>
        </p:txBody>
      </p:sp>
      <p:sp>
        <p:nvSpPr>
          <p:cNvPr id="4" name="Shape 2"/>
          <p:cNvSpPr/>
          <p:nvPr/>
        </p:nvSpPr>
        <p:spPr>
          <a:xfrm>
            <a:off x="548640" y="2286000"/>
            <a:ext cx="1853123" cy="1554480"/>
          </a:xfrm>
          <a:prstGeom prst="roundRect">
            <a:avLst>
              <a:gd name="adj" fmla="val 4706"/>
            </a:avLst>
          </a:prstGeom>
          <a:solidFill>
            <a:srgbClr val="FFFFFF"/>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5" name="Text 3"/>
          <p:cNvSpPr txBox="1"/>
          <p:nvPr/>
        </p:nvSpPr>
        <p:spPr>
          <a:xfrm>
            <a:off x="621792" y="2322576"/>
            <a:ext cx="1706819" cy="1481328"/>
          </a:xfrm>
          <a:prstGeom prst="rect">
            <a:avLst/>
          </a:prstGeom>
          <a:noFill/>
          <a:ln/>
        </p:spPr>
        <p:txBody>
          <a:bodyPr wrap="square" lIns="508" tIns="508" rIns="508" bIns="508" rtlCol="0" anchor="ctr"/>
          <a:lstStyle/>
          <a:p>
            <a:pPr algn="ctr" indent="0" marL="0">
              <a:spcAft>
                <a:spcPts val="200"/>
              </a:spcAft>
              <a:buNone/>
            </a:pPr>
            <a:r>
              <a:rPr lang="en-US" sz="1600" b="1" dirty="0">
                <a:solidFill>
                  <a:srgbClr val="272827"/>
                </a:solidFill>
                <a:latin typeface="Inter" pitchFamily="34" charset="0"/>
                <a:ea typeface="Inter" pitchFamily="34" charset="-122"/>
                <a:cs typeface="Inter" pitchFamily="34" charset="-120"/>
              </a:rPr>
              <a:t>Client</a:t>
            </a:r>
            <a:endParaRPr lang="en-US" sz="1600" dirty="0"/>
          </a:p>
          <a:p>
            <a:pPr algn="ctr" indent="0" marL="0">
              <a:spcAft>
                <a:spcPts val="200"/>
              </a:spcAft>
              <a:buNone/>
            </a:pPr>
            <a:r>
              <a:rPr lang="en-US" sz="1300" dirty="0">
                <a:solidFill>
                  <a:srgbClr val="6B7280"/>
                </a:solidFill>
                <a:latin typeface="Inter" pitchFamily="34" charset="0"/>
                <a:ea typeface="Inter" pitchFamily="34" charset="-122"/>
                <a:cs typeface="Inter" pitchFamily="34" charset="-120"/>
              </a:rPr>
              <a:t>sends a UUID in Idempotency-Key</a:t>
            </a:r>
            <a:endParaRPr lang="en-US" sz="1600" dirty="0"/>
          </a:p>
        </p:txBody>
      </p:sp>
      <p:sp>
        <p:nvSpPr>
          <p:cNvPr id="6" name="Shape 4"/>
          <p:cNvSpPr/>
          <p:nvPr/>
        </p:nvSpPr>
        <p:spPr>
          <a:xfrm>
            <a:off x="2858963" y="2286000"/>
            <a:ext cx="1853123" cy="1554480"/>
          </a:xfrm>
          <a:prstGeom prst="roundRect">
            <a:avLst>
              <a:gd name="adj" fmla="val 4706"/>
            </a:avLst>
          </a:prstGeom>
          <a:solidFill>
            <a:srgbClr val="FFFFFF"/>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7" name="Text 5"/>
          <p:cNvSpPr txBox="1"/>
          <p:nvPr/>
        </p:nvSpPr>
        <p:spPr>
          <a:xfrm>
            <a:off x="2932115" y="2322576"/>
            <a:ext cx="1706819" cy="1481328"/>
          </a:xfrm>
          <a:prstGeom prst="rect">
            <a:avLst/>
          </a:prstGeom>
          <a:noFill/>
          <a:ln/>
        </p:spPr>
        <p:txBody>
          <a:bodyPr wrap="square" lIns="508" tIns="508" rIns="508" bIns="508" rtlCol="0" anchor="ctr"/>
          <a:lstStyle/>
          <a:p>
            <a:pPr algn="ctr" indent="0" marL="0">
              <a:spcAft>
                <a:spcPts val="200"/>
              </a:spcAft>
              <a:buNone/>
            </a:pPr>
            <a:r>
              <a:rPr lang="en-US" sz="1600" b="1" dirty="0">
                <a:solidFill>
                  <a:srgbClr val="272827"/>
                </a:solidFill>
                <a:latin typeface="Inter" pitchFamily="34" charset="0"/>
                <a:ea typeface="Inter" pitchFamily="34" charset="-122"/>
                <a:cs typeface="Inter" pitchFamily="34" charset="-120"/>
              </a:rPr>
              <a:t>Claim</a:t>
            </a:r>
            <a:endParaRPr lang="en-US" sz="1600" dirty="0"/>
          </a:p>
          <a:p>
            <a:pPr algn="ctr" indent="0" marL="0">
              <a:spcAft>
                <a:spcPts val="200"/>
              </a:spcAft>
              <a:buNone/>
            </a:pPr>
            <a:r>
              <a:rPr lang="en-US" sz="1300" dirty="0">
                <a:solidFill>
                  <a:srgbClr val="6B7280"/>
                </a:solidFill>
                <a:latin typeface="Inter" pitchFamily="34" charset="0"/>
                <a:ea typeface="Inter" pitchFamily="34" charset="-122"/>
                <a:cs typeface="Inter" pitchFamily="34" charset="-120"/>
              </a:rPr>
              <a:t>createOrFirst on (user_id, key)</a:t>
            </a:r>
            <a:endParaRPr lang="en-US" sz="1600" dirty="0"/>
          </a:p>
        </p:txBody>
      </p:sp>
      <p:sp>
        <p:nvSpPr>
          <p:cNvPr id="8" name="Shape 6"/>
          <p:cNvSpPr/>
          <p:nvPr/>
        </p:nvSpPr>
        <p:spPr>
          <a:xfrm>
            <a:off x="5169286" y="2286000"/>
            <a:ext cx="1853123" cy="1554480"/>
          </a:xfrm>
          <a:prstGeom prst="roundRect">
            <a:avLst>
              <a:gd name="adj" fmla="val 4706"/>
            </a:avLst>
          </a:prstGeom>
          <a:solidFill>
            <a:srgbClr val="FF5723"/>
          </a:solidFill>
          <a:ln w="12700">
            <a:solidFill>
              <a:srgbClr val="FF5723"/>
            </a:solidFill>
            <a:prstDash val="solid"/>
          </a:ln>
        </p:spPr>
      </p:sp>
      <p:sp>
        <p:nvSpPr>
          <p:cNvPr id="9" name="Text 7"/>
          <p:cNvSpPr txBox="1"/>
          <p:nvPr/>
        </p:nvSpPr>
        <p:spPr>
          <a:xfrm>
            <a:off x="5242438" y="2322576"/>
            <a:ext cx="1706819" cy="1481328"/>
          </a:xfrm>
          <a:prstGeom prst="rect">
            <a:avLst/>
          </a:prstGeom>
          <a:noFill/>
          <a:ln/>
        </p:spPr>
        <p:txBody>
          <a:bodyPr wrap="square" lIns="508" tIns="508" rIns="508" bIns="508" rtlCol="0" anchor="ctr"/>
          <a:lstStyle/>
          <a:p>
            <a:pPr algn="ctr" indent="0" marL="0">
              <a:spcAft>
                <a:spcPts val="200"/>
              </a:spcAft>
              <a:buNone/>
            </a:pPr>
            <a:r>
              <a:rPr lang="en-US" sz="1600" b="1" dirty="0">
                <a:solidFill>
                  <a:srgbClr val="FFFFFF"/>
                </a:solidFill>
                <a:latin typeface="Inter" pitchFamily="34" charset="0"/>
                <a:ea typeface="Inter" pitchFamily="34" charset="-122"/>
                <a:cs typeface="Inter" pitchFamily="34" charset="-120"/>
              </a:rPr>
              <a:t>Seen it?</a:t>
            </a:r>
            <a:endParaRPr lang="en-US" sz="1600" dirty="0"/>
          </a:p>
          <a:p>
            <a:pPr algn="ctr" indent="0" marL="0">
              <a:spcAft>
                <a:spcPts val="200"/>
              </a:spcAft>
              <a:buNone/>
            </a:pPr>
            <a:r>
              <a:rPr lang="en-US" sz="1300" dirty="0">
                <a:solidFill>
                  <a:srgbClr val="FFE3D9"/>
                </a:solidFill>
                <a:latin typeface="Inter" pitchFamily="34" charset="0"/>
                <a:ea typeface="Inter" pitchFamily="34" charset="-122"/>
                <a:cs typeface="Inter" pitchFamily="34" charset="-120"/>
              </a:rPr>
              <a:t>replay stored status + body</a:t>
            </a:r>
            <a:endParaRPr lang="en-US" sz="1600" dirty="0"/>
          </a:p>
        </p:txBody>
      </p:sp>
      <p:sp>
        <p:nvSpPr>
          <p:cNvPr id="10" name="Shape 8"/>
          <p:cNvSpPr/>
          <p:nvPr/>
        </p:nvSpPr>
        <p:spPr>
          <a:xfrm>
            <a:off x="7479609" y="2286000"/>
            <a:ext cx="1853123" cy="1554480"/>
          </a:xfrm>
          <a:prstGeom prst="roundRect">
            <a:avLst>
              <a:gd name="adj" fmla="val 4706"/>
            </a:avLst>
          </a:prstGeom>
          <a:solidFill>
            <a:srgbClr val="FFFFFF"/>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11" name="Text 9"/>
          <p:cNvSpPr txBox="1"/>
          <p:nvPr/>
        </p:nvSpPr>
        <p:spPr>
          <a:xfrm>
            <a:off x="7552761" y="2322576"/>
            <a:ext cx="1706819" cy="1481328"/>
          </a:xfrm>
          <a:prstGeom prst="rect">
            <a:avLst/>
          </a:prstGeom>
          <a:noFill/>
          <a:ln/>
        </p:spPr>
        <p:txBody>
          <a:bodyPr wrap="square" lIns="508" tIns="508" rIns="508" bIns="508" rtlCol="0" anchor="ctr"/>
          <a:lstStyle/>
          <a:p>
            <a:pPr algn="ctr" indent="0" marL="0">
              <a:spcAft>
                <a:spcPts val="200"/>
              </a:spcAft>
              <a:buNone/>
            </a:pPr>
            <a:r>
              <a:rPr lang="en-US" sz="1600" b="1" dirty="0">
                <a:solidFill>
                  <a:srgbClr val="272827"/>
                </a:solidFill>
                <a:latin typeface="Inter" pitchFamily="34" charset="0"/>
                <a:ea typeface="Inter" pitchFamily="34" charset="-122"/>
                <a:cs typeface="Inter" pitchFamily="34" charset="-120"/>
              </a:rPr>
              <a:t>New key</a:t>
            </a:r>
            <a:endParaRPr lang="en-US" sz="1600" dirty="0"/>
          </a:p>
          <a:p>
            <a:pPr algn="ctr" indent="0" marL="0">
              <a:spcAft>
                <a:spcPts val="200"/>
              </a:spcAft>
              <a:buNone/>
            </a:pPr>
            <a:r>
              <a:rPr lang="en-US" sz="1300" dirty="0">
                <a:solidFill>
                  <a:srgbClr val="6B7280"/>
                </a:solidFill>
                <a:latin typeface="Inter" pitchFamily="34" charset="0"/>
                <a:ea typeface="Inter" pitchFamily="34" charset="-122"/>
                <a:cs typeface="Inter" pitchFamily="34" charset="-120"/>
              </a:rPr>
              <a:t>run the controller</a:t>
            </a:r>
            <a:endParaRPr lang="en-US" sz="1600" dirty="0"/>
          </a:p>
        </p:txBody>
      </p:sp>
      <p:sp>
        <p:nvSpPr>
          <p:cNvPr id="12" name="Shape 10"/>
          <p:cNvSpPr/>
          <p:nvPr/>
        </p:nvSpPr>
        <p:spPr>
          <a:xfrm>
            <a:off x="9789932" y="2286000"/>
            <a:ext cx="1853123" cy="1554480"/>
          </a:xfrm>
          <a:prstGeom prst="roundRect">
            <a:avLst>
              <a:gd name="adj" fmla="val 4706"/>
            </a:avLst>
          </a:prstGeom>
          <a:solidFill>
            <a:srgbClr val="FFFFFF"/>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13" name="Text 11"/>
          <p:cNvSpPr txBox="1"/>
          <p:nvPr/>
        </p:nvSpPr>
        <p:spPr>
          <a:xfrm>
            <a:off x="9863084" y="2322576"/>
            <a:ext cx="1706819" cy="1481328"/>
          </a:xfrm>
          <a:prstGeom prst="rect">
            <a:avLst/>
          </a:prstGeom>
          <a:noFill/>
          <a:ln/>
        </p:spPr>
        <p:txBody>
          <a:bodyPr wrap="square" lIns="508" tIns="508" rIns="508" bIns="508" rtlCol="0" anchor="ctr"/>
          <a:lstStyle/>
          <a:p>
            <a:pPr algn="ctr" indent="0" marL="0">
              <a:spcAft>
                <a:spcPts val="200"/>
              </a:spcAft>
              <a:buNone/>
            </a:pPr>
            <a:r>
              <a:rPr lang="en-US" sz="1600" b="1" dirty="0">
                <a:solidFill>
                  <a:srgbClr val="272827"/>
                </a:solidFill>
                <a:latin typeface="Inter" pitchFamily="34" charset="0"/>
                <a:ea typeface="Inter" pitchFamily="34" charset="-122"/>
                <a:cs typeface="Inter" pitchFamily="34" charset="-120"/>
              </a:rPr>
              <a:t>Store</a:t>
            </a:r>
            <a:endParaRPr lang="en-US" sz="1600" dirty="0"/>
          </a:p>
          <a:p>
            <a:pPr algn="ctr" indent="0" marL="0">
              <a:spcAft>
                <a:spcPts val="200"/>
              </a:spcAft>
              <a:buNone/>
            </a:pPr>
            <a:r>
              <a:rPr lang="en-US" sz="1300" dirty="0">
                <a:solidFill>
                  <a:srgbClr val="6B7280"/>
                </a:solidFill>
                <a:latin typeface="Inter" pitchFamily="34" charset="0"/>
                <a:ea typeface="Inter" pitchFamily="34" charset="-122"/>
                <a:cs typeface="Inter" pitchFamily="34" charset="-120"/>
              </a:rPr>
              <a:t>status + body · expires in 1 day</a:t>
            </a:r>
            <a:endParaRPr lang="en-US" sz="1600" dirty="0"/>
          </a:p>
        </p:txBody>
      </p:sp>
      <p:sp>
        <p:nvSpPr>
          <p:cNvPr id="14" name="Shape 12"/>
          <p:cNvSpPr/>
          <p:nvPr/>
        </p:nvSpPr>
        <p:spPr>
          <a:xfrm>
            <a:off x="2401763" y="3063240"/>
            <a:ext cx="457200" cy="914"/>
          </a:xfrm>
          <a:prstGeom prst="line">
            <a:avLst/>
          </a:prstGeom>
          <a:noFill/>
          <a:ln w="19050">
            <a:solidFill>
              <a:srgbClr val="3A3B3A"/>
            </a:solidFill>
            <a:prstDash val="solid"/>
            <a:tailEnd type="triangle"/>
          </a:ln>
        </p:spPr>
      </p:sp>
      <p:sp>
        <p:nvSpPr>
          <p:cNvPr id="15" name="Shape 13"/>
          <p:cNvSpPr/>
          <p:nvPr/>
        </p:nvSpPr>
        <p:spPr>
          <a:xfrm>
            <a:off x="4712086" y="3063240"/>
            <a:ext cx="457200" cy="914"/>
          </a:xfrm>
          <a:prstGeom prst="line">
            <a:avLst/>
          </a:prstGeom>
          <a:noFill/>
          <a:ln w="19050">
            <a:solidFill>
              <a:srgbClr val="3A3B3A"/>
            </a:solidFill>
            <a:prstDash val="solid"/>
            <a:tailEnd type="triangle"/>
          </a:ln>
        </p:spPr>
      </p:sp>
      <p:sp>
        <p:nvSpPr>
          <p:cNvPr id="16" name="Shape 14"/>
          <p:cNvSpPr/>
          <p:nvPr/>
        </p:nvSpPr>
        <p:spPr>
          <a:xfrm>
            <a:off x="7022409" y="3063240"/>
            <a:ext cx="457200" cy="914"/>
          </a:xfrm>
          <a:prstGeom prst="line">
            <a:avLst/>
          </a:prstGeom>
          <a:noFill/>
          <a:ln w="19050">
            <a:solidFill>
              <a:srgbClr val="3A3B3A"/>
            </a:solidFill>
            <a:prstDash val="solid"/>
            <a:tailEnd type="triangle"/>
          </a:ln>
        </p:spPr>
      </p:sp>
      <p:sp>
        <p:nvSpPr>
          <p:cNvPr id="17" name="Shape 15"/>
          <p:cNvSpPr/>
          <p:nvPr/>
        </p:nvSpPr>
        <p:spPr>
          <a:xfrm>
            <a:off x="9332732" y="3063240"/>
            <a:ext cx="457200" cy="914"/>
          </a:xfrm>
          <a:prstGeom prst="line">
            <a:avLst/>
          </a:prstGeom>
          <a:noFill/>
          <a:ln w="19050">
            <a:solidFill>
              <a:srgbClr val="3A3B3A"/>
            </a:solidFill>
            <a:prstDash val="solid"/>
            <a:tailEnd type="triangle"/>
          </a:ln>
        </p:spPr>
      </p:sp>
      <p:sp>
        <p:nvSpPr>
          <p:cNvPr id="18" name="Text 16"/>
          <p:cNvSpPr txBox="1"/>
          <p:nvPr/>
        </p:nvSpPr>
        <p:spPr>
          <a:xfrm>
            <a:off x="548640" y="4297680"/>
            <a:ext cx="11094415" cy="1463040"/>
          </a:xfrm>
          <a:prstGeom prst="rect">
            <a:avLst/>
          </a:prstGeom>
          <a:noFill/>
          <a:ln/>
        </p:spPr>
        <p:txBody>
          <a:bodyPr wrap="square" lIns="0" tIns="0" rIns="0" bIns="0" rtlCol="0" anchor="t"/>
          <a:lstStyle/>
          <a:p>
            <a:pPr marL="228600" indent="-228600">
              <a:spcAft>
                <a:spcPts val="600"/>
              </a:spcAft>
              <a:buSzPct val="100000"/>
              <a:buChar char="•"/>
            </a:pPr>
            <a:r>
              <a:rPr lang="en-US" sz="1600" dirty="0">
                <a:solidFill>
                  <a:srgbClr val="272827"/>
                </a:solidFill>
                <a:latin typeface="Inter" pitchFamily="34" charset="0"/>
                <a:ea typeface="Inter" pitchFamily="34" charset="-122"/>
                <a:cs typeface="Inter" pitchFamily="34" charset="-120"/>
              </a:rPr>
              <a:t>Missing key → </a:t>
            </a:r>
            <a:pPr indent="0" marL="0">
              <a:buNone/>
            </a:pPr>
            <a:r>
              <a:rPr lang="en-US" sz="1600" dirty="0">
                <a:solidFill>
                  <a:srgbClr val="C2410C"/>
                </a:solidFill>
                <a:latin typeface="JetBrains Mono" pitchFamily="34" charset="0"/>
                <a:ea typeface="JetBrains Mono" pitchFamily="34" charset="-122"/>
                <a:cs typeface="JetBrains Mono" pitchFamily="34" charset="-120"/>
              </a:rPr>
              <a:t>400</a:t>
            </a:r>
            <a:pPr indent="0" marL="0">
              <a:buNone/>
            </a:pPr>
            <a:r>
              <a:rPr lang="en-US" sz="1600" dirty="0">
                <a:solidFill>
                  <a:srgbClr val="272827"/>
                </a:solidFill>
                <a:latin typeface="Inter" pitchFamily="34" charset="0"/>
                <a:ea typeface="Inter" pitchFamily="34" charset="-122"/>
                <a:cs typeface="Inter" pitchFamily="34" charset="-120"/>
              </a:rPr>
              <a:t> · same key, </a:t>
            </a:r>
            <a:pPr indent="0" marL="0">
              <a:buNone/>
            </a:pPr>
            <a:r>
              <a:rPr lang="en-US" sz="1600" b="1" dirty="0">
                <a:solidFill>
                  <a:srgbClr val="272827"/>
                </a:solidFill>
                <a:latin typeface="Inter" pitchFamily="34" charset="0"/>
                <a:ea typeface="Inter" pitchFamily="34" charset="-122"/>
                <a:cs typeface="Inter" pitchFamily="34" charset="-120"/>
              </a:rPr>
              <a:t>different body</a:t>
            </a:r>
            <a:pPr indent="0" marL="0">
              <a:buNone/>
            </a:pPr>
            <a:r>
              <a:rPr lang="en-US" sz="1600" dirty="0">
                <a:solidFill>
                  <a:srgbClr val="272827"/>
                </a:solidFill>
                <a:latin typeface="Inter" pitchFamily="34" charset="0"/>
                <a:ea typeface="Inter" pitchFamily="34" charset="-122"/>
                <a:cs typeface="Inter" pitchFamily="34" charset="-120"/>
              </a:rPr>
              <a:t> → </a:t>
            </a:r>
            <a:pPr indent="0" marL="0">
              <a:buNone/>
            </a:pPr>
            <a:r>
              <a:rPr lang="en-US" sz="1600" dirty="0">
                <a:solidFill>
                  <a:srgbClr val="C2410C"/>
                </a:solidFill>
                <a:latin typeface="JetBrains Mono" pitchFamily="34" charset="0"/>
                <a:ea typeface="JetBrains Mono" pitchFamily="34" charset="-122"/>
                <a:cs typeface="JetBrains Mono" pitchFamily="34" charset="-120"/>
              </a:rPr>
              <a:t>422</a:t>
            </a:r>
            <a:pPr indent="0" marL="0">
              <a:buNone/>
            </a:pPr>
            <a:r>
              <a:rPr lang="en-US" sz="1600" dirty="0">
                <a:solidFill>
                  <a:srgbClr val="272827"/>
                </a:solidFill>
                <a:latin typeface="Inter" pitchFamily="34" charset="0"/>
                <a:ea typeface="Inter" pitchFamily="34" charset="-122"/>
                <a:cs typeface="Inter" pitchFamily="34" charset="-120"/>
              </a:rPr>
              <a:t> · first call still running → </a:t>
            </a:r>
            <a:pPr indent="0" marL="0">
              <a:buNone/>
            </a:pPr>
            <a:r>
              <a:rPr lang="en-US" sz="1600" dirty="0">
                <a:solidFill>
                  <a:srgbClr val="C2410C"/>
                </a:solidFill>
                <a:latin typeface="JetBrains Mono" pitchFamily="34" charset="0"/>
                <a:ea typeface="JetBrains Mono" pitchFamily="34" charset="-122"/>
                <a:cs typeface="JetBrains Mono" pitchFamily="34" charset="-120"/>
              </a:rPr>
              <a:t>409</a:t>
            </a:r>
            <a:endParaRPr lang="en-US" sz="1600" dirty="0"/>
          </a:p>
          <a:p>
            <a:pPr marL="228600" indent="-228600">
              <a:spcAft>
                <a:spcPts val="600"/>
              </a:spcAft>
              <a:buSzPct val="100000"/>
              <a:buChar char="•"/>
            </a:pPr>
            <a:r>
              <a:rPr lang="en-US" sz="1600" dirty="0">
                <a:solidFill>
                  <a:srgbClr val="272827"/>
                </a:solidFill>
                <a:latin typeface="Inter" pitchFamily="34" charset="0"/>
                <a:ea typeface="Inter" pitchFamily="34" charset="-122"/>
                <a:cs typeface="Inter" pitchFamily="34" charset="-120"/>
              </a:rPr>
              <a:t>Replays carry </a:t>
            </a:r>
            <a:pPr indent="0" marL="0">
              <a:buNone/>
            </a:pPr>
            <a:r>
              <a:rPr lang="en-US" sz="1600" dirty="0">
                <a:solidFill>
                  <a:srgbClr val="C2410C"/>
                </a:solidFill>
                <a:latin typeface="JetBrains Mono" pitchFamily="34" charset="0"/>
                <a:ea typeface="JetBrains Mono" pitchFamily="34" charset="-122"/>
                <a:cs typeface="JetBrains Mono" pitchFamily="34" charset="-120"/>
              </a:rPr>
              <a:t>Idempotent-Replayed: true</a:t>
            </a:r>
            <a:pPr indent="0" marL="0">
              <a:buNone/>
            </a:pPr>
            <a:r>
              <a:rPr lang="en-US" sz="1600" dirty="0">
                <a:solidFill>
                  <a:srgbClr val="272827"/>
                </a:solidFill>
                <a:latin typeface="Inter" pitchFamily="34" charset="0"/>
                <a:ea typeface="Inter" pitchFamily="34" charset="-122"/>
                <a:cs typeface="Inter" pitchFamily="34" charset="-120"/>
              </a:rPr>
              <a:t> · a </a:t>
            </a:r>
            <a:pPr indent="0" marL="0">
              <a:buNone/>
            </a:pPr>
            <a:r>
              <a:rPr lang="en-US" sz="1600" dirty="0">
                <a:solidFill>
                  <a:srgbClr val="C2410C"/>
                </a:solidFill>
                <a:latin typeface="JetBrains Mono" pitchFamily="34" charset="0"/>
                <a:ea typeface="JetBrains Mono" pitchFamily="34" charset="-122"/>
                <a:cs typeface="JetBrains Mono" pitchFamily="34" charset="-120"/>
              </a:rPr>
              <a:t>5xx</a:t>
            </a:r>
            <a:pPr indent="0" marL="0">
              <a:buNone/>
            </a:pPr>
            <a:r>
              <a:rPr lang="en-US" sz="1600" dirty="0">
                <a:solidFill>
                  <a:srgbClr val="272827"/>
                </a:solidFill>
                <a:latin typeface="Inter" pitchFamily="34" charset="0"/>
                <a:ea typeface="Inter" pitchFamily="34" charset="-122"/>
                <a:cs typeface="Inter" pitchFamily="34" charset="-120"/>
              </a:rPr>
              <a:t> deletes the key so the client can retry</a:t>
            </a:r>
            <a:endParaRPr lang="en-US" sz="1600" dirty="0"/>
          </a:p>
        </p:txBody>
      </p:sp>
      <p:sp>
        <p:nvSpPr>
          <p:cNvPr id="25" name="Slide Number Placeholder 0"/>
          <p:cNvSpPr>
            <a:spLocks noGrp="1"/>
          </p:cNvSpPr>
          <p:nvPr>
            <p:ph type="sldNum" sz="quarter" idx="4294967295"/>
          </p:nvPr>
        </p:nvSpPr>
        <p:spPr>
          <a:xfrm>
            <a:off x="10911535" y="6419088"/>
            <a:ext cx="73152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280"/>
                </a:solidFill>
                <a:latin typeface="Inter"/>
                <a:ea typeface="Inter"/>
                <a:cs typeface="Inter"/>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94415" cy="640080"/>
          </a:xfrm>
          <a:prstGeom prst="rect">
            <a:avLst/>
          </a:prstGeom>
          <a:noFill/>
          <a:ln/>
        </p:spPr>
        <p:txBody>
          <a:bodyPr wrap="square" lIns="0" tIns="0" rIns="0" bIns="0" rtlCol="0" anchor="b"/>
          <a:lstStyle/>
          <a:p>
            <a:pPr algn="l" indent="0" marL="0">
              <a:buNone/>
            </a:pPr>
            <a:r>
              <a:rPr lang="en-US" sz="3200" b="1" dirty="0">
                <a:solidFill>
                  <a:srgbClr val="272827"/>
                </a:solidFill>
                <a:latin typeface="Playfair Display" pitchFamily="34" charset="0"/>
                <a:ea typeface="Playfair Display" pitchFamily="34" charset="-122"/>
                <a:cs typeface="Playfair Display" pitchFamily="34" charset="-120"/>
              </a:rPr>
              <a:t>The Idempotency-Key middleware</a:t>
            </a:r>
            <a:endParaRPr lang="en-US" sz="3200" dirty="0"/>
          </a:p>
        </p:txBody>
      </p:sp>
      <p:sp>
        <p:nvSpPr>
          <p:cNvPr id="3" name="Text 1"/>
          <p:cNvSpPr txBox="1"/>
          <p:nvPr/>
        </p:nvSpPr>
        <p:spPr>
          <a:xfrm>
            <a:off x="548640" y="1060704"/>
            <a:ext cx="8229600" cy="384048"/>
          </a:xfrm>
          <a:prstGeom prst="rect">
            <a:avLst/>
          </a:prstGeom>
          <a:noFill/>
          <a:ln/>
        </p:spPr>
        <p:txBody>
          <a:bodyPr wrap="square" lIns="0" tIns="0" rIns="0" bIns="0" rtlCol="0" anchor="t"/>
          <a:lstStyle/>
          <a:p>
            <a:pPr rtl="1" algn="l" indent="0" marL="0">
              <a:buNone/>
            </a:pPr>
            <a:r>
              <a:rPr lang="ar-LY" altLang="en-US" sz="1700" dirty="0">
                <a:solidFill>
                  <a:srgbClr val="FF5723"/>
                </a:solidFill>
                <a:latin typeface="Tajawal" pitchFamily="34" charset="0"/>
                <a:ea typeface="Tajawal" pitchFamily="34" charset="-122"/>
                <a:cs typeface="Tajawal" pitchFamily="34" charset="-120"/>
              </a:rPr>
              <a:t>وسيط مفتاح عدم التكرار</a:t>
            </a:r>
            <a:endParaRPr lang="ar-LY" sz="1700" dirty="0"/>
          </a:p>
        </p:txBody>
      </p:sp>
      <p:sp>
        <p:nvSpPr>
          <p:cNvPr id="4" name="Shape 2"/>
          <p:cNvSpPr/>
          <p:nvPr/>
        </p:nvSpPr>
        <p:spPr>
          <a:xfrm>
            <a:off x="548640" y="1691640"/>
            <a:ext cx="7315200" cy="4434840"/>
          </a:xfrm>
          <a:prstGeom prst="roundRect">
            <a:avLst>
              <a:gd name="adj" fmla="val 1649"/>
            </a:avLst>
          </a:prstGeom>
          <a:solidFill>
            <a:srgbClr val="272827"/>
          </a:solidFill>
          <a:ln w="12700">
            <a:solidFill>
              <a:srgbClr val="272827"/>
            </a:solidFill>
            <a:prstDash val="solid"/>
          </a:ln>
        </p:spPr>
      </p:sp>
      <p:sp>
        <p:nvSpPr>
          <p:cNvPr id="5" name="Text 3"/>
          <p:cNvSpPr txBox="1"/>
          <p:nvPr/>
        </p:nvSpPr>
        <p:spPr>
          <a:xfrm>
            <a:off x="822960" y="1828800"/>
            <a:ext cx="6766560" cy="274320"/>
          </a:xfrm>
          <a:prstGeom prst="rect">
            <a:avLst/>
          </a:prstGeom>
          <a:noFill/>
          <a:ln/>
        </p:spPr>
        <p:txBody>
          <a:bodyPr wrap="square" lIns="0" tIns="0" rIns="0" bIns="0" rtlCol="0" anchor="ctr"/>
          <a:lstStyle/>
          <a:p>
            <a:pPr indent="0" marL="0">
              <a:buNone/>
            </a:pPr>
            <a:r>
              <a:rPr lang="en-US" sz="1100" dirty="0">
                <a:solidFill>
                  <a:srgbClr val="FF5723"/>
                </a:solidFill>
                <a:latin typeface="JetBrains Mono" pitchFamily="34" charset="0"/>
                <a:ea typeface="JetBrains Mono" pitchFamily="34" charset="-122"/>
                <a:cs typeface="JetBrains Mono" pitchFamily="34" charset="-120"/>
              </a:rPr>
              <a:t>app/Http/Middleware/EnsureIdempotency.php</a:t>
            </a:r>
            <a:endParaRPr lang="en-US" sz="1100" dirty="0"/>
          </a:p>
        </p:txBody>
      </p:sp>
      <p:sp>
        <p:nvSpPr>
          <p:cNvPr id="6" name="Shape 4"/>
          <p:cNvSpPr/>
          <p:nvPr/>
        </p:nvSpPr>
        <p:spPr>
          <a:xfrm>
            <a:off x="822960" y="2194560"/>
            <a:ext cx="6766560" cy="0"/>
          </a:xfrm>
          <a:prstGeom prst="line">
            <a:avLst/>
          </a:prstGeom>
          <a:noFill/>
          <a:ln w="12700">
            <a:solidFill>
              <a:srgbClr val="3A3B3A"/>
            </a:solidFill>
            <a:prstDash val="solid"/>
          </a:ln>
        </p:spPr>
      </p:sp>
      <p:sp>
        <p:nvSpPr>
          <p:cNvPr id="7" name="Text 5"/>
          <p:cNvSpPr txBox="1"/>
          <p:nvPr/>
        </p:nvSpPr>
        <p:spPr>
          <a:xfrm>
            <a:off x="822960" y="2331720"/>
            <a:ext cx="6858000" cy="3657600"/>
          </a:xfrm>
          <a:prstGeom prst="rect">
            <a:avLst/>
          </a:prstGeom>
          <a:noFill/>
          <a:ln/>
        </p:spPr>
        <p:txBody>
          <a:bodyPr wrap="square" lIns="0" tIns="0" rIns="0" bIns="0" rtlCol="0" anchor="t"/>
          <a:lstStyle/>
          <a:p>
            <a:pPr indent="0" marL="0">
              <a:lnSpc>
                <a:spcPct val="105000"/>
              </a:lnSpc>
              <a:buNone/>
            </a:pPr>
            <a:r>
              <a:rPr lang="en-US" sz="1000" dirty="0">
                <a:solidFill>
                  <a:srgbClr val="F5C9A8"/>
                </a:solidFill>
                <a:latin typeface="JetBrains Mono" pitchFamily="34" charset="0"/>
                <a:ea typeface="JetBrains Mono" pitchFamily="34" charset="-122"/>
                <a:cs typeface="JetBrains Mono" pitchFamily="34" charset="-120"/>
              </a:rPr>
              <a:t>$key</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 </a:t>
            </a:r>
            <a:pPr indent="0" marL="0">
              <a:lnSpc>
                <a:spcPct val="105000"/>
              </a:lnSpc>
              <a:buNone/>
            </a:pPr>
            <a:r>
              <a:rPr lang="en-US" sz="1000" dirty="0">
                <a:solidFill>
                  <a:srgbClr val="F5C9A8"/>
                </a:solidFill>
                <a:latin typeface="JetBrains Mono" pitchFamily="34" charset="0"/>
                <a:ea typeface="JetBrains Mono" pitchFamily="34" charset="-122"/>
                <a:cs typeface="JetBrains Mono" pitchFamily="34" charset="-120"/>
              </a:rPr>
              <a:t>$request</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header</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00" dirty="0">
                <a:solidFill>
                  <a:srgbClr val="FFB59C"/>
                </a:solidFill>
                <a:latin typeface="JetBrains Mono" pitchFamily="34" charset="0"/>
                <a:ea typeface="JetBrains Mono" pitchFamily="34" charset="-122"/>
                <a:cs typeface="JetBrains Mono" pitchFamily="34" charset="-120"/>
              </a:rPr>
              <a:t>'Idempotency-Key'</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endParaRPr lang="en-US" sz="1000" dirty="0"/>
          </a:p>
          <a:p>
            <a:pPr indent="0" marL="0">
              <a:lnSpc>
                <a:spcPct val="105000"/>
              </a:lnSpc>
              <a:buNone/>
            </a:pPr>
            <a:r>
              <a:rPr lang="en-US" sz="1000" dirty="0">
                <a:solidFill>
                  <a:srgbClr val="FF5723"/>
                </a:solidFill>
                <a:latin typeface="JetBrains Mono" pitchFamily="34" charset="0"/>
                <a:ea typeface="JetBrains Mono" pitchFamily="34" charset="-122"/>
                <a:cs typeface="JetBrains Mono" pitchFamily="34" charset="-120"/>
              </a:rPr>
              <a:t>if</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 </a:t>
            </a:r>
            <a:pPr indent="0" marL="0">
              <a:lnSpc>
                <a:spcPct val="105000"/>
              </a:lnSpc>
              <a:buNone/>
            </a:pPr>
            <a:r>
              <a:rPr lang="en-US" sz="1000" dirty="0">
                <a:solidFill>
                  <a:srgbClr val="F5C9A8"/>
                </a:solidFill>
                <a:latin typeface="JetBrains Mono" pitchFamily="34" charset="0"/>
                <a:ea typeface="JetBrains Mono" pitchFamily="34" charset="-122"/>
                <a:cs typeface="JetBrains Mono" pitchFamily="34" charset="-120"/>
              </a:rPr>
              <a:t>$key</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 </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strlen</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00" dirty="0">
                <a:solidFill>
                  <a:srgbClr val="F5C9A8"/>
                </a:solidFill>
                <a:latin typeface="JetBrains Mono" pitchFamily="34" charset="0"/>
                <a:ea typeface="JetBrains Mono" pitchFamily="34" charset="-122"/>
                <a:cs typeface="JetBrains Mono" pitchFamily="34" charset="-120"/>
              </a:rPr>
              <a:t>$key</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&gt; 255) {</a:t>
            </a:r>
            <a:endParaRPr lang="en-US" sz="1000" dirty="0"/>
          </a:p>
          <a:p>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FF5723"/>
                </a:solidFill>
                <a:latin typeface="JetBrains Mono" pitchFamily="34" charset="0"/>
                <a:ea typeface="JetBrains Mono" pitchFamily="34" charset="-122"/>
                <a:cs typeface="JetBrains Mono" pitchFamily="34" charset="-120"/>
              </a:rPr>
              <a:t>return</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response</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json</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00" dirty="0">
                <a:solidFill>
                  <a:srgbClr val="FFB59C"/>
                </a:solidFill>
                <a:latin typeface="JetBrains Mono" pitchFamily="34" charset="0"/>
                <a:ea typeface="JetBrains Mono" pitchFamily="34" charset="-122"/>
                <a:cs typeface="JetBrains Mono" pitchFamily="34" charset="-120"/>
              </a:rPr>
              <a:t>'message'</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=&gt; </a:t>
            </a:r>
            <a:pPr indent="0" marL="0">
              <a:lnSpc>
                <a:spcPct val="105000"/>
              </a:lnSpc>
              <a:buNone/>
            </a:pPr>
            <a:r>
              <a:rPr lang="en-US" sz="1000" dirty="0">
                <a:solidFill>
                  <a:srgbClr val="FFB59C"/>
                </a:solidFill>
                <a:latin typeface="JetBrains Mono" pitchFamily="34" charset="0"/>
                <a:ea typeface="JetBrains Mono" pitchFamily="34" charset="-122"/>
                <a:cs typeface="JetBrains Mono" pitchFamily="34" charset="-120"/>
              </a:rPr>
              <a:t>'...is required.'</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400);</a:t>
            </a:r>
            <a:endParaRPr lang="en-US" sz="1000" dirty="0"/>
          </a:p>
          <a:p>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endParaRPr lang="en-US" sz="1000" dirty="0"/>
          </a:p>
          <a:p>
            <a:pPr indent="0" marL="0">
              <a:lnSpc>
                <a:spcPct val="105000"/>
              </a:lnSpc>
              <a:buNone/>
            </a:pPr>
            <a:r>
              <a:rPr lang="en-US" sz="1000" dirty="0">
                <a:solidFill>
                  <a:srgbClr val="F5C9A8"/>
                </a:solidFill>
                <a:latin typeface="JetBrains Mono" pitchFamily="34" charset="0"/>
                <a:ea typeface="JetBrains Mono" pitchFamily="34" charset="-122"/>
                <a:cs typeface="JetBrains Mono" pitchFamily="34" charset="-120"/>
              </a:rPr>
              <a:t>$hash</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 </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hash</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00" dirty="0">
                <a:solidFill>
                  <a:srgbClr val="FFB59C"/>
                </a:solidFill>
                <a:latin typeface="JetBrains Mono" pitchFamily="34" charset="0"/>
                <a:ea typeface="JetBrains Mono" pitchFamily="34" charset="-122"/>
                <a:cs typeface="JetBrains Mono" pitchFamily="34" charset="-120"/>
              </a:rPr>
              <a:t>'sha256'</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F5C9A8"/>
                </a:solidFill>
                <a:latin typeface="JetBrains Mono" pitchFamily="34" charset="0"/>
                <a:ea typeface="JetBrains Mono" pitchFamily="34" charset="-122"/>
                <a:cs typeface="JetBrains Mono" pitchFamily="34" charset="-120"/>
              </a:rPr>
              <a:t>$request</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method</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00" dirty="0">
                <a:solidFill>
                  <a:srgbClr val="F5C9A8"/>
                </a:solidFill>
                <a:latin typeface="JetBrains Mono" pitchFamily="34" charset="0"/>
                <a:ea typeface="JetBrains Mono" pitchFamily="34" charset="-122"/>
                <a:cs typeface="JetBrains Mono" pitchFamily="34" charset="-120"/>
              </a:rPr>
              <a:t>$request</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path</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00" dirty="0">
                <a:solidFill>
                  <a:srgbClr val="F5C9A8"/>
                </a:solidFill>
                <a:latin typeface="JetBrains Mono" pitchFamily="34" charset="0"/>
                <a:ea typeface="JetBrains Mono" pitchFamily="34" charset="-122"/>
                <a:cs typeface="JetBrains Mono" pitchFamily="34" charset="-120"/>
              </a:rPr>
              <a:t>$request</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getContent</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endParaRPr lang="en-US" sz="1000" dirty="0"/>
          </a:p>
          <a:p>
            <a:pPr indent="0" marL="0">
              <a:lnSpc>
                <a:spcPct val="105000"/>
              </a:lnSpc>
              <a:buNone/>
            </a:pPr>
            <a:r>
              <a:rPr lang="en-US" sz="1000" dirty="0">
                <a:solidFill>
                  <a:srgbClr val="F5C9A8"/>
                </a:solidFill>
                <a:highlight>
                  <a:srgbClr val="4A3A33"/>
                </a:highlight>
                <a:latin typeface="JetBrains Mono" pitchFamily="34" charset="0"/>
                <a:ea typeface="JetBrains Mono" pitchFamily="34" charset="-122"/>
                <a:cs typeface="JetBrains Mono" pitchFamily="34" charset="-120"/>
              </a:rPr>
              <a:t>$record</a:t>
            </a:r>
            <a:pPr indent="0" marL="0">
              <a:lnSpc>
                <a:spcPct val="105000"/>
              </a:lnSpc>
              <a:buNone/>
            </a:pPr>
            <a:r>
              <a:rPr lang="en-US" sz="1000" dirty="0">
                <a:solidFill>
                  <a:srgbClr val="FFFFFF"/>
                </a:solidFill>
                <a:highlight>
                  <a:srgbClr val="4A3A33"/>
                </a:highlight>
                <a:latin typeface="JetBrains Mono" pitchFamily="34" charset="0"/>
                <a:ea typeface="JetBrains Mono" pitchFamily="34" charset="-122"/>
                <a:cs typeface="JetBrains Mono" pitchFamily="34" charset="-120"/>
              </a:rPr>
              <a:t> = </a:t>
            </a:r>
            <a:pPr indent="0" marL="0">
              <a:lnSpc>
                <a:spcPct val="105000"/>
              </a:lnSpc>
              <a:buNone/>
            </a:pPr>
            <a:r>
              <a:rPr lang="en-US" sz="1000" dirty="0">
                <a:solidFill>
                  <a:srgbClr val="F5C9A8"/>
                </a:solidFill>
                <a:highlight>
                  <a:srgbClr val="4A3A33"/>
                </a:highlight>
                <a:latin typeface="JetBrains Mono" pitchFamily="34" charset="0"/>
                <a:ea typeface="JetBrains Mono" pitchFamily="34" charset="-122"/>
                <a:cs typeface="JetBrains Mono" pitchFamily="34" charset="-120"/>
              </a:rPr>
              <a:t>$this</a:t>
            </a:r>
            <a:pPr indent="0" marL="0">
              <a:lnSpc>
                <a:spcPct val="105000"/>
              </a:lnSpc>
              <a:buNone/>
            </a:pPr>
            <a:r>
              <a:rPr lang="en-US" sz="1000" dirty="0">
                <a:solidFill>
                  <a:srgbClr val="FFFFFF"/>
                </a:solidFill>
                <a:highlight>
                  <a:srgbClr val="4A3A33"/>
                </a:highlight>
                <a:latin typeface="JetBrains Mono" pitchFamily="34" charset="0"/>
                <a:ea typeface="JetBrains Mono" pitchFamily="34" charset="-122"/>
                <a:cs typeface="JetBrains Mono" pitchFamily="34" charset="-120"/>
              </a:rPr>
              <a:t>-&gt;</a:t>
            </a:r>
            <a:pPr indent="0" marL="0">
              <a:lnSpc>
                <a:spcPct val="105000"/>
              </a:lnSpc>
              <a:buNone/>
            </a:pPr>
            <a:r>
              <a:rPr lang="en-US" sz="1000" dirty="0">
                <a:solidFill>
                  <a:srgbClr val="FFFFFF"/>
                </a:solidFill>
                <a:highlight>
                  <a:srgbClr val="4A3A33"/>
                </a:highlight>
                <a:latin typeface="JetBrains Mono" pitchFamily="34" charset="0"/>
                <a:ea typeface="JetBrains Mono" pitchFamily="34" charset="-122"/>
                <a:cs typeface="JetBrains Mono" pitchFamily="34" charset="-120"/>
              </a:rPr>
              <a:t>claim</a:t>
            </a:r>
            <a:pPr indent="0" marL="0">
              <a:lnSpc>
                <a:spcPct val="105000"/>
              </a:lnSpc>
              <a:buNone/>
            </a:pPr>
            <a:r>
              <a:rPr lang="en-US" sz="1000" dirty="0">
                <a:solidFill>
                  <a:srgbClr val="FFFFFF"/>
                </a:solidFill>
                <a:highlight>
                  <a:srgbClr val="4A3A33"/>
                </a:highlight>
                <a:latin typeface="JetBrains Mono" pitchFamily="34" charset="0"/>
                <a:ea typeface="JetBrains Mono" pitchFamily="34" charset="-122"/>
                <a:cs typeface="JetBrains Mono" pitchFamily="34" charset="-120"/>
              </a:rPr>
              <a:t>(</a:t>
            </a:r>
            <a:pPr indent="0" marL="0">
              <a:lnSpc>
                <a:spcPct val="105000"/>
              </a:lnSpc>
              <a:buNone/>
            </a:pPr>
            <a:r>
              <a:rPr lang="en-US" sz="1000" dirty="0">
                <a:solidFill>
                  <a:srgbClr val="F5C9A8"/>
                </a:solidFill>
                <a:highlight>
                  <a:srgbClr val="4A3A33"/>
                </a:highlight>
                <a:latin typeface="JetBrains Mono" pitchFamily="34" charset="0"/>
                <a:ea typeface="JetBrains Mono" pitchFamily="34" charset="-122"/>
                <a:cs typeface="JetBrains Mono" pitchFamily="34" charset="-120"/>
              </a:rPr>
              <a:t>$request</a:t>
            </a:r>
            <a:pPr indent="0" marL="0">
              <a:lnSpc>
                <a:spcPct val="105000"/>
              </a:lnSpc>
              <a:buNone/>
            </a:pPr>
            <a:r>
              <a:rPr lang="en-US" sz="1000" dirty="0">
                <a:solidFill>
                  <a:srgbClr val="FFFFFF"/>
                </a:solidFill>
                <a:highlight>
                  <a:srgbClr val="4A3A33"/>
                </a:highlight>
                <a:latin typeface="JetBrains Mono" pitchFamily="34" charset="0"/>
                <a:ea typeface="JetBrains Mono" pitchFamily="34" charset="-122"/>
                <a:cs typeface="JetBrains Mono" pitchFamily="34" charset="-120"/>
              </a:rPr>
              <a:t>-&gt;</a:t>
            </a:r>
            <a:pPr indent="0" marL="0">
              <a:lnSpc>
                <a:spcPct val="105000"/>
              </a:lnSpc>
              <a:buNone/>
            </a:pPr>
            <a:r>
              <a:rPr lang="en-US" sz="1000" dirty="0">
                <a:solidFill>
                  <a:srgbClr val="FFFFFF"/>
                </a:solidFill>
                <a:highlight>
                  <a:srgbClr val="4A3A33"/>
                </a:highlight>
                <a:latin typeface="JetBrains Mono" pitchFamily="34" charset="0"/>
                <a:ea typeface="JetBrains Mono" pitchFamily="34" charset="-122"/>
                <a:cs typeface="JetBrains Mono" pitchFamily="34" charset="-120"/>
              </a:rPr>
              <a:t>user</a:t>
            </a:r>
            <a:pPr indent="0" marL="0">
              <a:lnSpc>
                <a:spcPct val="105000"/>
              </a:lnSpc>
              <a:buNone/>
            </a:pPr>
            <a:r>
              <a:rPr lang="en-US" sz="1000" dirty="0">
                <a:solidFill>
                  <a:srgbClr val="FFFFFF"/>
                </a:solidFill>
                <a:highlight>
                  <a:srgbClr val="4A3A33"/>
                </a:highlight>
                <a:latin typeface="JetBrains Mono" pitchFamily="34" charset="0"/>
                <a:ea typeface="JetBrains Mono" pitchFamily="34" charset="-122"/>
                <a:cs typeface="JetBrains Mono" pitchFamily="34" charset="-120"/>
              </a:rPr>
              <a:t>()-&gt;</a:t>
            </a:r>
            <a:pPr indent="0" marL="0">
              <a:lnSpc>
                <a:spcPct val="105000"/>
              </a:lnSpc>
              <a:buNone/>
            </a:pPr>
            <a:r>
              <a:rPr lang="en-US" sz="1000" dirty="0">
                <a:solidFill>
                  <a:srgbClr val="FFFFFF"/>
                </a:solidFill>
                <a:highlight>
                  <a:srgbClr val="4A3A33"/>
                </a:highlight>
                <a:latin typeface="JetBrains Mono" pitchFamily="34" charset="0"/>
                <a:ea typeface="JetBrains Mono" pitchFamily="34" charset="-122"/>
                <a:cs typeface="JetBrains Mono" pitchFamily="34" charset="-120"/>
              </a:rPr>
              <a:t>id</a:t>
            </a:r>
            <a:pPr indent="0" marL="0">
              <a:lnSpc>
                <a:spcPct val="105000"/>
              </a:lnSpc>
              <a:buNone/>
            </a:pPr>
            <a:r>
              <a:rPr lang="en-US" sz="1000" dirty="0">
                <a:solidFill>
                  <a:srgbClr val="FFFFFF"/>
                </a:solidFill>
                <a:highlight>
                  <a:srgbClr val="4A3A33"/>
                </a:highlight>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F5C9A8"/>
                </a:solidFill>
                <a:highlight>
                  <a:srgbClr val="4A3A33"/>
                </a:highlight>
                <a:latin typeface="JetBrains Mono" pitchFamily="34" charset="0"/>
                <a:ea typeface="JetBrains Mono" pitchFamily="34" charset="-122"/>
                <a:cs typeface="JetBrains Mono" pitchFamily="34" charset="-120"/>
              </a:rPr>
              <a:t>$key</a:t>
            </a:r>
            <a:pPr indent="0" marL="0">
              <a:lnSpc>
                <a:spcPct val="105000"/>
              </a:lnSpc>
              <a:buNone/>
            </a:pPr>
            <a:r>
              <a:rPr lang="en-US" sz="1000" dirty="0">
                <a:solidFill>
                  <a:srgbClr val="FFFFFF"/>
                </a:solidFill>
                <a:highlight>
                  <a:srgbClr val="4A3A33"/>
                </a:highlight>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F5C9A8"/>
                </a:solidFill>
                <a:highlight>
                  <a:srgbClr val="4A3A33"/>
                </a:highlight>
                <a:latin typeface="JetBrains Mono" pitchFamily="34" charset="0"/>
                <a:ea typeface="JetBrains Mono" pitchFamily="34" charset="-122"/>
                <a:cs typeface="JetBrains Mono" pitchFamily="34" charset="-120"/>
              </a:rPr>
              <a:t>$hash</a:t>
            </a:r>
            <a:pPr indent="0" marL="0">
              <a:lnSpc>
                <a:spcPct val="105000"/>
              </a:lnSpc>
              <a:buNone/>
            </a:pPr>
            <a:r>
              <a:rPr lang="en-US" sz="1000" dirty="0">
                <a:solidFill>
                  <a:srgbClr val="FFFFFF"/>
                </a:solidFill>
                <a:highlight>
                  <a:srgbClr val="4A3A33"/>
                </a:highlight>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8B8F97"/>
                </a:solidFill>
                <a:highlight>
                  <a:srgbClr val="4A3A33"/>
                </a:highlight>
                <a:latin typeface="JetBrains Mono" pitchFamily="34" charset="0"/>
                <a:ea typeface="JetBrains Mono" pitchFamily="34" charset="-122"/>
                <a:cs typeface="JetBrains Mono" pitchFamily="34" charset="-120"/>
              </a:rPr>
              <a:t>// createOrFirst</a:t>
            </a:r>
            <a:endParaRPr lang="en-US" sz="1000" dirty="0"/>
          </a:p>
          <a:p>
            <a:pPr indent="0" marL="0">
              <a:lnSpc>
                <a:spcPct val="105000"/>
              </a:lnSpc>
              <a:buNone/>
            </a:pPr>
            <a:r>
              <a:rPr lang="en-US" sz="1000" dirty="0">
                <a:solidFill>
                  <a:srgbClr val="000000"/>
                </a:solidFill>
                <a:latin typeface="JetBrains Mono" pitchFamily="34" charset="0"/>
                <a:ea typeface="JetBrains Mono" pitchFamily="34" charset="-122"/>
                <a:cs typeface="JetBrains Mono" pitchFamily="34" charset="-120"/>
              </a:rPr>
              <a:t> </a:t>
            </a:r>
            <a:endParaRPr lang="en-US" sz="1000" dirty="0"/>
          </a:p>
          <a:p>
            <a:pPr indent="0" marL="0">
              <a:lnSpc>
                <a:spcPct val="105000"/>
              </a:lnSpc>
              <a:buNone/>
            </a:pPr>
            <a:r>
              <a:rPr lang="en-US" sz="1000" dirty="0">
                <a:solidFill>
                  <a:srgbClr val="FF5723"/>
                </a:solidFill>
                <a:latin typeface="JetBrains Mono" pitchFamily="34" charset="0"/>
                <a:ea typeface="JetBrains Mono" pitchFamily="34" charset="-122"/>
                <a:cs typeface="JetBrains Mono" pitchFamily="34" charset="-120"/>
              </a:rPr>
              <a:t>if</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 </a:t>
            </a:r>
            <a:pPr indent="0" marL="0">
              <a:lnSpc>
                <a:spcPct val="105000"/>
              </a:lnSpc>
              <a:buNone/>
            </a:pPr>
            <a:r>
              <a:rPr lang="en-US" sz="1000" dirty="0">
                <a:solidFill>
                  <a:srgbClr val="F5C9A8"/>
                </a:solidFill>
                <a:latin typeface="JetBrains Mono" pitchFamily="34" charset="0"/>
                <a:ea typeface="JetBrains Mono" pitchFamily="34" charset="-122"/>
                <a:cs typeface="JetBrains Mono" pitchFamily="34" charset="-120"/>
              </a:rPr>
              <a:t>$record</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wasRecentlyCreated</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endParaRPr lang="en-US" sz="1000" dirty="0"/>
          </a:p>
          <a:p>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FF5723"/>
                </a:solidFill>
                <a:latin typeface="JetBrains Mono" pitchFamily="34" charset="0"/>
                <a:ea typeface="JetBrains Mono" pitchFamily="34" charset="-122"/>
                <a:cs typeface="JetBrains Mono" pitchFamily="34" charset="-120"/>
              </a:rPr>
              <a:t>if</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F5C9A8"/>
                </a:solidFill>
                <a:latin typeface="JetBrains Mono" pitchFamily="34" charset="0"/>
                <a:ea typeface="JetBrains Mono" pitchFamily="34" charset="-122"/>
                <a:cs typeface="JetBrains Mono" pitchFamily="34" charset="-120"/>
              </a:rPr>
              <a:t>$record</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request_hash</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 </a:t>
            </a:r>
            <a:pPr indent="0" marL="0">
              <a:lnSpc>
                <a:spcPct val="105000"/>
              </a:lnSpc>
              <a:buNone/>
            </a:pPr>
            <a:r>
              <a:rPr lang="en-US" sz="1000" dirty="0">
                <a:solidFill>
                  <a:srgbClr val="F5C9A8"/>
                </a:solidFill>
                <a:latin typeface="JetBrains Mono" pitchFamily="34" charset="0"/>
                <a:ea typeface="JetBrains Mono" pitchFamily="34" charset="-122"/>
                <a:cs typeface="JetBrains Mono" pitchFamily="34" charset="-120"/>
              </a:rPr>
              <a:t>$hash</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FF5723"/>
                </a:solidFill>
                <a:latin typeface="JetBrains Mono" pitchFamily="34" charset="0"/>
                <a:ea typeface="JetBrains Mono" pitchFamily="34" charset="-122"/>
                <a:cs typeface="JetBrains Mono" pitchFamily="34" charset="-120"/>
              </a:rPr>
              <a:t>return</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response</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json</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422);</a:t>
            </a:r>
            <a:endParaRPr lang="en-US" sz="1000" dirty="0"/>
          </a:p>
          <a:p>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FF5723"/>
                </a:solidFill>
                <a:latin typeface="JetBrains Mono" pitchFamily="34" charset="0"/>
                <a:ea typeface="JetBrains Mono" pitchFamily="34" charset="-122"/>
                <a:cs typeface="JetBrains Mono" pitchFamily="34" charset="-120"/>
              </a:rPr>
              <a:t>if</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F5C9A8"/>
                </a:solidFill>
                <a:latin typeface="JetBrains Mono" pitchFamily="34" charset="0"/>
                <a:ea typeface="JetBrains Mono" pitchFamily="34" charset="-122"/>
                <a:cs typeface="JetBrains Mono" pitchFamily="34" charset="-120"/>
              </a:rPr>
              <a:t>$record</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response_status</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 </a:t>
            </a:r>
            <a:pPr indent="0" marL="0">
              <a:lnSpc>
                <a:spcPct val="105000"/>
              </a:lnSpc>
              <a:buNone/>
            </a:pPr>
            <a:r>
              <a:rPr lang="en-US" sz="1000" dirty="0">
                <a:solidFill>
                  <a:srgbClr val="FF5723"/>
                </a:solidFill>
                <a:latin typeface="JetBrains Mono" pitchFamily="34" charset="0"/>
                <a:ea typeface="JetBrains Mono" pitchFamily="34" charset="-122"/>
                <a:cs typeface="JetBrains Mono" pitchFamily="34" charset="-120"/>
              </a:rPr>
              <a:t>null</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FF5723"/>
                </a:solidFill>
                <a:latin typeface="JetBrains Mono" pitchFamily="34" charset="0"/>
                <a:ea typeface="JetBrains Mono" pitchFamily="34" charset="-122"/>
                <a:cs typeface="JetBrains Mono" pitchFamily="34" charset="-120"/>
              </a:rPr>
              <a:t>return</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response</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json</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409);</a:t>
            </a:r>
            <a:endParaRPr lang="en-US" sz="1000" dirty="0"/>
          </a:p>
          <a:p>
            <a:pPr indent="0" marL="0">
              <a:lnSpc>
                <a:spcPct val="105000"/>
              </a:lnSpc>
              <a:buNone/>
            </a:pPr>
            <a:r>
              <a:rPr lang="en-US" sz="1000" dirty="0">
                <a:solidFill>
                  <a:srgbClr val="000000"/>
                </a:solidFill>
                <a:latin typeface="JetBrains Mono" pitchFamily="34" charset="0"/>
                <a:ea typeface="JetBrains Mono" pitchFamily="34" charset="-122"/>
                <a:cs typeface="JetBrains Mono" pitchFamily="34" charset="-120"/>
              </a:rPr>
              <a:t> </a:t>
            </a:r>
            <a:endParaRPr lang="en-US" sz="1000" dirty="0"/>
          </a:p>
          <a:p>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FF5723"/>
                </a:solidFill>
                <a:latin typeface="JetBrains Mono" pitchFamily="34" charset="0"/>
                <a:ea typeface="JetBrains Mono" pitchFamily="34" charset="-122"/>
                <a:cs typeface="JetBrains Mono" pitchFamily="34" charset="-120"/>
              </a:rPr>
              <a:t>return</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response</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00" dirty="0">
                <a:solidFill>
                  <a:srgbClr val="F5C9A8"/>
                </a:solidFill>
                <a:latin typeface="JetBrains Mono" pitchFamily="34" charset="0"/>
                <a:ea typeface="JetBrains Mono" pitchFamily="34" charset="-122"/>
                <a:cs typeface="JetBrains Mono" pitchFamily="34" charset="-120"/>
              </a:rPr>
              <a:t>$record</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response_body</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F5C9A8"/>
                </a:solidFill>
                <a:latin typeface="JetBrains Mono" pitchFamily="34" charset="0"/>
                <a:ea typeface="JetBrains Mono" pitchFamily="34" charset="-122"/>
                <a:cs typeface="JetBrains Mono" pitchFamily="34" charset="-120"/>
              </a:rPr>
              <a:t>$record</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response_status</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endParaRPr lang="en-US" sz="1000" dirty="0"/>
          </a:p>
          <a:p>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-&gt;</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header</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00" dirty="0">
                <a:solidFill>
                  <a:srgbClr val="FFB59C"/>
                </a:solidFill>
                <a:latin typeface="JetBrains Mono" pitchFamily="34" charset="0"/>
                <a:ea typeface="JetBrains Mono" pitchFamily="34" charset="-122"/>
                <a:cs typeface="JetBrains Mono" pitchFamily="34" charset="-120"/>
              </a:rPr>
              <a:t>'Content-Type'</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FFB59C"/>
                </a:solidFill>
                <a:latin typeface="JetBrains Mono" pitchFamily="34" charset="0"/>
                <a:ea typeface="JetBrains Mono" pitchFamily="34" charset="-122"/>
                <a:cs typeface="JetBrains Mono" pitchFamily="34" charset="-120"/>
              </a:rPr>
              <a:t>'application/json'</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endParaRPr lang="en-US" sz="1000" dirty="0"/>
          </a:p>
          <a:p>
            <a:pPr indent="0" marL="0">
              <a:lnSpc>
                <a:spcPct val="105000"/>
              </a:lnSpc>
              <a:buNone/>
            </a:pPr>
            <a:r>
              <a:rPr lang="en-US" sz="1000" dirty="0">
                <a:solidFill>
                  <a:srgbClr val="FFFFFF"/>
                </a:solidFill>
                <a:highlight>
                  <a:srgbClr val="4A3A33"/>
                </a:highlight>
                <a:latin typeface="JetBrains Mono" pitchFamily="34" charset="0"/>
                <a:ea typeface="JetBrains Mono" pitchFamily="34" charset="-122"/>
                <a:cs typeface="JetBrains Mono" pitchFamily="34" charset="-120"/>
              </a:rPr>
              <a:t>        -&gt;</a:t>
            </a:r>
            <a:pPr indent="0" marL="0">
              <a:lnSpc>
                <a:spcPct val="105000"/>
              </a:lnSpc>
              <a:buNone/>
            </a:pPr>
            <a:r>
              <a:rPr lang="en-US" sz="1000" dirty="0">
                <a:solidFill>
                  <a:srgbClr val="FFFFFF"/>
                </a:solidFill>
                <a:highlight>
                  <a:srgbClr val="4A3A33"/>
                </a:highlight>
                <a:latin typeface="JetBrains Mono" pitchFamily="34" charset="0"/>
                <a:ea typeface="JetBrains Mono" pitchFamily="34" charset="-122"/>
                <a:cs typeface="JetBrains Mono" pitchFamily="34" charset="-120"/>
              </a:rPr>
              <a:t>header</a:t>
            </a:r>
            <a:pPr indent="0" marL="0">
              <a:lnSpc>
                <a:spcPct val="105000"/>
              </a:lnSpc>
              <a:buNone/>
            </a:pPr>
            <a:r>
              <a:rPr lang="en-US" sz="1000" dirty="0">
                <a:solidFill>
                  <a:srgbClr val="FFFFFF"/>
                </a:solidFill>
                <a:highlight>
                  <a:srgbClr val="4A3A33"/>
                </a:highlight>
                <a:latin typeface="JetBrains Mono" pitchFamily="34" charset="0"/>
                <a:ea typeface="JetBrains Mono" pitchFamily="34" charset="-122"/>
                <a:cs typeface="JetBrains Mono" pitchFamily="34" charset="-120"/>
              </a:rPr>
              <a:t>(</a:t>
            </a:r>
            <a:pPr indent="0" marL="0">
              <a:lnSpc>
                <a:spcPct val="105000"/>
              </a:lnSpc>
              <a:buNone/>
            </a:pPr>
            <a:r>
              <a:rPr lang="en-US" sz="1000" dirty="0">
                <a:solidFill>
                  <a:srgbClr val="FFB59C"/>
                </a:solidFill>
                <a:highlight>
                  <a:srgbClr val="4A3A33"/>
                </a:highlight>
                <a:latin typeface="JetBrains Mono" pitchFamily="34" charset="0"/>
                <a:ea typeface="JetBrains Mono" pitchFamily="34" charset="-122"/>
                <a:cs typeface="JetBrains Mono" pitchFamily="34" charset="-120"/>
              </a:rPr>
              <a:t>'Idempotent-Replayed'</a:t>
            </a:r>
            <a:pPr indent="0" marL="0">
              <a:lnSpc>
                <a:spcPct val="105000"/>
              </a:lnSpc>
              <a:buNone/>
            </a:pPr>
            <a:r>
              <a:rPr lang="en-US" sz="1000" dirty="0">
                <a:solidFill>
                  <a:srgbClr val="FFFFFF"/>
                </a:solidFill>
                <a:highlight>
                  <a:srgbClr val="4A3A33"/>
                </a:highlight>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FFB59C"/>
                </a:solidFill>
                <a:highlight>
                  <a:srgbClr val="4A3A33"/>
                </a:highlight>
                <a:latin typeface="JetBrains Mono" pitchFamily="34" charset="0"/>
                <a:ea typeface="JetBrains Mono" pitchFamily="34" charset="-122"/>
                <a:cs typeface="JetBrains Mono" pitchFamily="34" charset="-120"/>
              </a:rPr>
              <a:t>'true'</a:t>
            </a:r>
            <a:pPr indent="0" marL="0">
              <a:lnSpc>
                <a:spcPct val="105000"/>
              </a:lnSpc>
              <a:buNone/>
            </a:pPr>
            <a:r>
              <a:rPr lang="en-US" sz="1000" dirty="0">
                <a:solidFill>
                  <a:srgbClr val="FFFFFF"/>
                </a:solidFill>
                <a:highlight>
                  <a:srgbClr val="4A3A33"/>
                </a:highlight>
                <a:latin typeface="JetBrains Mono" pitchFamily="34" charset="0"/>
                <a:ea typeface="JetBrains Mono" pitchFamily="34" charset="-122"/>
                <a:cs typeface="JetBrains Mono" pitchFamily="34" charset="-120"/>
              </a:rPr>
              <a:t>);</a:t>
            </a:r>
            <a:endParaRPr lang="en-US" sz="1000" dirty="0"/>
          </a:p>
          <a:p>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endParaRPr lang="en-US" sz="1000" dirty="0"/>
          </a:p>
          <a:p>
            <a:pPr indent="0" marL="0">
              <a:lnSpc>
                <a:spcPct val="105000"/>
              </a:lnSpc>
              <a:buNone/>
            </a:pPr>
            <a:r>
              <a:rPr lang="en-US" sz="1000" dirty="0">
                <a:solidFill>
                  <a:srgbClr val="000000"/>
                </a:solidFill>
                <a:latin typeface="JetBrains Mono" pitchFamily="34" charset="0"/>
                <a:ea typeface="JetBrains Mono" pitchFamily="34" charset="-122"/>
                <a:cs typeface="JetBrains Mono" pitchFamily="34" charset="-120"/>
              </a:rPr>
              <a:t> </a:t>
            </a:r>
            <a:endParaRPr lang="en-US" sz="1000" dirty="0"/>
          </a:p>
          <a:p>
            <a:pPr indent="0" marL="0">
              <a:lnSpc>
                <a:spcPct val="105000"/>
              </a:lnSpc>
              <a:buNone/>
            </a:pPr>
            <a:r>
              <a:rPr lang="en-US" sz="1000" dirty="0">
                <a:solidFill>
                  <a:srgbClr val="F5C9A8"/>
                </a:solidFill>
                <a:latin typeface="JetBrains Mono" pitchFamily="34" charset="0"/>
                <a:ea typeface="JetBrains Mono" pitchFamily="34" charset="-122"/>
                <a:cs typeface="JetBrains Mono" pitchFamily="34" charset="-120"/>
              </a:rPr>
              <a:t>$response</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 </a:t>
            </a:r>
            <a:pPr indent="0" marL="0">
              <a:lnSpc>
                <a:spcPct val="105000"/>
              </a:lnSpc>
              <a:buNone/>
            </a:pPr>
            <a:r>
              <a:rPr lang="en-US" sz="1000" dirty="0">
                <a:solidFill>
                  <a:srgbClr val="F5C9A8"/>
                </a:solidFill>
                <a:latin typeface="JetBrains Mono" pitchFamily="34" charset="0"/>
                <a:ea typeface="JetBrains Mono" pitchFamily="34" charset="-122"/>
                <a:cs typeface="JetBrains Mono" pitchFamily="34" charset="-120"/>
              </a:rPr>
              <a:t>$next</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00" dirty="0">
                <a:solidFill>
                  <a:srgbClr val="F5C9A8"/>
                </a:solidFill>
                <a:latin typeface="JetBrains Mono" pitchFamily="34" charset="0"/>
                <a:ea typeface="JetBrains Mono" pitchFamily="34" charset="-122"/>
                <a:cs typeface="JetBrains Mono" pitchFamily="34" charset="-120"/>
              </a:rPr>
              <a:t>$request</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endParaRPr lang="en-US" sz="1000" dirty="0"/>
          </a:p>
          <a:p>
            <a:pPr indent="0" marL="0">
              <a:lnSpc>
                <a:spcPct val="105000"/>
              </a:lnSpc>
              <a:buNone/>
            </a:pPr>
            <a:r>
              <a:rPr lang="en-US" sz="1000" dirty="0">
                <a:solidFill>
                  <a:srgbClr val="F5C9A8"/>
                </a:solidFill>
                <a:latin typeface="JetBrains Mono" pitchFamily="34" charset="0"/>
                <a:ea typeface="JetBrains Mono" pitchFamily="34" charset="-122"/>
                <a:cs typeface="JetBrains Mono" pitchFamily="34" charset="-120"/>
              </a:rPr>
              <a:t>$response</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getStatusCode</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&gt;= 500</a:t>
            </a:r>
            <a:endParaRPr lang="en-US" sz="1000" dirty="0"/>
          </a:p>
          <a:p>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 </a:t>
            </a:r>
            <a:pPr indent="0" marL="0">
              <a:lnSpc>
                <a:spcPct val="105000"/>
              </a:lnSpc>
              <a:buNone/>
            </a:pPr>
            <a:r>
              <a:rPr lang="en-US" sz="1000" dirty="0">
                <a:solidFill>
                  <a:srgbClr val="F5C9A8"/>
                </a:solidFill>
                <a:latin typeface="JetBrains Mono" pitchFamily="34" charset="0"/>
                <a:ea typeface="JetBrains Mono" pitchFamily="34" charset="-122"/>
                <a:cs typeface="JetBrains Mono" pitchFamily="34" charset="-120"/>
              </a:rPr>
              <a:t>$record</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delete</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8B8F97"/>
                </a:solidFill>
                <a:latin typeface="JetBrains Mono" pitchFamily="34" charset="0"/>
                <a:ea typeface="JetBrains Mono" pitchFamily="34" charset="-122"/>
                <a:cs typeface="JetBrains Mono" pitchFamily="34" charset="-120"/>
              </a:rPr>
              <a:t>// let the client retry</a:t>
            </a:r>
            <a:endParaRPr lang="en-US" sz="1000" dirty="0"/>
          </a:p>
          <a:p>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 </a:t>
            </a:r>
            <a:pPr indent="0" marL="0">
              <a:lnSpc>
                <a:spcPct val="105000"/>
              </a:lnSpc>
              <a:buNone/>
            </a:pPr>
            <a:r>
              <a:rPr lang="en-US" sz="1000" dirty="0">
                <a:solidFill>
                  <a:srgbClr val="F5C9A8"/>
                </a:solidFill>
                <a:latin typeface="JetBrains Mono" pitchFamily="34" charset="0"/>
                <a:ea typeface="JetBrains Mono" pitchFamily="34" charset="-122"/>
                <a:cs typeface="JetBrains Mono" pitchFamily="34" charset="-120"/>
              </a:rPr>
              <a:t>$record</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update</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00" dirty="0">
                <a:solidFill>
                  <a:srgbClr val="FFB59C"/>
                </a:solidFill>
                <a:latin typeface="JetBrains Mono" pitchFamily="34" charset="0"/>
                <a:ea typeface="JetBrains Mono" pitchFamily="34" charset="-122"/>
                <a:cs typeface="JetBrains Mono" pitchFamily="34" charset="-120"/>
              </a:rPr>
              <a:t>'response_status'</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=&gt; </a:t>
            </a:r>
            <a:pPr indent="0" marL="0">
              <a:lnSpc>
                <a:spcPct val="105000"/>
              </a:lnSpc>
              <a:buNone/>
            </a:pPr>
            <a:r>
              <a:rPr lang="en-US" sz="1000" dirty="0">
                <a:solidFill>
                  <a:srgbClr val="F5C9A8"/>
                </a:solidFill>
                <a:latin typeface="JetBrains Mono" pitchFamily="34" charset="0"/>
                <a:ea typeface="JetBrains Mono" pitchFamily="34" charset="-122"/>
                <a:cs typeface="JetBrains Mono" pitchFamily="34" charset="-120"/>
              </a:rPr>
              <a:t>$response</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getStatusCode</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endParaRPr lang="en-US" sz="1000" dirty="0"/>
          </a:p>
          <a:p>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FFB59C"/>
                </a:solidFill>
                <a:latin typeface="JetBrains Mono" pitchFamily="34" charset="0"/>
                <a:ea typeface="JetBrains Mono" pitchFamily="34" charset="-122"/>
                <a:cs typeface="JetBrains Mono" pitchFamily="34" charset="-120"/>
              </a:rPr>
              <a:t>'response_body'</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=&gt; </a:t>
            </a:r>
            <a:pPr indent="0" marL="0">
              <a:lnSpc>
                <a:spcPct val="105000"/>
              </a:lnSpc>
              <a:buNone/>
            </a:pPr>
            <a:r>
              <a:rPr lang="en-US" sz="1000" dirty="0">
                <a:solidFill>
                  <a:srgbClr val="F5C9A8"/>
                </a:solidFill>
                <a:latin typeface="JetBrains Mono" pitchFamily="34" charset="0"/>
                <a:ea typeface="JetBrains Mono" pitchFamily="34" charset="-122"/>
                <a:cs typeface="JetBrains Mono" pitchFamily="34" charset="-120"/>
              </a:rPr>
              <a:t>$response</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getContent</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endParaRPr lang="en-US" sz="1000" dirty="0"/>
          </a:p>
          <a:p>
            <a:pPr indent="0" marL="0">
              <a:lnSpc>
                <a:spcPct val="105000"/>
              </a:lnSpc>
              <a:buNone/>
            </a:pPr>
            <a:r>
              <a:rPr lang="en-US" sz="1000" dirty="0">
                <a:solidFill>
                  <a:srgbClr val="FF5723"/>
                </a:solidFill>
                <a:latin typeface="JetBrains Mono" pitchFamily="34" charset="0"/>
                <a:ea typeface="JetBrains Mono" pitchFamily="34" charset="-122"/>
                <a:cs typeface="JetBrains Mono" pitchFamily="34" charset="-120"/>
              </a:rPr>
              <a:t>return</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F5C9A8"/>
                </a:solidFill>
                <a:latin typeface="JetBrains Mono" pitchFamily="34" charset="0"/>
                <a:ea typeface="JetBrains Mono" pitchFamily="34" charset="-122"/>
                <a:cs typeface="JetBrains Mono" pitchFamily="34" charset="-120"/>
              </a:rPr>
              <a:t>$response</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endParaRPr lang="en-US" sz="1000" dirty="0"/>
          </a:p>
        </p:txBody>
      </p:sp>
      <p:sp>
        <p:nvSpPr>
          <p:cNvPr id="8" name="Text 6"/>
          <p:cNvSpPr txBox="1"/>
          <p:nvPr/>
        </p:nvSpPr>
        <p:spPr>
          <a:xfrm>
            <a:off x="8275320" y="1783080"/>
            <a:ext cx="3367735" cy="43434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272827"/>
                </a:solidFill>
                <a:latin typeface="Inter" pitchFamily="34" charset="0"/>
                <a:ea typeface="Inter" pitchFamily="34" charset="-122"/>
                <a:cs typeface="Inter" pitchFamily="34" charset="-120"/>
              </a:rPr>
              <a:t>Scoped per </a:t>
            </a:r>
            <a:pPr indent="0" marL="0">
              <a:buNone/>
            </a:pPr>
            <a:r>
              <a:rPr lang="en-US" sz="1500" b="1" dirty="0">
                <a:solidFill>
                  <a:srgbClr val="272827"/>
                </a:solidFill>
                <a:latin typeface="Inter" pitchFamily="34" charset="0"/>
                <a:ea typeface="Inter" pitchFamily="34" charset="-122"/>
                <a:cs typeface="Inter" pitchFamily="34" charset="-120"/>
              </a:rPr>
              <a:t>user</a:t>
            </a:r>
            <a:pPr indent="0" marL="0">
              <a:buNone/>
            </a:pPr>
            <a:r>
              <a:rPr lang="en-US" sz="1500" dirty="0">
                <a:solidFill>
                  <a:srgbClr val="272827"/>
                </a:solidFill>
                <a:latin typeface="Inter" pitchFamily="34" charset="0"/>
                <a:ea typeface="Inter" pitchFamily="34" charset="-122"/>
                <a:cs typeface="Inter" pitchFamily="34" charset="-120"/>
              </a:rPr>
              <a:t>: keys never leak across accounts</a:t>
            </a:r>
            <a:endParaRPr lang="en-US" sz="1500" dirty="0"/>
          </a:p>
          <a:p>
            <a:pPr marL="228600" indent="-228600">
              <a:spcAft>
                <a:spcPts val="1000"/>
              </a:spcAft>
              <a:buSzPct val="100000"/>
              <a:buChar char="•"/>
            </a:pPr>
            <a:r>
              <a:rPr lang="en-US" sz="1500" dirty="0">
                <a:solidFill>
                  <a:srgbClr val="272827"/>
                </a:solidFill>
                <a:latin typeface="Inter" pitchFamily="34" charset="0"/>
                <a:ea typeface="Inter" pitchFamily="34" charset="-122"/>
                <a:cs typeface="Inter" pitchFamily="34" charset="-120"/>
              </a:rPr>
              <a:t>Replays the stored response, flagged </a:t>
            </a:r>
            <a:pPr indent="0" marL="0">
              <a:buNone/>
            </a:pPr>
            <a:r>
              <a:rPr lang="en-US" sz="1500" dirty="0">
                <a:solidFill>
                  <a:srgbClr val="C2410C"/>
                </a:solidFill>
                <a:latin typeface="JetBrains Mono" pitchFamily="34" charset="0"/>
                <a:ea typeface="JetBrains Mono" pitchFamily="34" charset="-122"/>
                <a:cs typeface="JetBrains Mono" pitchFamily="34" charset="-120"/>
              </a:rPr>
              <a:t>Idempotent-Replayed</a:t>
            </a:r>
            <a:endParaRPr lang="en-US" sz="1500" dirty="0"/>
          </a:p>
          <a:p>
            <a:pPr marL="228600" indent="-228600">
              <a:spcAft>
                <a:spcPts val="1000"/>
              </a:spcAft>
              <a:buSzPct val="100000"/>
              <a:buChar char="•"/>
            </a:pPr>
            <a:r>
              <a:rPr lang="en-US" sz="1500" dirty="0">
                <a:solidFill>
                  <a:srgbClr val="272827"/>
                </a:solidFill>
                <a:latin typeface="Inter" pitchFamily="34" charset="0"/>
                <a:ea typeface="Inter" pitchFamily="34" charset="-122"/>
                <a:cs typeface="Inter" pitchFamily="34" charset="-120"/>
              </a:rPr>
              <a:t>Keys expire after 1 day; </a:t>
            </a:r>
            <a:pPr indent="0" marL="0">
              <a:buNone/>
            </a:pPr>
            <a:r>
              <a:rPr lang="en-US" sz="1500" dirty="0">
                <a:solidFill>
                  <a:srgbClr val="C2410C"/>
                </a:solidFill>
                <a:latin typeface="JetBrains Mono" pitchFamily="34" charset="0"/>
                <a:ea typeface="JetBrains Mono" pitchFamily="34" charset="-122"/>
                <a:cs typeface="JetBrains Mono" pitchFamily="34" charset="-120"/>
              </a:rPr>
              <a:t>model:prune</a:t>
            </a:r>
            <a:pPr indent="0" marL="0">
              <a:buNone/>
            </a:pPr>
            <a:r>
              <a:rPr lang="en-US" sz="1500" dirty="0">
                <a:solidFill>
                  <a:srgbClr val="272827"/>
                </a:solidFill>
                <a:latin typeface="Inter" pitchFamily="34" charset="0"/>
                <a:ea typeface="Inter" pitchFamily="34" charset="-122"/>
                <a:cs typeface="Inter" pitchFamily="34" charset="-120"/>
              </a:rPr>
              <a:t> runs daily</a:t>
            </a:r>
            <a:endParaRPr lang="en-US" sz="1500" dirty="0"/>
          </a:p>
          <a:p>
            <a:pPr marL="228600" indent="-228600">
              <a:spcAft>
                <a:spcPts val="1000"/>
              </a:spcAft>
              <a:buSzPct val="100000"/>
              <a:buChar char="•"/>
            </a:pPr>
            <a:r>
              <a:rPr lang="en-US" sz="1500" dirty="0">
                <a:solidFill>
                  <a:srgbClr val="272827"/>
                </a:solidFill>
                <a:latin typeface="Inter" pitchFamily="34" charset="0"/>
                <a:ea typeface="Inter" pitchFamily="34" charset="-122"/>
                <a:cs typeface="Inter" pitchFamily="34" charset="-120"/>
              </a:rPr>
              <a:t>Alias </a:t>
            </a:r>
            <a:pPr indent="0" marL="0">
              <a:buNone/>
            </a:pPr>
            <a:r>
              <a:rPr lang="en-US" sz="1500" dirty="0">
                <a:solidFill>
                  <a:srgbClr val="C2410C"/>
                </a:solidFill>
                <a:latin typeface="JetBrains Mono" pitchFamily="34" charset="0"/>
                <a:ea typeface="JetBrains Mono" pitchFamily="34" charset="-122"/>
                <a:cs typeface="JetBrains Mono" pitchFamily="34" charset="-120"/>
              </a:rPr>
              <a:t>idempotent</a:t>
            </a:r>
            <a:pPr indent="0" marL="0">
              <a:buNone/>
            </a:pPr>
            <a:r>
              <a:rPr lang="en-US" sz="1500" dirty="0">
                <a:solidFill>
                  <a:srgbClr val="272827"/>
                </a:solidFill>
                <a:latin typeface="Inter" pitchFamily="34" charset="0"/>
                <a:ea typeface="Inter" pitchFamily="34" charset="-122"/>
                <a:cs typeface="Inter" pitchFamily="34" charset="-120"/>
              </a:rPr>
              <a:t>, applied only to </a:t>
            </a:r>
            <a:pPr indent="0" marL="0">
              <a:buNone/>
            </a:pPr>
            <a:r>
              <a:rPr lang="en-US" sz="1500" dirty="0">
                <a:solidFill>
                  <a:srgbClr val="C2410C"/>
                </a:solidFill>
                <a:latin typeface="JetBrains Mono" pitchFamily="34" charset="0"/>
                <a:ea typeface="JetBrains Mono" pitchFamily="34" charset="-122"/>
                <a:cs typeface="JetBrains Mono" pitchFamily="34" charset="-120"/>
              </a:rPr>
              <a:t>POST /shipments</a:t>
            </a:r>
            <a:endParaRPr lang="en-US" sz="1500" dirty="0"/>
          </a:p>
        </p:txBody>
      </p:sp>
      <p:sp>
        <p:nvSpPr>
          <p:cNvPr id="25" name="Slide Number Placeholder 0"/>
          <p:cNvSpPr>
            <a:spLocks noGrp="1"/>
          </p:cNvSpPr>
          <p:nvPr>
            <p:ph type="sldNum" sz="quarter" idx="4294967295"/>
          </p:nvPr>
        </p:nvSpPr>
        <p:spPr>
          <a:xfrm>
            <a:off x="10911535" y="6419088"/>
            <a:ext cx="73152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280"/>
                </a:solidFill>
                <a:latin typeface="Inter"/>
                <a:ea typeface="Inter"/>
                <a:cs typeface="Inter"/>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94415" cy="640080"/>
          </a:xfrm>
          <a:prstGeom prst="rect">
            <a:avLst/>
          </a:prstGeom>
          <a:noFill/>
          <a:ln/>
        </p:spPr>
        <p:txBody>
          <a:bodyPr wrap="square" lIns="0" tIns="0" rIns="0" bIns="0" rtlCol="0" anchor="b"/>
          <a:lstStyle/>
          <a:p>
            <a:pPr algn="l" indent="0" marL="0">
              <a:buNone/>
            </a:pPr>
            <a:r>
              <a:rPr lang="en-US" sz="3200" b="1" dirty="0">
                <a:solidFill>
                  <a:srgbClr val="FFFFFF"/>
                </a:solidFill>
                <a:latin typeface="Playfair Display" pitchFamily="34" charset="0"/>
                <a:ea typeface="Playfair Display" pitchFamily="34" charset="-122"/>
                <a:cs typeface="Playfair Display" pitchFamily="34" charset="-120"/>
              </a:rPr>
              <a:t>Ask your agent: find the race</a:t>
            </a:r>
            <a:endParaRPr lang="en-US" sz="3200" dirty="0"/>
          </a:p>
        </p:txBody>
      </p:sp>
      <p:sp>
        <p:nvSpPr>
          <p:cNvPr id="3" name="Text 1"/>
          <p:cNvSpPr txBox="1"/>
          <p:nvPr/>
        </p:nvSpPr>
        <p:spPr>
          <a:xfrm>
            <a:off x="548640" y="1060704"/>
            <a:ext cx="8229600" cy="384048"/>
          </a:xfrm>
          <a:prstGeom prst="rect">
            <a:avLst/>
          </a:prstGeom>
          <a:noFill/>
          <a:ln/>
        </p:spPr>
        <p:txBody>
          <a:bodyPr wrap="square" lIns="0" tIns="0" rIns="0" bIns="0" rtlCol="0" anchor="t"/>
          <a:lstStyle/>
          <a:p>
            <a:pPr rtl="1" algn="l" indent="0" marL="0">
              <a:buNone/>
            </a:pPr>
            <a:r>
              <a:rPr lang="ar-LY" altLang="en-US" sz="1700" dirty="0">
                <a:solidFill>
                  <a:srgbClr val="9CA3AF"/>
                </a:solidFill>
                <a:latin typeface="Tajawal" pitchFamily="34" charset="0"/>
                <a:ea typeface="Tajawal" pitchFamily="34" charset="-122"/>
                <a:cs typeface="Tajawal" pitchFamily="34" charset="-120"/>
              </a:rPr>
              <a:t>اسأل وكيلك</a:t>
            </a:r>
            <a:endParaRPr lang="ar-LY" sz="1700" dirty="0"/>
          </a:p>
        </p:txBody>
      </p:sp>
      <p:sp>
        <p:nvSpPr>
          <p:cNvPr id="4" name="Shape 2"/>
          <p:cNvSpPr/>
          <p:nvPr/>
        </p:nvSpPr>
        <p:spPr>
          <a:xfrm>
            <a:off x="548640" y="1691640"/>
            <a:ext cx="7315200" cy="4434840"/>
          </a:xfrm>
          <a:prstGeom prst="roundRect">
            <a:avLst>
              <a:gd name="adj" fmla="val 1649"/>
            </a:avLst>
          </a:prstGeom>
          <a:solidFill>
            <a:srgbClr val="3A3B3A"/>
          </a:solidFill>
          <a:ln w="12700">
            <a:solidFill>
              <a:srgbClr val="4A4B4A"/>
            </a:solidFill>
            <a:prstDash val="solid"/>
          </a:ln>
        </p:spPr>
      </p:sp>
      <p:sp>
        <p:nvSpPr>
          <p:cNvPr id="5" name="Text 3"/>
          <p:cNvSpPr txBox="1"/>
          <p:nvPr/>
        </p:nvSpPr>
        <p:spPr>
          <a:xfrm>
            <a:off x="822960" y="1856232"/>
            <a:ext cx="6766560" cy="274320"/>
          </a:xfrm>
          <a:prstGeom prst="rect">
            <a:avLst/>
          </a:prstGeom>
          <a:noFill/>
          <a:ln/>
        </p:spPr>
        <p:txBody>
          <a:bodyPr wrap="square" lIns="0" tIns="0" rIns="0" bIns="0" rtlCol="0" anchor="ctr"/>
          <a:lstStyle/>
          <a:p>
            <a:pPr indent="0" marL="0">
              <a:buNone/>
            </a:pPr>
            <a:r>
              <a:rPr lang="en-US" sz="1200" b="1" dirty="0">
                <a:solidFill>
                  <a:srgbClr val="FF5723"/>
                </a:solidFill>
                <a:latin typeface="JetBrains Mono" pitchFamily="34" charset="0"/>
                <a:ea typeface="JetBrains Mono" pitchFamily="34" charset="-122"/>
                <a:cs typeface="JetBrains Mono" pitchFamily="34" charset="-120"/>
              </a:rPr>
              <a:t>claude </a:t>
            </a:r>
            <a:pPr indent="0" marL="0">
              <a:buNone/>
            </a:pPr>
            <a:r>
              <a:rPr lang="en-US" sz="1200" dirty="0">
                <a:solidFill>
                  <a:srgbClr val="9CA3AF"/>
                </a:solidFill>
                <a:latin typeface="JetBrains Mono" pitchFamily="34" charset="0"/>
                <a:ea typeface="JetBrains Mono" pitchFamily="34" charset="-122"/>
                <a:cs typeface="JetBrains Mono" pitchFamily="34" charset="-120"/>
              </a:rPr>
              <a:t>›  plan mode</a:t>
            </a:r>
            <a:endParaRPr lang="en-US" sz="1200" dirty="0"/>
          </a:p>
        </p:txBody>
      </p:sp>
      <p:sp>
        <p:nvSpPr>
          <p:cNvPr id="6" name="Text 4"/>
          <p:cNvSpPr txBox="1"/>
          <p:nvPr/>
        </p:nvSpPr>
        <p:spPr>
          <a:xfrm>
            <a:off x="822960" y="2286000"/>
            <a:ext cx="6766560" cy="3657600"/>
          </a:xfrm>
          <a:prstGeom prst="rect">
            <a:avLst/>
          </a:prstGeom>
          <a:noFill/>
          <a:ln/>
        </p:spPr>
        <p:txBody>
          <a:bodyPr wrap="square" lIns="0" tIns="0" rIns="0" bIns="0" rtlCol="0" anchor="t"/>
          <a:lstStyle/>
          <a:p>
            <a:pPr indent="0" marL="0">
              <a:spcAft>
                <a:spcPts val="600"/>
              </a:spcAft>
              <a:buNone/>
            </a:pPr>
            <a:r>
              <a:rPr lang="en-US" sz="1400" dirty="0">
                <a:solidFill>
                  <a:srgbClr val="FFFFFF"/>
                </a:solidFill>
                <a:latin typeface="JetBrains Mono" pitchFamily="34" charset="0"/>
                <a:ea typeface="JetBrains Mono" pitchFamily="34" charset="-122"/>
                <a:cs typeface="JetBrains Mono" pitchFamily="34" charset="-120"/>
              </a:rPr>
              <a:t>Read BookingService::book() and AssignVehicleJob.</a:t>
            </a:r>
            <a:endParaRPr lang="en-US" sz="1400" dirty="0"/>
          </a:p>
          <a:p>
            <a:pPr indent="0" marL="0">
              <a:spcAft>
                <a:spcPts val="600"/>
              </a:spcAft>
              <a:buNone/>
            </a:pPr>
            <a:r>
              <a:rPr lang="en-US" sz="1400" dirty="0">
                <a:solidFill>
                  <a:srgbClr val="FFFFFF"/>
                </a:solidFill>
                <a:latin typeface="JetBrains Mono" pitchFamily="34" charset="0"/>
                <a:ea typeface="JetBrains Mono" pitchFamily="34" charset="-122"/>
                <a:cs typeface="JetBrains Mono" pitchFamily="34" charset="-120"/>
              </a:rPr>
              <a:t> </a:t>
            </a:r>
            <a:endParaRPr lang="en-US" sz="1400" dirty="0"/>
          </a:p>
          <a:p>
            <a:pPr indent="0" marL="0">
              <a:spcAft>
                <a:spcPts val="600"/>
              </a:spcAft>
              <a:buNone/>
            </a:pPr>
            <a:r>
              <a:rPr lang="en-US" sz="1400" dirty="0">
                <a:solidFill>
                  <a:srgbClr val="FFFFFF"/>
                </a:solidFill>
                <a:latin typeface="JetBrains Mono" pitchFamily="34" charset="0"/>
                <a:ea typeface="JetBrains Mono" pitchFamily="34" charset="-122"/>
                <a:cs typeface="JetBrains Mono" pitchFamily="34" charset="-120"/>
              </a:rPr>
              <a:t>1. Two requests with the same quote_id arrive at once. Walk through what each one does, step by step.</a:t>
            </a:r>
            <a:endParaRPr lang="en-US" sz="1400" dirty="0"/>
          </a:p>
          <a:p>
            <a:pPr indent="0" marL="0">
              <a:spcAft>
                <a:spcPts val="600"/>
              </a:spcAft>
              <a:buNone/>
            </a:pPr>
            <a:r>
              <a:rPr lang="en-US" sz="1400" dirty="0">
                <a:solidFill>
                  <a:srgbClr val="FFFFFF"/>
                </a:solidFill>
                <a:latin typeface="JetBrains Mono" pitchFamily="34" charset="0"/>
                <a:ea typeface="JetBrains Mono" pitchFamily="34" charset="-122"/>
                <a:cs typeface="JetBrains Mono" pitchFamily="34" charset="-120"/>
              </a:rPr>
              <a:t>2. Do the same for two workers and one available vehicle.</a:t>
            </a:r>
            <a:endParaRPr lang="en-US" sz="1400" dirty="0"/>
          </a:p>
          <a:p>
            <a:pPr indent="0" marL="0">
              <a:spcAft>
                <a:spcPts val="600"/>
              </a:spcAft>
              <a:buNone/>
            </a:pPr>
            <a:r>
              <a:rPr lang="en-US" sz="1400" dirty="0">
                <a:solidFill>
                  <a:srgbClr val="FFFFFF"/>
                </a:solidFill>
                <a:latin typeface="JetBrains Mono" pitchFamily="34" charset="0"/>
                <a:ea typeface="JetBrains Mono" pitchFamily="34" charset="-122"/>
                <a:cs typeface="JetBrains Mono" pitchFamily="34" charset="-120"/>
              </a:rPr>
              <a:t>3. For each race, propose a fix at the </a:t>
            </a:r>
            <a:pPr indent="0" marL="0">
              <a:spcAft>
                <a:spcPts val="600"/>
              </a:spcAft>
              <a:buNone/>
            </a:pPr>
            <a:r>
              <a:rPr lang="en-US" sz="1400" b="1" dirty="0">
                <a:solidFill>
                  <a:srgbClr val="FF5723"/>
                </a:solidFill>
                <a:latin typeface="JetBrains Mono" pitchFamily="34" charset="0"/>
                <a:ea typeface="JetBrains Mono" pitchFamily="34" charset="-122"/>
                <a:cs typeface="JetBrains Mono" pitchFamily="34" charset="-120"/>
              </a:rPr>
              <a:t>database</a:t>
            </a:r>
            <a:pPr indent="0" marL="0">
              <a:spcAft>
                <a:spcPts val="600"/>
              </a:spcAft>
              <a:buNone/>
            </a:pPr>
            <a:r>
              <a:rPr lang="en-US" sz="1400" dirty="0">
                <a:solidFill>
                  <a:srgbClr val="FFFFFF"/>
                </a:solidFill>
                <a:latin typeface="JetBrains Mono" pitchFamily="34" charset="0"/>
                <a:ea typeface="JetBrains Mono" pitchFamily="34" charset="-122"/>
                <a:cs typeface="JetBrains Mono" pitchFamily="34" charset="-120"/>
              </a:rPr>
              <a:t>, </a:t>
            </a:r>
            <a:pPr indent="0" marL="0">
              <a:spcAft>
                <a:spcPts val="600"/>
              </a:spcAft>
              <a:buNone/>
            </a:pPr>
            <a:r>
              <a:rPr lang="en-US" sz="1400" b="1" dirty="0">
                <a:solidFill>
                  <a:srgbClr val="FF5723"/>
                </a:solidFill>
                <a:latin typeface="JetBrains Mono" pitchFamily="34" charset="0"/>
                <a:ea typeface="JetBrains Mono" pitchFamily="34" charset="-122"/>
                <a:cs typeface="JetBrains Mono" pitchFamily="34" charset="-120"/>
              </a:rPr>
              <a:t>app</a:t>
            </a:r>
            <a:pPr indent="0" marL="0">
              <a:spcAft>
                <a:spcPts val="600"/>
              </a:spcAft>
              <a:buNone/>
            </a:pPr>
            <a:r>
              <a:rPr lang="en-US" sz="1400" dirty="0">
                <a:solidFill>
                  <a:srgbClr val="FFFFFF"/>
                </a:solidFill>
                <a:latin typeface="JetBrains Mono" pitchFamily="34" charset="0"/>
                <a:ea typeface="JetBrains Mono" pitchFamily="34" charset="-122"/>
                <a:cs typeface="JetBrains Mono" pitchFamily="34" charset="-120"/>
              </a:rPr>
              <a:t> and </a:t>
            </a:r>
            <a:pPr indent="0" marL="0">
              <a:spcAft>
                <a:spcPts val="600"/>
              </a:spcAft>
              <a:buNone/>
            </a:pPr>
            <a:r>
              <a:rPr lang="en-US" sz="1400" b="1" dirty="0">
                <a:solidFill>
                  <a:srgbClr val="FF5723"/>
                </a:solidFill>
                <a:latin typeface="JetBrains Mono" pitchFamily="34" charset="0"/>
                <a:ea typeface="JetBrains Mono" pitchFamily="34" charset="-122"/>
                <a:cs typeface="JetBrains Mono" pitchFamily="34" charset="-120"/>
              </a:rPr>
              <a:t>HTTP</a:t>
            </a:r>
            <a:pPr indent="0" marL="0">
              <a:spcAft>
                <a:spcPts val="600"/>
              </a:spcAft>
              <a:buNone/>
            </a:pPr>
            <a:r>
              <a:rPr lang="en-US" sz="1400" dirty="0">
                <a:solidFill>
                  <a:srgbClr val="FFFFFF"/>
                </a:solidFill>
                <a:latin typeface="JetBrains Mono" pitchFamily="34" charset="0"/>
                <a:ea typeface="JetBrains Mono" pitchFamily="34" charset="-122"/>
                <a:cs typeface="JetBrains Mono" pitchFamily="34" charset="-120"/>
              </a:rPr>
              <a:t> level, and say which one is the real guarantee.</a:t>
            </a:r>
            <a:endParaRPr lang="en-US" sz="1400" dirty="0"/>
          </a:p>
          <a:p>
            <a:pPr indent="0" marL="0">
              <a:spcAft>
                <a:spcPts val="600"/>
              </a:spcAft>
              <a:buNone/>
            </a:pPr>
            <a:r>
              <a:rPr lang="en-US" sz="1400" dirty="0">
                <a:solidFill>
                  <a:srgbClr val="FFFFFF"/>
                </a:solidFill>
                <a:latin typeface="JetBrains Mono" pitchFamily="34" charset="0"/>
                <a:ea typeface="JetBrains Mono" pitchFamily="34" charset="-122"/>
                <a:cs typeface="JetBrains Mono" pitchFamily="34" charset="-120"/>
              </a:rPr>
              <a:t>4. Write a failing Pest test for the first race. Do not fix it yet.</a:t>
            </a:r>
            <a:endParaRPr lang="en-US" sz="1400" dirty="0"/>
          </a:p>
        </p:txBody>
      </p:sp>
      <p:sp>
        <p:nvSpPr>
          <p:cNvPr id="7" name="Text 5"/>
          <p:cNvSpPr txBox="1"/>
          <p:nvPr/>
        </p:nvSpPr>
        <p:spPr>
          <a:xfrm>
            <a:off x="8275320" y="1783080"/>
            <a:ext cx="3367735" cy="274320"/>
          </a:xfrm>
          <a:prstGeom prst="rect">
            <a:avLst/>
          </a:prstGeom>
          <a:noFill/>
          <a:ln/>
        </p:spPr>
        <p:txBody>
          <a:bodyPr wrap="square" lIns="0" tIns="0" rIns="0" bIns="0" rtlCol="0" anchor="ctr"/>
          <a:lstStyle/>
          <a:p>
            <a:pPr indent="0" marL="0">
              <a:buNone/>
            </a:pPr>
            <a:r>
              <a:rPr lang="en-US" sz="1100" b="1" spc="300" kern="0" dirty="0">
                <a:solidFill>
                  <a:srgbClr val="FF5723"/>
                </a:solidFill>
                <a:latin typeface="Inter" pitchFamily="34" charset="0"/>
                <a:ea typeface="Inter" pitchFamily="34" charset="-122"/>
                <a:cs typeface="Inter" pitchFamily="34" charset="-120"/>
              </a:rPr>
              <a:t>WHY THIS WORKS</a:t>
            </a:r>
            <a:endParaRPr lang="en-US" sz="1100" dirty="0"/>
          </a:p>
        </p:txBody>
      </p:sp>
      <p:sp>
        <p:nvSpPr>
          <p:cNvPr id="8" name="Text 6"/>
          <p:cNvSpPr txBox="1"/>
          <p:nvPr/>
        </p:nvSpPr>
        <p:spPr>
          <a:xfrm>
            <a:off x="8275320" y="2194560"/>
            <a:ext cx="3367735" cy="38862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FFFFFF"/>
                </a:solidFill>
                <a:latin typeface="Inter" pitchFamily="34" charset="0"/>
                <a:ea typeface="Inter" pitchFamily="34" charset="-122"/>
                <a:cs typeface="Inter" pitchFamily="34" charset="-120"/>
              </a:rPr>
              <a:t>Forces step-by-step reasoning about </a:t>
            </a:r>
            <a:pPr indent="0" marL="0">
              <a:buNone/>
            </a:pPr>
            <a:r>
              <a:rPr lang="en-US" sz="1500" b="1" dirty="0">
                <a:solidFill>
                  <a:srgbClr val="FFFFFF"/>
                </a:solidFill>
                <a:latin typeface="Inter" pitchFamily="34" charset="0"/>
                <a:ea typeface="Inter" pitchFamily="34" charset="-122"/>
                <a:cs typeface="Inter" pitchFamily="34" charset="-120"/>
              </a:rPr>
              <a:t>concurrency</a:t>
            </a:r>
            <a:endParaRPr lang="en-US" sz="1500" dirty="0"/>
          </a:p>
          <a:p>
            <a:pPr marL="228600" indent="-228600">
              <a:spcAft>
                <a:spcPts val="1000"/>
              </a:spcAft>
              <a:buSzPct val="100000"/>
              <a:buChar char="•"/>
            </a:pPr>
            <a:r>
              <a:rPr lang="en-US" sz="1500" dirty="0">
                <a:solidFill>
                  <a:srgbClr val="FFFFFF"/>
                </a:solidFill>
                <a:latin typeface="Inter" pitchFamily="34" charset="0"/>
                <a:ea typeface="Inter" pitchFamily="34" charset="-122"/>
                <a:cs typeface="Inter" pitchFamily="34" charset="-120"/>
              </a:rPr>
              <a:t>Asks for layered fixes, then a judgement</a:t>
            </a:r>
            <a:endParaRPr lang="en-US" sz="1500" dirty="0"/>
          </a:p>
          <a:p>
            <a:pPr marL="228600" indent="-228600">
              <a:spcAft>
                <a:spcPts val="1000"/>
              </a:spcAft>
              <a:buSzPct val="100000"/>
              <a:buChar char="•"/>
            </a:pPr>
            <a:r>
              <a:rPr lang="en-US" sz="1500" dirty="0">
                <a:solidFill>
                  <a:srgbClr val="FFFFFF"/>
                </a:solidFill>
                <a:latin typeface="Inter" pitchFamily="34" charset="0"/>
                <a:ea typeface="Inter" pitchFamily="34" charset="-122"/>
                <a:cs typeface="Inter" pitchFamily="34" charset="-120"/>
              </a:rPr>
              <a:t>Failing test </a:t>
            </a:r>
            <a:pPr indent="0" marL="0">
              <a:buNone/>
            </a:pPr>
            <a:r>
              <a:rPr lang="en-US" sz="1500" b="1" dirty="0">
                <a:solidFill>
                  <a:srgbClr val="FFFFFF"/>
                </a:solidFill>
                <a:latin typeface="Inter" pitchFamily="34" charset="0"/>
                <a:ea typeface="Inter" pitchFamily="34" charset="-122"/>
                <a:cs typeface="Inter" pitchFamily="34" charset="-120"/>
              </a:rPr>
              <a:t>first</a:t>
            </a:r>
            <a:pPr indent="0" marL="0">
              <a:buNone/>
            </a:pPr>
            <a:r>
              <a:rPr lang="en-US" sz="1500" dirty="0">
                <a:solidFill>
                  <a:srgbClr val="FFFFFF"/>
                </a:solidFill>
                <a:latin typeface="Inter" pitchFamily="34" charset="0"/>
                <a:ea typeface="Inter" pitchFamily="34" charset="-122"/>
                <a:cs typeface="Inter" pitchFamily="34" charset="-120"/>
              </a:rPr>
              <a:t> proves the bug exists</a:t>
            </a:r>
            <a:endParaRPr lang="en-US" sz="1500" dirty="0"/>
          </a:p>
          <a:p>
            <a:pPr marL="228600" indent="-228600">
              <a:spcAft>
                <a:spcPts val="1000"/>
              </a:spcAft>
              <a:buSzPct val="100000"/>
              <a:buChar char="•"/>
            </a:pPr>
            <a:r>
              <a:rPr lang="en-US" sz="1500" dirty="0">
                <a:solidFill>
                  <a:srgbClr val="FFFFFF"/>
                </a:solidFill>
                <a:latin typeface="Inter" pitchFamily="34" charset="0"/>
                <a:ea typeface="Inter" pitchFamily="34" charset="-122"/>
                <a:cs typeface="Inter" pitchFamily="34" charset="-120"/>
              </a:rPr>
              <a:t>Plan mode: no edits until you agree</a:t>
            </a:r>
            <a:endParaRPr lang="en-US" sz="1500" dirty="0"/>
          </a:p>
        </p:txBody>
      </p:sp>
      <p:sp>
        <p:nvSpPr>
          <p:cNvPr id="25" name="Slide Number Placeholder 0"/>
          <p:cNvSpPr>
            <a:spLocks noGrp="1"/>
          </p:cNvSpPr>
          <p:nvPr>
            <p:ph type="sldNum" sz="quarter" idx="4294967295"/>
          </p:nvPr>
        </p:nvSpPr>
        <p:spPr>
          <a:xfrm>
            <a:off x="10911535" y="6419088"/>
            <a:ext cx="73152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9CA3AF"/>
                </a:solidFill>
                <a:latin typeface="Inter"/>
                <a:ea typeface="Inter"/>
                <a:cs typeface="Inter"/>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94415" cy="640080"/>
          </a:xfrm>
          <a:prstGeom prst="rect">
            <a:avLst/>
          </a:prstGeom>
          <a:noFill/>
          <a:ln/>
        </p:spPr>
        <p:txBody>
          <a:bodyPr wrap="square" lIns="0" tIns="0" rIns="0" bIns="0" rtlCol="0" anchor="b"/>
          <a:lstStyle/>
          <a:p>
            <a:pPr algn="l" indent="0" marL="0">
              <a:buNone/>
            </a:pPr>
            <a:r>
              <a:rPr lang="en-US" sz="3200" b="1" dirty="0">
                <a:solidFill>
                  <a:srgbClr val="272827"/>
                </a:solidFill>
                <a:latin typeface="Playfair Display" pitchFamily="34" charset="0"/>
                <a:ea typeface="Playfair Display" pitchFamily="34" charset="-122"/>
                <a:cs typeface="Playfair Display" pitchFamily="34" charset="-120"/>
              </a:rPr>
              <a:t>Lab briefing — Ship it async</a:t>
            </a:r>
            <a:endParaRPr lang="en-US" sz="3200" dirty="0"/>
          </a:p>
        </p:txBody>
      </p:sp>
      <p:sp>
        <p:nvSpPr>
          <p:cNvPr id="3" name="Text 1"/>
          <p:cNvSpPr txBox="1"/>
          <p:nvPr/>
        </p:nvSpPr>
        <p:spPr>
          <a:xfrm>
            <a:off x="548640" y="1060704"/>
            <a:ext cx="8229600" cy="384048"/>
          </a:xfrm>
          <a:prstGeom prst="rect">
            <a:avLst/>
          </a:prstGeom>
          <a:noFill/>
          <a:ln/>
        </p:spPr>
        <p:txBody>
          <a:bodyPr wrap="square" lIns="0" tIns="0" rIns="0" bIns="0" rtlCol="0" anchor="t"/>
          <a:lstStyle/>
          <a:p>
            <a:pPr rtl="1" algn="l" indent="0" marL="0">
              <a:buNone/>
            </a:pPr>
            <a:r>
              <a:rPr lang="ar-LY" altLang="en-US" sz="1700" dirty="0">
                <a:solidFill>
                  <a:srgbClr val="FF5723"/>
                </a:solidFill>
                <a:latin typeface="Tajawal" pitchFamily="34" charset="0"/>
                <a:ea typeface="Tajawal" pitchFamily="34" charset="-122"/>
                <a:cs typeface="Tajawal" pitchFamily="34" charset="-120"/>
              </a:rPr>
              <a:t>المختبر الثالث: المعالجة غير المتزامنة</a:t>
            </a:r>
            <a:endParaRPr lang="ar-LY" sz="1700" dirty="0"/>
          </a:p>
        </p:txBody>
      </p:sp>
      <p:sp>
        <p:nvSpPr>
          <p:cNvPr id="4" name="Shape 2"/>
          <p:cNvSpPr/>
          <p:nvPr/>
        </p:nvSpPr>
        <p:spPr>
          <a:xfrm>
            <a:off x="548640" y="1691640"/>
            <a:ext cx="3749040" cy="4434840"/>
          </a:xfrm>
          <a:prstGeom prst="roundRect">
            <a:avLst>
              <a:gd name="adj" fmla="val 1951"/>
            </a:avLst>
          </a:prstGeom>
          <a:solidFill>
            <a:srgbClr val="272827"/>
          </a:solidFill>
          <a:ln w="12700">
            <a:solidFill>
              <a:srgbClr val="272827"/>
            </a:solidFill>
            <a:prstDash val="solid"/>
          </a:ln>
        </p:spPr>
      </p:sp>
      <p:sp>
        <p:nvSpPr>
          <p:cNvPr id="5" name="Text 3"/>
          <p:cNvSpPr txBox="1"/>
          <p:nvPr/>
        </p:nvSpPr>
        <p:spPr>
          <a:xfrm>
            <a:off x="868680" y="2011680"/>
            <a:ext cx="3108960" cy="274320"/>
          </a:xfrm>
          <a:prstGeom prst="rect">
            <a:avLst/>
          </a:prstGeom>
          <a:noFill/>
          <a:ln/>
        </p:spPr>
        <p:txBody>
          <a:bodyPr wrap="square" lIns="0" tIns="0" rIns="0" bIns="0" rtlCol="0" anchor="ctr"/>
          <a:lstStyle/>
          <a:p>
            <a:pPr indent="0" marL="0">
              <a:buNone/>
            </a:pPr>
            <a:r>
              <a:rPr lang="en-US" sz="1200" b="1" spc="300" kern="0" dirty="0">
                <a:solidFill>
                  <a:srgbClr val="FF5723"/>
                </a:solidFill>
                <a:latin typeface="Inter" pitchFamily="34" charset="0"/>
                <a:ea typeface="Inter" pitchFamily="34" charset="-122"/>
                <a:cs typeface="Inter" pitchFamily="34" charset="-120"/>
              </a:rPr>
              <a:t>LAB 3 · PART 1</a:t>
            </a:r>
            <a:endParaRPr lang="en-US" sz="1200" dirty="0"/>
          </a:p>
        </p:txBody>
      </p:sp>
      <p:sp>
        <p:nvSpPr>
          <p:cNvPr id="6" name="Text 4"/>
          <p:cNvSpPr txBox="1"/>
          <p:nvPr/>
        </p:nvSpPr>
        <p:spPr>
          <a:xfrm>
            <a:off x="868680" y="2377440"/>
            <a:ext cx="3108960" cy="1005840"/>
          </a:xfrm>
          <a:prstGeom prst="rect">
            <a:avLst/>
          </a:prstGeom>
          <a:noFill/>
          <a:ln/>
        </p:spPr>
        <p:txBody>
          <a:bodyPr wrap="square" lIns="0" tIns="0" rIns="0" bIns="0" rtlCol="0" anchor="t"/>
          <a:lstStyle/>
          <a:p>
            <a:pPr indent="0" marL="0">
              <a:buNone/>
            </a:pPr>
            <a:r>
              <a:rPr lang="en-US" sz="2800" b="1" dirty="0">
                <a:solidFill>
                  <a:srgbClr val="FFFFFF"/>
                </a:solidFill>
                <a:latin typeface="Playfair Display" pitchFamily="34" charset="0"/>
                <a:ea typeface="Playfair Display" pitchFamily="34" charset="-122"/>
                <a:cs typeface="Playfair Display" pitchFamily="34" charset="-120"/>
              </a:rPr>
              <a:t>Ship it async</a:t>
            </a:r>
            <a:endParaRPr lang="en-US" sz="2800" dirty="0"/>
          </a:p>
        </p:txBody>
      </p:sp>
      <p:sp>
        <p:nvSpPr>
          <p:cNvPr id="7" name="Text 5"/>
          <p:cNvSpPr txBox="1"/>
          <p:nvPr/>
        </p:nvSpPr>
        <p:spPr>
          <a:xfrm>
            <a:off x="868680" y="3474720"/>
            <a:ext cx="3108960" cy="1280160"/>
          </a:xfrm>
          <a:prstGeom prst="rect">
            <a:avLst/>
          </a:prstGeom>
          <a:noFill/>
          <a:ln/>
        </p:spPr>
        <p:txBody>
          <a:bodyPr wrap="square" lIns="0" tIns="0" rIns="0" bIns="0" rtlCol="0" anchor="t"/>
          <a:lstStyle/>
          <a:p>
            <a:pPr indent="0" marL="0">
              <a:buNone/>
            </a:pPr>
            <a:r>
              <a:rPr lang="en-US" sz="1400" dirty="0">
                <a:solidFill>
                  <a:srgbClr val="E8E2D9"/>
                </a:solidFill>
                <a:latin typeface="Inter" pitchFamily="34" charset="0"/>
                <a:ea typeface="Inter" pitchFamily="34" charset="-122"/>
                <a:cs typeface="Inter" pitchFamily="34" charset="-120"/>
              </a:rPr>
              <a:t>Move slow work to queues and make booking safe to retry, with tests that prove it.</a:t>
            </a:r>
            <a:endParaRPr lang="en-US" sz="1400" dirty="0"/>
          </a:p>
        </p:txBody>
      </p:sp>
      <p:sp>
        <p:nvSpPr>
          <p:cNvPr id="8" name="Text 6"/>
          <p:cNvSpPr txBox="1"/>
          <p:nvPr/>
        </p:nvSpPr>
        <p:spPr>
          <a:xfrm>
            <a:off x="868680" y="4892040"/>
            <a:ext cx="3108960" cy="1005840"/>
          </a:xfrm>
          <a:prstGeom prst="rect">
            <a:avLst/>
          </a:prstGeom>
          <a:noFill/>
          <a:ln/>
        </p:spPr>
        <p:txBody>
          <a:bodyPr wrap="square" lIns="0" tIns="0" rIns="0" bIns="0" rtlCol="0" anchor="b"/>
          <a:lstStyle/>
          <a:p>
            <a:pPr indent="0" marL="0">
              <a:spcAft>
                <a:spcPts val="500"/>
              </a:spcAft>
              <a:buNone/>
            </a:pPr>
            <a:r>
              <a:rPr lang="en-US" sz="1200" b="1" dirty="0">
                <a:solidFill>
                  <a:srgbClr val="9CA3AF"/>
                </a:solidFill>
                <a:latin typeface="Inter" pitchFamily="34" charset="0"/>
                <a:ea typeface="Inter" pitchFamily="34" charset="-122"/>
                <a:cs typeface="Inter" pitchFamily="34" charset="-120"/>
              </a:rPr>
              <a:t>TIME  </a:t>
            </a:r>
            <a:pPr indent="0" marL="0">
              <a:spcAft>
                <a:spcPts val="500"/>
              </a:spcAft>
              <a:buNone/>
            </a:pPr>
            <a:r>
              <a:rPr lang="en-US" sz="1200" dirty="0">
                <a:solidFill>
                  <a:srgbClr val="FFFFFF"/>
                </a:solidFill>
                <a:latin typeface="Inter" pitchFamily="34" charset="0"/>
                <a:ea typeface="Inter" pitchFamily="34" charset="-122"/>
                <a:cs typeface="Inter" pitchFamily="34" charset="-120"/>
              </a:rPr>
              <a:t>11:00–12:30</a:t>
            </a:r>
            <a:endParaRPr lang="en-US" sz="1200" dirty="0"/>
          </a:p>
          <a:p>
            <a:pPr indent="0" marL="0">
              <a:spcAft>
                <a:spcPts val="500"/>
              </a:spcAft>
              <a:buNone/>
            </a:pPr>
            <a:r>
              <a:rPr lang="en-US" sz="1200" b="1" dirty="0">
                <a:solidFill>
                  <a:srgbClr val="9CA3AF"/>
                </a:solidFill>
                <a:latin typeface="Inter" pitchFamily="34" charset="0"/>
                <a:ea typeface="Inter" pitchFamily="34" charset="-122"/>
                <a:cs typeface="Inter" pitchFamily="34" charset="-120"/>
              </a:rPr>
              <a:t>HANDOUT  </a:t>
            </a:r>
            <a:pPr indent="0" marL="0">
              <a:spcAft>
                <a:spcPts val="500"/>
              </a:spcAft>
              <a:buNone/>
            </a:pPr>
            <a:r>
              <a:rPr lang="en-US" sz="1200" dirty="0">
                <a:solidFill>
                  <a:srgbClr val="FFFFFF"/>
                </a:solidFill>
                <a:latin typeface="JetBrains Mono" pitchFamily="34" charset="0"/>
                <a:ea typeface="JetBrains Mono" pitchFamily="34" charset="-122"/>
                <a:cs typeface="JetBrains Mono" pitchFamily="34" charset="-120"/>
              </a:rPr>
              <a:t>labs/lab3.md</a:t>
            </a:r>
            <a:endParaRPr lang="en-US" sz="1200" dirty="0"/>
          </a:p>
          <a:p>
            <a:pPr indent="0" marL="0">
              <a:spcAft>
                <a:spcPts val="500"/>
              </a:spcAft>
              <a:buNone/>
            </a:pPr>
            <a:r>
              <a:rPr lang="en-US" sz="1200" b="1" dirty="0">
                <a:solidFill>
                  <a:srgbClr val="9CA3AF"/>
                </a:solidFill>
                <a:latin typeface="Inter" pitchFamily="34" charset="0"/>
                <a:ea typeface="Inter" pitchFamily="34" charset="-122"/>
                <a:cs typeface="Inter" pitchFamily="34" charset="-120"/>
              </a:rPr>
              <a:t>CHECKPOINT  </a:t>
            </a:r>
            <a:pPr indent="0" marL="0">
              <a:spcAft>
                <a:spcPts val="500"/>
              </a:spcAft>
              <a:buNone/>
            </a:pPr>
            <a:r>
              <a:rPr lang="en-US" sz="1200" b="1" dirty="0">
                <a:solidFill>
                  <a:srgbClr val="FF5723"/>
                </a:solidFill>
                <a:latin typeface="JetBrains Mono" pitchFamily="34" charset="0"/>
                <a:ea typeface="JetBrains Mono" pitchFamily="34" charset="-122"/>
                <a:cs typeface="JetBrains Mono" pitchFamily="34" charset="-120"/>
              </a:rPr>
              <a:t>day3-end</a:t>
            </a:r>
            <a:endParaRPr lang="en-US" sz="1200" dirty="0"/>
          </a:p>
        </p:txBody>
      </p:sp>
      <p:sp>
        <p:nvSpPr>
          <p:cNvPr id="9" name="Text 7"/>
          <p:cNvSpPr txBox="1"/>
          <p:nvPr/>
        </p:nvSpPr>
        <p:spPr>
          <a:xfrm>
            <a:off x="4754880" y="1737360"/>
            <a:ext cx="2743200" cy="274320"/>
          </a:xfrm>
          <a:prstGeom prst="rect">
            <a:avLst/>
          </a:prstGeom>
          <a:noFill/>
          <a:ln/>
        </p:spPr>
        <p:txBody>
          <a:bodyPr wrap="square" lIns="0" tIns="0" rIns="0" bIns="0" rtlCol="0" anchor="ctr"/>
          <a:lstStyle/>
          <a:p>
            <a:pPr indent="0" marL="0">
              <a:buNone/>
            </a:pPr>
            <a:r>
              <a:rPr lang="en-US" sz="1100" b="1" spc="300" kern="0" dirty="0">
                <a:solidFill>
                  <a:srgbClr val="FF5723"/>
                </a:solidFill>
                <a:latin typeface="Inter" pitchFamily="34" charset="0"/>
                <a:ea typeface="Inter" pitchFamily="34" charset="-122"/>
                <a:cs typeface="Inter" pitchFamily="34" charset="-120"/>
              </a:rPr>
              <a:t>STEPS</a:t>
            </a:r>
            <a:endParaRPr lang="en-US" sz="1100" dirty="0"/>
          </a:p>
        </p:txBody>
      </p:sp>
      <p:sp>
        <p:nvSpPr>
          <p:cNvPr id="10" name="Shape 8"/>
          <p:cNvSpPr/>
          <p:nvPr/>
        </p:nvSpPr>
        <p:spPr>
          <a:xfrm>
            <a:off x="4754880" y="2121408"/>
            <a:ext cx="329184" cy="329184"/>
          </a:xfrm>
          <a:prstGeom prst="ellipse">
            <a:avLst/>
          </a:prstGeom>
          <a:solidFill>
            <a:srgbClr val="FF5723"/>
          </a:solidFill>
          <a:ln w="12700">
            <a:solidFill>
              <a:srgbClr val="FF5723"/>
            </a:solidFill>
            <a:prstDash val="solid"/>
          </a:ln>
        </p:spPr>
      </p:sp>
      <p:sp>
        <p:nvSpPr>
          <p:cNvPr id="11" name="Text 9"/>
          <p:cNvSpPr txBox="1"/>
          <p:nvPr/>
        </p:nvSpPr>
        <p:spPr>
          <a:xfrm>
            <a:off x="4754880" y="212140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Inter" pitchFamily="34" charset="0"/>
                <a:ea typeface="Inter" pitchFamily="34" charset="-122"/>
                <a:cs typeface="Inter" pitchFamily="34" charset="-120"/>
              </a:rPr>
              <a:t>1</a:t>
            </a:r>
            <a:endParaRPr lang="en-US" sz="1100" dirty="0"/>
          </a:p>
        </p:txBody>
      </p:sp>
      <p:sp>
        <p:nvSpPr>
          <p:cNvPr id="12" name="Text 10"/>
          <p:cNvSpPr txBox="1"/>
          <p:nvPr/>
        </p:nvSpPr>
        <p:spPr>
          <a:xfrm>
            <a:off x="5257800" y="2103120"/>
            <a:ext cx="6385255" cy="502920"/>
          </a:xfrm>
          <a:prstGeom prst="rect">
            <a:avLst/>
          </a:prstGeom>
          <a:noFill/>
          <a:ln/>
        </p:spPr>
        <p:txBody>
          <a:bodyPr wrap="square" lIns="0" tIns="0" rIns="0" bIns="0" rtlCol="0" anchor="t"/>
          <a:lstStyle/>
          <a:p>
            <a:pPr indent="0" marL="0">
              <a:buNone/>
            </a:pPr>
            <a:r>
              <a:rPr lang="en-US" sz="1500" dirty="0">
                <a:solidFill>
                  <a:srgbClr val="272827"/>
                </a:solidFill>
                <a:latin typeface="Inter" pitchFamily="34" charset="0"/>
                <a:ea typeface="Inter" pitchFamily="34" charset="-122"/>
                <a:cs typeface="Inter" pitchFamily="34" charset="-120"/>
              </a:rPr>
              <a:t>Check out </a:t>
            </a:r>
            <a:pPr indent="0" marL="0">
              <a:buNone/>
            </a:pPr>
            <a:r>
              <a:rPr lang="en-US" sz="1500" dirty="0">
                <a:solidFill>
                  <a:srgbClr val="C2410C"/>
                </a:solidFill>
                <a:latin typeface="JetBrains Mono" pitchFamily="34" charset="0"/>
                <a:ea typeface="JetBrains Mono" pitchFamily="34" charset="-122"/>
                <a:cs typeface="JetBrains Mono" pitchFamily="34" charset="-120"/>
              </a:rPr>
              <a:t>day2-end</a:t>
            </a:r>
            <a:pPr indent="0" marL="0">
              <a:buNone/>
            </a:pPr>
            <a:r>
              <a:rPr lang="en-US" sz="1500" dirty="0">
                <a:solidFill>
                  <a:srgbClr val="272827"/>
                </a:solidFill>
                <a:latin typeface="Inter" pitchFamily="34" charset="0"/>
                <a:ea typeface="Inter" pitchFamily="34" charset="-122"/>
                <a:cs typeface="Inter" pitchFamily="34" charset="-120"/>
              </a:rPr>
              <a:t>, start Sail and </a:t>
            </a:r>
            <a:pPr indent="0" marL="0">
              <a:buNone/>
            </a:pPr>
            <a:r>
              <a:rPr lang="en-US" sz="1500" dirty="0">
                <a:solidFill>
                  <a:srgbClr val="C2410C"/>
                </a:solidFill>
                <a:latin typeface="JetBrains Mono" pitchFamily="34" charset="0"/>
                <a:ea typeface="JetBrains Mono" pitchFamily="34" charset="-122"/>
                <a:cs typeface="JetBrains Mono" pitchFamily="34" charset="-120"/>
              </a:rPr>
              <a:t>sail artisan horizon</a:t>
            </a:r>
            <a:endParaRPr lang="en-US" sz="1500" dirty="0"/>
          </a:p>
        </p:txBody>
      </p:sp>
      <p:sp>
        <p:nvSpPr>
          <p:cNvPr id="13" name="Shape 11"/>
          <p:cNvSpPr/>
          <p:nvPr/>
        </p:nvSpPr>
        <p:spPr>
          <a:xfrm>
            <a:off x="4754880" y="2624328"/>
            <a:ext cx="329184" cy="329184"/>
          </a:xfrm>
          <a:prstGeom prst="ellipse">
            <a:avLst/>
          </a:prstGeom>
          <a:solidFill>
            <a:srgbClr val="FF5723"/>
          </a:solidFill>
          <a:ln w="12700">
            <a:solidFill>
              <a:srgbClr val="FF5723"/>
            </a:solidFill>
            <a:prstDash val="solid"/>
          </a:ln>
        </p:spPr>
      </p:sp>
      <p:sp>
        <p:nvSpPr>
          <p:cNvPr id="14" name="Text 12"/>
          <p:cNvSpPr txBox="1"/>
          <p:nvPr/>
        </p:nvSpPr>
        <p:spPr>
          <a:xfrm>
            <a:off x="4754880" y="262432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Inter" pitchFamily="34" charset="0"/>
                <a:ea typeface="Inter" pitchFamily="34" charset="-122"/>
                <a:cs typeface="Inter" pitchFamily="34" charset="-120"/>
              </a:rPr>
              <a:t>2</a:t>
            </a:r>
            <a:endParaRPr lang="en-US" sz="1100" dirty="0"/>
          </a:p>
        </p:txBody>
      </p:sp>
      <p:sp>
        <p:nvSpPr>
          <p:cNvPr id="15" name="Text 13"/>
          <p:cNvSpPr txBox="1"/>
          <p:nvPr/>
        </p:nvSpPr>
        <p:spPr>
          <a:xfrm>
            <a:off x="5257800" y="2606040"/>
            <a:ext cx="6385255" cy="502920"/>
          </a:xfrm>
          <a:prstGeom prst="rect">
            <a:avLst/>
          </a:prstGeom>
          <a:noFill/>
          <a:ln/>
        </p:spPr>
        <p:txBody>
          <a:bodyPr wrap="square" lIns="0" tIns="0" rIns="0" bIns="0" rtlCol="0" anchor="t"/>
          <a:lstStyle/>
          <a:p>
            <a:pPr indent="0" marL="0">
              <a:buNone/>
            </a:pPr>
            <a:r>
              <a:rPr lang="en-US" sz="1500" dirty="0">
                <a:solidFill>
                  <a:srgbClr val="272827"/>
                </a:solidFill>
                <a:latin typeface="Inter" pitchFamily="34" charset="0"/>
                <a:ea typeface="Inter" pitchFamily="34" charset="-122"/>
                <a:cs typeface="Inter" pitchFamily="34" charset="-120"/>
              </a:rPr>
              <a:t>Plan </a:t>
            </a:r>
            <a:pPr indent="0" marL="0">
              <a:buNone/>
            </a:pPr>
            <a:r>
              <a:rPr lang="en-US" sz="1500" dirty="0">
                <a:solidFill>
                  <a:srgbClr val="C2410C"/>
                </a:solidFill>
                <a:latin typeface="JetBrains Mono" pitchFamily="34" charset="0"/>
                <a:ea typeface="JetBrains Mono" pitchFamily="34" charset="-122"/>
                <a:cs typeface="JetBrains Mono" pitchFamily="34" charset="-120"/>
              </a:rPr>
              <a:t>docs/plans/day3-async.md</a:t>
            </a:r>
            <a:pPr indent="0" marL="0">
              <a:buNone/>
            </a:pPr>
            <a:r>
              <a:rPr lang="en-US" sz="1500" dirty="0">
                <a:solidFill>
                  <a:srgbClr val="272827"/>
                </a:solidFill>
                <a:latin typeface="Inter" pitchFamily="34" charset="0"/>
                <a:ea typeface="Inter" pitchFamily="34" charset="-122"/>
                <a:cs typeface="Inter" pitchFamily="34" charset="-120"/>
              </a:rPr>
              <a:t> with the agent in plan mode</a:t>
            </a:r>
            <a:endParaRPr lang="en-US" sz="1500" dirty="0"/>
          </a:p>
        </p:txBody>
      </p:sp>
      <p:sp>
        <p:nvSpPr>
          <p:cNvPr id="16" name="Shape 14"/>
          <p:cNvSpPr/>
          <p:nvPr/>
        </p:nvSpPr>
        <p:spPr>
          <a:xfrm>
            <a:off x="4754880" y="3127248"/>
            <a:ext cx="329184" cy="329184"/>
          </a:xfrm>
          <a:prstGeom prst="ellipse">
            <a:avLst/>
          </a:prstGeom>
          <a:solidFill>
            <a:srgbClr val="FF5723"/>
          </a:solidFill>
          <a:ln w="12700">
            <a:solidFill>
              <a:srgbClr val="FF5723"/>
            </a:solidFill>
            <a:prstDash val="solid"/>
          </a:ln>
        </p:spPr>
      </p:sp>
      <p:sp>
        <p:nvSpPr>
          <p:cNvPr id="17" name="Text 15"/>
          <p:cNvSpPr txBox="1"/>
          <p:nvPr/>
        </p:nvSpPr>
        <p:spPr>
          <a:xfrm>
            <a:off x="4754880" y="312724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Inter" pitchFamily="34" charset="0"/>
                <a:ea typeface="Inter" pitchFamily="34" charset="-122"/>
                <a:cs typeface="Inter" pitchFamily="34" charset="-120"/>
              </a:rPr>
              <a:t>3</a:t>
            </a:r>
            <a:endParaRPr lang="en-US" sz="1100" dirty="0"/>
          </a:p>
        </p:txBody>
      </p:sp>
      <p:sp>
        <p:nvSpPr>
          <p:cNvPr id="18" name="Text 16"/>
          <p:cNvSpPr txBox="1"/>
          <p:nvPr/>
        </p:nvSpPr>
        <p:spPr>
          <a:xfrm>
            <a:off x="5257800" y="3108960"/>
            <a:ext cx="6385255" cy="731520"/>
          </a:xfrm>
          <a:prstGeom prst="rect">
            <a:avLst/>
          </a:prstGeom>
          <a:noFill/>
          <a:ln/>
        </p:spPr>
        <p:txBody>
          <a:bodyPr wrap="square" lIns="0" tIns="0" rIns="0" bIns="0" rtlCol="0" anchor="t"/>
          <a:lstStyle/>
          <a:p>
            <a:pPr indent="0" marL="0">
              <a:buNone/>
            </a:pPr>
            <a:r>
              <a:rPr lang="en-US" sz="1500" dirty="0">
                <a:solidFill>
                  <a:srgbClr val="C2410C"/>
                </a:solidFill>
                <a:latin typeface="JetBrains Mono" pitchFamily="34" charset="0"/>
                <a:ea typeface="JetBrains Mono" pitchFamily="34" charset="-122"/>
                <a:cs typeface="JetBrains Mono" pitchFamily="34" charset="-120"/>
              </a:rPr>
              <a:t>ShipmentBooked</a:t>
            </a:r>
            <a:pPr indent="0" marL="0">
              <a:buNone/>
            </a:pPr>
            <a:r>
              <a:rPr lang="en-US" sz="1500" dirty="0">
                <a:solidFill>
                  <a:srgbClr val="272827"/>
                </a:solidFill>
                <a:latin typeface="Inter" pitchFamily="34" charset="0"/>
                <a:ea typeface="Inter" pitchFamily="34" charset="-122"/>
                <a:cs typeface="Inter" pitchFamily="34" charset="-120"/>
              </a:rPr>
              <a:t> + </a:t>
            </a:r>
            <a:pPr indent="0" marL="0">
              <a:buNone/>
            </a:pPr>
            <a:r>
              <a:rPr lang="en-US" sz="1500" dirty="0">
                <a:solidFill>
                  <a:srgbClr val="C2410C"/>
                </a:solidFill>
                <a:latin typeface="JetBrains Mono" pitchFamily="34" charset="0"/>
                <a:ea typeface="JetBrains Mono" pitchFamily="34" charset="-122"/>
                <a:cs typeface="JetBrains Mono" pitchFamily="34" charset="-120"/>
              </a:rPr>
              <a:t>QueueBookingJobs</a:t>
            </a:r>
            <a:pPr indent="0" marL="0">
              <a:buNone/>
            </a:pPr>
            <a:r>
              <a:rPr lang="en-US" sz="1500" dirty="0">
                <a:solidFill>
                  <a:srgbClr val="272827"/>
                </a:solidFill>
                <a:latin typeface="Inter" pitchFamily="34" charset="0"/>
                <a:ea typeface="Inter" pitchFamily="34" charset="-122"/>
                <a:cs typeface="Inter" pitchFamily="34" charset="-120"/>
              </a:rPr>
              <a:t>; </a:t>
            </a:r>
            <a:pPr indent="0" marL="0">
              <a:buNone/>
            </a:pPr>
            <a:r>
              <a:rPr lang="en-US" sz="1500" dirty="0">
                <a:solidFill>
                  <a:srgbClr val="C2410C"/>
                </a:solidFill>
                <a:latin typeface="JetBrains Mono" pitchFamily="34" charset="0"/>
                <a:ea typeface="JetBrains Mono" pitchFamily="34" charset="-122"/>
                <a:cs typeface="JetBrains Mono" pitchFamily="34" charset="-120"/>
              </a:rPr>
              <a:t>AssignVehicleJob</a:t>
            </a:r>
            <a:pPr indent="0" marL="0">
              <a:buNone/>
            </a:pPr>
            <a:r>
              <a:rPr lang="en-US" sz="1500" dirty="0">
                <a:solidFill>
                  <a:srgbClr val="272827"/>
                </a:solidFill>
                <a:latin typeface="Inter" pitchFamily="34" charset="0"/>
                <a:ea typeface="Inter" pitchFamily="34" charset="-122"/>
                <a:cs typeface="Inter" pitchFamily="34" charset="-120"/>
              </a:rPr>
              <a:t> with a lock</a:t>
            </a:r>
            <a:endParaRPr lang="en-US" sz="1500" dirty="0"/>
          </a:p>
        </p:txBody>
      </p:sp>
      <p:sp>
        <p:nvSpPr>
          <p:cNvPr id="19" name="Shape 17"/>
          <p:cNvSpPr/>
          <p:nvPr/>
        </p:nvSpPr>
        <p:spPr>
          <a:xfrm>
            <a:off x="4754880" y="3858768"/>
            <a:ext cx="329184" cy="329184"/>
          </a:xfrm>
          <a:prstGeom prst="ellipse">
            <a:avLst/>
          </a:prstGeom>
          <a:solidFill>
            <a:srgbClr val="FF5723"/>
          </a:solidFill>
          <a:ln w="12700">
            <a:solidFill>
              <a:srgbClr val="FF5723"/>
            </a:solidFill>
            <a:prstDash val="solid"/>
          </a:ln>
        </p:spPr>
      </p:sp>
      <p:sp>
        <p:nvSpPr>
          <p:cNvPr id="20" name="Text 18"/>
          <p:cNvSpPr txBox="1"/>
          <p:nvPr/>
        </p:nvSpPr>
        <p:spPr>
          <a:xfrm>
            <a:off x="4754880" y="385876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Inter" pitchFamily="34" charset="0"/>
                <a:ea typeface="Inter" pitchFamily="34" charset="-122"/>
                <a:cs typeface="Inter" pitchFamily="34" charset="-120"/>
              </a:rPr>
              <a:t>4</a:t>
            </a:r>
            <a:endParaRPr lang="en-US" sz="1100" dirty="0"/>
          </a:p>
        </p:txBody>
      </p:sp>
      <p:sp>
        <p:nvSpPr>
          <p:cNvPr id="21" name="Text 19"/>
          <p:cNvSpPr txBox="1"/>
          <p:nvPr/>
        </p:nvSpPr>
        <p:spPr>
          <a:xfrm>
            <a:off x="5257800" y="3840480"/>
            <a:ext cx="6385255" cy="502920"/>
          </a:xfrm>
          <a:prstGeom prst="rect">
            <a:avLst/>
          </a:prstGeom>
          <a:noFill/>
          <a:ln/>
        </p:spPr>
        <p:txBody>
          <a:bodyPr wrap="square" lIns="0" tIns="0" rIns="0" bIns="0" rtlCol="0" anchor="t"/>
          <a:lstStyle/>
          <a:p>
            <a:pPr indent="0" marL="0">
              <a:buNone/>
            </a:pPr>
            <a:r>
              <a:rPr lang="en-US" sz="1500" dirty="0">
                <a:solidFill>
                  <a:srgbClr val="C2410C"/>
                </a:solidFill>
                <a:latin typeface="JetBrains Mono" pitchFamily="34" charset="0"/>
                <a:ea typeface="JetBrains Mono" pitchFamily="34" charset="-122"/>
                <a:cs typeface="JetBrains Mono" pitchFamily="34" charset="-120"/>
              </a:rPr>
              <a:t>SendBookingConfirmationJob</a:t>
            </a:r>
            <a:pPr indent="0" marL="0">
              <a:buNone/>
            </a:pPr>
            <a:r>
              <a:rPr lang="en-US" sz="1500" dirty="0">
                <a:solidFill>
                  <a:srgbClr val="272827"/>
                </a:solidFill>
                <a:latin typeface="Inter" pitchFamily="34" charset="0"/>
                <a:ea typeface="Inter" pitchFamily="34" charset="-122"/>
                <a:cs typeface="Inter" pitchFamily="34" charset="-120"/>
              </a:rPr>
              <a:t> on </a:t>
            </a:r>
            <a:pPr indent="0" marL="0">
              <a:buNone/>
            </a:pPr>
            <a:r>
              <a:rPr lang="en-US" sz="1500" dirty="0">
                <a:solidFill>
                  <a:srgbClr val="C2410C"/>
                </a:solidFill>
                <a:latin typeface="JetBrains Mono" pitchFamily="34" charset="0"/>
                <a:ea typeface="JetBrains Mono" pitchFamily="34" charset="-122"/>
                <a:cs typeface="JetBrains Mono" pitchFamily="34" charset="-120"/>
              </a:rPr>
              <a:t>notifications</a:t>
            </a:r>
            <a:endParaRPr lang="en-US" sz="1500" dirty="0"/>
          </a:p>
        </p:txBody>
      </p:sp>
      <p:sp>
        <p:nvSpPr>
          <p:cNvPr id="22" name="Shape 20"/>
          <p:cNvSpPr/>
          <p:nvPr/>
        </p:nvSpPr>
        <p:spPr>
          <a:xfrm>
            <a:off x="4754880" y="4361688"/>
            <a:ext cx="329184" cy="329184"/>
          </a:xfrm>
          <a:prstGeom prst="ellipse">
            <a:avLst/>
          </a:prstGeom>
          <a:solidFill>
            <a:srgbClr val="FF5723"/>
          </a:solidFill>
          <a:ln w="12700">
            <a:solidFill>
              <a:srgbClr val="FF5723"/>
            </a:solidFill>
            <a:prstDash val="solid"/>
          </a:ln>
        </p:spPr>
      </p:sp>
      <p:sp>
        <p:nvSpPr>
          <p:cNvPr id="23" name="Text 21"/>
          <p:cNvSpPr txBox="1"/>
          <p:nvPr/>
        </p:nvSpPr>
        <p:spPr>
          <a:xfrm>
            <a:off x="4754880" y="436168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Inter" pitchFamily="34" charset="0"/>
                <a:ea typeface="Inter" pitchFamily="34" charset="-122"/>
                <a:cs typeface="Inter" pitchFamily="34" charset="-120"/>
              </a:rPr>
              <a:t>5</a:t>
            </a:r>
            <a:endParaRPr lang="en-US" sz="1100" dirty="0"/>
          </a:p>
        </p:txBody>
      </p:sp>
      <p:sp>
        <p:nvSpPr>
          <p:cNvPr id="24" name="Text 22"/>
          <p:cNvSpPr txBox="1"/>
          <p:nvPr/>
        </p:nvSpPr>
        <p:spPr>
          <a:xfrm>
            <a:off x="5257800" y="4343400"/>
            <a:ext cx="6385255" cy="502920"/>
          </a:xfrm>
          <a:prstGeom prst="rect">
            <a:avLst/>
          </a:prstGeom>
          <a:noFill/>
          <a:ln/>
        </p:spPr>
        <p:txBody>
          <a:bodyPr wrap="square" lIns="0" tIns="0" rIns="0" bIns="0" rtlCol="0" anchor="t"/>
          <a:lstStyle/>
          <a:p>
            <a:pPr indent="0" marL="0">
              <a:buNone/>
            </a:pPr>
            <a:r>
              <a:rPr lang="en-US" sz="1500" dirty="0">
                <a:solidFill>
                  <a:srgbClr val="C2410C"/>
                </a:solidFill>
                <a:latin typeface="JetBrains Mono" pitchFamily="34" charset="0"/>
                <a:ea typeface="JetBrains Mono" pitchFamily="34" charset="-122"/>
                <a:cs typeface="JetBrains Mono" pitchFamily="34" charset="-120"/>
              </a:rPr>
              <a:t>idempotency_keys</a:t>
            </a:r>
            <a:pPr indent="0" marL="0">
              <a:buNone/>
            </a:pPr>
            <a:r>
              <a:rPr lang="en-US" sz="1500" dirty="0">
                <a:solidFill>
                  <a:srgbClr val="272827"/>
                </a:solidFill>
                <a:latin typeface="Inter" pitchFamily="34" charset="0"/>
                <a:ea typeface="Inter" pitchFamily="34" charset="-122"/>
                <a:cs typeface="Inter" pitchFamily="34" charset="-120"/>
              </a:rPr>
              <a:t> migration + </a:t>
            </a:r>
            <a:pPr indent="0" marL="0">
              <a:buNone/>
            </a:pPr>
            <a:r>
              <a:rPr lang="en-US" sz="1500" dirty="0">
                <a:solidFill>
                  <a:srgbClr val="C2410C"/>
                </a:solidFill>
                <a:latin typeface="JetBrains Mono" pitchFamily="34" charset="0"/>
                <a:ea typeface="JetBrains Mono" pitchFamily="34" charset="-122"/>
                <a:cs typeface="JetBrains Mono" pitchFamily="34" charset="-120"/>
              </a:rPr>
              <a:t>EnsureIdempotency</a:t>
            </a:r>
            <a:pPr indent="0" marL="0">
              <a:buNone/>
            </a:pPr>
            <a:r>
              <a:rPr lang="en-US" sz="1500" dirty="0">
                <a:solidFill>
                  <a:srgbClr val="272827"/>
                </a:solidFill>
                <a:latin typeface="Inter" pitchFamily="34" charset="0"/>
                <a:ea typeface="Inter" pitchFamily="34" charset="-122"/>
                <a:cs typeface="Inter" pitchFamily="34" charset="-120"/>
              </a:rPr>
              <a:t> middleware</a:t>
            </a:r>
            <a:endParaRPr lang="en-US" sz="1500" dirty="0"/>
          </a:p>
        </p:txBody>
      </p:sp>
      <p:sp>
        <p:nvSpPr>
          <p:cNvPr id="25" name="Shape 23"/>
          <p:cNvSpPr/>
          <p:nvPr/>
        </p:nvSpPr>
        <p:spPr>
          <a:xfrm>
            <a:off x="4754880" y="4864608"/>
            <a:ext cx="329184" cy="329184"/>
          </a:xfrm>
          <a:prstGeom prst="ellipse">
            <a:avLst/>
          </a:prstGeom>
          <a:solidFill>
            <a:srgbClr val="272827"/>
          </a:solidFill>
          <a:ln w="12700">
            <a:solidFill>
              <a:srgbClr val="272827"/>
            </a:solidFill>
            <a:prstDash val="solid"/>
          </a:ln>
        </p:spPr>
      </p:sp>
      <p:sp>
        <p:nvSpPr>
          <p:cNvPr id="26" name="Text 24"/>
          <p:cNvSpPr txBox="1"/>
          <p:nvPr/>
        </p:nvSpPr>
        <p:spPr>
          <a:xfrm>
            <a:off x="4754880" y="486460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Inter" pitchFamily="34" charset="0"/>
                <a:ea typeface="Inter" pitchFamily="34" charset="-122"/>
                <a:cs typeface="Inter" pitchFamily="34" charset="-120"/>
              </a:rPr>
              <a:t>6</a:t>
            </a:r>
            <a:endParaRPr lang="en-US" sz="1100" dirty="0"/>
          </a:p>
        </p:txBody>
      </p:sp>
      <p:sp>
        <p:nvSpPr>
          <p:cNvPr id="27" name="Text 25"/>
          <p:cNvSpPr txBox="1"/>
          <p:nvPr/>
        </p:nvSpPr>
        <p:spPr>
          <a:xfrm>
            <a:off x="5257800" y="4846320"/>
            <a:ext cx="6385255" cy="502920"/>
          </a:xfrm>
          <a:prstGeom prst="rect">
            <a:avLst/>
          </a:prstGeom>
          <a:noFill/>
          <a:ln/>
        </p:spPr>
        <p:txBody>
          <a:bodyPr wrap="square" lIns="0" tIns="0" rIns="0" bIns="0" rtlCol="0" anchor="t"/>
          <a:lstStyle/>
          <a:p>
            <a:pPr indent="0" marL="0">
              <a:buNone/>
            </a:pPr>
            <a:r>
              <a:rPr lang="en-US" sz="1500" dirty="0">
                <a:solidFill>
                  <a:srgbClr val="272827"/>
                </a:solidFill>
                <a:latin typeface="Inter" pitchFamily="34" charset="0"/>
                <a:ea typeface="Inter" pitchFamily="34" charset="-122"/>
                <a:cs typeface="Inter" pitchFamily="34" charset="-120"/>
              </a:rPr>
              <a:t>Pest: </a:t>
            </a:r>
            <a:pPr indent="0" marL="0">
              <a:buNone/>
            </a:pPr>
            <a:r>
              <a:rPr lang="en-US" sz="1500" dirty="0">
                <a:solidFill>
                  <a:srgbClr val="C2410C"/>
                </a:solidFill>
                <a:latin typeface="JetBrains Mono" pitchFamily="34" charset="0"/>
                <a:ea typeface="JetBrains Mono" pitchFamily="34" charset="-122"/>
                <a:cs typeface="JetBrains Mono" pitchFamily="34" charset="-120"/>
              </a:rPr>
              <a:t>Queue::fake()</a:t>
            </a:r>
            <a:pPr indent="0" marL="0">
              <a:buNone/>
            </a:pPr>
            <a:r>
              <a:rPr lang="en-US" sz="1500" dirty="0">
                <a:solidFill>
                  <a:srgbClr val="272827"/>
                </a:solidFill>
                <a:latin typeface="Inter" pitchFamily="34" charset="0"/>
                <a:ea typeface="Inter" pitchFamily="34" charset="-122"/>
                <a:cs typeface="Inter" pitchFamily="34" charset="-120"/>
              </a:rPr>
              <a:t>; replayed key → same shipment</a:t>
            </a:r>
            <a:endParaRPr lang="en-US" sz="1500" dirty="0"/>
          </a:p>
        </p:txBody>
      </p:sp>
      <p:sp>
        <p:nvSpPr>
          <p:cNvPr id="28" name="Shape 26"/>
          <p:cNvSpPr/>
          <p:nvPr/>
        </p:nvSpPr>
        <p:spPr>
          <a:xfrm>
            <a:off x="4754880" y="5440680"/>
            <a:ext cx="6888175" cy="685800"/>
          </a:xfrm>
          <a:prstGeom prst="roundRect">
            <a:avLst>
              <a:gd name="adj" fmla="val 10667"/>
            </a:avLst>
          </a:prstGeom>
          <a:solidFill>
            <a:srgbClr val="F6F3EE"/>
          </a:solidFill>
          <a:ln w="12700">
            <a:solidFill>
              <a:srgbClr val="D0CBC0"/>
            </a:solidFill>
            <a:prstDash val="solid"/>
          </a:ln>
        </p:spPr>
      </p:sp>
      <p:sp>
        <p:nvSpPr>
          <p:cNvPr id="29" name="Text 27"/>
          <p:cNvSpPr txBox="1"/>
          <p:nvPr/>
        </p:nvSpPr>
        <p:spPr>
          <a:xfrm>
            <a:off x="4983480" y="5486400"/>
            <a:ext cx="6430975" cy="594360"/>
          </a:xfrm>
          <a:prstGeom prst="rect">
            <a:avLst/>
          </a:prstGeom>
          <a:noFill/>
          <a:ln/>
        </p:spPr>
        <p:txBody>
          <a:bodyPr wrap="square" lIns="0" tIns="0" rIns="0" bIns="0" rtlCol="0" anchor="ctr"/>
          <a:lstStyle/>
          <a:p>
            <a:pPr indent="0" marL="0">
              <a:buNone/>
            </a:pPr>
            <a:r>
              <a:rPr lang="en-US" sz="1400" b="1" spc="200" kern="0" dirty="0">
                <a:solidFill>
                  <a:srgbClr val="FF5723"/>
                </a:solidFill>
                <a:latin typeface="Inter" pitchFamily="34" charset="0"/>
                <a:ea typeface="Inter" pitchFamily="34" charset="-122"/>
                <a:cs typeface="Inter" pitchFamily="34" charset="-120"/>
              </a:rPr>
              <a:t>DONE WHEN  </a:t>
            </a:r>
            <a:pPr indent="0" marL="0">
              <a:buNone/>
            </a:pPr>
            <a:r>
              <a:rPr lang="en-US" sz="1400" dirty="0">
                <a:solidFill>
                  <a:srgbClr val="272827"/>
                </a:solidFill>
                <a:latin typeface="Inter" pitchFamily="34" charset="0"/>
                <a:ea typeface="Inter" pitchFamily="34" charset="-122"/>
                <a:cs typeface="Inter" pitchFamily="34" charset="-120"/>
              </a:rPr>
              <a:t>no key → </a:t>
            </a:r>
            <a:pPr indent="0" marL="0">
              <a:buNone/>
            </a:pPr>
            <a:r>
              <a:rPr lang="en-US" sz="1400" dirty="0">
                <a:solidFill>
                  <a:srgbClr val="C2410C"/>
                </a:solidFill>
                <a:latin typeface="JetBrains Mono" pitchFamily="34" charset="0"/>
                <a:ea typeface="JetBrains Mono" pitchFamily="34" charset="-122"/>
                <a:cs typeface="JetBrains Mono" pitchFamily="34" charset="-120"/>
              </a:rPr>
              <a:t>400</a:t>
            </a:r>
            <a:pPr indent="0" marL="0">
              <a:buNone/>
            </a:pPr>
            <a:r>
              <a:rPr lang="en-US" sz="1400" dirty="0">
                <a:solidFill>
                  <a:srgbClr val="272827"/>
                </a:solidFill>
                <a:latin typeface="Inter" pitchFamily="34" charset="0"/>
                <a:ea typeface="Inter" pitchFamily="34" charset="-122"/>
                <a:cs typeface="Inter" pitchFamily="34" charset="-120"/>
              </a:rPr>
              <a:t>, same key twice → one shipment and </a:t>
            </a:r>
            <a:pPr indent="0" marL="0">
              <a:buNone/>
            </a:pPr>
            <a:r>
              <a:rPr lang="en-US" sz="1400" dirty="0">
                <a:solidFill>
                  <a:srgbClr val="C2410C"/>
                </a:solidFill>
                <a:latin typeface="JetBrains Mono" pitchFamily="34" charset="0"/>
                <a:ea typeface="JetBrains Mono" pitchFamily="34" charset="-122"/>
                <a:cs typeface="JetBrains Mono" pitchFamily="34" charset="-120"/>
              </a:rPr>
              <a:t>Idempotent-Replayed: true</a:t>
            </a:r>
            <a:pPr indent="0" marL="0">
              <a:buNone/>
            </a:pPr>
            <a:r>
              <a:rPr lang="en-US" sz="1400" dirty="0">
                <a:solidFill>
                  <a:srgbClr val="272827"/>
                </a:solidFill>
                <a:latin typeface="Inter" pitchFamily="34" charset="0"/>
                <a:ea typeface="Inter" pitchFamily="34" charset="-122"/>
                <a:cs typeface="Inter" pitchFamily="34" charset="-120"/>
              </a:rPr>
              <a:t>, Horizon shows jobs on both queues.</a:t>
            </a:r>
            <a:endParaRPr lang="en-US" sz="1400" dirty="0"/>
          </a:p>
        </p:txBody>
      </p:sp>
      <p:sp>
        <p:nvSpPr>
          <p:cNvPr id="25" name="Slide Number Placeholder 0"/>
          <p:cNvSpPr>
            <a:spLocks noGrp="1"/>
          </p:cNvSpPr>
          <p:nvPr>
            <p:ph type="sldNum" sz="quarter" idx="4294967295"/>
          </p:nvPr>
        </p:nvSpPr>
        <p:spPr>
          <a:xfrm>
            <a:off x="10911535" y="6419088"/>
            <a:ext cx="73152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280"/>
                </a:solidFill>
                <a:latin typeface="Inter"/>
                <a:ea typeface="Inter"/>
                <a:cs typeface="Inter"/>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48640" y="1828800"/>
            <a:ext cx="6949440" cy="320040"/>
          </a:xfrm>
          <a:prstGeom prst="rect">
            <a:avLst/>
          </a:prstGeom>
          <a:noFill/>
          <a:ln/>
        </p:spPr>
        <p:txBody>
          <a:bodyPr wrap="square" lIns="0" tIns="0" rIns="0" bIns="0" rtlCol="0" anchor="ctr"/>
          <a:lstStyle/>
          <a:p>
            <a:pPr indent="0" marL="0">
              <a:buNone/>
            </a:pPr>
            <a:r>
              <a:rPr lang="en-US" sz="1300" b="1" spc="300" kern="0" dirty="0">
                <a:solidFill>
                  <a:srgbClr val="FF5723"/>
                </a:solidFill>
                <a:latin typeface="Inter" pitchFamily="34" charset="0"/>
                <a:ea typeface="Inter" pitchFamily="34" charset="-122"/>
                <a:cs typeface="Inter" pitchFamily="34" charset="-120"/>
              </a:rPr>
              <a:t>SESSION B · 13:30–14:15</a:t>
            </a:r>
            <a:endParaRPr lang="en-US" sz="1300" dirty="0"/>
          </a:p>
        </p:txBody>
      </p:sp>
      <p:sp>
        <p:nvSpPr>
          <p:cNvPr id="3" name="Text 1"/>
          <p:cNvSpPr txBox="1"/>
          <p:nvPr/>
        </p:nvSpPr>
        <p:spPr>
          <a:xfrm>
            <a:off x="548640" y="2240280"/>
            <a:ext cx="7498080" cy="1737360"/>
          </a:xfrm>
          <a:prstGeom prst="rect">
            <a:avLst/>
          </a:prstGeom>
          <a:noFill/>
          <a:ln/>
        </p:spPr>
        <p:txBody>
          <a:bodyPr wrap="square" lIns="0" tIns="0" rIns="0" bIns="0" rtlCol="0" anchor="t"/>
          <a:lstStyle/>
          <a:p>
            <a:pPr indent="0" marL="0">
              <a:buNone/>
            </a:pPr>
            <a:r>
              <a:rPr lang="en-US" sz="4600" b="1" dirty="0">
                <a:solidFill>
                  <a:srgbClr val="FFFFFF"/>
                </a:solidFill>
                <a:latin typeface="Playfair Display" pitchFamily="34" charset="0"/>
                <a:ea typeface="Playfair Display" pitchFamily="34" charset="-122"/>
                <a:cs typeface="Playfair Display" pitchFamily="34" charset="-120"/>
              </a:rPr>
              <a:t>Measure, </a:t>
            </a:r>
            <a:pPr indent="0" marL="0">
              <a:buNone/>
            </a:pPr>
            <a:r>
              <a:rPr lang="en-US" sz="4600" b="1" dirty="0">
                <a:solidFill>
                  <a:srgbClr val="FF5723"/>
                </a:solidFill>
                <a:latin typeface="Playfair Display" pitchFamily="34" charset="0"/>
                <a:ea typeface="Playfair Display" pitchFamily="34" charset="-122"/>
                <a:cs typeface="Playfair Display" pitchFamily="34" charset="-120"/>
              </a:rPr>
              <a:t>then</a:t>
            </a:r>
            <a:pPr indent="0" marL="0">
              <a:buNone/>
            </a:pPr>
            <a:r>
              <a:rPr lang="en-US" sz="4600" b="1" dirty="0">
                <a:solidFill>
                  <a:srgbClr val="FFFFFF"/>
                </a:solidFill>
                <a:latin typeface="Playfair Display" pitchFamily="34" charset="0"/>
                <a:ea typeface="Playfair Display" pitchFamily="34" charset="-122"/>
                <a:cs typeface="Playfair Display" pitchFamily="34" charset="-120"/>
              </a:rPr>
              <a:t> optimise</a:t>
            </a:r>
            <a:endParaRPr lang="en-US" sz="4600" dirty="0"/>
          </a:p>
        </p:txBody>
      </p:sp>
      <p:sp>
        <p:nvSpPr>
          <p:cNvPr id="4" name="Text 2"/>
          <p:cNvSpPr txBox="1"/>
          <p:nvPr/>
        </p:nvSpPr>
        <p:spPr>
          <a:xfrm>
            <a:off x="548640" y="4023360"/>
            <a:ext cx="7315200" cy="548640"/>
          </a:xfrm>
          <a:prstGeom prst="rect">
            <a:avLst/>
          </a:prstGeom>
          <a:noFill/>
          <a:ln/>
        </p:spPr>
        <p:txBody>
          <a:bodyPr wrap="square" lIns="0" tIns="0" rIns="0" bIns="0" rtlCol="0" anchor="t"/>
          <a:lstStyle/>
          <a:p>
            <a:pPr rtl="1" algn="l" indent="0" marL="0">
              <a:buNone/>
            </a:pPr>
            <a:r>
              <a:rPr lang="ar-LY" altLang="en-US" sz="2800" dirty="0">
                <a:solidFill>
                  <a:srgbClr val="9CA3AF"/>
                </a:solidFill>
                <a:latin typeface="Tajawal" pitchFamily="34" charset="0"/>
                <a:ea typeface="Tajawal" pitchFamily="34" charset="-122"/>
                <a:cs typeface="Tajawal" pitchFamily="34" charset="-120"/>
              </a:rPr>
              <a:t>قِس أولاً ثم حسِّن</a:t>
            </a:r>
            <a:endParaRPr lang="ar-LY" sz="2800" dirty="0"/>
          </a:p>
        </p:txBody>
      </p:sp>
      <p:sp>
        <p:nvSpPr>
          <p:cNvPr id="5" name="Text 3"/>
          <p:cNvSpPr txBox="1"/>
          <p:nvPr/>
        </p:nvSpPr>
        <p:spPr>
          <a:xfrm>
            <a:off x="548640" y="5120640"/>
            <a:ext cx="7863840" cy="548640"/>
          </a:xfrm>
          <a:prstGeom prst="rect">
            <a:avLst/>
          </a:prstGeom>
          <a:noFill/>
          <a:ln/>
        </p:spPr>
        <p:txBody>
          <a:bodyPr wrap="square" lIns="0" tIns="0" rIns="0" bIns="0" rtlCol="0" anchor="t"/>
          <a:lstStyle/>
          <a:p>
            <a:pPr indent="0" marL="0">
              <a:buNone/>
            </a:pPr>
            <a:r>
              <a:rPr lang="en-US" sz="1300" dirty="0">
                <a:solidFill>
                  <a:srgbClr val="9CA3AF"/>
                </a:solidFill>
                <a:latin typeface="Inter" pitchFamily="34" charset="0"/>
                <a:ea typeface="Inter" pitchFamily="34" charset="-122"/>
                <a:cs typeface="Inter" pitchFamily="34" charset="-120"/>
              </a:rPr>
              <a:t>Caching strategies   ·   Rate limiting   ·   Observability   ·   k6 reports   ·   Agent as profiler   ·   Verify with numbers</a:t>
            </a:r>
            <a:endParaRPr lang="en-US" sz="1300" dirty="0"/>
          </a:p>
        </p:txBody>
      </p:sp>
      <p:sp>
        <p:nvSpPr>
          <p:cNvPr id="6" name="Text 4"/>
          <p:cNvSpPr txBox="1"/>
          <p:nvPr/>
        </p:nvSpPr>
        <p:spPr>
          <a:xfrm>
            <a:off x="8138160" y="1188720"/>
            <a:ext cx="3566160" cy="3108960"/>
          </a:xfrm>
          <a:prstGeom prst="rect">
            <a:avLst/>
          </a:prstGeom>
          <a:noFill/>
          <a:ln/>
        </p:spPr>
        <p:txBody>
          <a:bodyPr wrap="square" lIns="0" tIns="0" rIns="0" bIns="0" rtlCol="0" anchor="ctr"/>
          <a:lstStyle/>
          <a:p>
            <a:pPr algn="r" indent="0" marL="0">
              <a:buNone/>
            </a:pPr>
            <a:r>
              <a:rPr lang="en-US" sz="21000" b="1" dirty="0">
                <a:solidFill>
                  <a:srgbClr val="FF5723"/>
                </a:solidFill>
                <a:latin typeface="Playfair Display" pitchFamily="34" charset="0"/>
                <a:ea typeface="Playfair Display" pitchFamily="34" charset="-122"/>
                <a:cs typeface="Playfair Display" pitchFamily="34" charset="-120"/>
              </a:rPr>
              <a:t>02</a:t>
            </a:r>
            <a:endParaRPr lang="en-US" sz="21000" dirty="0"/>
          </a:p>
        </p:txBody>
      </p:sp>
      <p:sp>
        <p:nvSpPr>
          <p:cNvPr id="25" name="Slide Number Placeholder 0"/>
          <p:cNvSpPr>
            <a:spLocks noGrp="1"/>
          </p:cNvSpPr>
          <p:nvPr>
            <p:ph type="sldNum" sz="quarter" idx="4294967295"/>
          </p:nvPr>
        </p:nvSpPr>
        <p:spPr>
          <a:xfrm>
            <a:off x="10911535" y="6419088"/>
            <a:ext cx="73152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9CA3AF"/>
                </a:solidFill>
                <a:latin typeface="Inter"/>
                <a:ea typeface="Inter"/>
                <a:cs typeface="Inter"/>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94415" cy="640080"/>
          </a:xfrm>
          <a:prstGeom prst="rect">
            <a:avLst/>
          </a:prstGeom>
          <a:noFill/>
          <a:ln/>
        </p:spPr>
        <p:txBody>
          <a:bodyPr wrap="square" lIns="0" tIns="0" rIns="0" bIns="0" rtlCol="0" anchor="b"/>
          <a:lstStyle/>
          <a:p>
            <a:pPr algn="l" indent="0" marL="0">
              <a:buNone/>
            </a:pPr>
            <a:r>
              <a:rPr lang="en-US" sz="3200" b="1" dirty="0">
                <a:solidFill>
                  <a:srgbClr val="272827"/>
                </a:solidFill>
                <a:latin typeface="Playfair Display" pitchFamily="34" charset="0"/>
                <a:ea typeface="Playfair Display" pitchFamily="34" charset="-122"/>
                <a:cs typeface="Playfair Display" pitchFamily="34" charset="-120"/>
              </a:rPr>
              <a:t>What to cache, and for how long</a:t>
            </a:r>
            <a:endParaRPr lang="en-US" sz="3200" dirty="0"/>
          </a:p>
        </p:txBody>
      </p:sp>
      <p:sp>
        <p:nvSpPr>
          <p:cNvPr id="3" name="Text 1"/>
          <p:cNvSpPr txBox="1"/>
          <p:nvPr/>
        </p:nvSpPr>
        <p:spPr>
          <a:xfrm>
            <a:off x="548640" y="1060704"/>
            <a:ext cx="8229600" cy="384048"/>
          </a:xfrm>
          <a:prstGeom prst="rect">
            <a:avLst/>
          </a:prstGeom>
          <a:noFill/>
          <a:ln/>
        </p:spPr>
        <p:txBody>
          <a:bodyPr wrap="square" lIns="0" tIns="0" rIns="0" bIns="0" rtlCol="0" anchor="t"/>
          <a:lstStyle/>
          <a:p>
            <a:pPr rtl="1" algn="l" indent="0" marL="0">
              <a:buNone/>
            </a:pPr>
            <a:r>
              <a:rPr lang="ar-LY" altLang="en-US" sz="1700" dirty="0">
                <a:solidFill>
                  <a:srgbClr val="FF5723"/>
                </a:solidFill>
                <a:latin typeface="Tajawal" pitchFamily="34" charset="0"/>
                <a:ea typeface="Tajawal" pitchFamily="34" charset="-122"/>
                <a:cs typeface="Tajawal" pitchFamily="34" charset="-120"/>
              </a:rPr>
              <a:t>ماذا نخزّن مؤقتاً ولأي مدة</a:t>
            </a:r>
            <a:endParaRPr lang="ar-LY" sz="17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11094415" cy="914400"/>
        </p:xfrm>
        <a:graphic>
          <a:graphicData uri="http://schemas.openxmlformats.org/drawingml/2006/table">
            <a:tbl>
              <a:tblPr/>
              <a:tblGrid>
                <a:gridCol w="2651760"/>
                <a:gridCol w="1463040"/>
                <a:gridCol w="2926080"/>
                <a:gridCol w="4050792"/>
              </a:tblGrid>
              <a:tr h="0">
                <a:tc>
                  <a:txBody>
                    <a:bodyPr/>
                    <a:lstStyle/>
                    <a:p>
                      <a:pPr indent="0" marL="0">
                        <a:buNone/>
                      </a:pPr>
                      <a:r>
                        <a:rPr lang="en-US" sz="1600" b="1" dirty="0">
                          <a:solidFill>
                            <a:srgbClr val="FFFFFF"/>
                          </a:solidFill>
                          <a:latin typeface="Inter" pitchFamily="34" charset="0"/>
                          <a:ea typeface="Inter" pitchFamily="34" charset="-122"/>
                          <a:cs typeface="Inter" pitchFamily="34" charset="-120"/>
                        </a:rPr>
                        <a:t>Data</a:t>
                      </a:r>
                      <a:endParaRPr lang="en-US" sz="1600" dirty="0">
                        <a:latin typeface="Inter" charset="0"/>
                        <a:ea typeface="Inter" charset="0"/>
                        <a:cs typeface="Inter" charset="0"/>
                      </a:endParaRPr>
                    </a:p>
                  </a:txBody>
                  <a:tcPr marL="101600" marR="101600" marT="63500" marB="63500" anchor="ctr">
                    <a:lnL w="9525" cap="flat" cmpd="sng" algn="ctr">
                      <a:solidFill>
                        <a:srgbClr val="D0CBC0"/>
                      </a:solidFill>
                      <a:prstDash val="solid"/>
                      <a:round/>
                      <a:headEnd type="none" w="med" len="med"/>
                      <a:tailEnd type="none" w="med" len="med"/>
                    </a:lnL>
                    <a:lnR w="9525" cap="flat" cmpd="sng" algn="ctr">
                      <a:solidFill>
                        <a:srgbClr val="D0CBC0"/>
                      </a:solidFill>
                      <a:prstDash val="solid"/>
                      <a:round/>
                      <a:headEnd type="none" w="med" len="med"/>
                      <a:tailEnd type="none" w="med" len="med"/>
                    </a:lnR>
                    <a:lnT w="9525" cap="flat" cmpd="sng" algn="ctr">
                      <a:solidFill>
                        <a:srgbClr val="D0CBC0"/>
                      </a:solidFill>
                      <a:prstDash val="solid"/>
                      <a:round/>
                      <a:headEnd type="none" w="med" len="med"/>
                      <a:tailEnd type="none" w="med" len="med"/>
                    </a:lnT>
                    <a:lnB w="9525" cap="flat" cmpd="sng" algn="ctr">
                      <a:solidFill>
                        <a:srgbClr val="D0CBC0"/>
                      </a:solidFill>
                      <a:prstDash val="solid"/>
                      <a:round/>
                      <a:headEnd type="none" w="med" len="med"/>
                      <a:tailEnd type="none" w="med" len="med"/>
                    </a:lnB>
                    <a:solidFill>
                      <a:srgbClr val="272827"/>
                    </a:solidFill>
                  </a:tcPr>
                </a:tc>
                <a:tc>
                  <a:txBody>
                    <a:bodyPr/>
                    <a:lstStyle/>
                    <a:p>
                      <a:pPr indent="0" marL="0">
                        <a:buNone/>
                      </a:pPr>
                      <a:r>
                        <a:rPr lang="en-US" sz="1600" b="1" dirty="0">
                          <a:solidFill>
                            <a:srgbClr val="FFFFFF"/>
                          </a:solidFill>
                          <a:latin typeface="Inter" pitchFamily="34" charset="0"/>
                          <a:ea typeface="Inter" pitchFamily="34" charset="-122"/>
                          <a:cs typeface="Inter" pitchFamily="34" charset="-120"/>
                        </a:rPr>
                        <a:t>Cache?</a:t>
                      </a:r>
                      <a:endParaRPr lang="en-US" sz="1600" dirty="0">
                        <a:latin typeface="Inter" charset="0"/>
                        <a:ea typeface="Inter" charset="0"/>
                        <a:cs typeface="Inter" charset="0"/>
                      </a:endParaRPr>
                    </a:p>
                  </a:txBody>
                  <a:tcPr marL="101600" marR="101600" marT="63500" marB="63500" anchor="ctr">
                    <a:lnL w="9525" cap="flat" cmpd="sng" algn="ctr">
                      <a:solidFill>
                        <a:srgbClr val="D0CBC0"/>
                      </a:solidFill>
                      <a:prstDash val="solid"/>
                      <a:round/>
                      <a:headEnd type="none" w="med" len="med"/>
                      <a:tailEnd type="none" w="med" len="med"/>
                    </a:lnL>
                    <a:lnR w="9525" cap="flat" cmpd="sng" algn="ctr">
                      <a:solidFill>
                        <a:srgbClr val="D0CBC0"/>
                      </a:solidFill>
                      <a:prstDash val="solid"/>
                      <a:round/>
                      <a:headEnd type="none" w="med" len="med"/>
                      <a:tailEnd type="none" w="med" len="med"/>
                    </a:lnR>
                    <a:lnT w="9525" cap="flat" cmpd="sng" algn="ctr">
                      <a:solidFill>
                        <a:srgbClr val="D0CBC0"/>
                      </a:solidFill>
                      <a:prstDash val="solid"/>
                      <a:round/>
                      <a:headEnd type="none" w="med" len="med"/>
                      <a:tailEnd type="none" w="med" len="med"/>
                    </a:lnT>
                    <a:lnB w="9525" cap="flat" cmpd="sng" algn="ctr">
                      <a:solidFill>
                        <a:srgbClr val="D0CBC0"/>
                      </a:solidFill>
                      <a:prstDash val="solid"/>
                      <a:round/>
                      <a:headEnd type="none" w="med" len="med"/>
                      <a:tailEnd type="none" w="med" len="med"/>
                    </a:lnB>
                    <a:solidFill>
                      <a:srgbClr val="272827"/>
                    </a:solidFill>
                  </a:tcPr>
                </a:tc>
                <a:tc>
                  <a:txBody>
                    <a:bodyPr/>
                    <a:lstStyle/>
                    <a:p>
                      <a:pPr indent="0" marL="0">
                        <a:buNone/>
                      </a:pPr>
                      <a:r>
                        <a:rPr lang="en-US" sz="1600" b="1" dirty="0">
                          <a:solidFill>
                            <a:srgbClr val="FFFFFF"/>
                          </a:solidFill>
                          <a:latin typeface="Inter" pitchFamily="34" charset="0"/>
                          <a:ea typeface="Inter" pitchFamily="34" charset="-122"/>
                          <a:cs typeface="Inter" pitchFamily="34" charset="-120"/>
                        </a:rPr>
                        <a:t>Where / TTL</a:t>
                      </a:r>
                      <a:endParaRPr lang="en-US" sz="1600" dirty="0">
                        <a:latin typeface="Inter" charset="0"/>
                        <a:ea typeface="Inter" charset="0"/>
                        <a:cs typeface="Inter" charset="0"/>
                      </a:endParaRPr>
                    </a:p>
                  </a:txBody>
                  <a:tcPr marL="101600" marR="101600" marT="63500" marB="63500" anchor="ctr">
                    <a:lnL w="9525" cap="flat" cmpd="sng" algn="ctr">
                      <a:solidFill>
                        <a:srgbClr val="D0CBC0"/>
                      </a:solidFill>
                      <a:prstDash val="solid"/>
                      <a:round/>
                      <a:headEnd type="none" w="med" len="med"/>
                      <a:tailEnd type="none" w="med" len="med"/>
                    </a:lnL>
                    <a:lnR w="9525" cap="flat" cmpd="sng" algn="ctr">
                      <a:solidFill>
                        <a:srgbClr val="D0CBC0"/>
                      </a:solidFill>
                      <a:prstDash val="solid"/>
                      <a:round/>
                      <a:headEnd type="none" w="med" len="med"/>
                      <a:tailEnd type="none" w="med" len="med"/>
                    </a:lnR>
                    <a:lnT w="9525" cap="flat" cmpd="sng" algn="ctr">
                      <a:solidFill>
                        <a:srgbClr val="D0CBC0"/>
                      </a:solidFill>
                      <a:prstDash val="solid"/>
                      <a:round/>
                      <a:headEnd type="none" w="med" len="med"/>
                      <a:tailEnd type="none" w="med" len="med"/>
                    </a:lnT>
                    <a:lnB w="9525" cap="flat" cmpd="sng" algn="ctr">
                      <a:solidFill>
                        <a:srgbClr val="D0CBC0"/>
                      </a:solidFill>
                      <a:prstDash val="solid"/>
                      <a:round/>
                      <a:headEnd type="none" w="med" len="med"/>
                      <a:tailEnd type="none" w="med" len="med"/>
                    </a:lnB>
                    <a:solidFill>
                      <a:srgbClr val="272827"/>
                    </a:solidFill>
                  </a:tcPr>
                </a:tc>
                <a:tc>
                  <a:txBody>
                    <a:bodyPr/>
                    <a:lstStyle/>
                    <a:p>
                      <a:pPr indent="0" marL="0">
                        <a:buNone/>
                      </a:pPr>
                      <a:r>
                        <a:rPr lang="en-US" sz="1600" b="1" dirty="0">
                          <a:solidFill>
                            <a:srgbClr val="FFFFFF"/>
                          </a:solidFill>
                          <a:latin typeface="Inter" pitchFamily="34" charset="0"/>
                          <a:ea typeface="Inter" pitchFamily="34" charset="-122"/>
                          <a:cs typeface="Inter" pitchFamily="34" charset="-120"/>
                        </a:rPr>
                        <a:t>Invalidate when</a:t>
                      </a:r>
                      <a:endParaRPr lang="en-US" sz="1600" dirty="0">
                        <a:latin typeface="Inter" charset="0"/>
                        <a:ea typeface="Inter" charset="0"/>
                        <a:cs typeface="Inter" charset="0"/>
                      </a:endParaRPr>
                    </a:p>
                  </a:txBody>
                  <a:tcPr marL="101600" marR="101600" marT="63500" marB="63500" anchor="ctr">
                    <a:lnL w="9525" cap="flat" cmpd="sng" algn="ctr">
                      <a:solidFill>
                        <a:srgbClr val="D0CBC0"/>
                      </a:solidFill>
                      <a:prstDash val="solid"/>
                      <a:round/>
                      <a:headEnd type="none" w="med" len="med"/>
                      <a:tailEnd type="none" w="med" len="med"/>
                    </a:lnL>
                    <a:lnR w="9525" cap="flat" cmpd="sng" algn="ctr">
                      <a:solidFill>
                        <a:srgbClr val="D0CBC0"/>
                      </a:solidFill>
                      <a:prstDash val="solid"/>
                      <a:round/>
                      <a:headEnd type="none" w="med" len="med"/>
                      <a:tailEnd type="none" w="med" len="med"/>
                    </a:lnR>
                    <a:lnT w="9525" cap="flat" cmpd="sng" algn="ctr">
                      <a:solidFill>
                        <a:srgbClr val="D0CBC0"/>
                      </a:solidFill>
                      <a:prstDash val="solid"/>
                      <a:round/>
                      <a:headEnd type="none" w="med" len="med"/>
                      <a:tailEnd type="none" w="med" len="med"/>
                    </a:lnT>
                    <a:lnB w="9525" cap="flat" cmpd="sng" algn="ctr">
                      <a:solidFill>
                        <a:srgbClr val="D0CBC0"/>
                      </a:solidFill>
                      <a:prstDash val="solid"/>
                      <a:round/>
                      <a:headEnd type="none" w="med" len="med"/>
                      <a:tailEnd type="none" w="med" len="med"/>
                    </a:lnB>
                    <a:solidFill>
                      <a:srgbClr val="272827"/>
                    </a:solidFill>
                  </a:tcPr>
                </a:tc>
              </a:tr>
              <a:tr h="0">
                <a:tc>
                  <a:txBody>
                    <a:bodyPr/>
                    <a:lstStyle/>
                    <a:p>
                      <a:pPr indent="0" marL="0">
                        <a:buNone/>
                      </a:pPr>
                      <a:r>
                        <a:rPr lang="en-US" sz="1600" b="1" dirty="0">
                          <a:solidFill>
                            <a:srgbClr val="272827"/>
                          </a:solidFill>
                          <a:latin typeface="Inter" pitchFamily="34" charset="0"/>
                          <a:ea typeface="Inter" pitchFamily="34" charset="-122"/>
                          <a:cs typeface="Inter" pitchFamily="34" charset="-120"/>
                        </a:rPr>
                        <a:t>Cities list</a:t>
                      </a:r>
                      <a:endParaRPr lang="en-US" sz="1600" dirty="0">
                        <a:latin typeface="Inter" charset="0"/>
                        <a:ea typeface="Inter" charset="0"/>
                        <a:cs typeface="Inter" charset="0"/>
                      </a:endParaRPr>
                    </a:p>
                  </a:txBody>
                  <a:tcPr marL="101600" marR="101600" marT="63500" marB="63500" anchor="ctr">
                    <a:lnL w="9525" cap="flat" cmpd="sng" algn="ctr">
                      <a:solidFill>
                        <a:srgbClr val="D0CBC0"/>
                      </a:solidFill>
                      <a:prstDash val="solid"/>
                      <a:round/>
                      <a:headEnd type="none" w="med" len="med"/>
                      <a:tailEnd type="none" w="med" len="med"/>
                    </a:lnL>
                    <a:lnR w="9525" cap="flat" cmpd="sng" algn="ctr">
                      <a:solidFill>
                        <a:srgbClr val="D0CBC0"/>
                      </a:solidFill>
                      <a:prstDash val="solid"/>
                      <a:round/>
                      <a:headEnd type="none" w="med" len="med"/>
                      <a:tailEnd type="none" w="med" len="med"/>
                    </a:lnR>
                    <a:lnT w="9525" cap="flat" cmpd="sng" algn="ctr">
                      <a:solidFill>
                        <a:srgbClr val="D0CBC0"/>
                      </a:solidFill>
                      <a:prstDash val="solid"/>
                      <a:round/>
                      <a:headEnd type="none" w="med" len="med"/>
                      <a:tailEnd type="none" w="med" len="med"/>
                    </a:lnT>
                    <a:lnB w="9525" cap="flat" cmpd="sng" algn="ctr">
                      <a:solidFill>
                        <a:srgbClr val="D0CBC0"/>
                      </a:solidFill>
                      <a:prstDash val="solid"/>
                      <a:round/>
                      <a:headEnd type="none" w="med" len="med"/>
                      <a:tailEnd type="none" w="med" len="med"/>
                    </a:lnB>
                    <a:solidFill>
                      <a:srgbClr val="FFFFFF"/>
                    </a:solidFill>
                  </a:tcPr>
                </a:tc>
                <a:tc>
                  <a:txBody>
                    <a:bodyPr/>
                    <a:lstStyle/>
                    <a:p>
                      <a:pPr indent="0" marL="0">
                        <a:buNone/>
                      </a:pPr>
                      <a:r>
                        <a:rPr lang="en-US" sz="1600" dirty="0">
                          <a:solidFill>
                            <a:srgbClr val="272827"/>
                          </a:solidFill>
                          <a:latin typeface="Inter" pitchFamily="34" charset="0"/>
                          <a:ea typeface="Inter" pitchFamily="34" charset="-122"/>
                          <a:cs typeface="Inter" pitchFamily="34" charset="-120"/>
                        </a:rPr>
                        <a:t>Yes</a:t>
                      </a:r>
                      <a:endParaRPr lang="en-US" sz="1600" dirty="0">
                        <a:latin typeface="Inter" charset="0"/>
                        <a:ea typeface="Inter" charset="0"/>
                        <a:cs typeface="Inter" charset="0"/>
                      </a:endParaRPr>
                    </a:p>
                  </a:txBody>
                  <a:tcPr marL="101600" marR="101600" marT="63500" marB="63500" anchor="ctr">
                    <a:lnL w="9525" cap="flat" cmpd="sng" algn="ctr">
                      <a:solidFill>
                        <a:srgbClr val="D0CBC0"/>
                      </a:solidFill>
                      <a:prstDash val="solid"/>
                      <a:round/>
                      <a:headEnd type="none" w="med" len="med"/>
                      <a:tailEnd type="none" w="med" len="med"/>
                    </a:lnL>
                    <a:lnR w="9525" cap="flat" cmpd="sng" algn="ctr">
                      <a:solidFill>
                        <a:srgbClr val="D0CBC0"/>
                      </a:solidFill>
                      <a:prstDash val="solid"/>
                      <a:round/>
                      <a:headEnd type="none" w="med" len="med"/>
                      <a:tailEnd type="none" w="med" len="med"/>
                    </a:lnR>
                    <a:lnT w="9525" cap="flat" cmpd="sng" algn="ctr">
                      <a:solidFill>
                        <a:srgbClr val="D0CBC0"/>
                      </a:solidFill>
                      <a:prstDash val="solid"/>
                      <a:round/>
                      <a:headEnd type="none" w="med" len="med"/>
                      <a:tailEnd type="none" w="med" len="med"/>
                    </a:lnT>
                    <a:lnB w="9525" cap="flat" cmpd="sng" algn="ctr">
                      <a:solidFill>
                        <a:srgbClr val="D0CBC0"/>
                      </a:solidFill>
                      <a:prstDash val="solid"/>
                      <a:round/>
                      <a:headEnd type="none" w="med" len="med"/>
                      <a:tailEnd type="none" w="med" len="med"/>
                    </a:lnB>
                    <a:solidFill>
                      <a:srgbClr val="FFFFFF"/>
                    </a:solidFill>
                  </a:tcPr>
                </a:tc>
                <a:tc>
                  <a:txBody>
                    <a:bodyPr/>
                    <a:lstStyle/>
                    <a:p>
                      <a:pPr indent="0" marL="0">
                        <a:buNone/>
                      </a:pPr>
                      <a:r>
                        <a:rPr lang="en-US" sz="1600" dirty="0">
                          <a:solidFill>
                            <a:srgbClr val="272827"/>
                          </a:solidFill>
                          <a:latin typeface="Inter" pitchFamily="34" charset="0"/>
                          <a:ea typeface="Inter" pitchFamily="34" charset="-122"/>
                          <a:cs typeface="Inter" pitchFamily="34" charset="-120"/>
                        </a:rPr>
                        <a:t>Redis · 1 day</a:t>
                      </a:r>
                      <a:endParaRPr lang="en-US" sz="1600" dirty="0">
                        <a:latin typeface="Inter" charset="0"/>
                        <a:ea typeface="Inter" charset="0"/>
                        <a:cs typeface="Inter" charset="0"/>
                      </a:endParaRPr>
                    </a:p>
                  </a:txBody>
                  <a:tcPr marL="101600" marR="101600" marT="63500" marB="63500" anchor="ctr">
                    <a:lnL w="9525" cap="flat" cmpd="sng" algn="ctr">
                      <a:solidFill>
                        <a:srgbClr val="D0CBC0"/>
                      </a:solidFill>
                      <a:prstDash val="solid"/>
                      <a:round/>
                      <a:headEnd type="none" w="med" len="med"/>
                      <a:tailEnd type="none" w="med" len="med"/>
                    </a:lnL>
                    <a:lnR w="9525" cap="flat" cmpd="sng" algn="ctr">
                      <a:solidFill>
                        <a:srgbClr val="D0CBC0"/>
                      </a:solidFill>
                      <a:prstDash val="solid"/>
                      <a:round/>
                      <a:headEnd type="none" w="med" len="med"/>
                      <a:tailEnd type="none" w="med" len="med"/>
                    </a:lnR>
                    <a:lnT w="9525" cap="flat" cmpd="sng" algn="ctr">
                      <a:solidFill>
                        <a:srgbClr val="D0CBC0"/>
                      </a:solidFill>
                      <a:prstDash val="solid"/>
                      <a:round/>
                      <a:headEnd type="none" w="med" len="med"/>
                      <a:tailEnd type="none" w="med" len="med"/>
                    </a:lnT>
                    <a:lnB w="9525" cap="flat" cmpd="sng" algn="ctr">
                      <a:solidFill>
                        <a:srgbClr val="D0CBC0"/>
                      </a:solidFill>
                      <a:prstDash val="solid"/>
                      <a:round/>
                      <a:headEnd type="none" w="med" len="med"/>
                      <a:tailEnd type="none" w="med" len="med"/>
                    </a:lnB>
                    <a:solidFill>
                      <a:srgbClr val="FFFFFF"/>
                    </a:solidFill>
                  </a:tcPr>
                </a:tc>
                <a:tc>
                  <a:txBody>
                    <a:bodyPr/>
                    <a:lstStyle/>
                    <a:p>
                      <a:pPr indent="0" marL="0">
                        <a:buNone/>
                      </a:pPr>
                      <a:r>
                        <a:rPr lang="en-US" sz="1600" dirty="0">
                          <a:solidFill>
                            <a:srgbClr val="272827"/>
                          </a:solidFill>
                          <a:latin typeface="Inter" pitchFamily="34" charset="0"/>
                          <a:ea typeface="Inter" pitchFamily="34" charset="-122"/>
                          <a:cs typeface="Inter" pitchFamily="34" charset="-120"/>
                        </a:rPr>
                        <a:t>any city saved or deleted → </a:t>
                      </a:r>
                      <a:pPr indent="0" marL="0">
                        <a:buNone/>
                      </a:pPr>
                      <a:r>
                        <a:rPr lang="en-US" sz="1600" dirty="0">
                          <a:solidFill>
                            <a:srgbClr val="C2410C"/>
                          </a:solidFill>
                          <a:latin typeface="JetBrains Mono" pitchFamily="34" charset="0"/>
                          <a:ea typeface="JetBrains Mono" pitchFamily="34" charset="-122"/>
                          <a:cs typeface="JetBrains Mono" pitchFamily="34" charset="-120"/>
                        </a:rPr>
                        <a:t>Cache::forget</a:t>
                      </a:r>
                      <a:endParaRPr lang="en-US" sz="1600" dirty="0">
                        <a:latin typeface="Inter" charset="0"/>
                        <a:ea typeface="Inter" charset="0"/>
                        <a:cs typeface="Inter" charset="0"/>
                      </a:endParaRPr>
                    </a:p>
                  </a:txBody>
                  <a:tcPr marL="101600" marR="101600" marT="63500" marB="63500" anchor="ctr">
                    <a:lnL w="9525" cap="flat" cmpd="sng" algn="ctr">
                      <a:solidFill>
                        <a:srgbClr val="D0CBC0"/>
                      </a:solidFill>
                      <a:prstDash val="solid"/>
                      <a:round/>
                      <a:headEnd type="none" w="med" len="med"/>
                      <a:tailEnd type="none" w="med" len="med"/>
                    </a:lnL>
                    <a:lnR w="9525" cap="flat" cmpd="sng" algn="ctr">
                      <a:solidFill>
                        <a:srgbClr val="D0CBC0"/>
                      </a:solidFill>
                      <a:prstDash val="solid"/>
                      <a:round/>
                      <a:headEnd type="none" w="med" len="med"/>
                      <a:tailEnd type="none" w="med" len="med"/>
                    </a:lnR>
                    <a:lnT w="9525" cap="flat" cmpd="sng" algn="ctr">
                      <a:solidFill>
                        <a:srgbClr val="D0CBC0"/>
                      </a:solidFill>
                      <a:prstDash val="solid"/>
                      <a:round/>
                      <a:headEnd type="none" w="med" len="med"/>
                      <a:tailEnd type="none" w="med" len="med"/>
                    </a:lnT>
                    <a:lnB w="9525" cap="flat" cmpd="sng" algn="ctr">
                      <a:solidFill>
                        <a:srgbClr val="D0CBC0"/>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272827"/>
                          </a:solidFill>
                          <a:latin typeface="Inter" pitchFamily="34" charset="0"/>
                          <a:ea typeface="Inter" pitchFamily="34" charset="-122"/>
                          <a:cs typeface="Inter" pitchFamily="34" charset="-120"/>
                        </a:rPr>
                        <a:t>City distances</a:t>
                      </a:r>
                      <a:endParaRPr lang="en-US" sz="1600" dirty="0">
                        <a:latin typeface="Inter" charset="0"/>
                        <a:ea typeface="Inter" charset="0"/>
                        <a:cs typeface="Inter" charset="0"/>
                      </a:endParaRPr>
                    </a:p>
                  </a:txBody>
                  <a:tcPr marL="101600" marR="101600" marT="63500" marB="63500" anchor="ctr">
                    <a:lnL w="9525" cap="flat" cmpd="sng" algn="ctr">
                      <a:solidFill>
                        <a:srgbClr val="D0CBC0"/>
                      </a:solidFill>
                      <a:prstDash val="solid"/>
                      <a:round/>
                      <a:headEnd type="none" w="med" len="med"/>
                      <a:tailEnd type="none" w="med" len="med"/>
                    </a:lnL>
                    <a:lnR w="9525" cap="flat" cmpd="sng" algn="ctr">
                      <a:solidFill>
                        <a:srgbClr val="D0CBC0"/>
                      </a:solidFill>
                      <a:prstDash val="solid"/>
                      <a:round/>
                      <a:headEnd type="none" w="med" len="med"/>
                      <a:tailEnd type="none" w="med" len="med"/>
                    </a:lnR>
                    <a:lnT w="9525" cap="flat" cmpd="sng" algn="ctr">
                      <a:solidFill>
                        <a:srgbClr val="D0CBC0"/>
                      </a:solidFill>
                      <a:prstDash val="solid"/>
                      <a:round/>
                      <a:headEnd type="none" w="med" len="med"/>
                      <a:tailEnd type="none" w="med" len="med"/>
                    </a:lnT>
                    <a:lnB w="9525" cap="flat" cmpd="sng" algn="ctr">
                      <a:solidFill>
                        <a:srgbClr val="D0CBC0"/>
                      </a:solidFill>
                      <a:prstDash val="solid"/>
                      <a:round/>
                      <a:headEnd type="none" w="med" len="med"/>
                      <a:tailEnd type="none" w="med" len="med"/>
                    </a:lnB>
                    <a:solidFill>
                      <a:srgbClr val="F6F3EE"/>
                    </a:solidFill>
                  </a:tcPr>
                </a:tc>
                <a:tc>
                  <a:txBody>
                    <a:bodyPr/>
                    <a:lstStyle/>
                    <a:p>
                      <a:pPr indent="0" marL="0">
                        <a:buNone/>
                      </a:pPr>
                      <a:r>
                        <a:rPr lang="en-US" sz="1600" dirty="0">
                          <a:solidFill>
                            <a:srgbClr val="272827"/>
                          </a:solidFill>
                          <a:latin typeface="Inter" pitchFamily="34" charset="0"/>
                          <a:ea typeface="Inter" pitchFamily="34" charset="-122"/>
                          <a:cs typeface="Inter" pitchFamily="34" charset="-120"/>
                        </a:rPr>
                        <a:t>Yes</a:t>
                      </a:r>
                      <a:endParaRPr lang="en-US" sz="1600" dirty="0">
                        <a:latin typeface="Inter" charset="0"/>
                        <a:ea typeface="Inter" charset="0"/>
                        <a:cs typeface="Inter" charset="0"/>
                      </a:endParaRPr>
                    </a:p>
                  </a:txBody>
                  <a:tcPr marL="101600" marR="101600" marT="63500" marB="63500" anchor="ctr">
                    <a:lnL w="9525" cap="flat" cmpd="sng" algn="ctr">
                      <a:solidFill>
                        <a:srgbClr val="D0CBC0"/>
                      </a:solidFill>
                      <a:prstDash val="solid"/>
                      <a:round/>
                      <a:headEnd type="none" w="med" len="med"/>
                      <a:tailEnd type="none" w="med" len="med"/>
                    </a:lnL>
                    <a:lnR w="9525" cap="flat" cmpd="sng" algn="ctr">
                      <a:solidFill>
                        <a:srgbClr val="D0CBC0"/>
                      </a:solidFill>
                      <a:prstDash val="solid"/>
                      <a:round/>
                      <a:headEnd type="none" w="med" len="med"/>
                      <a:tailEnd type="none" w="med" len="med"/>
                    </a:lnR>
                    <a:lnT w="9525" cap="flat" cmpd="sng" algn="ctr">
                      <a:solidFill>
                        <a:srgbClr val="D0CBC0"/>
                      </a:solidFill>
                      <a:prstDash val="solid"/>
                      <a:round/>
                      <a:headEnd type="none" w="med" len="med"/>
                      <a:tailEnd type="none" w="med" len="med"/>
                    </a:lnT>
                    <a:lnB w="9525" cap="flat" cmpd="sng" algn="ctr">
                      <a:solidFill>
                        <a:srgbClr val="D0CBC0"/>
                      </a:solidFill>
                      <a:prstDash val="solid"/>
                      <a:round/>
                      <a:headEnd type="none" w="med" len="med"/>
                      <a:tailEnd type="none" w="med" len="med"/>
                    </a:lnB>
                    <a:solidFill>
                      <a:srgbClr val="F6F3EE"/>
                    </a:solidFill>
                  </a:tcPr>
                </a:tc>
                <a:tc>
                  <a:txBody>
                    <a:bodyPr/>
                    <a:lstStyle/>
                    <a:p>
                      <a:pPr indent="0" marL="0">
                        <a:buNone/>
                      </a:pPr>
                      <a:r>
                        <a:rPr lang="en-US" sz="1600" dirty="0">
                          <a:solidFill>
                            <a:srgbClr val="272827"/>
                          </a:solidFill>
                          <a:latin typeface="Inter" pitchFamily="34" charset="0"/>
                          <a:ea typeface="Inter" pitchFamily="34" charset="-122"/>
                          <a:cs typeface="Inter" pitchFamily="34" charset="-120"/>
                        </a:rPr>
                        <a:t>Redis · 1 week, per pair</a:t>
                      </a:r>
                      <a:endParaRPr lang="en-US" sz="1600" dirty="0">
                        <a:latin typeface="Inter" charset="0"/>
                        <a:ea typeface="Inter" charset="0"/>
                        <a:cs typeface="Inter" charset="0"/>
                      </a:endParaRPr>
                    </a:p>
                  </a:txBody>
                  <a:tcPr marL="101600" marR="101600" marT="63500" marB="63500" anchor="ctr">
                    <a:lnL w="9525" cap="flat" cmpd="sng" algn="ctr">
                      <a:solidFill>
                        <a:srgbClr val="D0CBC0"/>
                      </a:solidFill>
                      <a:prstDash val="solid"/>
                      <a:round/>
                      <a:headEnd type="none" w="med" len="med"/>
                      <a:tailEnd type="none" w="med" len="med"/>
                    </a:lnL>
                    <a:lnR w="9525" cap="flat" cmpd="sng" algn="ctr">
                      <a:solidFill>
                        <a:srgbClr val="D0CBC0"/>
                      </a:solidFill>
                      <a:prstDash val="solid"/>
                      <a:round/>
                      <a:headEnd type="none" w="med" len="med"/>
                      <a:tailEnd type="none" w="med" len="med"/>
                    </a:lnR>
                    <a:lnT w="9525" cap="flat" cmpd="sng" algn="ctr">
                      <a:solidFill>
                        <a:srgbClr val="D0CBC0"/>
                      </a:solidFill>
                      <a:prstDash val="solid"/>
                      <a:round/>
                      <a:headEnd type="none" w="med" len="med"/>
                      <a:tailEnd type="none" w="med" len="med"/>
                    </a:lnT>
                    <a:lnB w="9525" cap="flat" cmpd="sng" algn="ctr">
                      <a:solidFill>
                        <a:srgbClr val="D0CBC0"/>
                      </a:solidFill>
                      <a:prstDash val="solid"/>
                      <a:round/>
                      <a:headEnd type="none" w="med" len="med"/>
                      <a:tailEnd type="none" w="med" len="med"/>
                    </a:lnB>
                    <a:solidFill>
                      <a:srgbClr val="F6F3EE"/>
                    </a:solidFill>
                  </a:tcPr>
                </a:tc>
                <a:tc>
                  <a:txBody>
                    <a:bodyPr/>
                    <a:lstStyle/>
                    <a:p>
                      <a:pPr indent="0" marL="0">
                        <a:buNone/>
                      </a:pPr>
                      <a:r>
                        <a:rPr lang="en-US" sz="1600" dirty="0">
                          <a:solidFill>
                            <a:srgbClr val="272827"/>
                          </a:solidFill>
                          <a:latin typeface="Inter" pitchFamily="34" charset="0"/>
                          <a:ea typeface="Inter" pitchFamily="34" charset="-122"/>
                          <a:cs typeface="Inter" pitchFamily="34" charset="-120"/>
                        </a:rPr>
                        <a:t>road distances never change</a:t>
                      </a:r>
                      <a:endParaRPr lang="en-US" sz="1600" dirty="0">
                        <a:latin typeface="Inter" charset="0"/>
                        <a:ea typeface="Inter" charset="0"/>
                        <a:cs typeface="Inter" charset="0"/>
                      </a:endParaRPr>
                    </a:p>
                  </a:txBody>
                  <a:tcPr marL="101600" marR="101600" marT="63500" marB="63500" anchor="ctr">
                    <a:lnL w="9525" cap="flat" cmpd="sng" algn="ctr">
                      <a:solidFill>
                        <a:srgbClr val="D0CBC0"/>
                      </a:solidFill>
                      <a:prstDash val="solid"/>
                      <a:round/>
                      <a:headEnd type="none" w="med" len="med"/>
                      <a:tailEnd type="none" w="med" len="med"/>
                    </a:lnL>
                    <a:lnR w="9525" cap="flat" cmpd="sng" algn="ctr">
                      <a:solidFill>
                        <a:srgbClr val="D0CBC0"/>
                      </a:solidFill>
                      <a:prstDash val="solid"/>
                      <a:round/>
                      <a:headEnd type="none" w="med" len="med"/>
                      <a:tailEnd type="none" w="med" len="med"/>
                    </a:lnR>
                    <a:lnT w="9525" cap="flat" cmpd="sng" algn="ctr">
                      <a:solidFill>
                        <a:srgbClr val="D0CBC0"/>
                      </a:solidFill>
                      <a:prstDash val="solid"/>
                      <a:round/>
                      <a:headEnd type="none" w="med" len="med"/>
                      <a:tailEnd type="none" w="med" len="med"/>
                    </a:lnT>
                    <a:lnB w="9525" cap="flat" cmpd="sng" algn="ctr">
                      <a:solidFill>
                        <a:srgbClr val="D0CBC0"/>
                      </a:solidFill>
                      <a:prstDash val="solid"/>
                      <a:round/>
                      <a:headEnd type="none" w="med" len="med"/>
                      <a:tailEnd type="none" w="med" len="med"/>
                    </a:lnB>
                    <a:solidFill>
                      <a:srgbClr val="F6F3EE"/>
                    </a:solidFill>
                  </a:tcPr>
                </a:tc>
              </a:tr>
              <a:tr h="0">
                <a:tc>
                  <a:txBody>
                    <a:bodyPr/>
                    <a:lstStyle/>
                    <a:p>
                      <a:pPr indent="0" marL="0">
                        <a:buNone/>
                      </a:pPr>
                      <a:r>
                        <a:rPr lang="en-US" sz="1600" b="1" dirty="0">
                          <a:solidFill>
                            <a:srgbClr val="272827"/>
                          </a:solidFill>
                          <a:latin typeface="Inter" pitchFamily="34" charset="0"/>
                          <a:ea typeface="Inter" pitchFamily="34" charset="-122"/>
                          <a:cs typeface="Inter" pitchFamily="34" charset="-120"/>
                        </a:rPr>
                        <a:t>Quote price</a:t>
                      </a:r>
                      <a:endParaRPr lang="en-US" sz="1600" dirty="0">
                        <a:latin typeface="Inter" charset="0"/>
                        <a:ea typeface="Inter" charset="0"/>
                        <a:cs typeface="Inter" charset="0"/>
                      </a:endParaRPr>
                    </a:p>
                  </a:txBody>
                  <a:tcPr marL="101600" marR="101600" marT="63500" marB="63500" anchor="ctr">
                    <a:lnL w="9525" cap="flat" cmpd="sng" algn="ctr">
                      <a:solidFill>
                        <a:srgbClr val="D0CBC0"/>
                      </a:solidFill>
                      <a:prstDash val="solid"/>
                      <a:round/>
                      <a:headEnd type="none" w="med" len="med"/>
                      <a:tailEnd type="none" w="med" len="med"/>
                    </a:lnL>
                    <a:lnR w="9525" cap="flat" cmpd="sng" algn="ctr">
                      <a:solidFill>
                        <a:srgbClr val="D0CBC0"/>
                      </a:solidFill>
                      <a:prstDash val="solid"/>
                      <a:round/>
                      <a:headEnd type="none" w="med" len="med"/>
                      <a:tailEnd type="none" w="med" len="med"/>
                    </a:lnR>
                    <a:lnT w="9525" cap="flat" cmpd="sng" algn="ctr">
                      <a:solidFill>
                        <a:srgbClr val="D0CBC0"/>
                      </a:solidFill>
                      <a:prstDash val="solid"/>
                      <a:round/>
                      <a:headEnd type="none" w="med" len="med"/>
                      <a:tailEnd type="none" w="med" len="med"/>
                    </a:lnT>
                    <a:lnB w="9525" cap="flat" cmpd="sng" algn="ctr">
                      <a:solidFill>
                        <a:srgbClr val="D0CBC0"/>
                      </a:solidFill>
                      <a:prstDash val="solid"/>
                      <a:round/>
                      <a:headEnd type="none" w="med" len="med"/>
                      <a:tailEnd type="none" w="med" len="med"/>
                    </a:lnB>
                    <a:solidFill>
                      <a:srgbClr val="FFFFFF"/>
                    </a:solidFill>
                  </a:tcPr>
                </a:tc>
                <a:tc>
                  <a:txBody>
                    <a:bodyPr/>
                    <a:lstStyle/>
                    <a:p>
                      <a:pPr indent="0" marL="0">
                        <a:buNone/>
                      </a:pPr>
                      <a:r>
                        <a:rPr lang="en-US" sz="1600" dirty="0">
                          <a:solidFill>
                            <a:srgbClr val="272827"/>
                          </a:solidFill>
                          <a:latin typeface="Inter" pitchFamily="34" charset="0"/>
                          <a:ea typeface="Inter" pitchFamily="34" charset="-122"/>
                          <a:cs typeface="Inter" pitchFamily="34" charset="-120"/>
                        </a:rPr>
                        <a:t>No</a:t>
                      </a:r>
                      <a:endParaRPr lang="en-US" sz="1600" dirty="0">
                        <a:latin typeface="Inter" charset="0"/>
                        <a:ea typeface="Inter" charset="0"/>
                        <a:cs typeface="Inter" charset="0"/>
                      </a:endParaRPr>
                    </a:p>
                  </a:txBody>
                  <a:tcPr marL="101600" marR="101600" marT="63500" marB="63500" anchor="ctr">
                    <a:lnL w="9525" cap="flat" cmpd="sng" algn="ctr">
                      <a:solidFill>
                        <a:srgbClr val="D0CBC0"/>
                      </a:solidFill>
                      <a:prstDash val="solid"/>
                      <a:round/>
                      <a:headEnd type="none" w="med" len="med"/>
                      <a:tailEnd type="none" w="med" len="med"/>
                    </a:lnL>
                    <a:lnR w="9525" cap="flat" cmpd="sng" algn="ctr">
                      <a:solidFill>
                        <a:srgbClr val="D0CBC0"/>
                      </a:solidFill>
                      <a:prstDash val="solid"/>
                      <a:round/>
                      <a:headEnd type="none" w="med" len="med"/>
                      <a:tailEnd type="none" w="med" len="med"/>
                    </a:lnR>
                    <a:lnT w="9525" cap="flat" cmpd="sng" algn="ctr">
                      <a:solidFill>
                        <a:srgbClr val="D0CBC0"/>
                      </a:solidFill>
                      <a:prstDash val="solid"/>
                      <a:round/>
                      <a:headEnd type="none" w="med" len="med"/>
                      <a:tailEnd type="none" w="med" len="med"/>
                    </a:lnT>
                    <a:lnB w="9525" cap="flat" cmpd="sng" algn="ctr">
                      <a:solidFill>
                        <a:srgbClr val="D0CBC0"/>
                      </a:solidFill>
                      <a:prstDash val="solid"/>
                      <a:round/>
                      <a:headEnd type="none" w="med" len="med"/>
                      <a:tailEnd type="none" w="med" len="med"/>
                    </a:lnB>
                    <a:solidFill>
                      <a:srgbClr val="FFFFFF"/>
                    </a:solidFill>
                  </a:tcPr>
                </a:tc>
                <a:tc>
                  <a:txBody>
                    <a:bodyPr/>
                    <a:lstStyle/>
                    <a:p>
                      <a:pPr indent="0" marL="0">
                        <a:buNone/>
                      </a:pPr>
                      <a:r>
                        <a:rPr lang="en-US" sz="1600" dirty="0">
                          <a:solidFill>
                            <a:srgbClr val="272827"/>
                          </a:solidFill>
                          <a:latin typeface="Inter" pitchFamily="34" charset="0"/>
                          <a:ea typeface="Inter" pitchFamily="34" charset="-122"/>
                          <a:cs typeface="Inter" pitchFamily="34" charset="-120"/>
                        </a:rPr>
                        <a:t>computed per request</a:t>
                      </a:r>
                      <a:endParaRPr lang="en-US" sz="1600" dirty="0">
                        <a:latin typeface="Inter" charset="0"/>
                        <a:ea typeface="Inter" charset="0"/>
                        <a:cs typeface="Inter" charset="0"/>
                      </a:endParaRPr>
                    </a:p>
                  </a:txBody>
                  <a:tcPr marL="101600" marR="101600" marT="63500" marB="63500" anchor="ctr">
                    <a:lnL w="9525" cap="flat" cmpd="sng" algn="ctr">
                      <a:solidFill>
                        <a:srgbClr val="D0CBC0"/>
                      </a:solidFill>
                      <a:prstDash val="solid"/>
                      <a:round/>
                      <a:headEnd type="none" w="med" len="med"/>
                      <a:tailEnd type="none" w="med" len="med"/>
                    </a:lnL>
                    <a:lnR w="9525" cap="flat" cmpd="sng" algn="ctr">
                      <a:solidFill>
                        <a:srgbClr val="D0CBC0"/>
                      </a:solidFill>
                      <a:prstDash val="solid"/>
                      <a:round/>
                      <a:headEnd type="none" w="med" len="med"/>
                      <a:tailEnd type="none" w="med" len="med"/>
                    </a:lnR>
                    <a:lnT w="9525" cap="flat" cmpd="sng" algn="ctr">
                      <a:solidFill>
                        <a:srgbClr val="D0CBC0"/>
                      </a:solidFill>
                      <a:prstDash val="solid"/>
                      <a:round/>
                      <a:headEnd type="none" w="med" len="med"/>
                      <a:tailEnd type="none" w="med" len="med"/>
                    </a:lnT>
                    <a:lnB w="9525" cap="flat" cmpd="sng" algn="ctr">
                      <a:solidFill>
                        <a:srgbClr val="D0CBC0"/>
                      </a:solidFill>
                      <a:prstDash val="solid"/>
                      <a:round/>
                      <a:headEnd type="none" w="med" len="med"/>
                      <a:tailEnd type="none" w="med" len="med"/>
                    </a:lnB>
                    <a:solidFill>
                      <a:srgbClr val="FFFFFF"/>
                    </a:solidFill>
                  </a:tcPr>
                </a:tc>
                <a:tc>
                  <a:txBody>
                    <a:bodyPr/>
                    <a:lstStyle/>
                    <a:p>
                      <a:pPr indent="0" marL="0">
                        <a:buNone/>
                      </a:pPr>
                      <a:r>
                        <a:rPr lang="en-US" sz="1600" dirty="0">
                          <a:solidFill>
                            <a:srgbClr val="272827"/>
                          </a:solidFill>
                          <a:latin typeface="Inter" pitchFamily="34" charset="0"/>
                          <a:ea typeface="Inter" pitchFamily="34" charset="-122"/>
                          <a:cs typeface="Inter" pitchFamily="34" charset="-120"/>
                        </a:rPr>
                        <a:t>cheap and must be exact</a:t>
                      </a:r>
                      <a:endParaRPr lang="en-US" sz="1600" dirty="0">
                        <a:latin typeface="Inter" charset="0"/>
                        <a:ea typeface="Inter" charset="0"/>
                        <a:cs typeface="Inter" charset="0"/>
                      </a:endParaRPr>
                    </a:p>
                  </a:txBody>
                  <a:tcPr marL="101600" marR="101600" marT="63500" marB="63500" anchor="ctr">
                    <a:lnL w="9525" cap="flat" cmpd="sng" algn="ctr">
                      <a:solidFill>
                        <a:srgbClr val="D0CBC0"/>
                      </a:solidFill>
                      <a:prstDash val="solid"/>
                      <a:round/>
                      <a:headEnd type="none" w="med" len="med"/>
                      <a:tailEnd type="none" w="med" len="med"/>
                    </a:lnL>
                    <a:lnR w="9525" cap="flat" cmpd="sng" algn="ctr">
                      <a:solidFill>
                        <a:srgbClr val="D0CBC0"/>
                      </a:solidFill>
                      <a:prstDash val="solid"/>
                      <a:round/>
                      <a:headEnd type="none" w="med" len="med"/>
                      <a:tailEnd type="none" w="med" len="med"/>
                    </a:lnR>
                    <a:lnT w="9525" cap="flat" cmpd="sng" algn="ctr">
                      <a:solidFill>
                        <a:srgbClr val="D0CBC0"/>
                      </a:solidFill>
                      <a:prstDash val="solid"/>
                      <a:round/>
                      <a:headEnd type="none" w="med" len="med"/>
                      <a:tailEnd type="none" w="med" len="med"/>
                    </a:lnT>
                    <a:lnB w="9525" cap="flat" cmpd="sng" algn="ctr">
                      <a:solidFill>
                        <a:srgbClr val="D0CBC0"/>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272827"/>
                          </a:solidFill>
                          <a:latin typeface="Inter" pitchFamily="34" charset="0"/>
                          <a:ea typeface="Inter" pitchFamily="34" charset="-122"/>
                          <a:cs typeface="Inter" pitchFamily="34" charset="-120"/>
                        </a:rPr>
                        <a:t>My shipments list</a:t>
                      </a:r>
                      <a:endParaRPr lang="en-US" sz="1600" dirty="0">
                        <a:latin typeface="Inter" charset="0"/>
                        <a:ea typeface="Inter" charset="0"/>
                        <a:cs typeface="Inter" charset="0"/>
                      </a:endParaRPr>
                    </a:p>
                  </a:txBody>
                  <a:tcPr marL="101600" marR="101600" marT="63500" marB="63500" anchor="ctr">
                    <a:lnL w="9525" cap="flat" cmpd="sng" algn="ctr">
                      <a:solidFill>
                        <a:srgbClr val="D0CBC0"/>
                      </a:solidFill>
                      <a:prstDash val="solid"/>
                      <a:round/>
                      <a:headEnd type="none" w="med" len="med"/>
                      <a:tailEnd type="none" w="med" len="med"/>
                    </a:lnL>
                    <a:lnR w="9525" cap="flat" cmpd="sng" algn="ctr">
                      <a:solidFill>
                        <a:srgbClr val="D0CBC0"/>
                      </a:solidFill>
                      <a:prstDash val="solid"/>
                      <a:round/>
                      <a:headEnd type="none" w="med" len="med"/>
                      <a:tailEnd type="none" w="med" len="med"/>
                    </a:lnR>
                    <a:lnT w="9525" cap="flat" cmpd="sng" algn="ctr">
                      <a:solidFill>
                        <a:srgbClr val="D0CBC0"/>
                      </a:solidFill>
                      <a:prstDash val="solid"/>
                      <a:round/>
                      <a:headEnd type="none" w="med" len="med"/>
                      <a:tailEnd type="none" w="med" len="med"/>
                    </a:lnT>
                    <a:lnB w="9525" cap="flat" cmpd="sng" algn="ctr">
                      <a:solidFill>
                        <a:srgbClr val="D0CBC0"/>
                      </a:solidFill>
                      <a:prstDash val="solid"/>
                      <a:round/>
                      <a:headEnd type="none" w="med" len="med"/>
                      <a:tailEnd type="none" w="med" len="med"/>
                    </a:lnB>
                    <a:solidFill>
                      <a:srgbClr val="F6F3EE"/>
                    </a:solidFill>
                  </a:tcPr>
                </a:tc>
                <a:tc>
                  <a:txBody>
                    <a:bodyPr/>
                    <a:lstStyle/>
                    <a:p>
                      <a:pPr indent="0" marL="0">
                        <a:buNone/>
                      </a:pPr>
                      <a:r>
                        <a:rPr lang="en-US" sz="1600" dirty="0">
                          <a:solidFill>
                            <a:srgbClr val="272827"/>
                          </a:solidFill>
                          <a:latin typeface="Inter" pitchFamily="34" charset="0"/>
                          <a:ea typeface="Inter" pitchFamily="34" charset="-122"/>
                          <a:cs typeface="Inter" pitchFamily="34" charset="-120"/>
                        </a:rPr>
                        <a:t>No</a:t>
                      </a:r>
                      <a:endParaRPr lang="en-US" sz="1600" dirty="0">
                        <a:latin typeface="Inter" charset="0"/>
                        <a:ea typeface="Inter" charset="0"/>
                        <a:cs typeface="Inter" charset="0"/>
                      </a:endParaRPr>
                    </a:p>
                  </a:txBody>
                  <a:tcPr marL="101600" marR="101600" marT="63500" marB="63500" anchor="ctr">
                    <a:lnL w="9525" cap="flat" cmpd="sng" algn="ctr">
                      <a:solidFill>
                        <a:srgbClr val="D0CBC0"/>
                      </a:solidFill>
                      <a:prstDash val="solid"/>
                      <a:round/>
                      <a:headEnd type="none" w="med" len="med"/>
                      <a:tailEnd type="none" w="med" len="med"/>
                    </a:lnL>
                    <a:lnR w="9525" cap="flat" cmpd="sng" algn="ctr">
                      <a:solidFill>
                        <a:srgbClr val="D0CBC0"/>
                      </a:solidFill>
                      <a:prstDash val="solid"/>
                      <a:round/>
                      <a:headEnd type="none" w="med" len="med"/>
                      <a:tailEnd type="none" w="med" len="med"/>
                    </a:lnR>
                    <a:lnT w="9525" cap="flat" cmpd="sng" algn="ctr">
                      <a:solidFill>
                        <a:srgbClr val="D0CBC0"/>
                      </a:solidFill>
                      <a:prstDash val="solid"/>
                      <a:round/>
                      <a:headEnd type="none" w="med" len="med"/>
                      <a:tailEnd type="none" w="med" len="med"/>
                    </a:lnT>
                    <a:lnB w="9525" cap="flat" cmpd="sng" algn="ctr">
                      <a:solidFill>
                        <a:srgbClr val="D0CBC0"/>
                      </a:solidFill>
                      <a:prstDash val="solid"/>
                      <a:round/>
                      <a:headEnd type="none" w="med" len="med"/>
                      <a:tailEnd type="none" w="med" len="med"/>
                    </a:lnB>
                    <a:solidFill>
                      <a:srgbClr val="F6F3EE"/>
                    </a:solidFill>
                  </a:tcPr>
                </a:tc>
                <a:tc>
                  <a:txBody>
                    <a:bodyPr/>
                    <a:lstStyle/>
                    <a:p>
                      <a:pPr indent="0" marL="0">
                        <a:buNone/>
                      </a:pPr>
                      <a:r>
                        <a:rPr lang="en-US" sz="1600" dirty="0">
                          <a:solidFill>
                            <a:srgbClr val="272827"/>
                          </a:solidFill>
                          <a:latin typeface="Inter" pitchFamily="34" charset="0"/>
                          <a:ea typeface="Inter" pitchFamily="34" charset="-122"/>
                          <a:cs typeface="Inter" pitchFamily="34" charset="-120"/>
                        </a:rPr>
                        <a:t>personal, changes often</a:t>
                      </a:r>
                      <a:endParaRPr lang="en-US" sz="1600" dirty="0">
                        <a:latin typeface="Inter" charset="0"/>
                        <a:ea typeface="Inter" charset="0"/>
                        <a:cs typeface="Inter" charset="0"/>
                      </a:endParaRPr>
                    </a:p>
                  </a:txBody>
                  <a:tcPr marL="101600" marR="101600" marT="63500" marB="63500" anchor="ctr">
                    <a:lnL w="9525" cap="flat" cmpd="sng" algn="ctr">
                      <a:solidFill>
                        <a:srgbClr val="D0CBC0"/>
                      </a:solidFill>
                      <a:prstDash val="solid"/>
                      <a:round/>
                      <a:headEnd type="none" w="med" len="med"/>
                      <a:tailEnd type="none" w="med" len="med"/>
                    </a:lnL>
                    <a:lnR w="9525" cap="flat" cmpd="sng" algn="ctr">
                      <a:solidFill>
                        <a:srgbClr val="D0CBC0"/>
                      </a:solidFill>
                      <a:prstDash val="solid"/>
                      <a:round/>
                      <a:headEnd type="none" w="med" len="med"/>
                      <a:tailEnd type="none" w="med" len="med"/>
                    </a:lnR>
                    <a:lnT w="9525" cap="flat" cmpd="sng" algn="ctr">
                      <a:solidFill>
                        <a:srgbClr val="D0CBC0"/>
                      </a:solidFill>
                      <a:prstDash val="solid"/>
                      <a:round/>
                      <a:headEnd type="none" w="med" len="med"/>
                      <a:tailEnd type="none" w="med" len="med"/>
                    </a:lnT>
                    <a:lnB w="9525" cap="flat" cmpd="sng" algn="ctr">
                      <a:solidFill>
                        <a:srgbClr val="D0CBC0"/>
                      </a:solidFill>
                      <a:prstDash val="solid"/>
                      <a:round/>
                      <a:headEnd type="none" w="med" len="med"/>
                      <a:tailEnd type="none" w="med" len="med"/>
                    </a:lnB>
                    <a:solidFill>
                      <a:srgbClr val="F6F3EE"/>
                    </a:solidFill>
                  </a:tcPr>
                </a:tc>
                <a:tc>
                  <a:txBody>
                    <a:bodyPr/>
                    <a:lstStyle/>
                    <a:p>
                      <a:pPr indent="0" marL="0">
                        <a:buNone/>
                      </a:pPr>
                      <a:r>
                        <a:rPr lang="en-US" sz="1600" dirty="0">
                          <a:solidFill>
                            <a:srgbClr val="272827"/>
                          </a:solidFill>
                          <a:latin typeface="Inter" pitchFamily="34" charset="0"/>
                          <a:ea typeface="Inter" pitchFamily="34" charset="-122"/>
                          <a:cs typeface="Inter" pitchFamily="34" charset="-120"/>
                        </a:rPr>
                        <a:t>stale data confuses users</a:t>
                      </a:r>
                      <a:endParaRPr lang="en-US" sz="1600" dirty="0">
                        <a:latin typeface="Inter" charset="0"/>
                        <a:ea typeface="Inter" charset="0"/>
                        <a:cs typeface="Inter" charset="0"/>
                      </a:endParaRPr>
                    </a:p>
                  </a:txBody>
                  <a:tcPr marL="101600" marR="101600" marT="63500" marB="63500" anchor="ctr">
                    <a:lnL w="9525" cap="flat" cmpd="sng" algn="ctr">
                      <a:solidFill>
                        <a:srgbClr val="D0CBC0"/>
                      </a:solidFill>
                      <a:prstDash val="solid"/>
                      <a:round/>
                      <a:headEnd type="none" w="med" len="med"/>
                      <a:tailEnd type="none" w="med" len="med"/>
                    </a:lnL>
                    <a:lnR w="9525" cap="flat" cmpd="sng" algn="ctr">
                      <a:solidFill>
                        <a:srgbClr val="D0CBC0"/>
                      </a:solidFill>
                      <a:prstDash val="solid"/>
                      <a:round/>
                      <a:headEnd type="none" w="med" len="med"/>
                      <a:tailEnd type="none" w="med" len="med"/>
                    </a:lnR>
                    <a:lnT w="9525" cap="flat" cmpd="sng" algn="ctr">
                      <a:solidFill>
                        <a:srgbClr val="D0CBC0"/>
                      </a:solidFill>
                      <a:prstDash val="solid"/>
                      <a:round/>
                      <a:headEnd type="none" w="med" len="med"/>
                      <a:tailEnd type="none" w="med" len="med"/>
                    </a:lnT>
                    <a:lnB w="9525" cap="flat" cmpd="sng" algn="ctr">
                      <a:solidFill>
                        <a:srgbClr val="D0CBC0"/>
                      </a:solidFill>
                      <a:prstDash val="solid"/>
                      <a:round/>
                      <a:headEnd type="none" w="med" len="med"/>
                      <a:tailEnd type="none" w="med" len="med"/>
                    </a:lnB>
                    <a:solidFill>
                      <a:srgbClr val="F6F3EE"/>
                    </a:solidFill>
                  </a:tcPr>
                </a:tc>
              </a:tr>
              <a:tr h="0">
                <a:tc>
                  <a:txBody>
                    <a:bodyPr/>
                    <a:lstStyle/>
                    <a:p>
                      <a:pPr indent="0" marL="0">
                        <a:buNone/>
                      </a:pPr>
                      <a:r>
                        <a:rPr lang="en-US" sz="1600" b="1" dirty="0">
                          <a:solidFill>
                            <a:srgbClr val="272827"/>
                          </a:solidFill>
                          <a:latin typeface="Inter" pitchFamily="34" charset="0"/>
                          <a:ea typeface="Inter" pitchFamily="34" charset="-122"/>
                          <a:cs typeface="Inter" pitchFamily="34" charset="-120"/>
                        </a:rPr>
                        <a:t>Policy answers (Day 5)</a:t>
                      </a:r>
                      <a:endParaRPr lang="en-US" sz="1600" dirty="0">
                        <a:latin typeface="Inter" charset="0"/>
                        <a:ea typeface="Inter" charset="0"/>
                        <a:cs typeface="Inter" charset="0"/>
                      </a:endParaRPr>
                    </a:p>
                  </a:txBody>
                  <a:tcPr marL="101600" marR="101600" marT="63500" marB="63500" anchor="ctr">
                    <a:lnL w="9525" cap="flat" cmpd="sng" algn="ctr">
                      <a:solidFill>
                        <a:srgbClr val="D0CBC0"/>
                      </a:solidFill>
                      <a:prstDash val="solid"/>
                      <a:round/>
                      <a:headEnd type="none" w="med" len="med"/>
                      <a:tailEnd type="none" w="med" len="med"/>
                    </a:lnL>
                    <a:lnR w="9525" cap="flat" cmpd="sng" algn="ctr">
                      <a:solidFill>
                        <a:srgbClr val="D0CBC0"/>
                      </a:solidFill>
                      <a:prstDash val="solid"/>
                      <a:round/>
                      <a:headEnd type="none" w="med" len="med"/>
                      <a:tailEnd type="none" w="med" len="med"/>
                    </a:lnR>
                    <a:lnT w="9525" cap="flat" cmpd="sng" algn="ctr">
                      <a:solidFill>
                        <a:srgbClr val="D0CBC0"/>
                      </a:solidFill>
                      <a:prstDash val="solid"/>
                      <a:round/>
                      <a:headEnd type="none" w="med" len="med"/>
                      <a:tailEnd type="none" w="med" len="med"/>
                    </a:lnT>
                    <a:lnB w="9525" cap="flat" cmpd="sng" algn="ctr">
                      <a:solidFill>
                        <a:srgbClr val="D0CBC0"/>
                      </a:solidFill>
                      <a:prstDash val="solid"/>
                      <a:round/>
                      <a:headEnd type="none" w="med" len="med"/>
                      <a:tailEnd type="none" w="med" len="med"/>
                    </a:lnB>
                    <a:solidFill>
                      <a:srgbClr val="FFFFFF"/>
                    </a:solidFill>
                  </a:tcPr>
                </a:tc>
                <a:tc>
                  <a:txBody>
                    <a:bodyPr/>
                    <a:lstStyle/>
                    <a:p>
                      <a:pPr indent="0" marL="0">
                        <a:buNone/>
                      </a:pPr>
                      <a:r>
                        <a:rPr lang="en-US" sz="1600" dirty="0">
                          <a:solidFill>
                            <a:srgbClr val="272827"/>
                          </a:solidFill>
                          <a:latin typeface="Inter" pitchFamily="34" charset="0"/>
                          <a:ea typeface="Inter" pitchFamily="34" charset="-122"/>
                          <a:cs typeface="Inter" pitchFamily="34" charset="-120"/>
                        </a:rPr>
                        <a:t>Yes</a:t>
                      </a:r>
                      <a:endParaRPr lang="en-US" sz="1600" dirty="0">
                        <a:latin typeface="Inter" charset="0"/>
                        <a:ea typeface="Inter" charset="0"/>
                        <a:cs typeface="Inter" charset="0"/>
                      </a:endParaRPr>
                    </a:p>
                  </a:txBody>
                  <a:tcPr marL="101600" marR="101600" marT="63500" marB="63500" anchor="ctr">
                    <a:lnL w="9525" cap="flat" cmpd="sng" algn="ctr">
                      <a:solidFill>
                        <a:srgbClr val="D0CBC0"/>
                      </a:solidFill>
                      <a:prstDash val="solid"/>
                      <a:round/>
                      <a:headEnd type="none" w="med" len="med"/>
                      <a:tailEnd type="none" w="med" len="med"/>
                    </a:lnL>
                    <a:lnR w="9525" cap="flat" cmpd="sng" algn="ctr">
                      <a:solidFill>
                        <a:srgbClr val="D0CBC0"/>
                      </a:solidFill>
                      <a:prstDash val="solid"/>
                      <a:round/>
                      <a:headEnd type="none" w="med" len="med"/>
                      <a:tailEnd type="none" w="med" len="med"/>
                    </a:lnR>
                    <a:lnT w="9525" cap="flat" cmpd="sng" algn="ctr">
                      <a:solidFill>
                        <a:srgbClr val="D0CBC0"/>
                      </a:solidFill>
                      <a:prstDash val="solid"/>
                      <a:round/>
                      <a:headEnd type="none" w="med" len="med"/>
                      <a:tailEnd type="none" w="med" len="med"/>
                    </a:lnT>
                    <a:lnB w="9525" cap="flat" cmpd="sng" algn="ctr">
                      <a:solidFill>
                        <a:srgbClr val="D0CBC0"/>
                      </a:solidFill>
                      <a:prstDash val="solid"/>
                      <a:round/>
                      <a:headEnd type="none" w="med" len="med"/>
                      <a:tailEnd type="none" w="med" len="med"/>
                    </a:lnB>
                    <a:solidFill>
                      <a:srgbClr val="FFFFFF"/>
                    </a:solidFill>
                  </a:tcPr>
                </a:tc>
                <a:tc>
                  <a:txBody>
                    <a:bodyPr/>
                    <a:lstStyle/>
                    <a:p>
                      <a:pPr indent="0" marL="0">
                        <a:buNone/>
                      </a:pPr>
                      <a:r>
                        <a:rPr lang="en-US" sz="1600" dirty="0">
                          <a:solidFill>
                            <a:srgbClr val="272827"/>
                          </a:solidFill>
                          <a:latin typeface="Inter" pitchFamily="34" charset="0"/>
                          <a:ea typeface="Inter" pitchFamily="34" charset="-122"/>
                          <a:cs typeface="Inter" pitchFamily="34" charset="-120"/>
                        </a:rPr>
                        <a:t>Redis · 24 h</a:t>
                      </a:r>
                      <a:endParaRPr lang="en-US" sz="1600" dirty="0">
                        <a:latin typeface="Inter" charset="0"/>
                        <a:ea typeface="Inter" charset="0"/>
                        <a:cs typeface="Inter" charset="0"/>
                      </a:endParaRPr>
                    </a:p>
                  </a:txBody>
                  <a:tcPr marL="101600" marR="101600" marT="63500" marB="63500" anchor="ctr">
                    <a:lnL w="9525" cap="flat" cmpd="sng" algn="ctr">
                      <a:solidFill>
                        <a:srgbClr val="D0CBC0"/>
                      </a:solidFill>
                      <a:prstDash val="solid"/>
                      <a:round/>
                      <a:headEnd type="none" w="med" len="med"/>
                      <a:tailEnd type="none" w="med" len="med"/>
                    </a:lnL>
                    <a:lnR w="9525" cap="flat" cmpd="sng" algn="ctr">
                      <a:solidFill>
                        <a:srgbClr val="D0CBC0"/>
                      </a:solidFill>
                      <a:prstDash val="solid"/>
                      <a:round/>
                      <a:headEnd type="none" w="med" len="med"/>
                      <a:tailEnd type="none" w="med" len="med"/>
                    </a:lnR>
                    <a:lnT w="9525" cap="flat" cmpd="sng" algn="ctr">
                      <a:solidFill>
                        <a:srgbClr val="D0CBC0"/>
                      </a:solidFill>
                      <a:prstDash val="solid"/>
                      <a:round/>
                      <a:headEnd type="none" w="med" len="med"/>
                      <a:tailEnd type="none" w="med" len="med"/>
                    </a:lnT>
                    <a:lnB w="9525" cap="flat" cmpd="sng" algn="ctr">
                      <a:solidFill>
                        <a:srgbClr val="D0CBC0"/>
                      </a:solidFill>
                      <a:prstDash val="solid"/>
                      <a:round/>
                      <a:headEnd type="none" w="med" len="med"/>
                      <a:tailEnd type="none" w="med" len="med"/>
                    </a:lnB>
                    <a:solidFill>
                      <a:srgbClr val="FFFFFF"/>
                    </a:solidFill>
                  </a:tcPr>
                </a:tc>
                <a:tc>
                  <a:txBody>
                    <a:bodyPr/>
                    <a:lstStyle/>
                    <a:p>
                      <a:pPr indent="0" marL="0">
                        <a:buNone/>
                      </a:pPr>
                      <a:r>
                        <a:rPr lang="en-US" sz="1600" dirty="0">
                          <a:solidFill>
                            <a:srgbClr val="272827"/>
                          </a:solidFill>
                          <a:latin typeface="Inter" pitchFamily="34" charset="0"/>
                          <a:ea typeface="Inter" pitchFamily="34" charset="-122"/>
                          <a:cs typeface="Inter" pitchFamily="34" charset="-120"/>
                        </a:rPr>
                        <a:t>TTL; prompt version in the key</a:t>
                      </a:r>
                      <a:endParaRPr lang="en-US" sz="1600" dirty="0">
                        <a:latin typeface="Inter" charset="0"/>
                        <a:ea typeface="Inter" charset="0"/>
                        <a:cs typeface="Inter" charset="0"/>
                      </a:endParaRPr>
                    </a:p>
                  </a:txBody>
                  <a:tcPr marL="101600" marR="101600" marT="63500" marB="63500" anchor="ctr">
                    <a:lnL w="9525" cap="flat" cmpd="sng" algn="ctr">
                      <a:solidFill>
                        <a:srgbClr val="D0CBC0"/>
                      </a:solidFill>
                      <a:prstDash val="solid"/>
                      <a:round/>
                      <a:headEnd type="none" w="med" len="med"/>
                      <a:tailEnd type="none" w="med" len="med"/>
                    </a:lnL>
                    <a:lnR w="9525" cap="flat" cmpd="sng" algn="ctr">
                      <a:solidFill>
                        <a:srgbClr val="D0CBC0"/>
                      </a:solidFill>
                      <a:prstDash val="solid"/>
                      <a:round/>
                      <a:headEnd type="none" w="med" len="med"/>
                      <a:tailEnd type="none" w="med" len="med"/>
                    </a:lnR>
                    <a:lnT w="9525" cap="flat" cmpd="sng" algn="ctr">
                      <a:solidFill>
                        <a:srgbClr val="D0CBC0"/>
                      </a:solidFill>
                      <a:prstDash val="solid"/>
                      <a:round/>
                      <a:headEnd type="none" w="med" len="med"/>
                      <a:tailEnd type="none" w="med" len="med"/>
                    </a:lnT>
                    <a:lnB w="9525" cap="flat" cmpd="sng" algn="ctr">
                      <a:solidFill>
                        <a:srgbClr val="D0CBC0"/>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48640" y="5760720"/>
            <a:ext cx="11094415" cy="365760"/>
          </a:xfrm>
          <a:prstGeom prst="rect">
            <a:avLst/>
          </a:prstGeom>
          <a:noFill/>
          <a:ln/>
        </p:spPr>
        <p:txBody>
          <a:bodyPr wrap="square" lIns="0" tIns="0" rIns="0" bIns="0" rtlCol="0" anchor="ctr"/>
          <a:lstStyle/>
          <a:p>
            <a:pPr indent="0" marL="0">
              <a:buNone/>
            </a:pPr>
            <a:r>
              <a:rPr lang="en-US" sz="1400" i="1" dirty="0">
                <a:solidFill>
                  <a:srgbClr val="3A3B3A"/>
                </a:solidFill>
                <a:latin typeface="Inter" pitchFamily="34" charset="0"/>
                <a:ea typeface="Inter" pitchFamily="34" charset="-122"/>
                <a:cs typeface="Inter" pitchFamily="34" charset="-120"/>
              </a:rPr>
              <a:t>Cache data that is </a:t>
            </a:r>
            <a:pPr indent="0" marL="0">
              <a:buNone/>
            </a:pPr>
            <a:r>
              <a:rPr lang="en-US" sz="1400" b="1" i="1" dirty="0">
                <a:solidFill>
                  <a:srgbClr val="3A3B3A"/>
                </a:solidFill>
                <a:latin typeface="Inter" pitchFamily="34" charset="0"/>
                <a:ea typeface="Inter" pitchFamily="34" charset="-122"/>
                <a:cs typeface="Inter" pitchFamily="34" charset="-120"/>
              </a:rPr>
              <a:t>read often, changes rarely, and is the same for everyone</a:t>
            </a:r>
            <a:pPr indent="0" marL="0">
              <a:buNone/>
            </a:pPr>
            <a:r>
              <a:rPr lang="en-US" sz="1400" i="1" dirty="0">
                <a:solidFill>
                  <a:srgbClr val="3A3B3A"/>
                </a:solidFill>
                <a:latin typeface="Inter" pitchFamily="34" charset="0"/>
                <a:ea typeface="Inter" pitchFamily="34" charset="-122"/>
                <a:cs typeface="Inter" pitchFamily="34" charset="-120"/>
              </a:rPr>
              <a:t>.</a:t>
            </a:r>
            <a:endParaRPr lang="en-US" sz="1400" dirty="0"/>
          </a:p>
        </p:txBody>
      </p:sp>
      <p:sp>
        <p:nvSpPr>
          <p:cNvPr id="25" name="Slide Number Placeholder 0"/>
          <p:cNvSpPr>
            <a:spLocks noGrp="1"/>
          </p:cNvSpPr>
          <p:nvPr>
            <p:ph type="sldNum" sz="quarter" idx="4294967295"/>
          </p:nvPr>
        </p:nvSpPr>
        <p:spPr>
          <a:xfrm>
            <a:off x="10911535" y="6419088"/>
            <a:ext cx="73152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280"/>
                </a:solidFill>
                <a:latin typeface="Inter"/>
                <a:ea typeface="Inter"/>
                <a:cs typeface="Inter"/>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94415" cy="640080"/>
          </a:xfrm>
          <a:prstGeom prst="rect">
            <a:avLst/>
          </a:prstGeom>
          <a:noFill/>
          <a:ln/>
        </p:spPr>
        <p:txBody>
          <a:bodyPr wrap="square" lIns="0" tIns="0" rIns="0" bIns="0" rtlCol="0" anchor="b"/>
          <a:lstStyle/>
          <a:p>
            <a:pPr algn="l" indent="0" marL="0">
              <a:buNone/>
            </a:pPr>
            <a:r>
              <a:rPr lang="en-US" sz="3200" b="1" dirty="0">
                <a:solidFill>
                  <a:srgbClr val="272827"/>
                </a:solidFill>
                <a:latin typeface="Playfair Display" pitchFamily="34" charset="0"/>
                <a:ea typeface="Playfair Display" pitchFamily="34" charset="-122"/>
                <a:cs typeface="Playfair Display" pitchFamily="34" charset="-120"/>
              </a:rPr>
              <a:t>Cache::remember, with an exit plan</a:t>
            </a:r>
            <a:endParaRPr lang="en-US" sz="3200" dirty="0"/>
          </a:p>
        </p:txBody>
      </p:sp>
      <p:sp>
        <p:nvSpPr>
          <p:cNvPr id="3" name="Text 1"/>
          <p:cNvSpPr txBox="1"/>
          <p:nvPr/>
        </p:nvSpPr>
        <p:spPr>
          <a:xfrm>
            <a:off x="548640" y="1060704"/>
            <a:ext cx="8229600" cy="384048"/>
          </a:xfrm>
          <a:prstGeom prst="rect">
            <a:avLst/>
          </a:prstGeom>
          <a:noFill/>
          <a:ln/>
        </p:spPr>
        <p:txBody>
          <a:bodyPr wrap="square" lIns="0" tIns="0" rIns="0" bIns="0" rtlCol="0" anchor="t"/>
          <a:lstStyle/>
          <a:p>
            <a:pPr rtl="1" algn="l" indent="0" marL="0">
              <a:buNone/>
            </a:pPr>
            <a:r>
              <a:rPr lang="ar-LY" altLang="en-US" sz="1700" dirty="0">
                <a:solidFill>
                  <a:srgbClr val="FF5723"/>
                </a:solidFill>
                <a:latin typeface="Tajawal" pitchFamily="34" charset="0"/>
                <a:ea typeface="Tajawal" pitchFamily="34" charset="-122"/>
                <a:cs typeface="Tajawal" pitchFamily="34" charset="-120"/>
              </a:rPr>
              <a:t>التخزين المؤقت مع خطة إبطال</a:t>
            </a:r>
            <a:endParaRPr lang="ar-LY" sz="1700" dirty="0"/>
          </a:p>
        </p:txBody>
      </p:sp>
      <p:sp>
        <p:nvSpPr>
          <p:cNvPr id="4" name="Shape 2"/>
          <p:cNvSpPr/>
          <p:nvPr/>
        </p:nvSpPr>
        <p:spPr>
          <a:xfrm>
            <a:off x="548640" y="1691640"/>
            <a:ext cx="7315200" cy="4434840"/>
          </a:xfrm>
          <a:prstGeom prst="roundRect">
            <a:avLst>
              <a:gd name="adj" fmla="val 1649"/>
            </a:avLst>
          </a:prstGeom>
          <a:solidFill>
            <a:srgbClr val="272827"/>
          </a:solidFill>
          <a:ln w="12700">
            <a:solidFill>
              <a:srgbClr val="272827"/>
            </a:solidFill>
            <a:prstDash val="solid"/>
          </a:ln>
        </p:spPr>
      </p:sp>
      <p:sp>
        <p:nvSpPr>
          <p:cNvPr id="5" name="Text 3"/>
          <p:cNvSpPr txBox="1"/>
          <p:nvPr/>
        </p:nvSpPr>
        <p:spPr>
          <a:xfrm>
            <a:off x="822960" y="1828800"/>
            <a:ext cx="6766560" cy="274320"/>
          </a:xfrm>
          <a:prstGeom prst="rect">
            <a:avLst/>
          </a:prstGeom>
          <a:noFill/>
          <a:ln/>
        </p:spPr>
        <p:txBody>
          <a:bodyPr wrap="square" lIns="0" tIns="0" rIns="0" bIns="0" rtlCol="0" anchor="ctr"/>
          <a:lstStyle/>
          <a:p>
            <a:pPr indent="0" marL="0">
              <a:buNone/>
            </a:pPr>
            <a:r>
              <a:rPr lang="en-US" sz="1100" dirty="0">
                <a:solidFill>
                  <a:srgbClr val="FF5723"/>
                </a:solidFill>
                <a:latin typeface="JetBrains Mono" pitchFamily="34" charset="0"/>
                <a:ea typeface="JetBrains Mono" pitchFamily="34" charset="-122"/>
                <a:cs typeface="JetBrains Mono" pitchFamily="34" charset="-120"/>
              </a:rPr>
              <a:t>Api/CityController.php · Models/City.php · Services/PricingService.php</a:t>
            </a:r>
            <a:endParaRPr lang="en-US" sz="1100" dirty="0"/>
          </a:p>
        </p:txBody>
      </p:sp>
      <p:sp>
        <p:nvSpPr>
          <p:cNvPr id="6" name="Shape 4"/>
          <p:cNvSpPr/>
          <p:nvPr/>
        </p:nvSpPr>
        <p:spPr>
          <a:xfrm>
            <a:off x="822960" y="2194560"/>
            <a:ext cx="6766560" cy="0"/>
          </a:xfrm>
          <a:prstGeom prst="line">
            <a:avLst/>
          </a:prstGeom>
          <a:noFill/>
          <a:ln w="12700">
            <a:solidFill>
              <a:srgbClr val="3A3B3A"/>
            </a:solidFill>
            <a:prstDash val="solid"/>
          </a:ln>
        </p:spPr>
      </p:sp>
      <p:sp>
        <p:nvSpPr>
          <p:cNvPr id="7" name="Text 5"/>
          <p:cNvSpPr txBox="1"/>
          <p:nvPr/>
        </p:nvSpPr>
        <p:spPr>
          <a:xfrm>
            <a:off x="822960" y="2331720"/>
            <a:ext cx="6858000" cy="3657600"/>
          </a:xfrm>
          <a:prstGeom prst="rect">
            <a:avLst/>
          </a:prstGeom>
          <a:noFill/>
          <a:ln/>
        </p:spPr>
        <p:txBody>
          <a:bodyPr wrap="square" lIns="0" tIns="0" rIns="0" bIns="0" rtlCol="0" anchor="t"/>
          <a:lstStyle/>
          <a:p>
            <a:pPr indent="0" marL="0">
              <a:lnSpc>
                <a:spcPct val="105000"/>
              </a:lnSpc>
              <a:buNone/>
            </a:pPr>
            <a:r>
              <a:rPr lang="en-US" sz="1100" i="1" dirty="0">
                <a:solidFill>
                  <a:srgbClr val="8B8F97"/>
                </a:solidFill>
                <a:latin typeface="JetBrains Mono" pitchFamily="34" charset="0"/>
                <a:ea typeface="JetBrains Mono" pitchFamily="34" charset="-122"/>
                <a:cs typeface="JetBrains Mono" pitchFamily="34" charset="-120"/>
              </a:rPr>
              <a:t>// CityController::index()</a:t>
            </a:r>
            <a:endParaRPr lang="en-US" sz="1100" dirty="0"/>
          </a:p>
          <a:p>
            <a:pPr indent="0" marL="0">
              <a:lnSpc>
                <a:spcPct val="105000"/>
              </a:lnSpc>
              <a:buNone/>
            </a:pPr>
            <a:r>
              <a:rPr lang="en-US" sz="1100" dirty="0">
                <a:solidFill>
                  <a:srgbClr val="F5C9A8"/>
                </a:solidFill>
                <a:highlight>
                  <a:srgbClr val="4A3A33"/>
                </a:highlight>
                <a:latin typeface="JetBrains Mono" pitchFamily="34" charset="0"/>
                <a:ea typeface="JetBrains Mono" pitchFamily="34" charset="-122"/>
                <a:cs typeface="JetBrains Mono" pitchFamily="34" charset="-120"/>
              </a:rPr>
              <a:t>$cities</a:t>
            </a:r>
            <a:pPr indent="0" marL="0">
              <a:lnSpc>
                <a:spcPct val="105000"/>
              </a:lnSpc>
              <a:buNone/>
            </a:pPr>
            <a:r>
              <a:rPr lang="en-US" sz="1100" dirty="0">
                <a:solidFill>
                  <a:srgbClr val="FFFFFF"/>
                </a:solidFill>
                <a:highlight>
                  <a:srgbClr val="4A3A33"/>
                </a:highlight>
                <a:latin typeface="JetBrains Mono" pitchFamily="34" charset="0"/>
                <a:ea typeface="JetBrains Mono" pitchFamily="34" charset="-122"/>
                <a:cs typeface="JetBrains Mono" pitchFamily="34" charset="-120"/>
              </a:rPr>
              <a:t> = </a:t>
            </a:r>
            <a:pPr indent="0" marL="0">
              <a:lnSpc>
                <a:spcPct val="105000"/>
              </a:lnSpc>
              <a:buNone/>
            </a:pPr>
            <a:r>
              <a:rPr lang="en-US" sz="1100" dirty="0">
                <a:solidFill>
                  <a:srgbClr val="F2EDE6"/>
                </a:solidFill>
                <a:highlight>
                  <a:srgbClr val="4A3A33"/>
                </a:highlight>
                <a:latin typeface="JetBrains Mono" pitchFamily="34" charset="0"/>
                <a:ea typeface="JetBrains Mono" pitchFamily="34" charset="-122"/>
                <a:cs typeface="JetBrains Mono" pitchFamily="34" charset="-120"/>
              </a:rPr>
              <a:t>Cache</a:t>
            </a:r>
            <a:pPr indent="0" marL="0">
              <a:lnSpc>
                <a:spcPct val="105000"/>
              </a:lnSpc>
              <a:buNone/>
            </a:pPr>
            <a:r>
              <a:rPr lang="en-US" sz="1100" dirty="0">
                <a:solidFill>
                  <a:srgbClr val="FFFFFF"/>
                </a:solidFill>
                <a:highlight>
                  <a:srgbClr val="4A3A33"/>
                </a:highlight>
                <a:latin typeface="JetBrains Mono" pitchFamily="34" charset="0"/>
                <a:ea typeface="JetBrains Mono" pitchFamily="34" charset="-122"/>
                <a:cs typeface="JetBrains Mono" pitchFamily="34" charset="-120"/>
              </a:rPr>
              <a:t>::</a:t>
            </a:r>
            <a:pPr indent="0" marL="0">
              <a:lnSpc>
                <a:spcPct val="105000"/>
              </a:lnSpc>
              <a:buNone/>
            </a:pPr>
            <a:r>
              <a:rPr lang="en-US" sz="1100" dirty="0">
                <a:solidFill>
                  <a:srgbClr val="FFFFFF"/>
                </a:solidFill>
                <a:highlight>
                  <a:srgbClr val="4A3A33"/>
                </a:highlight>
                <a:latin typeface="JetBrains Mono" pitchFamily="34" charset="0"/>
                <a:ea typeface="JetBrains Mono" pitchFamily="34" charset="-122"/>
                <a:cs typeface="JetBrains Mono" pitchFamily="34" charset="-120"/>
              </a:rPr>
              <a:t>remember</a:t>
            </a:r>
            <a:pPr indent="0" marL="0">
              <a:lnSpc>
                <a:spcPct val="105000"/>
              </a:lnSpc>
              <a:buNone/>
            </a:pPr>
            <a:r>
              <a:rPr lang="en-US" sz="1100" dirty="0">
                <a:solidFill>
                  <a:srgbClr val="FFFFFF"/>
                </a:solidFill>
                <a:highlight>
                  <a:srgbClr val="4A3A33"/>
                </a:highlight>
                <a:latin typeface="JetBrains Mono" pitchFamily="34" charset="0"/>
                <a:ea typeface="JetBrains Mono" pitchFamily="34" charset="-122"/>
                <a:cs typeface="JetBrains Mono" pitchFamily="34" charset="-120"/>
              </a:rPr>
              <a:t>(</a:t>
            </a:r>
            <a:pPr indent="0" marL="0">
              <a:lnSpc>
                <a:spcPct val="105000"/>
              </a:lnSpc>
              <a:buNone/>
            </a:pPr>
            <a:r>
              <a:rPr lang="en-US" sz="1100" dirty="0">
                <a:solidFill>
                  <a:srgbClr val="F2EDE6"/>
                </a:solidFill>
                <a:highlight>
                  <a:srgbClr val="4A3A33"/>
                </a:highlight>
                <a:latin typeface="JetBrains Mono" pitchFamily="34" charset="0"/>
                <a:ea typeface="JetBrains Mono" pitchFamily="34" charset="-122"/>
                <a:cs typeface="JetBrains Mono" pitchFamily="34" charset="-120"/>
              </a:rPr>
              <a:t>City</a:t>
            </a:r>
            <a:pPr indent="0" marL="0">
              <a:lnSpc>
                <a:spcPct val="105000"/>
              </a:lnSpc>
              <a:buNone/>
            </a:pPr>
            <a:r>
              <a:rPr lang="en-US" sz="1100" dirty="0">
                <a:solidFill>
                  <a:srgbClr val="FFFFFF"/>
                </a:solidFill>
                <a:highlight>
                  <a:srgbClr val="4A3A33"/>
                </a:highlight>
                <a:latin typeface="JetBrains Mono" pitchFamily="34" charset="0"/>
                <a:ea typeface="JetBrains Mono" pitchFamily="34" charset="-122"/>
                <a:cs typeface="JetBrains Mono" pitchFamily="34" charset="-120"/>
              </a:rPr>
              <a:t>::</a:t>
            </a:r>
            <a:pPr indent="0" marL="0">
              <a:lnSpc>
                <a:spcPct val="105000"/>
              </a:lnSpc>
              <a:buNone/>
            </a:pPr>
            <a:r>
              <a:rPr lang="en-US" sz="1100" dirty="0">
                <a:solidFill>
                  <a:srgbClr val="F2EDE6"/>
                </a:solidFill>
                <a:highlight>
                  <a:srgbClr val="4A3A33"/>
                </a:highlight>
                <a:latin typeface="JetBrains Mono" pitchFamily="34" charset="0"/>
                <a:ea typeface="JetBrains Mono" pitchFamily="34" charset="-122"/>
                <a:cs typeface="JetBrains Mono" pitchFamily="34" charset="-120"/>
              </a:rPr>
              <a:t>CACHE_KEY</a:t>
            </a:r>
            <a:pPr indent="0" marL="0">
              <a:lnSpc>
                <a:spcPct val="105000"/>
              </a:lnSpc>
              <a:buNone/>
            </a:pPr>
            <a:r>
              <a:rPr lang="en-US" sz="1100" dirty="0">
                <a:solidFill>
                  <a:srgbClr val="FFFFFF"/>
                </a:solidFill>
                <a:highlight>
                  <a:srgbClr val="4A3A33"/>
                </a:highlight>
                <a:latin typeface="JetBrains Mono" pitchFamily="34" charset="0"/>
                <a:ea typeface="JetBrains Mono" pitchFamily="34" charset="-122"/>
                <a:cs typeface="JetBrains Mono" pitchFamily="34" charset="-120"/>
              </a:rPr>
              <a:t>, </a:t>
            </a:r>
            <a:pPr indent="0" marL="0">
              <a:lnSpc>
                <a:spcPct val="105000"/>
              </a:lnSpc>
              <a:buNone/>
            </a:pPr>
            <a:r>
              <a:rPr lang="en-US" sz="1100" dirty="0">
                <a:solidFill>
                  <a:srgbClr val="FFFFFF"/>
                </a:solidFill>
                <a:highlight>
                  <a:srgbClr val="4A3A33"/>
                </a:highlight>
                <a:latin typeface="JetBrains Mono" pitchFamily="34" charset="0"/>
                <a:ea typeface="JetBrains Mono" pitchFamily="34" charset="-122"/>
                <a:cs typeface="JetBrains Mono" pitchFamily="34" charset="-120"/>
              </a:rPr>
              <a:t>now</a:t>
            </a:r>
            <a:pPr indent="0" marL="0">
              <a:lnSpc>
                <a:spcPct val="105000"/>
              </a:lnSpc>
              <a:buNone/>
            </a:pPr>
            <a:r>
              <a:rPr lang="en-US" sz="1100" dirty="0">
                <a:solidFill>
                  <a:srgbClr val="FFFFFF"/>
                </a:solidFill>
                <a:highlight>
                  <a:srgbClr val="4A3A33"/>
                </a:highlight>
                <a:latin typeface="JetBrains Mono" pitchFamily="34" charset="0"/>
                <a:ea typeface="JetBrains Mono" pitchFamily="34" charset="-122"/>
                <a:cs typeface="JetBrains Mono" pitchFamily="34" charset="-120"/>
              </a:rPr>
              <a:t>()-&gt;</a:t>
            </a:r>
            <a:pPr indent="0" marL="0">
              <a:lnSpc>
                <a:spcPct val="105000"/>
              </a:lnSpc>
              <a:buNone/>
            </a:pPr>
            <a:r>
              <a:rPr lang="en-US" sz="1100" dirty="0">
                <a:solidFill>
                  <a:srgbClr val="FFFFFF"/>
                </a:solidFill>
                <a:highlight>
                  <a:srgbClr val="4A3A33"/>
                </a:highlight>
                <a:latin typeface="JetBrains Mono" pitchFamily="34" charset="0"/>
                <a:ea typeface="JetBrains Mono" pitchFamily="34" charset="-122"/>
                <a:cs typeface="JetBrains Mono" pitchFamily="34" charset="-120"/>
              </a:rPr>
              <a:t>addDay</a:t>
            </a:r>
            <a:pPr indent="0" marL="0">
              <a:lnSpc>
                <a:spcPct val="105000"/>
              </a:lnSpc>
              <a:buNone/>
            </a:pPr>
            <a:r>
              <a:rPr lang="en-US" sz="1100" dirty="0">
                <a:solidFill>
                  <a:srgbClr val="FFFFFF"/>
                </a:solidFill>
                <a:highlight>
                  <a:srgbClr val="4A3A33"/>
                </a:highlight>
                <a:latin typeface="JetBrains Mono" pitchFamily="34" charset="0"/>
                <a:ea typeface="JetBrains Mono" pitchFamily="34" charset="-122"/>
                <a:cs typeface="JetBrains Mono" pitchFamily="34" charset="-120"/>
              </a:rPr>
              <a:t>(),</a:t>
            </a:r>
            <a:endParaRPr lang="en-US" sz="1100" dirty="0"/>
          </a:p>
          <a:p>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100" dirty="0">
                <a:solidFill>
                  <a:srgbClr val="FF5723"/>
                </a:solidFill>
                <a:latin typeface="JetBrains Mono" pitchFamily="34" charset="0"/>
                <a:ea typeface="JetBrains Mono" pitchFamily="34" charset="-122"/>
                <a:cs typeface="JetBrains Mono" pitchFamily="34" charset="-120"/>
              </a:rPr>
              <a:t>fn</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 () =&gt; </a:t>
            </a:r>
            <a:pPr indent="0" marL="0">
              <a:lnSpc>
                <a:spcPct val="105000"/>
              </a:lnSpc>
              <a:buNone/>
            </a:pPr>
            <a:r>
              <a:rPr lang="en-US" sz="1100" dirty="0">
                <a:solidFill>
                  <a:srgbClr val="F2EDE6"/>
                </a:solidFill>
                <a:latin typeface="JetBrains Mono" pitchFamily="34" charset="0"/>
                <a:ea typeface="JetBrains Mono" pitchFamily="34" charset="-122"/>
                <a:cs typeface="JetBrains Mono" pitchFamily="34" charset="-120"/>
              </a:rPr>
              <a:t>City</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orderBy</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100" dirty="0">
                <a:solidFill>
                  <a:srgbClr val="FFB59C"/>
                </a:solidFill>
                <a:latin typeface="JetBrains Mono" pitchFamily="34" charset="0"/>
                <a:ea typeface="JetBrains Mono" pitchFamily="34" charset="-122"/>
                <a:cs typeface="JetBrains Mono" pitchFamily="34" charset="-120"/>
              </a:rPr>
              <a:t>'name_en'</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get</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a:t>
            </a:r>
            <a:endParaRPr lang="en-US" sz="1100" dirty="0"/>
          </a:p>
          <a:p>
            <a:pPr indent="0" marL="0">
              <a:lnSpc>
                <a:spcPct val="105000"/>
              </a:lnSpc>
              <a:buNone/>
            </a:pPr>
            <a:r>
              <a:rPr lang="en-US" sz="1100" dirty="0">
                <a:solidFill>
                  <a:srgbClr val="FF5723"/>
                </a:solidFill>
                <a:latin typeface="JetBrains Mono" pitchFamily="34" charset="0"/>
                <a:ea typeface="JetBrains Mono" pitchFamily="34" charset="-122"/>
                <a:cs typeface="JetBrains Mono" pitchFamily="34" charset="-120"/>
              </a:rPr>
              <a:t>return</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100" dirty="0">
                <a:solidFill>
                  <a:srgbClr val="F2EDE6"/>
                </a:solidFill>
                <a:latin typeface="JetBrains Mono" pitchFamily="34" charset="0"/>
                <a:ea typeface="JetBrains Mono" pitchFamily="34" charset="-122"/>
                <a:cs typeface="JetBrains Mono" pitchFamily="34" charset="-120"/>
              </a:rPr>
              <a:t>CityResource</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collection</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100" dirty="0">
                <a:solidFill>
                  <a:srgbClr val="F5C9A8"/>
                </a:solidFill>
                <a:latin typeface="JetBrains Mono" pitchFamily="34" charset="0"/>
                <a:ea typeface="JetBrains Mono" pitchFamily="34" charset="-122"/>
                <a:cs typeface="JetBrains Mono" pitchFamily="34" charset="-120"/>
              </a:rPr>
              <a:t>$cities</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a:t>
            </a:r>
            <a:endParaRPr lang="en-US" sz="1100" dirty="0"/>
          </a:p>
          <a:p>
            <a:pPr indent="0" marL="0">
              <a:lnSpc>
                <a:spcPct val="105000"/>
              </a:lnSpc>
              <a:buNone/>
            </a:pPr>
            <a:r>
              <a:rPr lang="en-US" sz="1100" dirty="0">
                <a:solidFill>
                  <a:srgbClr val="000000"/>
                </a:solidFill>
                <a:latin typeface="JetBrains Mono" pitchFamily="34" charset="0"/>
                <a:ea typeface="JetBrains Mono" pitchFamily="34" charset="-122"/>
                <a:cs typeface="JetBrains Mono" pitchFamily="34" charset="-120"/>
              </a:rPr>
              <a:t> </a:t>
            </a:r>
            <a:endParaRPr lang="en-US" sz="1100" dirty="0"/>
          </a:p>
          <a:p>
            <a:pPr indent="0" marL="0">
              <a:lnSpc>
                <a:spcPct val="105000"/>
              </a:lnSpc>
              <a:buNone/>
            </a:pPr>
            <a:r>
              <a:rPr lang="en-US" sz="1100" i="1" dirty="0">
                <a:solidFill>
                  <a:srgbClr val="8B8F97"/>
                </a:solidFill>
                <a:latin typeface="JetBrains Mono" pitchFamily="34" charset="0"/>
                <a:ea typeface="JetBrains Mono" pitchFamily="34" charset="-122"/>
                <a:cs typeface="JetBrains Mono" pitchFamily="34" charset="-120"/>
              </a:rPr>
              <a:t>// City::booted(): any change clears the cache</a:t>
            </a:r>
            <a:endParaRPr lang="en-US" sz="1100" dirty="0"/>
          </a:p>
          <a:p>
            <a:pPr indent="0" marL="0">
              <a:lnSpc>
                <a:spcPct val="105000"/>
              </a:lnSpc>
              <a:buNone/>
            </a:pPr>
            <a:r>
              <a:rPr lang="en-US" sz="1100" b="1" dirty="0">
                <a:solidFill>
                  <a:srgbClr val="FF5723"/>
                </a:solidFill>
                <a:highlight>
                  <a:srgbClr val="4A3A33"/>
                </a:highlight>
                <a:latin typeface="JetBrains Mono" pitchFamily="34" charset="0"/>
                <a:ea typeface="JetBrains Mono" pitchFamily="34" charset="-122"/>
                <a:cs typeface="JetBrains Mono" pitchFamily="34" charset="-120"/>
              </a:rPr>
              <a:t>static</a:t>
            </a:r>
            <a:pPr indent="0" marL="0">
              <a:lnSpc>
                <a:spcPct val="105000"/>
              </a:lnSpc>
              <a:buNone/>
            </a:pPr>
            <a:r>
              <a:rPr lang="en-US" sz="1100" dirty="0">
                <a:solidFill>
                  <a:srgbClr val="FFFFFF"/>
                </a:solidFill>
                <a:highlight>
                  <a:srgbClr val="4A3A33"/>
                </a:highlight>
                <a:latin typeface="JetBrains Mono" pitchFamily="34" charset="0"/>
                <a:ea typeface="JetBrains Mono" pitchFamily="34" charset="-122"/>
                <a:cs typeface="JetBrains Mono" pitchFamily="34" charset="-120"/>
              </a:rPr>
              <a:t>::</a:t>
            </a:r>
            <a:pPr indent="0" marL="0">
              <a:lnSpc>
                <a:spcPct val="105000"/>
              </a:lnSpc>
              <a:buNone/>
            </a:pPr>
            <a:r>
              <a:rPr lang="en-US" sz="1100" dirty="0">
                <a:solidFill>
                  <a:srgbClr val="FFFFFF"/>
                </a:solidFill>
                <a:highlight>
                  <a:srgbClr val="4A3A33"/>
                </a:highlight>
                <a:latin typeface="JetBrains Mono" pitchFamily="34" charset="0"/>
                <a:ea typeface="JetBrains Mono" pitchFamily="34" charset="-122"/>
                <a:cs typeface="JetBrains Mono" pitchFamily="34" charset="-120"/>
              </a:rPr>
              <a:t>saved</a:t>
            </a:r>
            <a:pPr indent="0" marL="0">
              <a:lnSpc>
                <a:spcPct val="105000"/>
              </a:lnSpc>
              <a:buNone/>
            </a:pPr>
            <a:r>
              <a:rPr lang="en-US" sz="1100" dirty="0">
                <a:solidFill>
                  <a:srgbClr val="FFFFFF"/>
                </a:solidFill>
                <a:highlight>
                  <a:srgbClr val="4A3A33"/>
                </a:highlight>
                <a:latin typeface="JetBrains Mono" pitchFamily="34" charset="0"/>
                <a:ea typeface="JetBrains Mono" pitchFamily="34" charset="-122"/>
                <a:cs typeface="JetBrains Mono" pitchFamily="34" charset="-120"/>
              </a:rPr>
              <a:t>(</a:t>
            </a:r>
            <a:pPr indent="0" marL="0">
              <a:lnSpc>
                <a:spcPct val="105000"/>
              </a:lnSpc>
              <a:buNone/>
            </a:pPr>
            <a:r>
              <a:rPr lang="en-US" sz="1100" b="1" dirty="0">
                <a:solidFill>
                  <a:srgbClr val="FF5723"/>
                </a:solidFill>
                <a:highlight>
                  <a:srgbClr val="4A3A33"/>
                </a:highlight>
                <a:latin typeface="JetBrains Mono" pitchFamily="34" charset="0"/>
                <a:ea typeface="JetBrains Mono" pitchFamily="34" charset="-122"/>
                <a:cs typeface="JetBrains Mono" pitchFamily="34" charset="-120"/>
              </a:rPr>
              <a:t>fn</a:t>
            </a:r>
            <a:pPr indent="0" marL="0">
              <a:lnSpc>
                <a:spcPct val="105000"/>
              </a:lnSpc>
              <a:buNone/>
            </a:pPr>
            <a:r>
              <a:rPr lang="en-US" sz="1100" dirty="0">
                <a:solidFill>
                  <a:srgbClr val="FFFFFF"/>
                </a:solidFill>
                <a:highlight>
                  <a:srgbClr val="4A3A33"/>
                </a:highlight>
                <a:latin typeface="JetBrains Mono" pitchFamily="34" charset="0"/>
                <a:ea typeface="JetBrains Mono" pitchFamily="34" charset="-122"/>
                <a:cs typeface="JetBrains Mono" pitchFamily="34" charset="-120"/>
              </a:rPr>
              <a:t> () =&gt; </a:t>
            </a:r>
            <a:pPr indent="0" marL="0">
              <a:lnSpc>
                <a:spcPct val="105000"/>
              </a:lnSpc>
              <a:buNone/>
            </a:pPr>
            <a:r>
              <a:rPr lang="en-US" sz="1100" dirty="0">
                <a:solidFill>
                  <a:srgbClr val="F2EDE6"/>
                </a:solidFill>
                <a:highlight>
                  <a:srgbClr val="4A3A33"/>
                </a:highlight>
                <a:latin typeface="JetBrains Mono" pitchFamily="34" charset="0"/>
                <a:ea typeface="JetBrains Mono" pitchFamily="34" charset="-122"/>
                <a:cs typeface="JetBrains Mono" pitchFamily="34" charset="-120"/>
              </a:rPr>
              <a:t>Cache</a:t>
            </a:r>
            <a:pPr indent="0" marL="0">
              <a:lnSpc>
                <a:spcPct val="105000"/>
              </a:lnSpc>
              <a:buNone/>
            </a:pPr>
            <a:r>
              <a:rPr lang="en-US" sz="1100" dirty="0">
                <a:solidFill>
                  <a:srgbClr val="FFFFFF"/>
                </a:solidFill>
                <a:highlight>
                  <a:srgbClr val="4A3A33"/>
                </a:highlight>
                <a:latin typeface="JetBrains Mono" pitchFamily="34" charset="0"/>
                <a:ea typeface="JetBrains Mono" pitchFamily="34" charset="-122"/>
                <a:cs typeface="JetBrains Mono" pitchFamily="34" charset="-120"/>
              </a:rPr>
              <a:t>::</a:t>
            </a:r>
            <a:pPr indent="0" marL="0">
              <a:lnSpc>
                <a:spcPct val="105000"/>
              </a:lnSpc>
              <a:buNone/>
            </a:pPr>
            <a:r>
              <a:rPr lang="en-US" sz="1100" dirty="0">
                <a:solidFill>
                  <a:srgbClr val="FFFFFF"/>
                </a:solidFill>
                <a:highlight>
                  <a:srgbClr val="4A3A33"/>
                </a:highlight>
                <a:latin typeface="JetBrains Mono" pitchFamily="34" charset="0"/>
                <a:ea typeface="JetBrains Mono" pitchFamily="34" charset="-122"/>
                <a:cs typeface="JetBrains Mono" pitchFamily="34" charset="-120"/>
              </a:rPr>
              <a:t>forget</a:t>
            </a:r>
            <a:pPr indent="0" marL="0">
              <a:lnSpc>
                <a:spcPct val="105000"/>
              </a:lnSpc>
              <a:buNone/>
            </a:pPr>
            <a:r>
              <a:rPr lang="en-US" sz="1100" dirty="0">
                <a:solidFill>
                  <a:srgbClr val="FFFFFF"/>
                </a:solidFill>
                <a:highlight>
                  <a:srgbClr val="4A3A33"/>
                </a:highlight>
                <a:latin typeface="JetBrains Mono" pitchFamily="34" charset="0"/>
                <a:ea typeface="JetBrains Mono" pitchFamily="34" charset="-122"/>
                <a:cs typeface="JetBrains Mono" pitchFamily="34" charset="-120"/>
              </a:rPr>
              <a:t>(</a:t>
            </a:r>
            <a:pPr indent="0" marL="0">
              <a:lnSpc>
                <a:spcPct val="105000"/>
              </a:lnSpc>
              <a:buNone/>
            </a:pPr>
            <a:r>
              <a:rPr lang="en-US" sz="1100" b="1" dirty="0">
                <a:solidFill>
                  <a:srgbClr val="FF5723"/>
                </a:solidFill>
                <a:highlight>
                  <a:srgbClr val="4A3A33"/>
                </a:highlight>
                <a:latin typeface="JetBrains Mono" pitchFamily="34" charset="0"/>
                <a:ea typeface="JetBrains Mono" pitchFamily="34" charset="-122"/>
                <a:cs typeface="JetBrains Mono" pitchFamily="34" charset="-120"/>
              </a:rPr>
              <a:t>self</a:t>
            </a:r>
            <a:pPr indent="0" marL="0">
              <a:lnSpc>
                <a:spcPct val="105000"/>
              </a:lnSpc>
              <a:buNone/>
            </a:pPr>
            <a:r>
              <a:rPr lang="en-US" sz="1100" dirty="0">
                <a:solidFill>
                  <a:srgbClr val="FFFFFF"/>
                </a:solidFill>
                <a:highlight>
                  <a:srgbClr val="4A3A33"/>
                </a:highlight>
                <a:latin typeface="JetBrains Mono" pitchFamily="34" charset="0"/>
                <a:ea typeface="JetBrains Mono" pitchFamily="34" charset="-122"/>
                <a:cs typeface="JetBrains Mono" pitchFamily="34" charset="-120"/>
              </a:rPr>
              <a:t>::</a:t>
            </a:r>
            <a:pPr indent="0" marL="0">
              <a:lnSpc>
                <a:spcPct val="105000"/>
              </a:lnSpc>
              <a:buNone/>
            </a:pPr>
            <a:r>
              <a:rPr lang="en-US" sz="1100" dirty="0">
                <a:solidFill>
                  <a:srgbClr val="F2EDE6"/>
                </a:solidFill>
                <a:highlight>
                  <a:srgbClr val="4A3A33"/>
                </a:highlight>
                <a:latin typeface="JetBrains Mono" pitchFamily="34" charset="0"/>
                <a:ea typeface="JetBrains Mono" pitchFamily="34" charset="-122"/>
                <a:cs typeface="JetBrains Mono" pitchFamily="34" charset="-120"/>
              </a:rPr>
              <a:t>CACHE_KEY</a:t>
            </a:r>
            <a:pPr indent="0" marL="0">
              <a:lnSpc>
                <a:spcPct val="105000"/>
              </a:lnSpc>
              <a:buNone/>
            </a:pPr>
            <a:r>
              <a:rPr lang="en-US" sz="1100" dirty="0">
                <a:solidFill>
                  <a:srgbClr val="FFFFFF"/>
                </a:solidFill>
                <a:highlight>
                  <a:srgbClr val="4A3A33"/>
                </a:highlight>
                <a:latin typeface="JetBrains Mono" pitchFamily="34" charset="0"/>
                <a:ea typeface="JetBrains Mono" pitchFamily="34" charset="-122"/>
                <a:cs typeface="JetBrains Mono" pitchFamily="34" charset="-120"/>
              </a:rPr>
              <a:t>));</a:t>
            </a:r>
            <a:endParaRPr lang="en-US" sz="1100" dirty="0"/>
          </a:p>
          <a:p>
            <a:pPr indent="0" marL="0">
              <a:lnSpc>
                <a:spcPct val="105000"/>
              </a:lnSpc>
              <a:buNone/>
            </a:pPr>
            <a:r>
              <a:rPr lang="en-US" sz="1100" dirty="0">
                <a:solidFill>
                  <a:srgbClr val="FF5723"/>
                </a:solidFill>
                <a:latin typeface="JetBrains Mono" pitchFamily="34" charset="0"/>
                <a:ea typeface="JetBrains Mono" pitchFamily="34" charset="-122"/>
                <a:cs typeface="JetBrains Mono" pitchFamily="34" charset="-120"/>
              </a:rPr>
              <a:t>static</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deleted</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100" dirty="0">
                <a:solidFill>
                  <a:srgbClr val="FF5723"/>
                </a:solidFill>
                <a:latin typeface="JetBrains Mono" pitchFamily="34" charset="0"/>
                <a:ea typeface="JetBrains Mono" pitchFamily="34" charset="-122"/>
                <a:cs typeface="JetBrains Mono" pitchFamily="34" charset="-120"/>
              </a:rPr>
              <a:t>fn</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 () =&gt; </a:t>
            </a:r>
            <a:pPr indent="0" marL="0">
              <a:lnSpc>
                <a:spcPct val="105000"/>
              </a:lnSpc>
              <a:buNone/>
            </a:pPr>
            <a:r>
              <a:rPr lang="en-US" sz="1100" dirty="0">
                <a:solidFill>
                  <a:srgbClr val="F2EDE6"/>
                </a:solidFill>
                <a:latin typeface="JetBrains Mono" pitchFamily="34" charset="0"/>
                <a:ea typeface="JetBrains Mono" pitchFamily="34" charset="-122"/>
                <a:cs typeface="JetBrains Mono" pitchFamily="34" charset="-120"/>
              </a:rPr>
              <a:t>Cache</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forget</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100" dirty="0">
                <a:solidFill>
                  <a:srgbClr val="FF5723"/>
                </a:solidFill>
                <a:latin typeface="JetBrains Mono" pitchFamily="34" charset="0"/>
                <a:ea typeface="JetBrains Mono" pitchFamily="34" charset="-122"/>
                <a:cs typeface="JetBrains Mono" pitchFamily="34" charset="-120"/>
              </a:rPr>
              <a:t>self</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100" dirty="0">
                <a:solidFill>
                  <a:srgbClr val="F2EDE6"/>
                </a:solidFill>
                <a:latin typeface="JetBrains Mono" pitchFamily="34" charset="0"/>
                <a:ea typeface="JetBrains Mono" pitchFamily="34" charset="-122"/>
                <a:cs typeface="JetBrains Mono" pitchFamily="34" charset="-120"/>
              </a:rPr>
              <a:t>CACHE_KEY</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a:t>
            </a:r>
            <a:endParaRPr lang="en-US" sz="1100" dirty="0"/>
          </a:p>
          <a:p>
            <a:pPr indent="0" marL="0">
              <a:lnSpc>
                <a:spcPct val="105000"/>
              </a:lnSpc>
              <a:buNone/>
            </a:pPr>
            <a:r>
              <a:rPr lang="en-US" sz="1100" dirty="0">
                <a:solidFill>
                  <a:srgbClr val="000000"/>
                </a:solidFill>
                <a:latin typeface="JetBrains Mono" pitchFamily="34" charset="0"/>
                <a:ea typeface="JetBrains Mono" pitchFamily="34" charset="-122"/>
                <a:cs typeface="JetBrains Mono" pitchFamily="34" charset="-120"/>
              </a:rPr>
              <a:t> </a:t>
            </a:r>
            <a:endParaRPr lang="en-US" sz="1100" dirty="0"/>
          </a:p>
          <a:p>
            <a:pPr indent="0" marL="0">
              <a:lnSpc>
                <a:spcPct val="105000"/>
              </a:lnSpc>
              <a:buNone/>
            </a:pPr>
            <a:r>
              <a:rPr lang="en-US" sz="1100" i="1" dirty="0">
                <a:solidFill>
                  <a:srgbClr val="8B8F97"/>
                </a:solidFill>
                <a:latin typeface="JetBrains Mono" pitchFamily="34" charset="0"/>
                <a:ea typeface="JetBrains Mono" pitchFamily="34" charset="-122"/>
                <a:cs typeface="JetBrains Mono" pitchFamily="34" charset="-120"/>
              </a:rPr>
              <a:t>// PricingService::distanceKm()</a:t>
            </a:r>
            <a:endParaRPr lang="en-US" sz="1100" dirty="0"/>
          </a:p>
          <a:p>
            <a:pPr indent="0" marL="0">
              <a:lnSpc>
                <a:spcPct val="105000"/>
              </a:lnSpc>
              <a:buNone/>
            </a:pPr>
            <a:r>
              <a:rPr lang="en-US" sz="1100" dirty="0">
                <a:solidFill>
                  <a:srgbClr val="FF5723"/>
                </a:solidFill>
                <a:latin typeface="JetBrains Mono" pitchFamily="34" charset="0"/>
                <a:ea typeface="JetBrains Mono" pitchFamily="34" charset="-122"/>
                <a:cs typeface="JetBrains Mono" pitchFamily="34" charset="-120"/>
              </a:rPr>
              <a:t>if</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100" dirty="0">
                <a:solidFill>
                  <a:srgbClr val="F5C9A8"/>
                </a:solidFill>
                <a:latin typeface="JetBrains Mono" pitchFamily="34" charset="0"/>
                <a:ea typeface="JetBrains Mono" pitchFamily="34" charset="-122"/>
                <a:cs typeface="JetBrains Mono" pitchFamily="34" charset="-120"/>
              </a:rPr>
              <a:t>$originCityId</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 === </a:t>
            </a:r>
            <a:pPr indent="0" marL="0">
              <a:lnSpc>
                <a:spcPct val="105000"/>
              </a:lnSpc>
              <a:buNone/>
            </a:pPr>
            <a:r>
              <a:rPr lang="en-US" sz="1100" dirty="0">
                <a:solidFill>
                  <a:srgbClr val="F5C9A8"/>
                </a:solidFill>
                <a:latin typeface="JetBrains Mono" pitchFamily="34" charset="0"/>
                <a:ea typeface="JetBrains Mono" pitchFamily="34" charset="-122"/>
                <a:cs typeface="JetBrains Mono" pitchFamily="34" charset="-120"/>
              </a:rPr>
              <a:t>$destinationCityId</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 {</a:t>
            </a:r>
            <a:endParaRPr lang="en-US" sz="1100" dirty="0"/>
          </a:p>
          <a:p>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100" dirty="0">
                <a:solidFill>
                  <a:srgbClr val="FF5723"/>
                </a:solidFill>
                <a:latin typeface="JetBrains Mono" pitchFamily="34" charset="0"/>
                <a:ea typeface="JetBrains Mono" pitchFamily="34" charset="-122"/>
                <a:cs typeface="JetBrains Mono" pitchFamily="34" charset="-120"/>
              </a:rPr>
              <a:t>return</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 0;</a:t>
            </a:r>
            <a:endParaRPr lang="en-US" sz="1100" dirty="0"/>
          </a:p>
          <a:p>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a:t>
            </a:r>
            <a:endParaRPr lang="en-US" sz="1100" dirty="0"/>
          </a:p>
          <a:p>
            <a:pPr indent="0" marL="0">
              <a:lnSpc>
                <a:spcPct val="105000"/>
              </a:lnSpc>
              <a:buNone/>
            </a:pPr>
            <a:r>
              <a:rPr lang="en-US" sz="1100" dirty="0">
                <a:solidFill>
                  <a:srgbClr val="FF5723"/>
                </a:solidFill>
                <a:latin typeface="JetBrains Mono" pitchFamily="34" charset="0"/>
                <a:ea typeface="JetBrains Mono" pitchFamily="34" charset="-122"/>
                <a:cs typeface="JetBrains Mono" pitchFamily="34" charset="-120"/>
              </a:rPr>
              <a:t>return</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100" dirty="0">
                <a:solidFill>
                  <a:srgbClr val="F2EDE6"/>
                </a:solidFill>
                <a:latin typeface="JetBrains Mono" pitchFamily="34" charset="0"/>
                <a:ea typeface="JetBrains Mono" pitchFamily="34" charset="-122"/>
                <a:cs typeface="JetBrains Mono" pitchFamily="34" charset="-120"/>
              </a:rPr>
              <a:t>Cache</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remember</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100" dirty="0">
                <a:solidFill>
                  <a:srgbClr val="FFB59C"/>
                </a:solidFill>
                <a:latin typeface="JetBrains Mono" pitchFamily="34" charset="0"/>
                <a:ea typeface="JetBrains Mono" pitchFamily="34" charset="-122"/>
                <a:cs typeface="JetBrains Mono" pitchFamily="34" charset="-120"/>
              </a:rPr>
              <a:t>"distance:{$originCityId}:{$destinationCityId}"</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a:t>
            </a:r>
            <a:endParaRPr lang="en-US" sz="1100" dirty="0"/>
          </a:p>
          <a:p>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now</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addWeek</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a:t>
            </a:r>
            <a:endParaRPr lang="en-US" sz="1100" dirty="0"/>
          </a:p>
          <a:p>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100" dirty="0">
                <a:solidFill>
                  <a:srgbClr val="FF5723"/>
                </a:solidFill>
                <a:latin typeface="JetBrains Mono" pitchFamily="34" charset="0"/>
                <a:ea typeface="JetBrains Mono" pitchFamily="34" charset="-122"/>
                <a:cs typeface="JetBrains Mono" pitchFamily="34" charset="-120"/>
              </a:rPr>
              <a:t>fn</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 () =&gt; </a:t>
            </a:r>
            <a:pPr indent="0" marL="0">
              <a:lnSpc>
                <a:spcPct val="105000"/>
              </a:lnSpc>
              <a:buNone/>
            </a:pPr>
            <a:r>
              <a:rPr lang="en-US" sz="1100" dirty="0">
                <a:solidFill>
                  <a:srgbClr val="F2EDE6"/>
                </a:solidFill>
                <a:latin typeface="JetBrains Mono" pitchFamily="34" charset="0"/>
                <a:ea typeface="JetBrains Mono" pitchFamily="34" charset="-122"/>
                <a:cs typeface="JetBrains Mono" pitchFamily="34" charset="-120"/>
              </a:rPr>
              <a:t>CityDistance</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where</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100" dirty="0">
                <a:solidFill>
                  <a:srgbClr val="FFB59C"/>
                </a:solidFill>
                <a:latin typeface="JetBrains Mono" pitchFamily="34" charset="0"/>
                <a:ea typeface="JetBrains Mono" pitchFamily="34" charset="-122"/>
                <a:cs typeface="JetBrains Mono" pitchFamily="34" charset="-120"/>
              </a:rPr>
              <a:t>'from_city_id'</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100" dirty="0">
                <a:solidFill>
                  <a:srgbClr val="F5C9A8"/>
                </a:solidFill>
                <a:latin typeface="JetBrains Mono" pitchFamily="34" charset="0"/>
                <a:ea typeface="JetBrains Mono" pitchFamily="34" charset="-122"/>
                <a:cs typeface="JetBrains Mono" pitchFamily="34" charset="-120"/>
              </a:rPr>
              <a:t>$originCityId</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a:t>
            </a:r>
            <a:endParaRPr lang="en-US" sz="1100" dirty="0"/>
          </a:p>
          <a:p>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        -&gt;</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where</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100" dirty="0">
                <a:solidFill>
                  <a:srgbClr val="FFB59C"/>
                </a:solidFill>
                <a:latin typeface="JetBrains Mono" pitchFamily="34" charset="0"/>
                <a:ea typeface="JetBrains Mono" pitchFamily="34" charset="-122"/>
                <a:cs typeface="JetBrains Mono" pitchFamily="34" charset="-120"/>
              </a:rPr>
              <a:t>'to_city_id'</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100" dirty="0">
                <a:solidFill>
                  <a:srgbClr val="F5C9A8"/>
                </a:solidFill>
                <a:latin typeface="JetBrains Mono" pitchFamily="34" charset="0"/>
                <a:ea typeface="JetBrains Mono" pitchFamily="34" charset="-122"/>
                <a:cs typeface="JetBrains Mono" pitchFamily="34" charset="-120"/>
              </a:rPr>
              <a:t>$destinationCityId</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a:t>
            </a:r>
            <a:endParaRPr lang="en-US" sz="1100" dirty="0"/>
          </a:p>
          <a:p>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        -&gt;</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valueOrFail</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100" dirty="0">
                <a:solidFill>
                  <a:srgbClr val="FFB59C"/>
                </a:solidFill>
                <a:latin typeface="JetBrains Mono" pitchFamily="34" charset="0"/>
                <a:ea typeface="JetBrains Mono" pitchFamily="34" charset="-122"/>
                <a:cs typeface="JetBrains Mono" pitchFamily="34" charset="-120"/>
              </a:rPr>
              <a:t>'km'</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a:t>
            </a:r>
            <a:endParaRPr lang="en-US" sz="1100" dirty="0"/>
          </a:p>
        </p:txBody>
      </p:sp>
      <p:sp>
        <p:nvSpPr>
          <p:cNvPr id="8" name="Text 6"/>
          <p:cNvSpPr txBox="1"/>
          <p:nvPr/>
        </p:nvSpPr>
        <p:spPr>
          <a:xfrm>
            <a:off x="8275320" y="1783080"/>
            <a:ext cx="3367735" cy="43434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272827"/>
                </a:solidFill>
                <a:latin typeface="Inter" pitchFamily="34" charset="0"/>
                <a:ea typeface="Inter" pitchFamily="34" charset="-122"/>
                <a:cs typeface="Inter" pitchFamily="34" charset="-120"/>
              </a:rPr>
              <a:t>One constant for the key: </a:t>
            </a:r>
            <a:pPr indent="0" marL="0">
              <a:buNone/>
            </a:pPr>
            <a:r>
              <a:rPr lang="en-US" sz="1500" dirty="0">
                <a:solidFill>
                  <a:srgbClr val="C2410C"/>
                </a:solidFill>
                <a:latin typeface="JetBrains Mono" pitchFamily="34" charset="0"/>
                <a:ea typeface="JetBrains Mono" pitchFamily="34" charset="-122"/>
                <a:cs typeface="JetBrains Mono" pitchFamily="34" charset="-120"/>
              </a:rPr>
              <a:t>City::CACHE_KEY</a:t>
            </a:r>
            <a:endParaRPr lang="en-US" sz="1500" dirty="0"/>
          </a:p>
          <a:p>
            <a:pPr marL="228600" indent="-228600">
              <a:spcAft>
                <a:spcPts val="1000"/>
              </a:spcAft>
              <a:buSzPct val="100000"/>
              <a:buChar char="•"/>
            </a:pPr>
            <a:r>
              <a:rPr lang="en-US" sz="1500" dirty="0">
                <a:solidFill>
                  <a:srgbClr val="272827"/>
                </a:solidFill>
                <a:latin typeface="Inter" pitchFamily="34" charset="0"/>
                <a:ea typeface="Inter" pitchFamily="34" charset="-122"/>
                <a:cs typeface="Inter" pitchFamily="34" charset="-120"/>
              </a:rPr>
              <a:t>Invalidate where the data </a:t>
            </a:r>
            <a:pPr indent="0" marL="0">
              <a:buNone/>
            </a:pPr>
            <a:r>
              <a:rPr lang="en-US" sz="1500" b="1" dirty="0">
                <a:solidFill>
                  <a:srgbClr val="272827"/>
                </a:solidFill>
                <a:latin typeface="Inter" pitchFamily="34" charset="0"/>
                <a:ea typeface="Inter" pitchFamily="34" charset="-122"/>
                <a:cs typeface="Inter" pitchFamily="34" charset="-120"/>
              </a:rPr>
              <a:t>changes</a:t>
            </a:r>
            <a:pPr indent="0" marL="0">
              <a:buNone/>
            </a:pPr>
            <a:r>
              <a:rPr lang="en-US" sz="1500" dirty="0">
                <a:solidFill>
                  <a:srgbClr val="272827"/>
                </a:solidFill>
                <a:latin typeface="Inter" pitchFamily="34" charset="0"/>
                <a:ea typeface="Inter" pitchFamily="34" charset="-122"/>
                <a:cs typeface="Inter" pitchFamily="34" charset="-120"/>
              </a:rPr>
              <a:t>: model events</a:t>
            </a:r>
            <a:endParaRPr lang="en-US" sz="1500" dirty="0"/>
          </a:p>
          <a:p>
            <a:pPr marL="228600" indent="-228600">
              <a:spcAft>
                <a:spcPts val="1000"/>
              </a:spcAft>
              <a:buSzPct val="100000"/>
              <a:buChar char="•"/>
            </a:pPr>
            <a:r>
              <a:rPr lang="en-US" sz="1500" dirty="0">
                <a:solidFill>
                  <a:srgbClr val="272827"/>
                </a:solidFill>
                <a:latin typeface="Inter" pitchFamily="34" charset="0"/>
                <a:ea typeface="Inter" pitchFamily="34" charset="-122"/>
                <a:cs typeface="Inter" pitchFamily="34" charset="-120"/>
              </a:rPr>
              <a:t>Same city = 0 km, never a cache entry</a:t>
            </a:r>
            <a:endParaRPr lang="en-US" sz="1500" dirty="0"/>
          </a:p>
          <a:p>
            <a:pPr marL="228600" indent="-228600">
              <a:spcAft>
                <a:spcPts val="1000"/>
              </a:spcAft>
              <a:buSzPct val="100000"/>
              <a:buChar char="•"/>
            </a:pPr>
            <a:r>
              <a:rPr lang="en-US" sz="1500" dirty="0">
                <a:solidFill>
                  <a:srgbClr val="272827"/>
                </a:solidFill>
                <a:latin typeface="Inter" pitchFamily="34" charset="0"/>
                <a:ea typeface="Inter" pitchFamily="34" charset="-122"/>
                <a:cs typeface="Inter" pitchFamily="34" charset="-120"/>
              </a:rPr>
              <a:t>A test proves the 2nd </a:t>
            </a:r>
            <a:pPr indent="0" marL="0">
              <a:buNone/>
            </a:pPr>
            <a:r>
              <a:rPr lang="en-US" sz="1500" dirty="0">
                <a:solidFill>
                  <a:srgbClr val="C2410C"/>
                </a:solidFill>
                <a:latin typeface="JetBrains Mono" pitchFamily="34" charset="0"/>
                <a:ea typeface="JetBrains Mono" pitchFamily="34" charset="-122"/>
                <a:cs typeface="JetBrains Mono" pitchFamily="34" charset="-120"/>
              </a:rPr>
              <a:t>/cities</a:t>
            </a:r>
            <a:pPr indent="0" marL="0">
              <a:buNone/>
            </a:pPr>
            <a:r>
              <a:rPr lang="en-US" sz="1500" dirty="0">
                <a:solidFill>
                  <a:srgbClr val="272827"/>
                </a:solidFill>
                <a:latin typeface="Inter" pitchFamily="34" charset="0"/>
                <a:ea typeface="Inter" pitchFamily="34" charset="-122"/>
                <a:cs typeface="Inter" pitchFamily="34" charset="-120"/>
              </a:rPr>
              <a:t> call runs </a:t>
            </a:r>
            <a:pPr indent="0" marL="0">
              <a:buNone/>
            </a:pPr>
            <a:r>
              <a:rPr lang="en-US" sz="1500" b="1" dirty="0">
                <a:solidFill>
                  <a:srgbClr val="272827"/>
                </a:solidFill>
                <a:latin typeface="Inter" pitchFamily="34" charset="0"/>
                <a:ea typeface="Inter" pitchFamily="34" charset="-122"/>
                <a:cs typeface="Inter" pitchFamily="34" charset="-120"/>
              </a:rPr>
              <a:t>0</a:t>
            </a:r>
            <a:pPr indent="0" marL="0">
              <a:buNone/>
            </a:pPr>
            <a:r>
              <a:rPr lang="en-US" sz="1500" dirty="0">
                <a:solidFill>
                  <a:srgbClr val="272827"/>
                </a:solidFill>
                <a:latin typeface="Inter" pitchFamily="34" charset="0"/>
                <a:ea typeface="Inter" pitchFamily="34" charset="-122"/>
                <a:cs typeface="Inter" pitchFamily="34" charset="-120"/>
              </a:rPr>
              <a:t> queries</a:t>
            </a:r>
            <a:endParaRPr lang="en-US" sz="1500" dirty="0"/>
          </a:p>
        </p:txBody>
      </p:sp>
      <p:sp>
        <p:nvSpPr>
          <p:cNvPr id="25" name="Slide Number Placeholder 0"/>
          <p:cNvSpPr>
            <a:spLocks noGrp="1"/>
          </p:cNvSpPr>
          <p:nvPr>
            <p:ph type="sldNum" sz="quarter" idx="4294967295"/>
          </p:nvPr>
        </p:nvSpPr>
        <p:spPr>
          <a:xfrm>
            <a:off x="10911535" y="6419088"/>
            <a:ext cx="73152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280"/>
                </a:solidFill>
                <a:latin typeface="Inter"/>
                <a:ea typeface="Inter"/>
                <a:cs typeface="Inter"/>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94415" cy="640080"/>
          </a:xfrm>
          <a:prstGeom prst="rect">
            <a:avLst/>
          </a:prstGeom>
          <a:noFill/>
          <a:ln/>
        </p:spPr>
        <p:txBody>
          <a:bodyPr wrap="square" lIns="0" tIns="0" rIns="0" bIns="0" rtlCol="0" anchor="b"/>
          <a:lstStyle/>
          <a:p>
            <a:pPr algn="l" indent="0" marL="0">
              <a:buNone/>
            </a:pPr>
            <a:r>
              <a:rPr lang="en-US" sz="3200" b="1" dirty="0">
                <a:solidFill>
                  <a:srgbClr val="272827"/>
                </a:solidFill>
                <a:latin typeface="Playfair Display" pitchFamily="34" charset="0"/>
                <a:ea typeface="Playfair Display" pitchFamily="34" charset="-122"/>
                <a:cs typeface="Playfair Display" pitchFamily="34" charset="-120"/>
              </a:rPr>
              <a:t>Fixing the N+1 in GET /shipments</a:t>
            </a:r>
            <a:endParaRPr lang="en-US" sz="3200" dirty="0"/>
          </a:p>
        </p:txBody>
      </p:sp>
      <p:sp>
        <p:nvSpPr>
          <p:cNvPr id="3" name="Text 1"/>
          <p:cNvSpPr txBox="1"/>
          <p:nvPr/>
        </p:nvSpPr>
        <p:spPr>
          <a:xfrm>
            <a:off x="548640" y="1060704"/>
            <a:ext cx="8229600" cy="384048"/>
          </a:xfrm>
          <a:prstGeom prst="rect">
            <a:avLst/>
          </a:prstGeom>
          <a:noFill/>
          <a:ln/>
        </p:spPr>
        <p:txBody>
          <a:bodyPr wrap="square" lIns="0" tIns="0" rIns="0" bIns="0" rtlCol="0" anchor="t"/>
          <a:lstStyle/>
          <a:p>
            <a:pPr rtl="1" algn="l" indent="0" marL="0">
              <a:buNone/>
            </a:pPr>
            <a:r>
              <a:rPr lang="ar-LY" altLang="en-US" sz="1700" dirty="0">
                <a:solidFill>
                  <a:srgbClr val="FF5723"/>
                </a:solidFill>
                <a:latin typeface="Tajawal" pitchFamily="34" charset="0"/>
                <a:ea typeface="Tajawal" pitchFamily="34" charset="-122"/>
                <a:cs typeface="Tajawal" pitchFamily="34" charset="-120"/>
              </a:rPr>
              <a:t>إصلاح مشكلة N+1 في قائمة الشحنات</a:t>
            </a:r>
            <a:endParaRPr lang="ar-LY" sz="1700" dirty="0"/>
          </a:p>
        </p:txBody>
      </p:sp>
      <p:sp>
        <p:nvSpPr>
          <p:cNvPr id="4" name="Shape 2"/>
          <p:cNvSpPr/>
          <p:nvPr/>
        </p:nvSpPr>
        <p:spPr>
          <a:xfrm>
            <a:off x="548640" y="1691640"/>
            <a:ext cx="7315200" cy="4434840"/>
          </a:xfrm>
          <a:prstGeom prst="roundRect">
            <a:avLst>
              <a:gd name="adj" fmla="val 1649"/>
            </a:avLst>
          </a:prstGeom>
          <a:solidFill>
            <a:srgbClr val="272827"/>
          </a:solidFill>
          <a:ln w="12700">
            <a:solidFill>
              <a:srgbClr val="272827"/>
            </a:solidFill>
            <a:prstDash val="solid"/>
          </a:ln>
        </p:spPr>
      </p:sp>
      <p:sp>
        <p:nvSpPr>
          <p:cNvPr id="5" name="Text 3"/>
          <p:cNvSpPr txBox="1"/>
          <p:nvPr/>
        </p:nvSpPr>
        <p:spPr>
          <a:xfrm>
            <a:off x="822960" y="1828800"/>
            <a:ext cx="6766560" cy="274320"/>
          </a:xfrm>
          <a:prstGeom prst="rect">
            <a:avLst/>
          </a:prstGeom>
          <a:noFill/>
          <a:ln/>
        </p:spPr>
        <p:txBody>
          <a:bodyPr wrap="square" lIns="0" tIns="0" rIns="0" bIns="0" rtlCol="0" anchor="ctr"/>
          <a:lstStyle/>
          <a:p>
            <a:pPr indent="0" marL="0">
              <a:buNone/>
            </a:pPr>
            <a:r>
              <a:rPr lang="en-US" sz="1100" dirty="0">
                <a:solidFill>
                  <a:srgbClr val="FF5723"/>
                </a:solidFill>
                <a:latin typeface="JetBrains Mono" pitchFamily="34" charset="0"/>
                <a:ea typeface="JetBrains Mono" pitchFamily="34" charset="-122"/>
                <a:cs typeface="JetBrains Mono" pitchFamily="34" charset="-120"/>
              </a:rPr>
              <a:t>app/Http/Controllers/Api/ShipmentController.php · tests/Feature/PerformanceTest.php</a:t>
            </a:r>
            <a:endParaRPr lang="en-US" sz="1100" dirty="0"/>
          </a:p>
        </p:txBody>
      </p:sp>
      <p:sp>
        <p:nvSpPr>
          <p:cNvPr id="6" name="Shape 4"/>
          <p:cNvSpPr/>
          <p:nvPr/>
        </p:nvSpPr>
        <p:spPr>
          <a:xfrm>
            <a:off x="822960" y="2194560"/>
            <a:ext cx="6766560" cy="0"/>
          </a:xfrm>
          <a:prstGeom prst="line">
            <a:avLst/>
          </a:prstGeom>
          <a:noFill/>
          <a:ln w="12700">
            <a:solidFill>
              <a:srgbClr val="3A3B3A"/>
            </a:solidFill>
            <a:prstDash val="solid"/>
          </a:ln>
        </p:spPr>
      </p:sp>
      <p:sp>
        <p:nvSpPr>
          <p:cNvPr id="7" name="Text 5"/>
          <p:cNvSpPr txBox="1"/>
          <p:nvPr/>
        </p:nvSpPr>
        <p:spPr>
          <a:xfrm>
            <a:off x="822960" y="2331720"/>
            <a:ext cx="6858000" cy="3657600"/>
          </a:xfrm>
          <a:prstGeom prst="rect">
            <a:avLst/>
          </a:prstGeom>
          <a:noFill/>
          <a:ln/>
        </p:spPr>
        <p:txBody>
          <a:bodyPr wrap="square" lIns="0" tIns="0" rIns="0" bIns="0" rtlCol="0" anchor="t"/>
          <a:lstStyle/>
          <a:p>
            <a:pPr indent="0" marL="0">
              <a:lnSpc>
                <a:spcPct val="105000"/>
              </a:lnSpc>
              <a:buNone/>
            </a:pPr>
            <a:r>
              <a:rPr lang="en-US" sz="1100" i="1" dirty="0">
                <a:solidFill>
                  <a:srgbClr val="8B8F97"/>
                </a:solidFill>
                <a:latin typeface="JetBrains Mono" pitchFamily="34" charset="0"/>
                <a:ea typeface="JetBrains Mono" pitchFamily="34" charset="-122"/>
                <a:cs typeface="JetBrains Mono" pitchFamily="34" charset="-120"/>
              </a:rPr>
              <a:t>// Before (day2-end): + 3 queries for every row on the page</a:t>
            </a:r>
            <a:endParaRPr lang="en-US" sz="1100" dirty="0"/>
          </a:p>
          <a:p>
            <a:pPr indent="0" marL="0">
              <a:lnSpc>
                <a:spcPct val="105000"/>
              </a:lnSpc>
              <a:buNone/>
            </a:pPr>
            <a:r>
              <a:rPr lang="en-US" sz="1100" dirty="0">
                <a:solidFill>
                  <a:srgbClr val="F5C9A8"/>
                </a:solidFill>
                <a:latin typeface="JetBrains Mono" pitchFamily="34" charset="0"/>
                <a:ea typeface="JetBrains Mono" pitchFamily="34" charset="-122"/>
                <a:cs typeface="JetBrains Mono" pitchFamily="34" charset="-120"/>
              </a:rPr>
              <a:t>$shipments</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 = </a:t>
            </a:r>
            <a:pPr indent="0" marL="0">
              <a:lnSpc>
                <a:spcPct val="105000"/>
              </a:lnSpc>
              <a:buNone/>
            </a:pPr>
            <a:r>
              <a:rPr lang="en-US" sz="1100" dirty="0">
                <a:solidFill>
                  <a:srgbClr val="F5C9A8"/>
                </a:solidFill>
                <a:latin typeface="JetBrains Mono" pitchFamily="34" charset="0"/>
                <a:ea typeface="JetBrains Mono" pitchFamily="34" charset="-122"/>
                <a:cs typeface="JetBrains Mono" pitchFamily="34" charset="-120"/>
              </a:rPr>
              <a:t>$request</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user</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shipments</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latest</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paginate</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(15);</a:t>
            </a:r>
            <a:endParaRPr lang="en-US" sz="1100" dirty="0"/>
          </a:p>
          <a:p>
            <a:pPr indent="0" marL="0">
              <a:lnSpc>
                <a:spcPct val="105000"/>
              </a:lnSpc>
              <a:buNone/>
            </a:pPr>
            <a:r>
              <a:rPr lang="en-US" sz="1100" dirty="0">
                <a:solidFill>
                  <a:srgbClr val="000000"/>
                </a:solidFill>
                <a:latin typeface="JetBrains Mono" pitchFamily="34" charset="0"/>
                <a:ea typeface="JetBrains Mono" pitchFamily="34" charset="-122"/>
                <a:cs typeface="JetBrains Mono" pitchFamily="34" charset="-120"/>
              </a:rPr>
              <a:t> </a:t>
            </a:r>
            <a:endParaRPr lang="en-US" sz="1100" dirty="0"/>
          </a:p>
          <a:p>
            <a:pPr indent="0" marL="0">
              <a:lnSpc>
                <a:spcPct val="105000"/>
              </a:lnSpc>
              <a:buNone/>
            </a:pPr>
            <a:r>
              <a:rPr lang="en-US" sz="1100" i="1" dirty="0">
                <a:solidFill>
                  <a:srgbClr val="8B8F97"/>
                </a:solidFill>
                <a:latin typeface="JetBrains Mono" pitchFamily="34" charset="0"/>
                <a:ea typeface="JetBrains Mono" pitchFamily="34" charset="-122"/>
                <a:cs typeface="JetBrains Mono" pitchFamily="34" charset="-120"/>
              </a:rPr>
              <a:t>// After (day3-end): the same count for 2 rows or 15</a:t>
            </a:r>
            <a:endParaRPr lang="en-US" sz="1100" dirty="0"/>
          </a:p>
          <a:p>
            <a:pPr indent="0" marL="0">
              <a:lnSpc>
                <a:spcPct val="105000"/>
              </a:lnSpc>
              <a:buNone/>
            </a:pPr>
            <a:r>
              <a:rPr lang="en-US" sz="1100" dirty="0">
                <a:solidFill>
                  <a:srgbClr val="F5C9A8"/>
                </a:solidFill>
                <a:latin typeface="JetBrains Mono" pitchFamily="34" charset="0"/>
                <a:ea typeface="JetBrains Mono" pitchFamily="34" charset="-122"/>
                <a:cs typeface="JetBrains Mono" pitchFamily="34" charset="-120"/>
              </a:rPr>
              <a:t>$shipments</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 = </a:t>
            </a:r>
            <a:pPr indent="0" marL="0">
              <a:lnSpc>
                <a:spcPct val="105000"/>
              </a:lnSpc>
              <a:buNone/>
            </a:pPr>
            <a:r>
              <a:rPr lang="en-US" sz="1100" dirty="0">
                <a:solidFill>
                  <a:srgbClr val="F5C9A8"/>
                </a:solidFill>
                <a:latin typeface="JetBrains Mono" pitchFamily="34" charset="0"/>
                <a:ea typeface="JetBrains Mono" pitchFamily="34" charset="-122"/>
                <a:cs typeface="JetBrains Mono" pitchFamily="34" charset="-120"/>
              </a:rPr>
              <a:t>$request</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user</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shipments</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a:t>
            </a:r>
            <a:endParaRPr lang="en-US" sz="1100" dirty="0"/>
          </a:p>
          <a:p>
            <a:pPr indent="0" marL="0">
              <a:lnSpc>
                <a:spcPct val="105000"/>
              </a:lnSpc>
              <a:buNone/>
            </a:pPr>
            <a:r>
              <a:rPr lang="en-US" sz="1100" dirty="0">
                <a:solidFill>
                  <a:srgbClr val="FFFFFF"/>
                </a:solidFill>
                <a:highlight>
                  <a:srgbClr val="4A3A33"/>
                </a:highlight>
                <a:latin typeface="JetBrains Mono" pitchFamily="34" charset="0"/>
                <a:ea typeface="JetBrains Mono" pitchFamily="34" charset="-122"/>
                <a:cs typeface="JetBrains Mono" pitchFamily="34" charset="-120"/>
              </a:rPr>
              <a:t>    -&gt;</a:t>
            </a:r>
            <a:pPr indent="0" marL="0">
              <a:lnSpc>
                <a:spcPct val="105000"/>
              </a:lnSpc>
              <a:buNone/>
            </a:pPr>
            <a:r>
              <a:rPr lang="en-US" sz="1100" dirty="0">
                <a:solidFill>
                  <a:srgbClr val="FFFFFF"/>
                </a:solidFill>
                <a:highlight>
                  <a:srgbClr val="4A3A33"/>
                </a:highlight>
                <a:latin typeface="JetBrains Mono" pitchFamily="34" charset="0"/>
                <a:ea typeface="JetBrains Mono" pitchFamily="34" charset="-122"/>
                <a:cs typeface="JetBrains Mono" pitchFamily="34" charset="-120"/>
              </a:rPr>
              <a:t>with</a:t>
            </a:r>
            <a:pPr indent="0" marL="0">
              <a:lnSpc>
                <a:spcPct val="105000"/>
              </a:lnSpc>
              <a:buNone/>
            </a:pPr>
            <a:r>
              <a:rPr lang="en-US" sz="1100" dirty="0">
                <a:solidFill>
                  <a:srgbClr val="FFFFFF"/>
                </a:solidFill>
                <a:highlight>
                  <a:srgbClr val="4A3A33"/>
                </a:highlight>
                <a:latin typeface="JetBrains Mono" pitchFamily="34" charset="0"/>
                <a:ea typeface="JetBrains Mono" pitchFamily="34" charset="-122"/>
                <a:cs typeface="JetBrains Mono" pitchFamily="34" charset="-120"/>
              </a:rPr>
              <a:t>([</a:t>
            </a:r>
            <a:pPr indent="0" marL="0">
              <a:lnSpc>
                <a:spcPct val="105000"/>
              </a:lnSpc>
              <a:buNone/>
            </a:pPr>
            <a:r>
              <a:rPr lang="en-US" sz="1100" dirty="0">
                <a:solidFill>
                  <a:srgbClr val="FFB59C"/>
                </a:solidFill>
                <a:highlight>
                  <a:srgbClr val="4A3A33"/>
                </a:highlight>
                <a:latin typeface="JetBrains Mono" pitchFamily="34" charset="0"/>
                <a:ea typeface="JetBrains Mono" pitchFamily="34" charset="-122"/>
                <a:cs typeface="JetBrains Mono" pitchFamily="34" charset="-120"/>
              </a:rPr>
              <a:t>'origin'</a:t>
            </a:r>
            <a:pPr indent="0" marL="0">
              <a:lnSpc>
                <a:spcPct val="105000"/>
              </a:lnSpc>
              <a:buNone/>
            </a:pPr>
            <a:r>
              <a:rPr lang="en-US" sz="1100" dirty="0">
                <a:solidFill>
                  <a:srgbClr val="FFFFFF"/>
                </a:solidFill>
                <a:highlight>
                  <a:srgbClr val="4A3A33"/>
                </a:highlight>
                <a:latin typeface="JetBrains Mono" pitchFamily="34" charset="0"/>
                <a:ea typeface="JetBrains Mono" pitchFamily="34" charset="-122"/>
                <a:cs typeface="JetBrains Mono" pitchFamily="34" charset="-120"/>
              </a:rPr>
              <a:t>, </a:t>
            </a:r>
            <a:pPr indent="0" marL="0">
              <a:lnSpc>
                <a:spcPct val="105000"/>
              </a:lnSpc>
              <a:buNone/>
            </a:pPr>
            <a:r>
              <a:rPr lang="en-US" sz="1100" dirty="0">
                <a:solidFill>
                  <a:srgbClr val="FFB59C"/>
                </a:solidFill>
                <a:highlight>
                  <a:srgbClr val="4A3A33"/>
                </a:highlight>
                <a:latin typeface="JetBrains Mono" pitchFamily="34" charset="0"/>
                <a:ea typeface="JetBrains Mono" pitchFamily="34" charset="-122"/>
                <a:cs typeface="JetBrains Mono" pitchFamily="34" charset="-120"/>
              </a:rPr>
              <a:t>'destination'</a:t>
            </a:r>
            <a:pPr indent="0" marL="0">
              <a:lnSpc>
                <a:spcPct val="105000"/>
              </a:lnSpc>
              <a:buNone/>
            </a:pPr>
            <a:r>
              <a:rPr lang="en-US" sz="1100" dirty="0">
                <a:solidFill>
                  <a:srgbClr val="FFFFFF"/>
                </a:solidFill>
                <a:highlight>
                  <a:srgbClr val="4A3A33"/>
                </a:highlight>
                <a:latin typeface="JetBrains Mono" pitchFamily="34" charset="0"/>
                <a:ea typeface="JetBrains Mono" pitchFamily="34" charset="-122"/>
                <a:cs typeface="JetBrains Mono" pitchFamily="34" charset="-120"/>
              </a:rPr>
              <a:t>, </a:t>
            </a:r>
            <a:pPr indent="0" marL="0">
              <a:lnSpc>
                <a:spcPct val="105000"/>
              </a:lnSpc>
              <a:buNone/>
            </a:pPr>
            <a:r>
              <a:rPr lang="en-US" sz="1100" dirty="0">
                <a:solidFill>
                  <a:srgbClr val="FFB59C"/>
                </a:solidFill>
                <a:highlight>
                  <a:srgbClr val="4A3A33"/>
                </a:highlight>
                <a:latin typeface="JetBrains Mono" pitchFamily="34" charset="0"/>
                <a:ea typeface="JetBrains Mono" pitchFamily="34" charset="-122"/>
                <a:cs typeface="JetBrains Mono" pitchFamily="34" charset="-120"/>
              </a:rPr>
              <a:t>'vehicle'</a:t>
            </a:r>
            <a:pPr indent="0" marL="0">
              <a:lnSpc>
                <a:spcPct val="105000"/>
              </a:lnSpc>
              <a:buNone/>
            </a:pPr>
            <a:r>
              <a:rPr lang="en-US" sz="1100" dirty="0">
                <a:solidFill>
                  <a:srgbClr val="FFFFFF"/>
                </a:solidFill>
                <a:highlight>
                  <a:srgbClr val="4A3A33"/>
                </a:highlight>
                <a:latin typeface="JetBrains Mono" pitchFamily="34" charset="0"/>
                <a:ea typeface="JetBrains Mono" pitchFamily="34" charset="-122"/>
                <a:cs typeface="JetBrains Mono" pitchFamily="34" charset="-120"/>
              </a:rPr>
              <a:t>])</a:t>
            </a:r>
            <a:endParaRPr lang="en-US" sz="1100" dirty="0"/>
          </a:p>
          <a:p>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    -&gt;</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latest</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a:t>
            </a:r>
            <a:endParaRPr lang="en-US" sz="1100" dirty="0"/>
          </a:p>
          <a:p>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    -&gt;</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paginate</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(15);</a:t>
            </a:r>
            <a:endParaRPr lang="en-US" sz="1100" dirty="0"/>
          </a:p>
          <a:p>
            <a:pPr indent="0" marL="0">
              <a:lnSpc>
                <a:spcPct val="105000"/>
              </a:lnSpc>
              <a:buNone/>
            </a:pPr>
            <a:r>
              <a:rPr lang="en-US" sz="1100" dirty="0">
                <a:solidFill>
                  <a:srgbClr val="000000"/>
                </a:solidFill>
                <a:latin typeface="JetBrains Mono" pitchFamily="34" charset="0"/>
                <a:ea typeface="JetBrains Mono" pitchFamily="34" charset="-122"/>
                <a:cs typeface="JetBrains Mono" pitchFamily="34" charset="-120"/>
              </a:rPr>
              <a:t> </a:t>
            </a:r>
            <a:endParaRPr lang="en-US" sz="1100" dirty="0"/>
          </a:p>
          <a:p>
            <a:pPr indent="0" marL="0">
              <a:lnSpc>
                <a:spcPct val="105000"/>
              </a:lnSpc>
              <a:buNone/>
            </a:pPr>
            <a:r>
              <a:rPr lang="en-US" sz="1100" dirty="0">
                <a:solidFill>
                  <a:srgbClr val="FF5723"/>
                </a:solidFill>
                <a:latin typeface="JetBrains Mono" pitchFamily="34" charset="0"/>
                <a:ea typeface="JetBrains Mono" pitchFamily="34" charset="-122"/>
                <a:cs typeface="JetBrains Mono" pitchFamily="34" charset="-120"/>
              </a:rPr>
              <a:t>return</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100" dirty="0">
                <a:solidFill>
                  <a:srgbClr val="F2EDE6"/>
                </a:solidFill>
                <a:latin typeface="JetBrains Mono" pitchFamily="34" charset="0"/>
                <a:ea typeface="JetBrains Mono" pitchFamily="34" charset="-122"/>
                <a:cs typeface="JetBrains Mono" pitchFamily="34" charset="-120"/>
              </a:rPr>
              <a:t>ShipmentResource</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collection</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100" dirty="0">
                <a:solidFill>
                  <a:srgbClr val="F5C9A8"/>
                </a:solidFill>
                <a:latin typeface="JetBrains Mono" pitchFamily="34" charset="0"/>
                <a:ea typeface="JetBrains Mono" pitchFamily="34" charset="-122"/>
                <a:cs typeface="JetBrains Mono" pitchFamily="34" charset="-120"/>
              </a:rPr>
              <a:t>$shipments</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a:t>
            </a:r>
            <a:endParaRPr lang="en-US" sz="1100" dirty="0"/>
          </a:p>
          <a:p>
            <a:pPr indent="0" marL="0">
              <a:lnSpc>
                <a:spcPct val="105000"/>
              </a:lnSpc>
              <a:buNone/>
            </a:pPr>
            <a:r>
              <a:rPr lang="en-US" sz="1100" dirty="0">
                <a:solidFill>
                  <a:srgbClr val="000000"/>
                </a:solidFill>
                <a:latin typeface="JetBrains Mono" pitchFamily="34" charset="0"/>
                <a:ea typeface="JetBrains Mono" pitchFamily="34" charset="-122"/>
                <a:cs typeface="JetBrains Mono" pitchFamily="34" charset="-120"/>
              </a:rPr>
              <a:t> </a:t>
            </a:r>
            <a:endParaRPr lang="en-US" sz="1100" dirty="0"/>
          </a:p>
          <a:p>
            <a:pPr indent="0" marL="0">
              <a:lnSpc>
                <a:spcPct val="105000"/>
              </a:lnSpc>
              <a:buNone/>
            </a:pPr>
            <a:r>
              <a:rPr lang="en-US" sz="1100" i="1" dirty="0">
                <a:solidFill>
                  <a:srgbClr val="8B8F97"/>
                </a:solidFill>
                <a:latin typeface="JetBrains Mono" pitchFamily="34" charset="0"/>
                <a:ea typeface="JetBrains Mono" pitchFamily="34" charset="-122"/>
                <a:cs typeface="JetBrains Mono" pitchFamily="34" charset="-120"/>
              </a:rPr>
              <a:t>// The test that keeps it fixed</a:t>
            </a:r>
            <a:endParaRPr lang="en-US" sz="1100" dirty="0"/>
          </a:p>
          <a:p>
            <a:pPr indent="0" marL="0">
              <a:lnSpc>
                <a:spcPct val="105000"/>
              </a:lnSpc>
              <a:buNone/>
            </a:pPr>
            <a:r>
              <a:rPr lang="en-US" sz="1100" dirty="0">
                <a:solidFill>
                  <a:srgbClr val="F5C9A8"/>
                </a:solidFill>
                <a:latin typeface="JetBrains Mono" pitchFamily="34" charset="0"/>
                <a:ea typeface="JetBrains Mono" pitchFamily="34" charset="-122"/>
                <a:cs typeface="JetBrains Mono" pitchFamily="34" charset="-120"/>
              </a:rPr>
              <a:t>$few</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  = </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countQueries</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100" dirty="0">
                <a:solidFill>
                  <a:srgbClr val="FF5723"/>
                </a:solidFill>
                <a:latin typeface="JetBrains Mono" pitchFamily="34" charset="0"/>
                <a:ea typeface="JetBrains Mono" pitchFamily="34" charset="-122"/>
                <a:cs typeface="JetBrains Mono" pitchFamily="34" charset="-120"/>
              </a:rPr>
              <a:t>fn</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 () =&gt; </a:t>
            </a:r>
            <a:pPr indent="0" marL="0">
              <a:lnSpc>
                <a:spcPct val="105000"/>
              </a:lnSpc>
              <a:buNone/>
            </a:pPr>
            <a:r>
              <a:rPr lang="en-US" sz="1100" dirty="0">
                <a:solidFill>
                  <a:srgbClr val="F5C9A8"/>
                </a:solidFill>
                <a:latin typeface="JetBrains Mono" pitchFamily="34" charset="0"/>
                <a:ea typeface="JetBrains Mono" pitchFamily="34" charset="-122"/>
                <a:cs typeface="JetBrains Mono" pitchFamily="34" charset="-120"/>
              </a:rPr>
              <a:t>$this</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getJson</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100" dirty="0">
                <a:solidFill>
                  <a:srgbClr val="FFB59C"/>
                </a:solidFill>
                <a:latin typeface="JetBrains Mono" pitchFamily="34" charset="0"/>
                <a:ea typeface="JetBrains Mono" pitchFamily="34" charset="-122"/>
                <a:cs typeface="JetBrains Mono" pitchFamily="34" charset="-120"/>
              </a:rPr>
              <a:t>'/api/shipments'</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a:t>
            </a:r>
            <a:endParaRPr lang="en-US" sz="1100" dirty="0"/>
          </a:p>
          <a:p>
            <a:pPr indent="0" marL="0">
              <a:lnSpc>
                <a:spcPct val="105000"/>
              </a:lnSpc>
              <a:buNone/>
            </a:pPr>
            <a:r>
              <a:rPr lang="en-US" sz="1100" dirty="0">
                <a:solidFill>
                  <a:srgbClr val="F2EDE6"/>
                </a:solidFill>
                <a:latin typeface="JetBrains Mono" pitchFamily="34" charset="0"/>
                <a:ea typeface="JetBrains Mono" pitchFamily="34" charset="-122"/>
                <a:cs typeface="JetBrains Mono" pitchFamily="34" charset="-120"/>
              </a:rPr>
              <a:t>Shipment</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factory</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count</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(10)-&gt;</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for</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100" dirty="0">
                <a:solidFill>
                  <a:srgbClr val="F5C9A8"/>
                </a:solidFill>
                <a:latin typeface="JetBrains Mono" pitchFamily="34" charset="0"/>
                <a:ea typeface="JetBrains Mono" pitchFamily="34" charset="-122"/>
                <a:cs typeface="JetBrains Mono" pitchFamily="34" charset="-120"/>
              </a:rPr>
              <a:t>$user</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create</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a:t>
            </a:r>
            <a:endParaRPr lang="en-US" sz="1100" dirty="0"/>
          </a:p>
          <a:p>
            <a:pPr indent="0" marL="0">
              <a:lnSpc>
                <a:spcPct val="105000"/>
              </a:lnSpc>
              <a:buNone/>
            </a:pPr>
            <a:r>
              <a:rPr lang="en-US" sz="1100" dirty="0">
                <a:solidFill>
                  <a:srgbClr val="F5C9A8"/>
                </a:solidFill>
                <a:latin typeface="JetBrains Mono" pitchFamily="34" charset="0"/>
                <a:ea typeface="JetBrains Mono" pitchFamily="34" charset="-122"/>
                <a:cs typeface="JetBrains Mono" pitchFamily="34" charset="-120"/>
              </a:rPr>
              <a:t>$many</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 = </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countQueries</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100" dirty="0">
                <a:solidFill>
                  <a:srgbClr val="FF5723"/>
                </a:solidFill>
                <a:latin typeface="JetBrains Mono" pitchFamily="34" charset="0"/>
                <a:ea typeface="JetBrains Mono" pitchFamily="34" charset="-122"/>
                <a:cs typeface="JetBrains Mono" pitchFamily="34" charset="-120"/>
              </a:rPr>
              <a:t>fn</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 () =&gt; </a:t>
            </a:r>
            <a:pPr indent="0" marL="0">
              <a:lnSpc>
                <a:spcPct val="105000"/>
              </a:lnSpc>
              <a:buNone/>
            </a:pPr>
            <a:r>
              <a:rPr lang="en-US" sz="1100" dirty="0">
                <a:solidFill>
                  <a:srgbClr val="F5C9A8"/>
                </a:solidFill>
                <a:latin typeface="JetBrains Mono" pitchFamily="34" charset="0"/>
                <a:ea typeface="JetBrains Mono" pitchFamily="34" charset="-122"/>
                <a:cs typeface="JetBrains Mono" pitchFamily="34" charset="-120"/>
              </a:rPr>
              <a:t>$this</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getJson</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100" dirty="0">
                <a:solidFill>
                  <a:srgbClr val="FFB59C"/>
                </a:solidFill>
                <a:latin typeface="JetBrains Mono" pitchFamily="34" charset="0"/>
                <a:ea typeface="JetBrains Mono" pitchFamily="34" charset="-122"/>
                <a:cs typeface="JetBrains Mono" pitchFamily="34" charset="-120"/>
              </a:rPr>
              <a:t>'/api/shipments'</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a:t>
            </a:r>
            <a:endParaRPr lang="en-US" sz="1100" dirty="0"/>
          </a:p>
          <a:p>
            <a:pPr indent="0" marL="0">
              <a:lnSpc>
                <a:spcPct val="105000"/>
              </a:lnSpc>
              <a:buNone/>
            </a:pPr>
            <a:r>
              <a:rPr lang="en-US" sz="1100" dirty="0">
                <a:solidFill>
                  <a:srgbClr val="FFFFFF"/>
                </a:solidFill>
                <a:highlight>
                  <a:srgbClr val="4A3A33"/>
                </a:highlight>
                <a:latin typeface="JetBrains Mono" pitchFamily="34" charset="0"/>
                <a:ea typeface="JetBrains Mono" pitchFamily="34" charset="-122"/>
                <a:cs typeface="JetBrains Mono" pitchFamily="34" charset="-120"/>
              </a:rPr>
              <a:t>expect</a:t>
            </a:r>
            <a:pPr indent="0" marL="0">
              <a:lnSpc>
                <a:spcPct val="105000"/>
              </a:lnSpc>
              <a:buNone/>
            </a:pPr>
            <a:r>
              <a:rPr lang="en-US" sz="1100" dirty="0">
                <a:solidFill>
                  <a:srgbClr val="FFFFFF"/>
                </a:solidFill>
                <a:highlight>
                  <a:srgbClr val="4A3A33"/>
                </a:highlight>
                <a:latin typeface="JetBrains Mono" pitchFamily="34" charset="0"/>
                <a:ea typeface="JetBrains Mono" pitchFamily="34" charset="-122"/>
                <a:cs typeface="JetBrains Mono" pitchFamily="34" charset="-120"/>
              </a:rPr>
              <a:t>(</a:t>
            </a:r>
            <a:pPr indent="0" marL="0">
              <a:lnSpc>
                <a:spcPct val="105000"/>
              </a:lnSpc>
              <a:buNone/>
            </a:pPr>
            <a:r>
              <a:rPr lang="en-US" sz="1100" dirty="0">
                <a:solidFill>
                  <a:srgbClr val="F5C9A8"/>
                </a:solidFill>
                <a:highlight>
                  <a:srgbClr val="4A3A33"/>
                </a:highlight>
                <a:latin typeface="JetBrains Mono" pitchFamily="34" charset="0"/>
                <a:ea typeface="JetBrains Mono" pitchFamily="34" charset="-122"/>
                <a:cs typeface="JetBrains Mono" pitchFamily="34" charset="-120"/>
              </a:rPr>
              <a:t>$many</a:t>
            </a:r>
            <a:pPr indent="0" marL="0">
              <a:lnSpc>
                <a:spcPct val="105000"/>
              </a:lnSpc>
              <a:buNone/>
            </a:pPr>
            <a:r>
              <a:rPr lang="en-US" sz="1100" dirty="0">
                <a:solidFill>
                  <a:srgbClr val="FFFFFF"/>
                </a:solidFill>
                <a:highlight>
                  <a:srgbClr val="4A3A33"/>
                </a:highlight>
                <a:latin typeface="JetBrains Mono" pitchFamily="34" charset="0"/>
                <a:ea typeface="JetBrains Mono" pitchFamily="34" charset="-122"/>
                <a:cs typeface="JetBrains Mono" pitchFamily="34" charset="-120"/>
              </a:rPr>
              <a:t>)-&gt;</a:t>
            </a:r>
            <a:pPr indent="0" marL="0">
              <a:lnSpc>
                <a:spcPct val="105000"/>
              </a:lnSpc>
              <a:buNone/>
            </a:pPr>
            <a:r>
              <a:rPr lang="en-US" sz="1100" dirty="0">
                <a:solidFill>
                  <a:srgbClr val="FFFFFF"/>
                </a:solidFill>
                <a:highlight>
                  <a:srgbClr val="4A3A33"/>
                </a:highlight>
                <a:latin typeface="JetBrains Mono" pitchFamily="34" charset="0"/>
                <a:ea typeface="JetBrains Mono" pitchFamily="34" charset="-122"/>
                <a:cs typeface="JetBrains Mono" pitchFamily="34" charset="-120"/>
              </a:rPr>
              <a:t>toBe</a:t>
            </a:r>
            <a:pPr indent="0" marL="0">
              <a:lnSpc>
                <a:spcPct val="105000"/>
              </a:lnSpc>
              <a:buNone/>
            </a:pPr>
            <a:r>
              <a:rPr lang="en-US" sz="1100" dirty="0">
                <a:solidFill>
                  <a:srgbClr val="FFFFFF"/>
                </a:solidFill>
                <a:highlight>
                  <a:srgbClr val="4A3A33"/>
                </a:highlight>
                <a:latin typeface="JetBrains Mono" pitchFamily="34" charset="0"/>
                <a:ea typeface="JetBrains Mono" pitchFamily="34" charset="-122"/>
                <a:cs typeface="JetBrains Mono" pitchFamily="34" charset="-120"/>
              </a:rPr>
              <a:t>(</a:t>
            </a:r>
            <a:pPr indent="0" marL="0">
              <a:lnSpc>
                <a:spcPct val="105000"/>
              </a:lnSpc>
              <a:buNone/>
            </a:pPr>
            <a:r>
              <a:rPr lang="en-US" sz="1100" dirty="0">
                <a:solidFill>
                  <a:srgbClr val="F5C9A8"/>
                </a:solidFill>
                <a:highlight>
                  <a:srgbClr val="4A3A33"/>
                </a:highlight>
                <a:latin typeface="JetBrains Mono" pitchFamily="34" charset="0"/>
                <a:ea typeface="JetBrains Mono" pitchFamily="34" charset="-122"/>
                <a:cs typeface="JetBrains Mono" pitchFamily="34" charset="-120"/>
              </a:rPr>
              <a:t>$few</a:t>
            </a:r>
            <a:pPr indent="0" marL="0">
              <a:lnSpc>
                <a:spcPct val="105000"/>
              </a:lnSpc>
              <a:buNone/>
            </a:pPr>
            <a:r>
              <a:rPr lang="en-US" sz="1100" dirty="0">
                <a:solidFill>
                  <a:srgbClr val="FFFFFF"/>
                </a:solidFill>
                <a:highlight>
                  <a:srgbClr val="4A3A33"/>
                </a:highlight>
                <a:latin typeface="JetBrains Mono" pitchFamily="34" charset="0"/>
                <a:ea typeface="JetBrains Mono" pitchFamily="34" charset="-122"/>
                <a:cs typeface="JetBrains Mono" pitchFamily="34" charset="-120"/>
              </a:rPr>
              <a:t>);</a:t>
            </a:r>
            <a:endParaRPr lang="en-US" sz="1100" dirty="0"/>
          </a:p>
        </p:txBody>
      </p:sp>
      <p:sp>
        <p:nvSpPr>
          <p:cNvPr id="8" name="Text 6"/>
          <p:cNvSpPr txBox="1"/>
          <p:nvPr/>
        </p:nvSpPr>
        <p:spPr>
          <a:xfrm>
            <a:off x="8275320" y="1783080"/>
            <a:ext cx="3367735" cy="43434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272827"/>
                </a:solidFill>
                <a:latin typeface="Inter" pitchFamily="34" charset="0"/>
                <a:ea typeface="Inter" pitchFamily="34" charset="-122"/>
                <a:cs typeface="Inter" pitchFamily="34" charset="-120"/>
              </a:rPr>
              <a:t>The resource touches 3 relations per row: that is the N</a:t>
            </a:r>
            <a:endParaRPr lang="en-US" sz="1500" dirty="0"/>
          </a:p>
          <a:p>
            <a:pPr marL="228600" indent="-228600">
              <a:spcAft>
                <a:spcPts val="1000"/>
              </a:spcAft>
              <a:buSzPct val="100000"/>
              <a:buChar char="•"/>
            </a:pPr>
            <a:r>
              <a:rPr lang="en-US" sz="1500" dirty="0">
                <a:solidFill>
                  <a:srgbClr val="C2410C"/>
                </a:solidFill>
                <a:latin typeface="JetBrains Mono" pitchFamily="34" charset="0"/>
                <a:ea typeface="JetBrains Mono" pitchFamily="34" charset="-122"/>
                <a:cs typeface="JetBrains Mono" pitchFamily="34" charset="-120"/>
              </a:rPr>
              <a:t>with()</a:t>
            </a:r>
            <a:pPr indent="0" marL="0">
              <a:buNone/>
            </a:pPr>
            <a:r>
              <a:rPr lang="en-US" sz="1500" dirty="0">
                <a:solidFill>
                  <a:srgbClr val="272827"/>
                </a:solidFill>
                <a:latin typeface="Inter" pitchFamily="34" charset="0"/>
                <a:ea typeface="Inter" pitchFamily="34" charset="-122"/>
                <a:cs typeface="Inter" pitchFamily="34" charset="-120"/>
              </a:rPr>
              <a:t> loads each relation in </a:t>
            </a:r>
            <a:pPr indent="0" marL="0">
              <a:buNone/>
            </a:pPr>
            <a:r>
              <a:rPr lang="en-US" sz="1500" b="1" dirty="0">
                <a:solidFill>
                  <a:srgbClr val="272827"/>
                </a:solidFill>
                <a:latin typeface="Inter" pitchFamily="34" charset="0"/>
                <a:ea typeface="Inter" pitchFamily="34" charset="-122"/>
                <a:cs typeface="Inter" pitchFamily="34" charset="-120"/>
              </a:rPr>
              <a:t>one</a:t>
            </a:r>
            <a:pPr indent="0" marL="0">
              <a:buNone/>
            </a:pPr>
            <a:r>
              <a:rPr lang="en-US" sz="1500" dirty="0">
                <a:solidFill>
                  <a:srgbClr val="272827"/>
                </a:solidFill>
                <a:latin typeface="Inter" pitchFamily="34" charset="0"/>
                <a:ea typeface="Inter" pitchFamily="34" charset="-122"/>
                <a:cs typeface="Inter" pitchFamily="34" charset="-120"/>
              </a:rPr>
              <a:t> query</a:t>
            </a:r>
            <a:endParaRPr lang="en-US" sz="1500" dirty="0"/>
          </a:p>
          <a:p>
            <a:pPr marL="228600" indent="-228600">
              <a:spcAft>
                <a:spcPts val="1000"/>
              </a:spcAft>
              <a:buSzPct val="100000"/>
              <a:buChar char="•"/>
            </a:pPr>
            <a:r>
              <a:rPr lang="en-US" sz="1500" dirty="0">
                <a:solidFill>
                  <a:srgbClr val="272827"/>
                </a:solidFill>
                <a:latin typeface="Inter" pitchFamily="34" charset="0"/>
                <a:ea typeface="Inter" pitchFamily="34" charset="-122"/>
                <a:cs typeface="Inter" pitchFamily="34" charset="-120"/>
              </a:rPr>
              <a:t>The test counts queries with </a:t>
            </a:r>
            <a:pPr indent="0" marL="0">
              <a:buNone/>
            </a:pPr>
            <a:r>
              <a:rPr lang="en-US" sz="1500" dirty="0">
                <a:solidFill>
                  <a:srgbClr val="C2410C"/>
                </a:solidFill>
                <a:latin typeface="JetBrains Mono" pitchFamily="34" charset="0"/>
                <a:ea typeface="JetBrains Mono" pitchFamily="34" charset="-122"/>
                <a:cs typeface="JetBrains Mono" pitchFamily="34" charset="-120"/>
              </a:rPr>
              <a:t>DB::enableQueryLog()</a:t>
            </a:r>
            <a:endParaRPr lang="en-US" sz="1500" dirty="0"/>
          </a:p>
          <a:p>
            <a:pPr marL="228600" indent="-228600">
              <a:spcAft>
                <a:spcPts val="1000"/>
              </a:spcAft>
              <a:buSzPct val="100000"/>
              <a:buChar char="•"/>
            </a:pPr>
            <a:r>
              <a:rPr lang="en-US" sz="1500" dirty="0">
                <a:solidFill>
                  <a:srgbClr val="272827"/>
                </a:solidFill>
                <a:latin typeface="Inter" pitchFamily="34" charset="0"/>
                <a:ea typeface="Inter" pitchFamily="34" charset="-122"/>
                <a:cs typeface="Inter" pitchFamily="34" charset="-120"/>
              </a:rPr>
              <a:t>More rows, same number of queries: no N+1</a:t>
            </a:r>
            <a:endParaRPr lang="en-US" sz="1500" dirty="0"/>
          </a:p>
        </p:txBody>
      </p:sp>
      <p:sp>
        <p:nvSpPr>
          <p:cNvPr id="25" name="Slide Number Placeholder 0"/>
          <p:cNvSpPr>
            <a:spLocks noGrp="1"/>
          </p:cNvSpPr>
          <p:nvPr>
            <p:ph type="sldNum" sz="quarter" idx="4294967295"/>
          </p:nvPr>
        </p:nvSpPr>
        <p:spPr>
          <a:xfrm>
            <a:off x="10911535" y="6419088"/>
            <a:ext cx="73152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280"/>
                </a:solidFill>
                <a:latin typeface="Inter"/>
                <a:ea typeface="Inter"/>
                <a:cs typeface="Inter"/>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94415" cy="640080"/>
          </a:xfrm>
          <a:prstGeom prst="rect">
            <a:avLst/>
          </a:prstGeom>
          <a:noFill/>
          <a:ln/>
        </p:spPr>
        <p:txBody>
          <a:bodyPr wrap="square" lIns="0" tIns="0" rIns="0" bIns="0" rtlCol="0" anchor="b"/>
          <a:lstStyle/>
          <a:p>
            <a:pPr algn="l" indent="0" marL="0">
              <a:buNone/>
            </a:pPr>
            <a:r>
              <a:rPr lang="en-US" sz="3200" b="1" dirty="0">
                <a:solidFill>
                  <a:srgbClr val="272827"/>
                </a:solidFill>
                <a:latin typeface="Playfair Display" pitchFamily="34" charset="0"/>
                <a:ea typeface="Playfair Display" pitchFamily="34" charset="-122"/>
                <a:cs typeface="Playfair Display" pitchFamily="34" charset="-120"/>
              </a:rPr>
              <a:t>Rate limits: 60 requests a minute</a:t>
            </a:r>
            <a:endParaRPr lang="en-US" sz="3200" dirty="0"/>
          </a:p>
        </p:txBody>
      </p:sp>
      <p:sp>
        <p:nvSpPr>
          <p:cNvPr id="3" name="Text 1"/>
          <p:cNvSpPr txBox="1"/>
          <p:nvPr/>
        </p:nvSpPr>
        <p:spPr>
          <a:xfrm>
            <a:off x="548640" y="1060704"/>
            <a:ext cx="8229600" cy="384048"/>
          </a:xfrm>
          <a:prstGeom prst="rect">
            <a:avLst/>
          </a:prstGeom>
          <a:noFill/>
          <a:ln/>
        </p:spPr>
        <p:txBody>
          <a:bodyPr wrap="square" lIns="0" tIns="0" rIns="0" bIns="0" rtlCol="0" anchor="t"/>
          <a:lstStyle/>
          <a:p>
            <a:pPr rtl="1" algn="l" indent="0" marL="0">
              <a:buNone/>
            </a:pPr>
            <a:r>
              <a:rPr lang="ar-LY" altLang="en-US" sz="1700" dirty="0">
                <a:solidFill>
                  <a:srgbClr val="FF5723"/>
                </a:solidFill>
                <a:latin typeface="Tajawal" pitchFamily="34" charset="0"/>
                <a:ea typeface="Tajawal" pitchFamily="34" charset="-122"/>
                <a:cs typeface="Tajawal" pitchFamily="34" charset="-120"/>
              </a:rPr>
              <a:t>تحديد المعدل: ٦٠ طلباً في الدقيقة</a:t>
            </a:r>
            <a:endParaRPr lang="ar-LY" sz="1700" dirty="0"/>
          </a:p>
        </p:txBody>
      </p:sp>
      <p:sp>
        <p:nvSpPr>
          <p:cNvPr id="4" name="Shape 2"/>
          <p:cNvSpPr/>
          <p:nvPr/>
        </p:nvSpPr>
        <p:spPr>
          <a:xfrm>
            <a:off x="548640" y="1691640"/>
            <a:ext cx="7315200" cy="4434840"/>
          </a:xfrm>
          <a:prstGeom prst="roundRect">
            <a:avLst>
              <a:gd name="adj" fmla="val 1649"/>
            </a:avLst>
          </a:prstGeom>
          <a:solidFill>
            <a:srgbClr val="272827"/>
          </a:solidFill>
          <a:ln w="12700">
            <a:solidFill>
              <a:srgbClr val="272827"/>
            </a:solidFill>
            <a:prstDash val="solid"/>
          </a:ln>
        </p:spPr>
      </p:sp>
      <p:sp>
        <p:nvSpPr>
          <p:cNvPr id="5" name="Text 3"/>
          <p:cNvSpPr txBox="1"/>
          <p:nvPr/>
        </p:nvSpPr>
        <p:spPr>
          <a:xfrm>
            <a:off x="822960" y="1828800"/>
            <a:ext cx="6766560" cy="274320"/>
          </a:xfrm>
          <a:prstGeom prst="rect">
            <a:avLst/>
          </a:prstGeom>
          <a:noFill/>
          <a:ln/>
        </p:spPr>
        <p:txBody>
          <a:bodyPr wrap="square" lIns="0" tIns="0" rIns="0" bIns="0" rtlCol="0" anchor="ctr"/>
          <a:lstStyle/>
          <a:p>
            <a:pPr indent="0" marL="0">
              <a:buNone/>
            </a:pPr>
            <a:r>
              <a:rPr lang="en-US" sz="1100" dirty="0">
                <a:solidFill>
                  <a:srgbClr val="FF5723"/>
                </a:solidFill>
                <a:latin typeface="JetBrains Mono" pitchFamily="34" charset="0"/>
                <a:ea typeface="JetBrains Mono" pitchFamily="34" charset="-122"/>
                <a:cs typeface="JetBrains Mono" pitchFamily="34" charset="-120"/>
              </a:rPr>
              <a:t>app/Providers/AppServiceProvider.php · bootstrap/app.php</a:t>
            </a:r>
            <a:endParaRPr lang="en-US" sz="1100" dirty="0"/>
          </a:p>
        </p:txBody>
      </p:sp>
      <p:sp>
        <p:nvSpPr>
          <p:cNvPr id="6" name="Shape 4"/>
          <p:cNvSpPr/>
          <p:nvPr/>
        </p:nvSpPr>
        <p:spPr>
          <a:xfrm>
            <a:off x="822960" y="2194560"/>
            <a:ext cx="6766560" cy="0"/>
          </a:xfrm>
          <a:prstGeom prst="line">
            <a:avLst/>
          </a:prstGeom>
          <a:noFill/>
          <a:ln w="12700">
            <a:solidFill>
              <a:srgbClr val="3A3B3A"/>
            </a:solidFill>
            <a:prstDash val="solid"/>
          </a:ln>
        </p:spPr>
      </p:sp>
      <p:sp>
        <p:nvSpPr>
          <p:cNvPr id="7" name="Text 5"/>
          <p:cNvSpPr txBox="1"/>
          <p:nvPr/>
        </p:nvSpPr>
        <p:spPr>
          <a:xfrm>
            <a:off x="822960" y="2331720"/>
            <a:ext cx="6858000" cy="3657600"/>
          </a:xfrm>
          <a:prstGeom prst="rect">
            <a:avLst/>
          </a:prstGeom>
          <a:noFill/>
          <a:ln/>
        </p:spPr>
        <p:txBody>
          <a:bodyPr wrap="square" lIns="0" tIns="0" rIns="0" bIns="0" rtlCol="0" anchor="t"/>
          <a:lstStyle/>
          <a:p>
            <a:pPr indent="0" marL="0">
              <a:lnSpc>
                <a:spcPct val="105000"/>
              </a:lnSpc>
              <a:buNone/>
            </a:pPr>
            <a:r>
              <a:rPr lang="en-US" sz="1100" i="1" dirty="0">
                <a:solidFill>
                  <a:srgbClr val="8B8F97"/>
                </a:solidFill>
                <a:latin typeface="JetBrains Mono" pitchFamily="34" charset="0"/>
                <a:ea typeface="JetBrains Mono" pitchFamily="34" charset="-122"/>
                <a:cs typeface="JetBrains Mono" pitchFamily="34" charset="-120"/>
              </a:rPr>
              <a:t>// AppServiceProvider::boot()</a:t>
            </a:r>
            <a:endParaRPr lang="en-US" sz="1100" dirty="0"/>
          </a:p>
          <a:p>
            <a:pPr indent="0" marL="0">
              <a:lnSpc>
                <a:spcPct val="105000"/>
              </a:lnSpc>
              <a:buNone/>
            </a:pPr>
            <a:r>
              <a:rPr lang="en-US" sz="1100" dirty="0">
                <a:solidFill>
                  <a:srgbClr val="F2EDE6"/>
                </a:solidFill>
                <a:latin typeface="JetBrains Mono" pitchFamily="34" charset="0"/>
                <a:ea typeface="JetBrains Mono" pitchFamily="34" charset="-122"/>
                <a:cs typeface="JetBrains Mono" pitchFamily="34" charset="-120"/>
              </a:rPr>
              <a:t>RateLimiter</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for</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100" dirty="0">
                <a:solidFill>
                  <a:srgbClr val="FFB59C"/>
                </a:solidFill>
                <a:latin typeface="JetBrains Mono" pitchFamily="34" charset="0"/>
                <a:ea typeface="JetBrains Mono" pitchFamily="34" charset="-122"/>
                <a:cs typeface="JetBrains Mono" pitchFamily="34" charset="-120"/>
              </a:rPr>
              <a:t>'api'</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100" dirty="0">
                <a:solidFill>
                  <a:srgbClr val="FF5723"/>
                </a:solidFill>
                <a:latin typeface="JetBrains Mono" pitchFamily="34" charset="0"/>
                <a:ea typeface="JetBrains Mono" pitchFamily="34" charset="-122"/>
                <a:cs typeface="JetBrains Mono" pitchFamily="34" charset="-120"/>
              </a:rPr>
              <a:t>function</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100" dirty="0">
                <a:solidFill>
                  <a:srgbClr val="F2EDE6"/>
                </a:solidFill>
                <a:latin typeface="JetBrains Mono" pitchFamily="34" charset="0"/>
                <a:ea typeface="JetBrains Mono" pitchFamily="34" charset="-122"/>
                <a:cs typeface="JetBrains Mono" pitchFamily="34" charset="-120"/>
              </a:rPr>
              <a:t>Request</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100" dirty="0">
                <a:solidFill>
                  <a:srgbClr val="F5C9A8"/>
                </a:solidFill>
                <a:latin typeface="JetBrains Mono" pitchFamily="34" charset="0"/>
                <a:ea typeface="JetBrains Mono" pitchFamily="34" charset="-122"/>
                <a:cs typeface="JetBrains Mono" pitchFamily="34" charset="-120"/>
              </a:rPr>
              <a:t>$request</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 {</a:t>
            </a:r>
            <a:endParaRPr lang="en-US" sz="1100" dirty="0"/>
          </a:p>
          <a:p>
            <a:pPr indent="0" marL="0">
              <a:lnSpc>
                <a:spcPct val="105000"/>
              </a:lnSpc>
              <a:buNone/>
            </a:pPr>
            <a:r>
              <a:rPr lang="en-US" sz="1100" dirty="0">
                <a:solidFill>
                  <a:srgbClr val="FFFFFF"/>
                </a:solidFill>
                <a:highlight>
                  <a:srgbClr val="4A3A33"/>
                </a:highlight>
                <a:latin typeface="JetBrains Mono" pitchFamily="34" charset="0"/>
                <a:ea typeface="JetBrains Mono" pitchFamily="34" charset="-122"/>
                <a:cs typeface="JetBrains Mono" pitchFamily="34" charset="-120"/>
              </a:rPr>
              <a:t>    </a:t>
            </a:r>
            <a:pPr indent="0" marL="0">
              <a:lnSpc>
                <a:spcPct val="105000"/>
              </a:lnSpc>
              <a:buNone/>
            </a:pPr>
            <a:r>
              <a:rPr lang="en-US" sz="1100" b="1" dirty="0">
                <a:solidFill>
                  <a:srgbClr val="FF5723"/>
                </a:solidFill>
                <a:highlight>
                  <a:srgbClr val="4A3A33"/>
                </a:highlight>
                <a:latin typeface="JetBrains Mono" pitchFamily="34" charset="0"/>
                <a:ea typeface="JetBrains Mono" pitchFamily="34" charset="-122"/>
                <a:cs typeface="JetBrains Mono" pitchFamily="34" charset="-120"/>
              </a:rPr>
              <a:t>return</a:t>
            </a:r>
            <a:pPr indent="0" marL="0">
              <a:lnSpc>
                <a:spcPct val="105000"/>
              </a:lnSpc>
              <a:buNone/>
            </a:pPr>
            <a:r>
              <a:rPr lang="en-US" sz="1100" dirty="0">
                <a:solidFill>
                  <a:srgbClr val="FFFFFF"/>
                </a:solidFill>
                <a:highlight>
                  <a:srgbClr val="4A3A33"/>
                </a:highlight>
                <a:latin typeface="JetBrains Mono" pitchFamily="34" charset="0"/>
                <a:ea typeface="JetBrains Mono" pitchFamily="34" charset="-122"/>
                <a:cs typeface="JetBrains Mono" pitchFamily="34" charset="-120"/>
              </a:rPr>
              <a:t> </a:t>
            </a:r>
            <a:pPr indent="0" marL="0">
              <a:lnSpc>
                <a:spcPct val="105000"/>
              </a:lnSpc>
              <a:buNone/>
            </a:pPr>
            <a:r>
              <a:rPr lang="en-US" sz="1100" dirty="0">
                <a:solidFill>
                  <a:srgbClr val="F2EDE6"/>
                </a:solidFill>
                <a:highlight>
                  <a:srgbClr val="4A3A33"/>
                </a:highlight>
                <a:latin typeface="JetBrains Mono" pitchFamily="34" charset="0"/>
                <a:ea typeface="JetBrains Mono" pitchFamily="34" charset="-122"/>
                <a:cs typeface="JetBrains Mono" pitchFamily="34" charset="-120"/>
              </a:rPr>
              <a:t>Limit</a:t>
            </a:r>
            <a:pPr indent="0" marL="0">
              <a:lnSpc>
                <a:spcPct val="105000"/>
              </a:lnSpc>
              <a:buNone/>
            </a:pPr>
            <a:r>
              <a:rPr lang="en-US" sz="1100" dirty="0">
                <a:solidFill>
                  <a:srgbClr val="FFFFFF"/>
                </a:solidFill>
                <a:highlight>
                  <a:srgbClr val="4A3A33"/>
                </a:highlight>
                <a:latin typeface="JetBrains Mono" pitchFamily="34" charset="0"/>
                <a:ea typeface="JetBrains Mono" pitchFamily="34" charset="-122"/>
                <a:cs typeface="JetBrains Mono" pitchFamily="34" charset="-120"/>
              </a:rPr>
              <a:t>::</a:t>
            </a:r>
            <a:pPr indent="0" marL="0">
              <a:lnSpc>
                <a:spcPct val="105000"/>
              </a:lnSpc>
              <a:buNone/>
            </a:pPr>
            <a:r>
              <a:rPr lang="en-US" sz="1100" dirty="0">
                <a:solidFill>
                  <a:srgbClr val="FFFFFF"/>
                </a:solidFill>
                <a:highlight>
                  <a:srgbClr val="4A3A33"/>
                </a:highlight>
                <a:latin typeface="JetBrains Mono" pitchFamily="34" charset="0"/>
                <a:ea typeface="JetBrains Mono" pitchFamily="34" charset="-122"/>
                <a:cs typeface="JetBrains Mono" pitchFamily="34" charset="-120"/>
              </a:rPr>
              <a:t>perMinute</a:t>
            </a:r>
            <a:pPr indent="0" marL="0">
              <a:lnSpc>
                <a:spcPct val="105000"/>
              </a:lnSpc>
              <a:buNone/>
            </a:pPr>
            <a:r>
              <a:rPr lang="en-US" sz="1100" dirty="0">
                <a:solidFill>
                  <a:srgbClr val="FFFFFF"/>
                </a:solidFill>
                <a:highlight>
                  <a:srgbClr val="4A3A33"/>
                </a:highlight>
                <a:latin typeface="JetBrains Mono" pitchFamily="34" charset="0"/>
                <a:ea typeface="JetBrains Mono" pitchFamily="34" charset="-122"/>
                <a:cs typeface="JetBrains Mono" pitchFamily="34" charset="-120"/>
              </a:rPr>
              <a:t>(60)-&gt;</a:t>
            </a:r>
            <a:pPr indent="0" marL="0">
              <a:lnSpc>
                <a:spcPct val="105000"/>
              </a:lnSpc>
              <a:buNone/>
            </a:pPr>
            <a:r>
              <a:rPr lang="en-US" sz="1100" dirty="0">
                <a:solidFill>
                  <a:srgbClr val="FFFFFF"/>
                </a:solidFill>
                <a:highlight>
                  <a:srgbClr val="4A3A33"/>
                </a:highlight>
                <a:latin typeface="JetBrains Mono" pitchFamily="34" charset="0"/>
                <a:ea typeface="JetBrains Mono" pitchFamily="34" charset="-122"/>
                <a:cs typeface="JetBrains Mono" pitchFamily="34" charset="-120"/>
              </a:rPr>
              <a:t>by</a:t>
            </a:r>
            <a:pPr indent="0" marL="0">
              <a:lnSpc>
                <a:spcPct val="105000"/>
              </a:lnSpc>
              <a:buNone/>
            </a:pPr>
            <a:r>
              <a:rPr lang="en-US" sz="1100" dirty="0">
                <a:solidFill>
                  <a:srgbClr val="FFFFFF"/>
                </a:solidFill>
                <a:highlight>
                  <a:srgbClr val="4A3A33"/>
                </a:highlight>
                <a:latin typeface="JetBrains Mono" pitchFamily="34" charset="0"/>
                <a:ea typeface="JetBrains Mono" pitchFamily="34" charset="-122"/>
                <a:cs typeface="JetBrains Mono" pitchFamily="34" charset="-120"/>
              </a:rPr>
              <a:t>(</a:t>
            </a:r>
            <a:pPr indent="0" marL="0">
              <a:lnSpc>
                <a:spcPct val="105000"/>
              </a:lnSpc>
              <a:buNone/>
            </a:pPr>
            <a:r>
              <a:rPr lang="en-US" sz="1100" dirty="0">
                <a:solidFill>
                  <a:srgbClr val="F5C9A8"/>
                </a:solidFill>
                <a:highlight>
                  <a:srgbClr val="4A3A33"/>
                </a:highlight>
                <a:latin typeface="JetBrains Mono" pitchFamily="34" charset="0"/>
                <a:ea typeface="JetBrains Mono" pitchFamily="34" charset="-122"/>
                <a:cs typeface="JetBrains Mono" pitchFamily="34" charset="-120"/>
              </a:rPr>
              <a:t>$request</a:t>
            </a:r>
            <a:pPr indent="0" marL="0">
              <a:lnSpc>
                <a:spcPct val="105000"/>
              </a:lnSpc>
              <a:buNone/>
            </a:pPr>
            <a:r>
              <a:rPr lang="en-US" sz="1100" dirty="0">
                <a:solidFill>
                  <a:srgbClr val="FFFFFF"/>
                </a:solidFill>
                <a:highlight>
                  <a:srgbClr val="4A3A33"/>
                </a:highlight>
                <a:latin typeface="JetBrains Mono" pitchFamily="34" charset="0"/>
                <a:ea typeface="JetBrains Mono" pitchFamily="34" charset="-122"/>
                <a:cs typeface="JetBrains Mono" pitchFamily="34" charset="-120"/>
              </a:rPr>
              <a:t>-&gt;</a:t>
            </a:r>
            <a:pPr indent="0" marL="0">
              <a:lnSpc>
                <a:spcPct val="105000"/>
              </a:lnSpc>
              <a:buNone/>
            </a:pPr>
            <a:r>
              <a:rPr lang="en-US" sz="1100" dirty="0">
                <a:solidFill>
                  <a:srgbClr val="FFFFFF"/>
                </a:solidFill>
                <a:highlight>
                  <a:srgbClr val="4A3A33"/>
                </a:highlight>
                <a:latin typeface="JetBrains Mono" pitchFamily="34" charset="0"/>
                <a:ea typeface="JetBrains Mono" pitchFamily="34" charset="-122"/>
                <a:cs typeface="JetBrains Mono" pitchFamily="34" charset="-120"/>
              </a:rPr>
              <a:t>user</a:t>
            </a:r>
            <a:pPr indent="0" marL="0">
              <a:lnSpc>
                <a:spcPct val="105000"/>
              </a:lnSpc>
              <a:buNone/>
            </a:pPr>
            <a:r>
              <a:rPr lang="en-US" sz="1100" dirty="0">
                <a:solidFill>
                  <a:srgbClr val="FFFFFF"/>
                </a:solidFill>
                <a:highlight>
                  <a:srgbClr val="4A3A33"/>
                </a:highlight>
                <a:latin typeface="JetBrains Mono" pitchFamily="34" charset="0"/>
                <a:ea typeface="JetBrains Mono" pitchFamily="34" charset="-122"/>
                <a:cs typeface="JetBrains Mono" pitchFamily="34" charset="-120"/>
              </a:rPr>
              <a:t>()?-&gt;</a:t>
            </a:r>
            <a:pPr indent="0" marL="0">
              <a:lnSpc>
                <a:spcPct val="105000"/>
              </a:lnSpc>
              <a:buNone/>
            </a:pPr>
            <a:r>
              <a:rPr lang="en-US" sz="1100" dirty="0">
                <a:solidFill>
                  <a:srgbClr val="FFFFFF"/>
                </a:solidFill>
                <a:highlight>
                  <a:srgbClr val="4A3A33"/>
                </a:highlight>
                <a:latin typeface="JetBrains Mono" pitchFamily="34" charset="0"/>
                <a:ea typeface="JetBrains Mono" pitchFamily="34" charset="-122"/>
                <a:cs typeface="JetBrains Mono" pitchFamily="34" charset="-120"/>
              </a:rPr>
              <a:t>id</a:t>
            </a:r>
            <a:pPr indent="0" marL="0">
              <a:lnSpc>
                <a:spcPct val="105000"/>
              </a:lnSpc>
              <a:buNone/>
            </a:pPr>
            <a:r>
              <a:rPr lang="en-US" sz="1100" dirty="0">
                <a:solidFill>
                  <a:srgbClr val="FFFFFF"/>
                </a:solidFill>
                <a:highlight>
                  <a:srgbClr val="4A3A33"/>
                </a:highlight>
                <a:latin typeface="JetBrains Mono" pitchFamily="34" charset="0"/>
                <a:ea typeface="JetBrains Mono" pitchFamily="34" charset="-122"/>
                <a:cs typeface="JetBrains Mono" pitchFamily="34" charset="-120"/>
              </a:rPr>
              <a:t> ?: </a:t>
            </a:r>
            <a:pPr indent="0" marL="0">
              <a:lnSpc>
                <a:spcPct val="105000"/>
              </a:lnSpc>
              <a:buNone/>
            </a:pPr>
            <a:r>
              <a:rPr lang="en-US" sz="1100" dirty="0">
                <a:solidFill>
                  <a:srgbClr val="F5C9A8"/>
                </a:solidFill>
                <a:highlight>
                  <a:srgbClr val="4A3A33"/>
                </a:highlight>
                <a:latin typeface="JetBrains Mono" pitchFamily="34" charset="0"/>
                <a:ea typeface="JetBrains Mono" pitchFamily="34" charset="-122"/>
                <a:cs typeface="JetBrains Mono" pitchFamily="34" charset="-120"/>
              </a:rPr>
              <a:t>$request</a:t>
            </a:r>
            <a:pPr indent="0" marL="0">
              <a:lnSpc>
                <a:spcPct val="105000"/>
              </a:lnSpc>
              <a:buNone/>
            </a:pPr>
            <a:r>
              <a:rPr lang="en-US" sz="1100" dirty="0">
                <a:solidFill>
                  <a:srgbClr val="FFFFFF"/>
                </a:solidFill>
                <a:highlight>
                  <a:srgbClr val="4A3A33"/>
                </a:highlight>
                <a:latin typeface="JetBrains Mono" pitchFamily="34" charset="0"/>
                <a:ea typeface="JetBrains Mono" pitchFamily="34" charset="-122"/>
                <a:cs typeface="JetBrains Mono" pitchFamily="34" charset="-120"/>
              </a:rPr>
              <a:t>-&gt;</a:t>
            </a:r>
            <a:pPr indent="0" marL="0">
              <a:lnSpc>
                <a:spcPct val="105000"/>
              </a:lnSpc>
              <a:buNone/>
            </a:pPr>
            <a:r>
              <a:rPr lang="en-US" sz="1100" dirty="0">
                <a:solidFill>
                  <a:srgbClr val="FFFFFF"/>
                </a:solidFill>
                <a:highlight>
                  <a:srgbClr val="4A3A33"/>
                </a:highlight>
                <a:latin typeface="JetBrains Mono" pitchFamily="34" charset="0"/>
                <a:ea typeface="JetBrains Mono" pitchFamily="34" charset="-122"/>
                <a:cs typeface="JetBrains Mono" pitchFamily="34" charset="-120"/>
              </a:rPr>
              <a:t>ip</a:t>
            </a:r>
            <a:pPr indent="0" marL="0">
              <a:lnSpc>
                <a:spcPct val="105000"/>
              </a:lnSpc>
              <a:buNone/>
            </a:pPr>
            <a:r>
              <a:rPr lang="en-US" sz="1100" dirty="0">
                <a:solidFill>
                  <a:srgbClr val="FFFFFF"/>
                </a:solidFill>
                <a:highlight>
                  <a:srgbClr val="4A3A33"/>
                </a:highlight>
                <a:latin typeface="JetBrains Mono" pitchFamily="34" charset="0"/>
                <a:ea typeface="JetBrains Mono" pitchFamily="34" charset="-122"/>
                <a:cs typeface="JetBrains Mono" pitchFamily="34" charset="-120"/>
              </a:rPr>
              <a:t>());</a:t>
            </a:r>
            <a:endParaRPr lang="en-US" sz="1100" dirty="0"/>
          </a:p>
          <a:p>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a:t>
            </a:r>
            <a:endParaRPr lang="en-US" sz="1100" dirty="0"/>
          </a:p>
          <a:p>
            <a:pPr indent="0" marL="0">
              <a:lnSpc>
                <a:spcPct val="105000"/>
              </a:lnSpc>
              <a:buNone/>
            </a:pPr>
            <a:r>
              <a:rPr lang="en-US" sz="1100" dirty="0">
                <a:solidFill>
                  <a:srgbClr val="000000"/>
                </a:solidFill>
                <a:latin typeface="JetBrains Mono" pitchFamily="34" charset="0"/>
                <a:ea typeface="JetBrains Mono" pitchFamily="34" charset="-122"/>
                <a:cs typeface="JetBrains Mono" pitchFamily="34" charset="-120"/>
              </a:rPr>
              <a:t> </a:t>
            </a:r>
            <a:endParaRPr lang="en-US" sz="1100" dirty="0"/>
          </a:p>
          <a:p>
            <a:pPr indent="0" marL="0">
              <a:lnSpc>
                <a:spcPct val="105000"/>
              </a:lnSpc>
              <a:buNone/>
            </a:pPr>
            <a:r>
              <a:rPr lang="en-US" sz="1100" i="1" dirty="0">
                <a:solidFill>
                  <a:srgbClr val="8B8F97"/>
                </a:solidFill>
                <a:latin typeface="JetBrains Mono" pitchFamily="34" charset="0"/>
                <a:ea typeface="JetBrains Mono" pitchFamily="34" charset="-122"/>
                <a:cs typeface="JetBrains Mono" pitchFamily="34" charset="-120"/>
              </a:rPr>
              <a:t>// bootstrap/app.php</a:t>
            </a:r>
            <a:endParaRPr lang="en-US" sz="1100" dirty="0"/>
          </a:p>
          <a:p>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withMiddleware</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100" dirty="0">
                <a:solidFill>
                  <a:srgbClr val="FF5723"/>
                </a:solidFill>
                <a:latin typeface="JetBrains Mono" pitchFamily="34" charset="0"/>
                <a:ea typeface="JetBrains Mono" pitchFamily="34" charset="-122"/>
                <a:cs typeface="JetBrains Mono" pitchFamily="34" charset="-120"/>
              </a:rPr>
              <a:t>function</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100" dirty="0">
                <a:solidFill>
                  <a:srgbClr val="F2EDE6"/>
                </a:solidFill>
                <a:latin typeface="JetBrains Mono" pitchFamily="34" charset="0"/>
                <a:ea typeface="JetBrains Mono" pitchFamily="34" charset="-122"/>
                <a:cs typeface="JetBrains Mono" pitchFamily="34" charset="-120"/>
              </a:rPr>
              <a:t>Middleware</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100" dirty="0">
                <a:solidFill>
                  <a:srgbClr val="F5C9A8"/>
                </a:solidFill>
                <a:latin typeface="JetBrains Mono" pitchFamily="34" charset="0"/>
                <a:ea typeface="JetBrains Mono" pitchFamily="34" charset="-122"/>
                <a:cs typeface="JetBrains Mono" pitchFamily="34" charset="-120"/>
              </a:rPr>
              <a:t>$middleware</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100" dirty="0">
                <a:solidFill>
                  <a:srgbClr val="FF5723"/>
                </a:solidFill>
                <a:latin typeface="JetBrains Mono" pitchFamily="34" charset="0"/>
                <a:ea typeface="JetBrains Mono" pitchFamily="34" charset="-122"/>
                <a:cs typeface="JetBrains Mono" pitchFamily="34" charset="-120"/>
              </a:rPr>
              <a:t>void</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 {</a:t>
            </a:r>
            <a:endParaRPr lang="en-US" sz="1100" dirty="0"/>
          </a:p>
          <a:p>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100" dirty="0">
                <a:solidFill>
                  <a:srgbClr val="F5C9A8"/>
                </a:solidFill>
                <a:latin typeface="JetBrains Mono" pitchFamily="34" charset="0"/>
                <a:ea typeface="JetBrains Mono" pitchFamily="34" charset="-122"/>
                <a:cs typeface="JetBrains Mono" pitchFamily="34" charset="-120"/>
              </a:rPr>
              <a:t>$middleware</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prepend</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100" dirty="0">
                <a:solidFill>
                  <a:srgbClr val="F2EDE6"/>
                </a:solidFill>
                <a:latin typeface="JetBrains Mono" pitchFamily="34" charset="0"/>
                <a:ea typeface="JetBrains Mono" pitchFamily="34" charset="-122"/>
                <a:cs typeface="JetBrains Mono" pitchFamily="34" charset="-120"/>
              </a:rPr>
              <a:t>AssignRequestId</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100" dirty="0">
                <a:solidFill>
                  <a:srgbClr val="FF5723"/>
                </a:solidFill>
                <a:latin typeface="JetBrains Mono" pitchFamily="34" charset="0"/>
                <a:ea typeface="JetBrains Mono" pitchFamily="34" charset="-122"/>
                <a:cs typeface="JetBrains Mono" pitchFamily="34" charset="-120"/>
              </a:rPr>
              <a:t>class</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a:t>
            </a:r>
            <a:endParaRPr lang="en-US" sz="1100" dirty="0"/>
          </a:p>
          <a:p>
            <a:pPr indent="0" marL="0">
              <a:lnSpc>
                <a:spcPct val="105000"/>
              </a:lnSpc>
              <a:buNone/>
            </a:pPr>
            <a:r>
              <a:rPr lang="en-US" sz="1100" dirty="0">
                <a:solidFill>
                  <a:srgbClr val="FFFFFF"/>
                </a:solidFill>
                <a:highlight>
                  <a:srgbClr val="4A3A33"/>
                </a:highlight>
                <a:latin typeface="JetBrains Mono" pitchFamily="34" charset="0"/>
                <a:ea typeface="JetBrains Mono" pitchFamily="34" charset="-122"/>
                <a:cs typeface="JetBrains Mono" pitchFamily="34" charset="-120"/>
              </a:rPr>
              <a:t>    </a:t>
            </a:r>
            <a:pPr indent="0" marL="0">
              <a:lnSpc>
                <a:spcPct val="105000"/>
              </a:lnSpc>
              <a:buNone/>
            </a:pPr>
            <a:r>
              <a:rPr lang="en-US" sz="1100" dirty="0">
                <a:solidFill>
                  <a:srgbClr val="F5C9A8"/>
                </a:solidFill>
                <a:highlight>
                  <a:srgbClr val="4A3A33"/>
                </a:highlight>
                <a:latin typeface="JetBrains Mono" pitchFamily="34" charset="0"/>
                <a:ea typeface="JetBrains Mono" pitchFamily="34" charset="-122"/>
                <a:cs typeface="JetBrains Mono" pitchFamily="34" charset="-120"/>
              </a:rPr>
              <a:t>$middleware</a:t>
            </a:r>
            <a:pPr indent="0" marL="0">
              <a:lnSpc>
                <a:spcPct val="105000"/>
              </a:lnSpc>
              <a:buNone/>
            </a:pPr>
            <a:r>
              <a:rPr lang="en-US" sz="1100" dirty="0">
                <a:solidFill>
                  <a:srgbClr val="FFFFFF"/>
                </a:solidFill>
                <a:highlight>
                  <a:srgbClr val="4A3A33"/>
                </a:highlight>
                <a:latin typeface="JetBrains Mono" pitchFamily="34" charset="0"/>
                <a:ea typeface="JetBrains Mono" pitchFamily="34" charset="-122"/>
                <a:cs typeface="JetBrains Mono" pitchFamily="34" charset="-120"/>
              </a:rPr>
              <a:t>-&gt;</a:t>
            </a:r>
            <a:pPr indent="0" marL="0">
              <a:lnSpc>
                <a:spcPct val="105000"/>
              </a:lnSpc>
              <a:buNone/>
            </a:pPr>
            <a:r>
              <a:rPr lang="en-US" sz="1100" dirty="0">
                <a:solidFill>
                  <a:srgbClr val="FFFFFF"/>
                </a:solidFill>
                <a:highlight>
                  <a:srgbClr val="4A3A33"/>
                </a:highlight>
                <a:latin typeface="JetBrains Mono" pitchFamily="34" charset="0"/>
                <a:ea typeface="JetBrains Mono" pitchFamily="34" charset="-122"/>
                <a:cs typeface="JetBrains Mono" pitchFamily="34" charset="-120"/>
              </a:rPr>
              <a:t>throttleApi</a:t>
            </a:r>
            <a:pPr indent="0" marL="0">
              <a:lnSpc>
                <a:spcPct val="105000"/>
              </a:lnSpc>
              <a:buNone/>
            </a:pPr>
            <a:r>
              <a:rPr lang="en-US" sz="1100" dirty="0">
                <a:solidFill>
                  <a:srgbClr val="FFFFFF"/>
                </a:solidFill>
                <a:highlight>
                  <a:srgbClr val="4A3A33"/>
                </a:highlight>
                <a:latin typeface="JetBrains Mono" pitchFamily="34" charset="0"/>
                <a:ea typeface="JetBrains Mono" pitchFamily="34" charset="-122"/>
                <a:cs typeface="JetBrains Mono" pitchFamily="34" charset="-120"/>
              </a:rPr>
              <a:t>();          </a:t>
            </a:r>
            <a:pPr indent="0" marL="0">
              <a:lnSpc>
                <a:spcPct val="105000"/>
              </a:lnSpc>
              <a:buNone/>
            </a:pPr>
            <a:r>
              <a:rPr lang="en-US" sz="1100" dirty="0">
                <a:solidFill>
                  <a:srgbClr val="8B8F97"/>
                </a:solidFill>
                <a:highlight>
                  <a:srgbClr val="4A3A33"/>
                </a:highlight>
                <a:latin typeface="JetBrains Mono" pitchFamily="34" charset="0"/>
                <a:ea typeface="JetBrains Mono" pitchFamily="34" charset="-122"/>
                <a:cs typeface="JetBrains Mono" pitchFamily="34" charset="-120"/>
              </a:rPr>
              <a:t>// 'api' limiter on every /api route</a:t>
            </a:r>
            <a:endParaRPr lang="en-US" sz="1100" dirty="0"/>
          </a:p>
          <a:p>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100" dirty="0">
                <a:solidFill>
                  <a:srgbClr val="F5C9A8"/>
                </a:solidFill>
                <a:latin typeface="JetBrains Mono" pitchFamily="34" charset="0"/>
                <a:ea typeface="JetBrains Mono" pitchFamily="34" charset="-122"/>
                <a:cs typeface="JetBrains Mono" pitchFamily="34" charset="-120"/>
              </a:rPr>
              <a:t>$middleware</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alias</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100" dirty="0">
                <a:solidFill>
                  <a:srgbClr val="FFB59C"/>
                </a:solidFill>
                <a:latin typeface="JetBrains Mono" pitchFamily="34" charset="0"/>
                <a:ea typeface="JetBrains Mono" pitchFamily="34" charset="-122"/>
                <a:cs typeface="JetBrains Mono" pitchFamily="34" charset="-120"/>
              </a:rPr>
              <a:t>'idempotent'</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 =&gt; </a:t>
            </a:r>
            <a:pPr indent="0" marL="0">
              <a:lnSpc>
                <a:spcPct val="105000"/>
              </a:lnSpc>
              <a:buNone/>
            </a:pPr>
            <a:r>
              <a:rPr lang="en-US" sz="1100" dirty="0">
                <a:solidFill>
                  <a:srgbClr val="F2EDE6"/>
                </a:solidFill>
                <a:latin typeface="JetBrains Mono" pitchFamily="34" charset="0"/>
                <a:ea typeface="JetBrains Mono" pitchFamily="34" charset="-122"/>
                <a:cs typeface="JetBrains Mono" pitchFamily="34" charset="-120"/>
              </a:rPr>
              <a:t>EnsureIdempotency</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100" dirty="0">
                <a:solidFill>
                  <a:srgbClr val="FF5723"/>
                </a:solidFill>
                <a:latin typeface="JetBrains Mono" pitchFamily="34" charset="0"/>
                <a:ea typeface="JetBrains Mono" pitchFamily="34" charset="-122"/>
                <a:cs typeface="JetBrains Mono" pitchFamily="34" charset="-120"/>
              </a:rPr>
              <a:t>class</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a:t>
            </a:r>
            <a:endParaRPr lang="en-US" sz="1100" dirty="0"/>
          </a:p>
          <a:p>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a:t>
            </a:r>
            <a:endParaRPr lang="en-US" sz="1100" dirty="0"/>
          </a:p>
          <a:p>
            <a:pPr indent="0" marL="0">
              <a:lnSpc>
                <a:spcPct val="105000"/>
              </a:lnSpc>
              <a:buNone/>
            </a:pPr>
            <a:r>
              <a:rPr lang="en-US" sz="1100" dirty="0">
                <a:solidFill>
                  <a:srgbClr val="000000"/>
                </a:solidFill>
                <a:latin typeface="JetBrains Mono" pitchFamily="34" charset="0"/>
                <a:ea typeface="JetBrains Mono" pitchFamily="34" charset="-122"/>
                <a:cs typeface="JetBrains Mono" pitchFamily="34" charset="-120"/>
              </a:rPr>
              <a:t> </a:t>
            </a:r>
            <a:endParaRPr lang="en-US" sz="1100" dirty="0"/>
          </a:p>
          <a:p>
            <a:pPr indent="0" marL="0">
              <a:lnSpc>
                <a:spcPct val="105000"/>
              </a:lnSpc>
              <a:buNone/>
            </a:pPr>
            <a:r>
              <a:rPr lang="en-US" sz="1100" i="1" dirty="0">
                <a:solidFill>
                  <a:srgbClr val="8B8F97"/>
                </a:solidFill>
                <a:latin typeface="JetBrains Mono" pitchFamily="34" charset="0"/>
                <a:ea typeface="JetBrains Mono" pitchFamily="34" charset="-122"/>
                <a:cs typeface="JetBrains Mono" pitchFamily="34" charset="-120"/>
              </a:rPr>
              <a:t>// Day 5 adds RateLimiter::for('agent', ...) at 10/min</a:t>
            </a:r>
            <a:endParaRPr lang="en-US" sz="1100" dirty="0"/>
          </a:p>
          <a:p>
            <a:pPr indent="0" marL="0">
              <a:lnSpc>
                <a:spcPct val="105000"/>
              </a:lnSpc>
              <a:buNone/>
            </a:pPr>
            <a:r>
              <a:rPr lang="en-US" sz="1100" i="1" dirty="0">
                <a:solidFill>
                  <a:srgbClr val="8B8F97"/>
                </a:solidFill>
                <a:latin typeface="JetBrains Mono" pitchFamily="34" charset="0"/>
                <a:ea typeface="JetBrains Mono" pitchFamily="34" charset="-122"/>
                <a:cs typeface="JetBrains Mono" pitchFamily="34" charset="-120"/>
              </a:rPr>
              <a:t>// and -&gt;middleware('throttle:agent') on POST /agent/chat</a:t>
            </a:r>
            <a:endParaRPr lang="en-US" sz="1100" dirty="0"/>
          </a:p>
        </p:txBody>
      </p:sp>
      <p:sp>
        <p:nvSpPr>
          <p:cNvPr id="8" name="Text 6"/>
          <p:cNvSpPr txBox="1"/>
          <p:nvPr/>
        </p:nvSpPr>
        <p:spPr>
          <a:xfrm>
            <a:off x="8275320" y="1783080"/>
            <a:ext cx="3367735" cy="43434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272827"/>
                </a:solidFill>
                <a:latin typeface="Inter" pitchFamily="34" charset="0"/>
                <a:ea typeface="Inter" pitchFamily="34" charset="-122"/>
                <a:cs typeface="Inter" pitchFamily="34" charset="-120"/>
              </a:rPr>
              <a:t>Limit </a:t>
            </a:r>
            <a:pPr indent="0" marL="0">
              <a:buNone/>
            </a:pPr>
            <a:r>
              <a:rPr lang="en-US" sz="1500" b="1" dirty="0">
                <a:solidFill>
                  <a:srgbClr val="272827"/>
                </a:solidFill>
                <a:latin typeface="Inter" pitchFamily="34" charset="0"/>
                <a:ea typeface="Inter" pitchFamily="34" charset="-122"/>
                <a:cs typeface="Inter" pitchFamily="34" charset="-120"/>
              </a:rPr>
              <a:t>per user</a:t>
            </a:r>
            <a:pPr indent="0" marL="0">
              <a:buNone/>
            </a:pPr>
            <a:r>
              <a:rPr lang="en-US" sz="1500" dirty="0">
                <a:solidFill>
                  <a:srgbClr val="272827"/>
                </a:solidFill>
                <a:latin typeface="Inter" pitchFamily="34" charset="0"/>
                <a:ea typeface="Inter" pitchFamily="34" charset="-122"/>
                <a:cs typeface="Inter" pitchFamily="34" charset="-120"/>
              </a:rPr>
              <a:t>, fall back to IP for guests</a:t>
            </a:r>
            <a:endParaRPr lang="en-US" sz="1500" dirty="0"/>
          </a:p>
          <a:p>
            <a:pPr marL="228600" indent="-228600">
              <a:spcAft>
                <a:spcPts val="1000"/>
              </a:spcAft>
              <a:buSzPct val="100000"/>
              <a:buChar char="•"/>
            </a:pPr>
            <a:r>
              <a:rPr lang="en-US" sz="1500" dirty="0">
                <a:solidFill>
                  <a:srgbClr val="272827"/>
                </a:solidFill>
                <a:latin typeface="Inter" pitchFamily="34" charset="0"/>
                <a:ea typeface="Inter" pitchFamily="34" charset="-122"/>
                <a:cs typeface="Inter" pitchFamily="34" charset="-120"/>
              </a:rPr>
              <a:t>Request 61 in a minute → </a:t>
            </a:r>
            <a:pPr indent="0" marL="0">
              <a:buNone/>
            </a:pPr>
            <a:r>
              <a:rPr lang="en-US" sz="1500" dirty="0">
                <a:solidFill>
                  <a:srgbClr val="C2410C"/>
                </a:solidFill>
                <a:latin typeface="JetBrains Mono" pitchFamily="34" charset="0"/>
                <a:ea typeface="JetBrains Mono" pitchFamily="34" charset="-122"/>
                <a:cs typeface="JetBrains Mono" pitchFamily="34" charset="-120"/>
              </a:rPr>
              <a:t>429</a:t>
            </a:r>
            <a:pPr indent="0" marL="0">
              <a:buNone/>
            </a:pPr>
            <a:r>
              <a:rPr lang="en-US" sz="1500" dirty="0">
                <a:solidFill>
                  <a:srgbClr val="272827"/>
                </a:solidFill>
                <a:latin typeface="Inter" pitchFamily="34" charset="0"/>
                <a:ea typeface="Inter" pitchFamily="34" charset="-122"/>
                <a:cs typeface="Inter" pitchFamily="34" charset="-120"/>
              </a:rPr>
              <a:t> + </a:t>
            </a:r>
            <a:pPr indent="0" marL="0">
              <a:buNone/>
            </a:pPr>
            <a:r>
              <a:rPr lang="en-US" sz="1500" dirty="0">
                <a:solidFill>
                  <a:srgbClr val="C2410C"/>
                </a:solidFill>
                <a:latin typeface="JetBrains Mono" pitchFamily="34" charset="0"/>
                <a:ea typeface="JetBrains Mono" pitchFamily="34" charset="-122"/>
                <a:cs typeface="JetBrains Mono" pitchFamily="34" charset="-120"/>
              </a:rPr>
              <a:t>Retry-After</a:t>
            </a:r>
            <a:endParaRPr lang="en-US" sz="1500" dirty="0"/>
          </a:p>
          <a:p>
            <a:pPr marL="228600" indent="-228600">
              <a:spcAft>
                <a:spcPts val="1000"/>
              </a:spcAft>
              <a:buSzPct val="100000"/>
              <a:buChar char="•"/>
            </a:pPr>
            <a:r>
              <a:rPr lang="en-US" sz="1500" dirty="0">
                <a:solidFill>
                  <a:srgbClr val="272827"/>
                </a:solidFill>
                <a:latin typeface="Inter" pitchFamily="34" charset="0"/>
                <a:ea typeface="Inter" pitchFamily="34" charset="-122"/>
                <a:cs typeface="Inter" pitchFamily="34" charset="-120"/>
              </a:rPr>
              <a:t>Counters live in Redis, shared by all servers</a:t>
            </a:r>
            <a:endParaRPr lang="en-US" sz="1500" dirty="0"/>
          </a:p>
          <a:p>
            <a:pPr marL="228600" indent="-228600">
              <a:spcAft>
                <a:spcPts val="1000"/>
              </a:spcAft>
              <a:buSzPct val="100000"/>
              <a:buChar char="•"/>
            </a:pPr>
            <a:r>
              <a:rPr lang="en-US" sz="1500" dirty="0">
                <a:solidFill>
                  <a:srgbClr val="272827"/>
                </a:solidFill>
                <a:latin typeface="Inter" pitchFamily="34" charset="0"/>
                <a:ea typeface="Inter" pitchFamily="34" charset="-122"/>
                <a:cs typeface="Inter" pitchFamily="34" charset="-120"/>
              </a:rPr>
              <a:t>Day 5: a lower </a:t>
            </a:r>
            <a:pPr indent="0" marL="0">
              <a:buNone/>
            </a:pPr>
            <a:r>
              <a:rPr lang="en-US" sz="1500" dirty="0">
                <a:solidFill>
                  <a:srgbClr val="C2410C"/>
                </a:solidFill>
                <a:latin typeface="JetBrains Mono" pitchFamily="34" charset="0"/>
                <a:ea typeface="JetBrains Mono" pitchFamily="34" charset="-122"/>
                <a:cs typeface="JetBrains Mono" pitchFamily="34" charset="-120"/>
              </a:rPr>
              <a:t>agent</a:t>
            </a:r>
            <a:pPr indent="0" marL="0">
              <a:buNone/>
            </a:pPr>
            <a:r>
              <a:rPr lang="en-US" sz="1500" dirty="0">
                <a:solidFill>
                  <a:srgbClr val="272827"/>
                </a:solidFill>
                <a:latin typeface="Inter" pitchFamily="34" charset="0"/>
                <a:ea typeface="Inter" pitchFamily="34" charset="-122"/>
                <a:cs typeface="Inter" pitchFamily="34" charset="-120"/>
              </a:rPr>
              <a:t> limit, because LLM calls cost money</a:t>
            </a:r>
            <a:endParaRPr lang="en-US" sz="1500" dirty="0"/>
          </a:p>
        </p:txBody>
      </p:sp>
      <p:sp>
        <p:nvSpPr>
          <p:cNvPr id="25" name="Slide Number Placeholder 0"/>
          <p:cNvSpPr>
            <a:spLocks noGrp="1"/>
          </p:cNvSpPr>
          <p:nvPr>
            <p:ph type="sldNum" sz="quarter" idx="4294967295"/>
          </p:nvPr>
        </p:nvSpPr>
        <p:spPr>
          <a:xfrm>
            <a:off x="10911535" y="6419088"/>
            <a:ext cx="73152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280"/>
                </a:solidFill>
                <a:latin typeface="Inter"/>
                <a:ea typeface="Inter"/>
                <a:cs typeface="Inter"/>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94415" cy="640080"/>
          </a:xfrm>
          <a:prstGeom prst="rect">
            <a:avLst/>
          </a:prstGeom>
          <a:noFill/>
          <a:ln/>
        </p:spPr>
        <p:txBody>
          <a:bodyPr wrap="square" lIns="0" tIns="0" rIns="0" bIns="0" rtlCol="0" anchor="b"/>
          <a:lstStyle/>
          <a:p>
            <a:pPr algn="l" indent="0" marL="0">
              <a:buNone/>
            </a:pPr>
            <a:r>
              <a:rPr lang="en-US" sz="3200" b="1" dirty="0">
                <a:solidFill>
                  <a:srgbClr val="272827"/>
                </a:solidFill>
                <a:latin typeface="Playfair Display" pitchFamily="34" charset="0"/>
                <a:ea typeface="Playfair Display" pitchFamily="34" charset="-122"/>
                <a:cs typeface="Playfair Display" pitchFamily="34" charset="-120"/>
              </a:rPr>
              <a:t>Observability: see what production does</a:t>
            </a:r>
            <a:endParaRPr lang="en-US" sz="3200" dirty="0"/>
          </a:p>
        </p:txBody>
      </p:sp>
      <p:sp>
        <p:nvSpPr>
          <p:cNvPr id="3" name="Text 1"/>
          <p:cNvSpPr txBox="1"/>
          <p:nvPr/>
        </p:nvSpPr>
        <p:spPr>
          <a:xfrm>
            <a:off x="548640" y="1060704"/>
            <a:ext cx="8229600" cy="384048"/>
          </a:xfrm>
          <a:prstGeom prst="rect">
            <a:avLst/>
          </a:prstGeom>
          <a:noFill/>
          <a:ln/>
        </p:spPr>
        <p:txBody>
          <a:bodyPr wrap="square" lIns="0" tIns="0" rIns="0" bIns="0" rtlCol="0" anchor="t"/>
          <a:lstStyle/>
          <a:p>
            <a:pPr rtl="1" algn="l" indent="0" marL="0">
              <a:buNone/>
            </a:pPr>
            <a:r>
              <a:rPr lang="ar-LY" altLang="en-US" sz="1700" dirty="0">
                <a:solidFill>
                  <a:srgbClr val="FF5723"/>
                </a:solidFill>
                <a:latin typeface="Tajawal" pitchFamily="34" charset="0"/>
                <a:ea typeface="Tajawal" pitchFamily="34" charset="-122"/>
                <a:cs typeface="Tajawal" pitchFamily="34" charset="-120"/>
              </a:rPr>
              <a:t>المراقبة: انظر ماذا يحدث في الإنتاج</a:t>
            </a:r>
            <a:endParaRPr lang="ar-LY" sz="1700" dirty="0"/>
          </a:p>
        </p:txBody>
      </p:sp>
      <p:sp>
        <p:nvSpPr>
          <p:cNvPr id="4" name="Shape 2"/>
          <p:cNvSpPr/>
          <p:nvPr/>
        </p:nvSpPr>
        <p:spPr>
          <a:xfrm>
            <a:off x="548640" y="1783080"/>
            <a:ext cx="5410048" cy="2057400"/>
          </a:xfrm>
          <a:prstGeom prst="roundRect">
            <a:avLst>
              <a:gd name="adj" fmla="val 3556"/>
            </a:avLst>
          </a:prstGeom>
          <a:solidFill>
            <a:srgbClr val="F6F3EE"/>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5" name="Shape 3"/>
          <p:cNvSpPr/>
          <p:nvPr/>
        </p:nvSpPr>
        <p:spPr>
          <a:xfrm>
            <a:off x="777240" y="2011680"/>
            <a:ext cx="457200" cy="457200"/>
          </a:xfrm>
          <a:prstGeom prst="ellipse">
            <a:avLst/>
          </a:prstGeom>
          <a:solidFill>
            <a:srgbClr val="FF5723"/>
          </a:solidFill>
          <a:ln w="12700">
            <a:solidFill>
              <a:srgbClr val="FF5723"/>
            </a:solidFill>
            <a:prstDash val="solid"/>
          </a:ln>
        </p:spPr>
      </p:sp>
      <p:sp>
        <p:nvSpPr>
          <p:cNvPr id="6" name="Text 4"/>
          <p:cNvSpPr txBox="1"/>
          <p:nvPr/>
        </p:nvSpPr>
        <p:spPr>
          <a:xfrm>
            <a:off x="777240" y="20116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Inter" pitchFamily="34" charset="0"/>
                <a:ea typeface="Inter" pitchFamily="34" charset="-122"/>
                <a:cs typeface="Inter" pitchFamily="34" charset="-120"/>
              </a:rPr>
              <a:t>1</a:t>
            </a:r>
            <a:endParaRPr lang="en-US" sz="1400" dirty="0"/>
          </a:p>
        </p:txBody>
      </p:sp>
      <p:sp>
        <p:nvSpPr>
          <p:cNvPr id="7" name="Text 5"/>
          <p:cNvSpPr txBox="1"/>
          <p:nvPr/>
        </p:nvSpPr>
        <p:spPr>
          <a:xfrm>
            <a:off x="1371600" y="2011680"/>
            <a:ext cx="4404208" cy="457200"/>
          </a:xfrm>
          <a:prstGeom prst="rect">
            <a:avLst/>
          </a:prstGeom>
          <a:noFill/>
          <a:ln/>
        </p:spPr>
        <p:txBody>
          <a:bodyPr wrap="square" lIns="0" tIns="0" rIns="0" bIns="0" rtlCol="0" anchor="ctr"/>
          <a:lstStyle/>
          <a:p>
            <a:pPr indent="0" marL="0">
              <a:buNone/>
            </a:pPr>
            <a:r>
              <a:rPr lang="en-US" sz="1700" b="1" dirty="0">
                <a:solidFill>
                  <a:srgbClr val="272827"/>
                </a:solidFill>
                <a:latin typeface="Inter" pitchFamily="34" charset="0"/>
                <a:ea typeface="Inter" pitchFamily="34" charset="-122"/>
                <a:cs typeface="Inter" pitchFamily="34" charset="-120"/>
              </a:rPr>
              <a:t>Structured logs</a:t>
            </a:r>
            <a:endParaRPr lang="en-US" sz="1700" dirty="0"/>
          </a:p>
        </p:txBody>
      </p:sp>
      <p:sp>
        <p:nvSpPr>
          <p:cNvPr id="8" name="Text 6"/>
          <p:cNvSpPr txBox="1"/>
          <p:nvPr/>
        </p:nvSpPr>
        <p:spPr>
          <a:xfrm>
            <a:off x="777240" y="2606040"/>
            <a:ext cx="4952848" cy="1097280"/>
          </a:xfrm>
          <a:prstGeom prst="rect">
            <a:avLst/>
          </a:prstGeom>
          <a:noFill/>
          <a:ln/>
        </p:spPr>
        <p:txBody>
          <a:bodyPr wrap="square" lIns="0" tIns="0" rIns="0" bIns="0" rtlCol="0" anchor="t"/>
          <a:lstStyle/>
          <a:p>
            <a:pPr indent="0" marL="0">
              <a:buNone/>
            </a:pPr>
            <a:r>
              <a:rPr lang="en-US" sz="1400" dirty="0">
                <a:solidFill>
                  <a:srgbClr val="C2410C"/>
                </a:solidFill>
                <a:latin typeface="JetBrains Mono" pitchFamily="34" charset="0"/>
                <a:ea typeface="JetBrains Mono" pitchFamily="34" charset="-122"/>
                <a:cs typeface="JetBrains Mono" pitchFamily="34" charset="-120"/>
              </a:rPr>
              <a:t>Log::warning('No vehicle available...', ['shipment' =&gt; $ref])</a:t>
            </a:r>
            <a:pPr indent="0" marL="0">
              <a:buNone/>
            </a:pPr>
            <a:r>
              <a:rPr lang="en-US" sz="1400" dirty="0">
                <a:solidFill>
                  <a:srgbClr val="3A3B3A"/>
                </a:solidFill>
                <a:latin typeface="Inter" pitchFamily="34" charset="0"/>
                <a:ea typeface="Inter" pitchFamily="34" charset="-122"/>
                <a:cs typeface="Inter" pitchFamily="34" charset="-120"/>
              </a:rPr>
              <a:t>: a fixed message plus fields you can search.</a:t>
            </a:r>
            <a:endParaRPr lang="en-US" sz="1400" dirty="0"/>
          </a:p>
        </p:txBody>
      </p:sp>
      <p:sp>
        <p:nvSpPr>
          <p:cNvPr id="9" name="Shape 7"/>
          <p:cNvSpPr/>
          <p:nvPr/>
        </p:nvSpPr>
        <p:spPr>
          <a:xfrm>
            <a:off x="6233008" y="1783080"/>
            <a:ext cx="5410048" cy="2057400"/>
          </a:xfrm>
          <a:prstGeom prst="roundRect">
            <a:avLst>
              <a:gd name="adj" fmla="val 3556"/>
            </a:avLst>
          </a:prstGeom>
          <a:solidFill>
            <a:srgbClr val="F6F3EE"/>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10" name="Shape 8"/>
          <p:cNvSpPr/>
          <p:nvPr/>
        </p:nvSpPr>
        <p:spPr>
          <a:xfrm>
            <a:off x="6461608" y="2011680"/>
            <a:ext cx="457200" cy="457200"/>
          </a:xfrm>
          <a:prstGeom prst="ellipse">
            <a:avLst/>
          </a:prstGeom>
          <a:solidFill>
            <a:srgbClr val="FF5723"/>
          </a:solidFill>
          <a:ln w="12700">
            <a:solidFill>
              <a:srgbClr val="FF5723"/>
            </a:solidFill>
            <a:prstDash val="solid"/>
          </a:ln>
        </p:spPr>
      </p:sp>
      <p:sp>
        <p:nvSpPr>
          <p:cNvPr id="11" name="Text 9"/>
          <p:cNvSpPr txBox="1"/>
          <p:nvPr/>
        </p:nvSpPr>
        <p:spPr>
          <a:xfrm>
            <a:off x="6461608" y="20116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Inter" pitchFamily="34" charset="0"/>
                <a:ea typeface="Inter" pitchFamily="34" charset="-122"/>
                <a:cs typeface="Inter" pitchFamily="34" charset="-120"/>
              </a:rPr>
              <a:t>2</a:t>
            </a:r>
            <a:endParaRPr lang="en-US" sz="1400" dirty="0"/>
          </a:p>
        </p:txBody>
      </p:sp>
      <p:sp>
        <p:nvSpPr>
          <p:cNvPr id="12" name="Text 10"/>
          <p:cNvSpPr txBox="1"/>
          <p:nvPr/>
        </p:nvSpPr>
        <p:spPr>
          <a:xfrm>
            <a:off x="7055968" y="2011680"/>
            <a:ext cx="4404208" cy="457200"/>
          </a:xfrm>
          <a:prstGeom prst="rect">
            <a:avLst/>
          </a:prstGeom>
          <a:noFill/>
          <a:ln/>
        </p:spPr>
        <p:txBody>
          <a:bodyPr wrap="square" lIns="0" tIns="0" rIns="0" bIns="0" rtlCol="0" anchor="ctr"/>
          <a:lstStyle/>
          <a:p>
            <a:pPr indent="0" marL="0">
              <a:buNone/>
            </a:pPr>
            <a:r>
              <a:rPr lang="en-US" sz="1700" b="1" dirty="0">
                <a:solidFill>
                  <a:srgbClr val="272827"/>
                </a:solidFill>
                <a:latin typeface="Inter" pitchFamily="34" charset="0"/>
                <a:ea typeface="Inter" pitchFamily="34" charset="-122"/>
                <a:cs typeface="Inter" pitchFamily="34" charset="-120"/>
              </a:rPr>
              <a:t>Request IDs</a:t>
            </a:r>
            <a:endParaRPr lang="en-US" sz="1700" dirty="0"/>
          </a:p>
        </p:txBody>
      </p:sp>
      <p:sp>
        <p:nvSpPr>
          <p:cNvPr id="13" name="Text 11"/>
          <p:cNvSpPr txBox="1"/>
          <p:nvPr/>
        </p:nvSpPr>
        <p:spPr>
          <a:xfrm>
            <a:off x="6461608" y="2606040"/>
            <a:ext cx="4952848" cy="1097280"/>
          </a:xfrm>
          <a:prstGeom prst="rect">
            <a:avLst/>
          </a:prstGeom>
          <a:noFill/>
          <a:ln/>
        </p:spPr>
        <p:txBody>
          <a:bodyPr wrap="square" lIns="0" tIns="0" rIns="0" bIns="0" rtlCol="0" anchor="t"/>
          <a:lstStyle/>
          <a:p>
            <a:pPr indent="0" marL="0">
              <a:buNone/>
            </a:pPr>
            <a:r>
              <a:rPr lang="en-US" sz="1400" dirty="0">
                <a:solidFill>
                  <a:srgbClr val="C2410C"/>
                </a:solidFill>
                <a:latin typeface="JetBrains Mono" pitchFamily="34" charset="0"/>
                <a:ea typeface="JetBrains Mono" pitchFamily="34" charset="-122"/>
                <a:cs typeface="JetBrains Mono" pitchFamily="34" charset="-120"/>
              </a:rPr>
              <a:t>AssignRequestId</a:t>
            </a:r>
            <a:pPr indent="0" marL="0">
              <a:buNone/>
            </a:pPr>
            <a:r>
              <a:rPr lang="en-US" sz="1400" dirty="0">
                <a:solidFill>
                  <a:srgbClr val="3A3B3A"/>
                </a:solidFill>
                <a:latin typeface="Inter" pitchFamily="34" charset="0"/>
                <a:ea typeface="Inter" pitchFamily="34" charset="-122"/>
                <a:cs typeface="Inter" pitchFamily="34" charset="-120"/>
              </a:rPr>
              <a:t> reads or creates </a:t>
            </a:r>
            <a:pPr indent="0" marL="0">
              <a:buNone/>
            </a:pPr>
            <a:r>
              <a:rPr lang="en-US" sz="1400" dirty="0">
                <a:solidFill>
                  <a:srgbClr val="C2410C"/>
                </a:solidFill>
                <a:latin typeface="JetBrains Mono" pitchFamily="34" charset="0"/>
                <a:ea typeface="JetBrains Mono" pitchFamily="34" charset="-122"/>
                <a:cs typeface="JetBrains Mono" pitchFamily="34" charset="-120"/>
              </a:rPr>
              <a:t>X-Request-Id</a:t>
            </a:r>
            <a:pPr indent="0" marL="0">
              <a:buNone/>
            </a:pPr>
            <a:r>
              <a:rPr lang="en-US" sz="1400" dirty="0">
                <a:solidFill>
                  <a:srgbClr val="3A3B3A"/>
                </a:solidFill>
                <a:latin typeface="Inter" pitchFamily="34" charset="0"/>
                <a:ea typeface="Inter" pitchFamily="34" charset="-122"/>
                <a:cs typeface="Inter" pitchFamily="34" charset="-120"/>
              </a:rPr>
              <a:t>, calls </a:t>
            </a:r>
            <a:pPr indent="0" marL="0">
              <a:buNone/>
            </a:pPr>
            <a:r>
              <a:rPr lang="en-US" sz="1400" dirty="0">
                <a:solidFill>
                  <a:srgbClr val="C2410C"/>
                </a:solidFill>
                <a:latin typeface="JetBrains Mono" pitchFamily="34" charset="0"/>
                <a:ea typeface="JetBrains Mono" pitchFamily="34" charset="-122"/>
                <a:cs typeface="JetBrains Mono" pitchFamily="34" charset="-120"/>
              </a:rPr>
              <a:t>Log::shareContext()</a:t>
            </a:r>
            <a:pPr indent="0" marL="0">
              <a:buNone/>
            </a:pPr>
            <a:r>
              <a:rPr lang="en-US" sz="1400" dirty="0">
                <a:solidFill>
                  <a:srgbClr val="3A3B3A"/>
                </a:solidFill>
                <a:latin typeface="Inter" pitchFamily="34" charset="0"/>
                <a:ea typeface="Inter" pitchFamily="34" charset="-122"/>
                <a:cs typeface="Inter" pitchFamily="34" charset="-120"/>
              </a:rPr>
              <a:t> and returns the header.</a:t>
            </a:r>
            <a:endParaRPr lang="en-US" sz="1400" dirty="0"/>
          </a:p>
        </p:txBody>
      </p:sp>
      <p:sp>
        <p:nvSpPr>
          <p:cNvPr id="14" name="Shape 12"/>
          <p:cNvSpPr/>
          <p:nvPr/>
        </p:nvSpPr>
        <p:spPr>
          <a:xfrm>
            <a:off x="548640" y="4114800"/>
            <a:ext cx="5410048" cy="2057400"/>
          </a:xfrm>
          <a:prstGeom prst="roundRect">
            <a:avLst>
              <a:gd name="adj" fmla="val 3556"/>
            </a:avLst>
          </a:prstGeom>
          <a:solidFill>
            <a:srgbClr val="F6F3EE"/>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15" name="Shape 13"/>
          <p:cNvSpPr/>
          <p:nvPr/>
        </p:nvSpPr>
        <p:spPr>
          <a:xfrm>
            <a:off x="777240" y="4343400"/>
            <a:ext cx="457200" cy="457200"/>
          </a:xfrm>
          <a:prstGeom prst="ellipse">
            <a:avLst/>
          </a:prstGeom>
          <a:solidFill>
            <a:srgbClr val="FF5723"/>
          </a:solidFill>
          <a:ln w="12700">
            <a:solidFill>
              <a:srgbClr val="FF5723"/>
            </a:solidFill>
            <a:prstDash val="solid"/>
          </a:ln>
        </p:spPr>
      </p:sp>
      <p:sp>
        <p:nvSpPr>
          <p:cNvPr id="16" name="Text 14"/>
          <p:cNvSpPr txBox="1"/>
          <p:nvPr/>
        </p:nvSpPr>
        <p:spPr>
          <a:xfrm>
            <a:off x="777240" y="43434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Inter" pitchFamily="34" charset="0"/>
                <a:ea typeface="Inter" pitchFamily="34" charset="-122"/>
                <a:cs typeface="Inter" pitchFamily="34" charset="-120"/>
              </a:rPr>
              <a:t>3</a:t>
            </a:r>
            <a:endParaRPr lang="en-US" sz="1400" dirty="0"/>
          </a:p>
        </p:txBody>
      </p:sp>
      <p:sp>
        <p:nvSpPr>
          <p:cNvPr id="17" name="Text 15"/>
          <p:cNvSpPr txBox="1"/>
          <p:nvPr/>
        </p:nvSpPr>
        <p:spPr>
          <a:xfrm>
            <a:off x="1371600" y="4343400"/>
            <a:ext cx="4404208" cy="457200"/>
          </a:xfrm>
          <a:prstGeom prst="rect">
            <a:avLst/>
          </a:prstGeom>
          <a:noFill/>
          <a:ln/>
        </p:spPr>
        <p:txBody>
          <a:bodyPr wrap="square" lIns="0" tIns="0" rIns="0" bIns="0" rtlCol="0" anchor="ctr"/>
          <a:lstStyle/>
          <a:p>
            <a:pPr indent="0" marL="0">
              <a:buNone/>
            </a:pPr>
            <a:r>
              <a:rPr lang="en-US" sz="1700" b="1" dirty="0">
                <a:solidFill>
                  <a:srgbClr val="272827"/>
                </a:solidFill>
                <a:latin typeface="Inter" pitchFamily="34" charset="0"/>
                <a:ea typeface="Inter" pitchFamily="34" charset="-122"/>
                <a:cs typeface="Inter" pitchFamily="34" charset="-120"/>
              </a:rPr>
              <a:t>Query counts</a:t>
            </a:r>
            <a:endParaRPr lang="en-US" sz="1700" dirty="0"/>
          </a:p>
        </p:txBody>
      </p:sp>
      <p:sp>
        <p:nvSpPr>
          <p:cNvPr id="18" name="Text 16"/>
          <p:cNvSpPr txBox="1"/>
          <p:nvPr/>
        </p:nvSpPr>
        <p:spPr>
          <a:xfrm>
            <a:off x="777240" y="4937760"/>
            <a:ext cx="4952848" cy="1097280"/>
          </a:xfrm>
          <a:prstGeom prst="rect">
            <a:avLst/>
          </a:prstGeom>
          <a:noFill/>
          <a:ln/>
        </p:spPr>
        <p:txBody>
          <a:bodyPr wrap="square" lIns="0" tIns="0" rIns="0" bIns="0" rtlCol="0" anchor="t"/>
          <a:lstStyle/>
          <a:p>
            <a:pPr indent="0" marL="0">
              <a:buNone/>
            </a:pPr>
            <a:r>
              <a:rPr lang="en-US" sz="1400" dirty="0">
                <a:solidFill>
                  <a:srgbClr val="C2410C"/>
                </a:solidFill>
                <a:latin typeface="JetBrains Mono" pitchFamily="34" charset="0"/>
                <a:ea typeface="JetBrains Mono" pitchFamily="34" charset="-122"/>
                <a:cs typeface="JetBrains Mono" pitchFamily="34" charset="-120"/>
              </a:rPr>
              <a:t>DB::enableQueryLog()</a:t>
            </a:r>
            <a:pPr indent="0" marL="0">
              <a:buNone/>
            </a:pPr>
            <a:r>
              <a:rPr lang="en-US" sz="1400" dirty="0">
                <a:solidFill>
                  <a:srgbClr val="3A3B3A"/>
                </a:solidFill>
                <a:latin typeface="Inter" pitchFamily="34" charset="0"/>
                <a:ea typeface="Inter" pitchFamily="34" charset="-122"/>
                <a:cs typeface="Inter" pitchFamily="34" charset="-120"/>
              </a:rPr>
              <a:t> in </a:t>
            </a:r>
            <a:pPr indent="0" marL="0">
              <a:buNone/>
            </a:pPr>
            <a:r>
              <a:rPr lang="en-US" sz="1400" dirty="0">
                <a:solidFill>
                  <a:srgbClr val="C2410C"/>
                </a:solidFill>
                <a:latin typeface="JetBrains Mono" pitchFamily="34" charset="0"/>
                <a:ea typeface="JetBrains Mono" pitchFamily="34" charset="-122"/>
                <a:cs typeface="JetBrains Mono" pitchFamily="34" charset="-120"/>
              </a:rPr>
              <a:t>PerformanceTest</a:t>
            </a:r>
            <a:pPr indent="0" marL="0">
              <a:buNone/>
            </a:pPr>
            <a:r>
              <a:rPr lang="en-US" sz="1400" dirty="0">
                <a:solidFill>
                  <a:srgbClr val="3A3B3A"/>
                </a:solidFill>
                <a:latin typeface="Inter" pitchFamily="34" charset="0"/>
                <a:ea typeface="Inter" pitchFamily="34" charset="-122"/>
                <a:cs typeface="Inter" pitchFamily="34" charset="-120"/>
              </a:rPr>
              <a:t>. Your N+1 detector, run on every test run.</a:t>
            </a:r>
            <a:endParaRPr lang="en-US" sz="1400" dirty="0"/>
          </a:p>
        </p:txBody>
      </p:sp>
      <p:sp>
        <p:nvSpPr>
          <p:cNvPr id="19" name="Shape 17"/>
          <p:cNvSpPr/>
          <p:nvPr/>
        </p:nvSpPr>
        <p:spPr>
          <a:xfrm>
            <a:off x="6233008" y="4114800"/>
            <a:ext cx="5410048" cy="2057400"/>
          </a:xfrm>
          <a:prstGeom prst="roundRect">
            <a:avLst>
              <a:gd name="adj" fmla="val 3556"/>
            </a:avLst>
          </a:prstGeom>
          <a:solidFill>
            <a:srgbClr val="F6F3EE"/>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20" name="Shape 18"/>
          <p:cNvSpPr/>
          <p:nvPr/>
        </p:nvSpPr>
        <p:spPr>
          <a:xfrm>
            <a:off x="6461608" y="4343400"/>
            <a:ext cx="457200" cy="457200"/>
          </a:xfrm>
          <a:prstGeom prst="ellipse">
            <a:avLst/>
          </a:prstGeom>
          <a:solidFill>
            <a:srgbClr val="FF5723"/>
          </a:solidFill>
          <a:ln w="12700">
            <a:solidFill>
              <a:srgbClr val="FF5723"/>
            </a:solidFill>
            <a:prstDash val="solid"/>
          </a:ln>
        </p:spPr>
      </p:sp>
      <p:sp>
        <p:nvSpPr>
          <p:cNvPr id="21" name="Text 19"/>
          <p:cNvSpPr txBox="1"/>
          <p:nvPr/>
        </p:nvSpPr>
        <p:spPr>
          <a:xfrm>
            <a:off x="6461608" y="43434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Inter" pitchFamily="34" charset="0"/>
                <a:ea typeface="Inter" pitchFamily="34" charset="-122"/>
                <a:cs typeface="Inter" pitchFamily="34" charset="-120"/>
              </a:rPr>
              <a:t>4</a:t>
            </a:r>
            <a:endParaRPr lang="en-US" sz="1400" dirty="0"/>
          </a:p>
        </p:txBody>
      </p:sp>
      <p:sp>
        <p:nvSpPr>
          <p:cNvPr id="22" name="Text 20"/>
          <p:cNvSpPr txBox="1"/>
          <p:nvPr/>
        </p:nvSpPr>
        <p:spPr>
          <a:xfrm>
            <a:off x="7055968" y="4343400"/>
            <a:ext cx="4404208" cy="457200"/>
          </a:xfrm>
          <a:prstGeom prst="rect">
            <a:avLst/>
          </a:prstGeom>
          <a:noFill/>
          <a:ln/>
        </p:spPr>
        <p:txBody>
          <a:bodyPr wrap="square" lIns="0" tIns="0" rIns="0" bIns="0" rtlCol="0" anchor="ctr"/>
          <a:lstStyle/>
          <a:p>
            <a:pPr indent="0" marL="0">
              <a:buNone/>
            </a:pPr>
            <a:r>
              <a:rPr lang="en-US" sz="1700" b="1" dirty="0">
                <a:solidFill>
                  <a:srgbClr val="272827"/>
                </a:solidFill>
                <a:latin typeface="Inter" pitchFamily="34" charset="0"/>
                <a:ea typeface="Inter" pitchFamily="34" charset="-122"/>
                <a:cs typeface="Inter" pitchFamily="34" charset="-120"/>
              </a:rPr>
              <a:t>Horizon</a:t>
            </a:r>
            <a:endParaRPr lang="en-US" sz="1700" dirty="0"/>
          </a:p>
        </p:txBody>
      </p:sp>
      <p:sp>
        <p:nvSpPr>
          <p:cNvPr id="23" name="Text 21"/>
          <p:cNvSpPr txBox="1"/>
          <p:nvPr/>
        </p:nvSpPr>
        <p:spPr>
          <a:xfrm>
            <a:off x="6461608" y="4937760"/>
            <a:ext cx="4952848" cy="1097280"/>
          </a:xfrm>
          <a:prstGeom prst="rect">
            <a:avLst/>
          </a:prstGeom>
          <a:noFill/>
          <a:ln/>
        </p:spPr>
        <p:txBody>
          <a:bodyPr wrap="square" lIns="0" tIns="0" rIns="0" bIns="0" rtlCol="0" anchor="t"/>
          <a:lstStyle/>
          <a:p>
            <a:pPr indent="0" marL="0">
              <a:buNone/>
            </a:pPr>
            <a:r>
              <a:rPr lang="en-US" sz="1400" dirty="0">
                <a:solidFill>
                  <a:srgbClr val="3A3B3A"/>
                </a:solidFill>
                <a:latin typeface="Inter" pitchFamily="34" charset="0"/>
                <a:ea typeface="Inter" pitchFamily="34" charset="-122"/>
                <a:cs typeface="Inter" pitchFamily="34" charset="-120"/>
              </a:rPr>
              <a:t>Queue throughput, wait times, retries and failed jobs; metrics from </a:t>
            </a:r>
            <a:pPr indent="0" marL="0">
              <a:buNone/>
            </a:pPr>
            <a:r>
              <a:rPr lang="en-US" sz="1400" dirty="0">
                <a:solidFill>
                  <a:srgbClr val="C2410C"/>
                </a:solidFill>
                <a:latin typeface="JetBrains Mono" pitchFamily="34" charset="0"/>
                <a:ea typeface="JetBrains Mono" pitchFamily="34" charset="-122"/>
                <a:cs typeface="JetBrains Mono" pitchFamily="34" charset="-120"/>
              </a:rPr>
              <a:t>horizon:snapshot</a:t>
            </a:r>
            <a:pPr indent="0" marL="0">
              <a:buNone/>
            </a:pPr>
            <a:r>
              <a:rPr lang="en-US" sz="1400" dirty="0">
                <a:solidFill>
                  <a:srgbClr val="3A3B3A"/>
                </a:solidFill>
                <a:latin typeface="Inter" pitchFamily="34" charset="0"/>
                <a:ea typeface="Inter" pitchFamily="34" charset="-122"/>
                <a:cs typeface="Inter" pitchFamily="34" charset="-120"/>
              </a:rPr>
              <a:t> every 5 min.</a:t>
            </a:r>
            <a:endParaRPr lang="en-US" sz="1400" dirty="0"/>
          </a:p>
        </p:txBody>
      </p:sp>
      <p:sp>
        <p:nvSpPr>
          <p:cNvPr id="25" name="Slide Number Placeholder 0"/>
          <p:cNvSpPr>
            <a:spLocks noGrp="1"/>
          </p:cNvSpPr>
          <p:nvPr>
            <p:ph type="sldNum" sz="quarter" idx="4294967295"/>
          </p:nvPr>
        </p:nvSpPr>
        <p:spPr>
          <a:xfrm>
            <a:off x="10911535" y="6419088"/>
            <a:ext cx="73152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280"/>
                </a:solidFill>
                <a:latin typeface="Inter"/>
                <a:ea typeface="Inter"/>
                <a:cs typeface="Inter"/>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94415" cy="640080"/>
          </a:xfrm>
          <a:prstGeom prst="rect">
            <a:avLst/>
          </a:prstGeom>
          <a:noFill/>
          <a:ln/>
        </p:spPr>
        <p:txBody>
          <a:bodyPr wrap="square" lIns="0" tIns="0" rIns="0" bIns="0" rtlCol="0" anchor="b"/>
          <a:lstStyle/>
          <a:p>
            <a:pPr algn="l" indent="0" marL="0">
              <a:buNone/>
            </a:pPr>
            <a:r>
              <a:rPr lang="en-US" sz="3200" b="1" dirty="0">
                <a:solidFill>
                  <a:srgbClr val="272827"/>
                </a:solidFill>
                <a:latin typeface="Playfair Display" pitchFamily="34" charset="0"/>
                <a:ea typeface="Playfair Display" pitchFamily="34" charset="-122"/>
                <a:cs typeface="Playfair Display" pitchFamily="34" charset="-120"/>
              </a:rPr>
              <a:t>A k6 load test for booking</a:t>
            </a:r>
            <a:endParaRPr lang="en-US" sz="3200" dirty="0"/>
          </a:p>
        </p:txBody>
      </p:sp>
      <p:sp>
        <p:nvSpPr>
          <p:cNvPr id="3" name="Text 1"/>
          <p:cNvSpPr txBox="1"/>
          <p:nvPr/>
        </p:nvSpPr>
        <p:spPr>
          <a:xfrm>
            <a:off x="548640" y="1060704"/>
            <a:ext cx="8229600" cy="384048"/>
          </a:xfrm>
          <a:prstGeom prst="rect">
            <a:avLst/>
          </a:prstGeom>
          <a:noFill/>
          <a:ln/>
        </p:spPr>
        <p:txBody>
          <a:bodyPr wrap="square" lIns="0" tIns="0" rIns="0" bIns="0" rtlCol="0" anchor="t"/>
          <a:lstStyle/>
          <a:p>
            <a:pPr rtl="1" algn="l" indent="0" marL="0">
              <a:buNone/>
            </a:pPr>
            <a:r>
              <a:rPr lang="ar-LY" altLang="en-US" sz="1700" dirty="0">
                <a:solidFill>
                  <a:srgbClr val="FF5723"/>
                </a:solidFill>
                <a:latin typeface="Tajawal" pitchFamily="34" charset="0"/>
                <a:ea typeface="Tajawal" pitchFamily="34" charset="-122"/>
                <a:cs typeface="Tajawal" pitchFamily="34" charset="-120"/>
              </a:rPr>
              <a:t>اختبار حمل للحجز باستخدام k6</a:t>
            </a:r>
            <a:endParaRPr lang="ar-LY" sz="1700" dirty="0"/>
          </a:p>
        </p:txBody>
      </p:sp>
      <p:sp>
        <p:nvSpPr>
          <p:cNvPr id="4" name="Shape 2"/>
          <p:cNvSpPr/>
          <p:nvPr/>
        </p:nvSpPr>
        <p:spPr>
          <a:xfrm>
            <a:off x="548640" y="1691640"/>
            <a:ext cx="7315200" cy="4434840"/>
          </a:xfrm>
          <a:prstGeom prst="roundRect">
            <a:avLst>
              <a:gd name="adj" fmla="val 1649"/>
            </a:avLst>
          </a:prstGeom>
          <a:solidFill>
            <a:srgbClr val="272827"/>
          </a:solidFill>
          <a:ln w="12700">
            <a:solidFill>
              <a:srgbClr val="272827"/>
            </a:solidFill>
            <a:prstDash val="solid"/>
          </a:ln>
        </p:spPr>
      </p:sp>
      <p:sp>
        <p:nvSpPr>
          <p:cNvPr id="5" name="Text 3"/>
          <p:cNvSpPr txBox="1"/>
          <p:nvPr/>
        </p:nvSpPr>
        <p:spPr>
          <a:xfrm>
            <a:off x="822960" y="1828800"/>
            <a:ext cx="6766560" cy="274320"/>
          </a:xfrm>
          <a:prstGeom prst="rect">
            <a:avLst/>
          </a:prstGeom>
          <a:noFill/>
          <a:ln/>
        </p:spPr>
        <p:txBody>
          <a:bodyPr wrap="square" lIns="0" tIns="0" rIns="0" bIns="0" rtlCol="0" anchor="ctr"/>
          <a:lstStyle/>
          <a:p>
            <a:pPr indent="0" marL="0">
              <a:buNone/>
            </a:pPr>
            <a:r>
              <a:rPr lang="en-US" sz="1100" dirty="0">
                <a:solidFill>
                  <a:srgbClr val="FF5723"/>
                </a:solidFill>
                <a:latin typeface="JetBrains Mono" pitchFamily="34" charset="0"/>
                <a:ea typeface="JetBrains Mono" pitchFamily="34" charset="-122"/>
                <a:cs typeface="JetBrains Mono" pitchFamily="34" charset="-120"/>
              </a:rPr>
              <a:t>load/booking.js</a:t>
            </a:r>
            <a:endParaRPr lang="en-US" sz="1100" dirty="0"/>
          </a:p>
        </p:txBody>
      </p:sp>
      <p:sp>
        <p:nvSpPr>
          <p:cNvPr id="6" name="Shape 4"/>
          <p:cNvSpPr/>
          <p:nvPr/>
        </p:nvSpPr>
        <p:spPr>
          <a:xfrm>
            <a:off x="822960" y="2194560"/>
            <a:ext cx="6766560" cy="0"/>
          </a:xfrm>
          <a:prstGeom prst="line">
            <a:avLst/>
          </a:prstGeom>
          <a:noFill/>
          <a:ln w="12700">
            <a:solidFill>
              <a:srgbClr val="3A3B3A"/>
            </a:solidFill>
            <a:prstDash val="solid"/>
          </a:ln>
        </p:spPr>
      </p:sp>
      <p:sp>
        <p:nvSpPr>
          <p:cNvPr id="7" name="Text 5"/>
          <p:cNvSpPr txBox="1"/>
          <p:nvPr/>
        </p:nvSpPr>
        <p:spPr>
          <a:xfrm>
            <a:off x="822960" y="2331720"/>
            <a:ext cx="6858000" cy="3657600"/>
          </a:xfrm>
          <a:prstGeom prst="rect">
            <a:avLst/>
          </a:prstGeom>
          <a:noFill/>
          <a:ln/>
        </p:spPr>
        <p:txBody>
          <a:bodyPr wrap="square" lIns="0" tIns="0" rIns="0" bIns="0" rtlCol="0" anchor="t"/>
          <a:lstStyle/>
          <a:p>
            <a:pPr indent="0" marL="0">
              <a:lnSpc>
                <a:spcPct val="105000"/>
              </a:lnSpc>
              <a:buNone/>
            </a:pPr>
            <a:r>
              <a:rPr lang="en-US" sz="1000" dirty="0">
                <a:solidFill>
                  <a:srgbClr val="FF5723"/>
                </a:solidFill>
                <a:latin typeface="JetBrains Mono" pitchFamily="34" charset="0"/>
                <a:ea typeface="JetBrains Mono" pitchFamily="34" charset="-122"/>
                <a:cs typeface="JetBrains Mono" pitchFamily="34" charset="-120"/>
              </a:rPr>
              <a:t>export</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FF5723"/>
                </a:solidFill>
                <a:latin typeface="JetBrains Mono" pitchFamily="34" charset="0"/>
                <a:ea typeface="JetBrains Mono" pitchFamily="34" charset="-122"/>
                <a:cs typeface="JetBrains Mono" pitchFamily="34" charset="-120"/>
              </a:rPr>
              <a:t>const</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options</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 {</a:t>
            </a:r>
            <a:endParaRPr lang="en-US" sz="1000" dirty="0"/>
          </a:p>
          <a:p>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stages</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endParaRPr lang="en-US" sz="1000" dirty="0"/>
          </a:p>
          <a:p>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 </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duration</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FFB59C"/>
                </a:solidFill>
                <a:latin typeface="JetBrains Mono" pitchFamily="34" charset="0"/>
                <a:ea typeface="JetBrains Mono" pitchFamily="34" charset="-122"/>
                <a:cs typeface="JetBrains Mono" pitchFamily="34" charset="-120"/>
              </a:rPr>
              <a:t>'20s'</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target</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F2EDE6"/>
                </a:solidFill>
                <a:latin typeface="JetBrains Mono" pitchFamily="34" charset="0"/>
                <a:ea typeface="JetBrains Mono" pitchFamily="34" charset="-122"/>
                <a:cs typeface="JetBrains Mono" pitchFamily="34" charset="-120"/>
              </a:rPr>
              <a:t>Number</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__ENV</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00" dirty="0">
                <a:solidFill>
                  <a:srgbClr val="F2EDE6"/>
                </a:solidFill>
                <a:latin typeface="JetBrains Mono" pitchFamily="34" charset="0"/>
                <a:ea typeface="JetBrains Mono" pitchFamily="34" charset="-122"/>
                <a:cs typeface="JetBrains Mono" pitchFamily="34" charset="-120"/>
              </a:rPr>
              <a:t>VUS</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 20) }, </a:t>
            </a:r>
            <a:pPr indent="0" marL="0">
              <a:lnSpc>
                <a:spcPct val="105000"/>
              </a:lnSpc>
              <a:buNone/>
            </a:pPr>
            <a:r>
              <a:rPr lang="en-US" sz="1000" dirty="0">
                <a:solidFill>
                  <a:srgbClr val="8B8F97"/>
                </a:solidFill>
                <a:latin typeface="JetBrains Mono" pitchFamily="34" charset="0"/>
                <a:ea typeface="JetBrains Mono" pitchFamily="34" charset="-122"/>
                <a:cs typeface="JetBrains Mono" pitchFamily="34" charset="-120"/>
              </a:rPr>
              <a:t>// ramp up</a:t>
            </a:r>
            <a:endParaRPr lang="en-US" sz="1000" dirty="0"/>
          </a:p>
          <a:p>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 </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duration</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FFB59C"/>
                </a:solidFill>
                <a:latin typeface="JetBrains Mono" pitchFamily="34" charset="0"/>
                <a:ea typeface="JetBrains Mono" pitchFamily="34" charset="-122"/>
                <a:cs typeface="JetBrains Mono" pitchFamily="34" charset="-120"/>
              </a:rPr>
              <a:t>'1m'</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target</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F2EDE6"/>
                </a:solidFill>
                <a:latin typeface="JetBrains Mono" pitchFamily="34" charset="0"/>
                <a:ea typeface="JetBrains Mono" pitchFamily="34" charset="-122"/>
                <a:cs typeface="JetBrains Mono" pitchFamily="34" charset="-120"/>
              </a:rPr>
              <a:t>Number</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__ENV</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00" dirty="0">
                <a:solidFill>
                  <a:srgbClr val="F2EDE6"/>
                </a:solidFill>
                <a:latin typeface="JetBrains Mono" pitchFamily="34" charset="0"/>
                <a:ea typeface="JetBrains Mono" pitchFamily="34" charset="-122"/>
                <a:cs typeface="JetBrains Mono" pitchFamily="34" charset="-120"/>
              </a:rPr>
              <a:t>VUS</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 20) },  </a:t>
            </a:r>
            <a:pPr indent="0" marL="0">
              <a:lnSpc>
                <a:spcPct val="105000"/>
              </a:lnSpc>
              <a:buNone/>
            </a:pPr>
            <a:r>
              <a:rPr lang="en-US" sz="1000" dirty="0">
                <a:solidFill>
                  <a:srgbClr val="8B8F97"/>
                </a:solidFill>
                <a:latin typeface="JetBrains Mono" pitchFamily="34" charset="0"/>
                <a:ea typeface="JetBrains Mono" pitchFamily="34" charset="-122"/>
                <a:cs typeface="JetBrains Mono" pitchFamily="34" charset="-120"/>
              </a:rPr>
              <a:t>// hold</a:t>
            </a:r>
            <a:endParaRPr lang="en-US" sz="1000" dirty="0"/>
          </a:p>
          <a:p>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 </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duration</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FFB59C"/>
                </a:solidFill>
                <a:latin typeface="JetBrains Mono" pitchFamily="34" charset="0"/>
                <a:ea typeface="JetBrains Mono" pitchFamily="34" charset="-122"/>
                <a:cs typeface="JetBrains Mono" pitchFamily="34" charset="-120"/>
              </a:rPr>
              <a:t>'10s'</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target</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0 },                       </a:t>
            </a:r>
            <a:pPr indent="0" marL="0">
              <a:lnSpc>
                <a:spcPct val="105000"/>
              </a:lnSpc>
              <a:buNone/>
            </a:pPr>
            <a:r>
              <a:rPr lang="en-US" sz="1000" dirty="0">
                <a:solidFill>
                  <a:srgbClr val="8B8F97"/>
                </a:solidFill>
                <a:latin typeface="JetBrains Mono" pitchFamily="34" charset="0"/>
                <a:ea typeface="JetBrains Mono" pitchFamily="34" charset="-122"/>
                <a:cs typeface="JetBrains Mono" pitchFamily="34" charset="-120"/>
              </a:rPr>
              <a:t>// ramp down</a:t>
            </a:r>
            <a:endParaRPr lang="en-US" sz="1000" dirty="0"/>
          </a:p>
          <a:p>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endParaRPr lang="en-US" sz="1000" dirty="0"/>
          </a:p>
          <a:p>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thresholds</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endParaRPr lang="en-US" sz="1000" dirty="0"/>
          </a:p>
          <a:p>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http_req_failed</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FFB59C"/>
                </a:solidFill>
                <a:latin typeface="JetBrains Mono" pitchFamily="34" charset="0"/>
                <a:ea typeface="JetBrains Mono" pitchFamily="34" charset="-122"/>
                <a:cs typeface="JetBrains Mono" pitchFamily="34" charset="-120"/>
              </a:rPr>
              <a:t>'rate&lt;0.01'</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endParaRPr lang="en-US" sz="1000" dirty="0"/>
          </a:p>
          <a:p>
            <a:pPr indent="0" marL="0">
              <a:lnSpc>
                <a:spcPct val="105000"/>
              </a:lnSpc>
              <a:buNone/>
            </a:pPr>
            <a:r>
              <a:rPr lang="en-US" sz="1000" dirty="0">
                <a:solidFill>
                  <a:srgbClr val="FFFFFF"/>
                </a:solidFill>
                <a:highlight>
                  <a:srgbClr val="4A3A33"/>
                </a:highlight>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FFB59C"/>
                </a:solidFill>
                <a:highlight>
                  <a:srgbClr val="4A3A33"/>
                </a:highlight>
                <a:latin typeface="JetBrains Mono" pitchFamily="34" charset="0"/>
                <a:ea typeface="JetBrains Mono" pitchFamily="34" charset="-122"/>
                <a:cs typeface="JetBrains Mono" pitchFamily="34" charset="-120"/>
              </a:rPr>
              <a:t>'http_req_duration{name:list}'</a:t>
            </a:r>
            <a:pPr indent="0" marL="0">
              <a:lnSpc>
                <a:spcPct val="105000"/>
              </a:lnSpc>
              <a:buNone/>
            </a:pPr>
            <a:r>
              <a:rPr lang="en-US" sz="1000" dirty="0">
                <a:solidFill>
                  <a:srgbClr val="FFFFFF"/>
                </a:solidFill>
                <a:highlight>
                  <a:srgbClr val="4A3A33"/>
                </a:highlight>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FFB59C"/>
                </a:solidFill>
                <a:highlight>
                  <a:srgbClr val="4A3A33"/>
                </a:highlight>
                <a:latin typeface="JetBrains Mono" pitchFamily="34" charset="0"/>
                <a:ea typeface="JetBrains Mono" pitchFamily="34" charset="-122"/>
                <a:cs typeface="JetBrains Mono" pitchFamily="34" charset="-120"/>
              </a:rPr>
              <a:t>'p(95)&lt;300'</a:t>
            </a:r>
            <a:pPr indent="0" marL="0">
              <a:lnSpc>
                <a:spcPct val="105000"/>
              </a:lnSpc>
              <a:buNone/>
            </a:pPr>
            <a:r>
              <a:rPr lang="en-US" sz="1000" dirty="0">
                <a:solidFill>
                  <a:srgbClr val="FFFFFF"/>
                </a:solidFill>
                <a:highlight>
                  <a:srgbClr val="4A3A33"/>
                </a:highlight>
                <a:latin typeface="JetBrains Mono" pitchFamily="34" charset="0"/>
                <a:ea typeface="JetBrains Mono" pitchFamily="34" charset="-122"/>
                <a:cs typeface="JetBrains Mono" pitchFamily="34" charset="-120"/>
              </a:rPr>
              <a:t>],</a:t>
            </a:r>
            <a:endParaRPr lang="en-US" sz="1000" dirty="0"/>
          </a:p>
          <a:p>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FFB59C"/>
                </a:solidFill>
                <a:latin typeface="JetBrains Mono" pitchFamily="34" charset="0"/>
                <a:ea typeface="JetBrains Mono" pitchFamily="34" charset="-122"/>
                <a:cs typeface="JetBrains Mono" pitchFamily="34" charset="-120"/>
              </a:rPr>
              <a:t>'http_req_duration{name:book}'</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FFB59C"/>
                </a:solidFill>
                <a:latin typeface="JetBrains Mono" pitchFamily="34" charset="0"/>
                <a:ea typeface="JetBrains Mono" pitchFamily="34" charset="-122"/>
                <a:cs typeface="JetBrains Mono" pitchFamily="34" charset="-120"/>
              </a:rPr>
              <a:t>'p(95)&lt;500'</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endParaRPr lang="en-US" sz="1000" dirty="0"/>
          </a:p>
          <a:p>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endParaRPr lang="en-US" sz="1000" dirty="0"/>
          </a:p>
          <a:p>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endParaRPr lang="en-US" sz="1000" dirty="0"/>
          </a:p>
          <a:p>
            <a:pPr indent="0" marL="0">
              <a:lnSpc>
                <a:spcPct val="105000"/>
              </a:lnSpc>
              <a:buNone/>
            </a:pPr>
            <a:r>
              <a:rPr lang="en-US" sz="1000" dirty="0">
                <a:solidFill>
                  <a:srgbClr val="000000"/>
                </a:solidFill>
                <a:latin typeface="JetBrains Mono" pitchFamily="34" charset="0"/>
                <a:ea typeface="JetBrains Mono" pitchFamily="34" charset="-122"/>
                <a:cs typeface="JetBrains Mono" pitchFamily="34" charset="-120"/>
              </a:rPr>
              <a:t> </a:t>
            </a:r>
            <a:endParaRPr lang="en-US" sz="1000" dirty="0"/>
          </a:p>
          <a:p>
            <a:pPr indent="0" marL="0">
              <a:lnSpc>
                <a:spcPct val="105000"/>
              </a:lnSpc>
              <a:buNone/>
            </a:pPr>
            <a:r>
              <a:rPr lang="en-US" sz="1000" dirty="0">
                <a:solidFill>
                  <a:srgbClr val="FF5723"/>
                </a:solidFill>
                <a:latin typeface="JetBrains Mono" pitchFamily="34" charset="0"/>
                <a:ea typeface="JetBrains Mono" pitchFamily="34" charset="-122"/>
                <a:cs typeface="JetBrains Mono" pitchFamily="34" charset="-120"/>
              </a:rPr>
              <a:t>export</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FF5723"/>
                </a:solidFill>
                <a:latin typeface="JetBrains Mono" pitchFamily="34" charset="0"/>
                <a:ea typeface="JetBrains Mono" pitchFamily="34" charset="-122"/>
                <a:cs typeface="JetBrains Mono" pitchFamily="34" charset="-120"/>
              </a:rPr>
              <a:t>default</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FF5723"/>
                </a:solidFill>
                <a:latin typeface="JetBrains Mono" pitchFamily="34" charset="0"/>
                <a:ea typeface="JetBrains Mono" pitchFamily="34" charset="-122"/>
                <a:cs typeface="JetBrains Mono" pitchFamily="34" charset="-120"/>
              </a:rPr>
              <a:t>function</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data</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endParaRPr lang="en-US" sz="1000" dirty="0"/>
          </a:p>
          <a:p>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FF5723"/>
                </a:solidFill>
                <a:latin typeface="JetBrains Mono" pitchFamily="34" charset="0"/>
                <a:ea typeface="JetBrains Mono" pitchFamily="34" charset="-122"/>
                <a:cs typeface="JetBrains Mono" pitchFamily="34" charset="-120"/>
              </a:rPr>
              <a:t>if</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token</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token</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 </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register</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8B8F97"/>
                </a:solidFill>
                <a:latin typeface="JetBrains Mono" pitchFamily="34" charset="0"/>
                <a:ea typeface="JetBrains Mono" pitchFamily="34" charset="-122"/>
                <a:cs typeface="JetBrains Mono" pitchFamily="34" charset="-120"/>
              </a:rPr>
              <a:t>// one account per virtual user</a:t>
            </a:r>
            <a:endParaRPr lang="en-US" sz="1000" dirty="0"/>
          </a:p>
          <a:p>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FF5723"/>
                </a:solidFill>
                <a:latin typeface="JetBrains Mono" pitchFamily="34" charset="0"/>
                <a:ea typeface="JetBrains Mono" pitchFamily="34" charset="-122"/>
                <a:cs typeface="JetBrains Mono" pitchFamily="34" charset="-120"/>
              </a:rPr>
              <a:t>const</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quote</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 </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http</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post</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00" dirty="0">
                <a:solidFill>
                  <a:srgbClr val="F2EDE6"/>
                </a:solidFill>
                <a:latin typeface="JetBrains Mono" pitchFamily="34" charset="0"/>
                <a:ea typeface="JetBrains Mono" pitchFamily="34" charset="-122"/>
                <a:cs typeface="JetBrains Mono" pitchFamily="34" charset="-120"/>
              </a:rPr>
              <a:t>BASE_URL</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api</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quotes</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endParaRPr lang="en-US" sz="1000" dirty="0"/>
          </a:p>
          <a:p>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FF5723"/>
                </a:solidFill>
                <a:latin typeface="JetBrains Mono" pitchFamily="34" charset="0"/>
                <a:ea typeface="JetBrains Mono" pitchFamily="34" charset="-122"/>
                <a:cs typeface="JetBrains Mono" pitchFamily="34" charset="-120"/>
              </a:rPr>
              <a:t>const</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params</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 </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json</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token</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endParaRPr lang="en-US" sz="1000" dirty="0"/>
          </a:p>
          <a:p>
            <a:pPr indent="0" marL="0">
              <a:lnSpc>
                <a:spcPct val="105000"/>
              </a:lnSpc>
              <a:buNone/>
            </a:pPr>
            <a:r>
              <a:rPr lang="en-US" sz="1000" dirty="0">
                <a:solidFill>
                  <a:srgbClr val="FFFFFF"/>
                </a:solidFill>
                <a:highlight>
                  <a:srgbClr val="4A3A33"/>
                </a:highlight>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FFFFFF"/>
                </a:solidFill>
                <a:highlight>
                  <a:srgbClr val="4A3A33"/>
                </a:highlight>
                <a:latin typeface="JetBrains Mono" pitchFamily="34" charset="0"/>
                <a:ea typeface="JetBrains Mono" pitchFamily="34" charset="-122"/>
                <a:cs typeface="JetBrains Mono" pitchFamily="34" charset="-120"/>
              </a:rPr>
              <a:t>params</a:t>
            </a:r>
            <a:pPr indent="0" marL="0">
              <a:lnSpc>
                <a:spcPct val="105000"/>
              </a:lnSpc>
              <a:buNone/>
            </a:pPr>
            <a:r>
              <a:rPr lang="en-US" sz="1000" dirty="0">
                <a:solidFill>
                  <a:srgbClr val="FFFFFF"/>
                </a:solidFill>
                <a:highlight>
                  <a:srgbClr val="4A3A33"/>
                </a:highlight>
                <a:latin typeface="JetBrains Mono" pitchFamily="34" charset="0"/>
                <a:ea typeface="JetBrains Mono" pitchFamily="34" charset="-122"/>
                <a:cs typeface="JetBrains Mono" pitchFamily="34" charset="-120"/>
              </a:rPr>
              <a:t>.</a:t>
            </a:r>
            <a:pPr indent="0" marL="0">
              <a:lnSpc>
                <a:spcPct val="105000"/>
              </a:lnSpc>
              <a:buNone/>
            </a:pPr>
            <a:r>
              <a:rPr lang="en-US" sz="1000" dirty="0">
                <a:solidFill>
                  <a:srgbClr val="FFFFFF"/>
                </a:solidFill>
                <a:highlight>
                  <a:srgbClr val="4A3A33"/>
                </a:highlight>
                <a:latin typeface="JetBrains Mono" pitchFamily="34" charset="0"/>
                <a:ea typeface="JetBrains Mono" pitchFamily="34" charset="-122"/>
                <a:cs typeface="JetBrains Mono" pitchFamily="34" charset="-120"/>
              </a:rPr>
              <a:t>headers</a:t>
            </a:r>
            <a:pPr indent="0" marL="0">
              <a:lnSpc>
                <a:spcPct val="105000"/>
              </a:lnSpc>
              <a:buNone/>
            </a:pPr>
            <a:r>
              <a:rPr lang="en-US" sz="1000" dirty="0">
                <a:solidFill>
                  <a:srgbClr val="FFFFFF"/>
                </a:solidFill>
                <a:highlight>
                  <a:srgbClr val="4A3A33"/>
                </a:highlight>
                <a:latin typeface="JetBrains Mono" pitchFamily="34" charset="0"/>
                <a:ea typeface="JetBrains Mono" pitchFamily="34" charset="-122"/>
                <a:cs typeface="JetBrains Mono" pitchFamily="34" charset="-120"/>
              </a:rPr>
              <a:t>[</a:t>
            </a:r>
            <a:pPr indent="0" marL="0">
              <a:lnSpc>
                <a:spcPct val="105000"/>
              </a:lnSpc>
              <a:buNone/>
            </a:pPr>
            <a:r>
              <a:rPr lang="en-US" sz="1000" dirty="0">
                <a:solidFill>
                  <a:srgbClr val="FFB59C"/>
                </a:solidFill>
                <a:highlight>
                  <a:srgbClr val="4A3A33"/>
                </a:highlight>
                <a:latin typeface="JetBrains Mono" pitchFamily="34" charset="0"/>
                <a:ea typeface="JetBrains Mono" pitchFamily="34" charset="-122"/>
                <a:cs typeface="JetBrains Mono" pitchFamily="34" charset="-120"/>
              </a:rPr>
              <a:t>'Idempotency-Key'</a:t>
            </a:r>
            <a:pPr indent="0" marL="0">
              <a:lnSpc>
                <a:spcPct val="105000"/>
              </a:lnSpc>
              <a:buNone/>
            </a:pPr>
            <a:r>
              <a:rPr lang="en-US" sz="1000" dirty="0">
                <a:solidFill>
                  <a:srgbClr val="FFFFFF"/>
                </a:solidFill>
                <a:highlight>
                  <a:srgbClr val="4A3A33"/>
                </a:highlight>
                <a:latin typeface="JetBrains Mono" pitchFamily="34" charset="0"/>
                <a:ea typeface="JetBrains Mono" pitchFamily="34" charset="-122"/>
                <a:cs typeface="JetBrains Mono" pitchFamily="34" charset="-120"/>
              </a:rPr>
              <a:t>] = </a:t>
            </a:r>
            <a:pPr indent="0" marL="0">
              <a:lnSpc>
                <a:spcPct val="105000"/>
              </a:lnSpc>
              <a:buNone/>
            </a:pPr>
            <a:r>
              <a:rPr lang="en-US" sz="1000" dirty="0">
                <a:solidFill>
                  <a:srgbClr val="FFFFFF"/>
                </a:solidFill>
                <a:highlight>
                  <a:srgbClr val="4A3A33"/>
                </a:highlight>
                <a:latin typeface="JetBrains Mono" pitchFamily="34" charset="0"/>
                <a:ea typeface="JetBrains Mono" pitchFamily="34" charset="-122"/>
                <a:cs typeface="JetBrains Mono" pitchFamily="34" charset="-120"/>
              </a:rPr>
              <a:t>uuidv4</a:t>
            </a:r>
            <a:pPr indent="0" marL="0">
              <a:lnSpc>
                <a:spcPct val="105000"/>
              </a:lnSpc>
              <a:buNone/>
            </a:pPr>
            <a:r>
              <a:rPr lang="en-US" sz="1000" dirty="0">
                <a:solidFill>
                  <a:srgbClr val="FFFFFF"/>
                </a:solidFill>
                <a:highlight>
                  <a:srgbClr val="4A3A33"/>
                </a:highlight>
                <a:latin typeface="JetBrains Mono" pitchFamily="34" charset="0"/>
                <a:ea typeface="JetBrains Mono" pitchFamily="34" charset="-122"/>
                <a:cs typeface="JetBrains Mono" pitchFamily="34" charset="-120"/>
              </a:rPr>
              <a:t>();</a:t>
            </a:r>
            <a:endParaRPr lang="en-US" sz="1000" dirty="0"/>
          </a:p>
          <a:p>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params</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tags</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 { </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name</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FFB59C"/>
                </a:solidFill>
                <a:latin typeface="JetBrains Mono" pitchFamily="34" charset="0"/>
                <a:ea typeface="JetBrains Mono" pitchFamily="34" charset="-122"/>
                <a:cs typeface="JetBrains Mono" pitchFamily="34" charset="-120"/>
              </a:rPr>
              <a:t>'book'</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endParaRPr lang="en-US" sz="1000" dirty="0"/>
          </a:p>
          <a:p>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http</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post</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00" dirty="0">
                <a:solidFill>
                  <a:srgbClr val="F2EDE6"/>
                </a:solidFill>
                <a:latin typeface="JetBrains Mono" pitchFamily="34" charset="0"/>
                <a:ea typeface="JetBrains Mono" pitchFamily="34" charset="-122"/>
                <a:cs typeface="JetBrains Mono" pitchFamily="34" charset="-120"/>
              </a:rPr>
              <a:t>BASE_URL</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api</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shipments</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 </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params</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endParaRPr lang="en-US" sz="1000" dirty="0"/>
          </a:p>
          <a:p>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http</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get</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00" dirty="0">
                <a:solidFill>
                  <a:srgbClr val="F2EDE6"/>
                </a:solidFill>
                <a:latin typeface="JetBrains Mono" pitchFamily="34" charset="0"/>
                <a:ea typeface="JetBrains Mono" pitchFamily="34" charset="-122"/>
                <a:cs typeface="JetBrains Mono" pitchFamily="34" charset="-120"/>
              </a:rPr>
              <a:t>BASE_URL</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api</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shipments</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 ...</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json</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token</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tags</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 </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name</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FFB59C"/>
                </a:solidFill>
                <a:latin typeface="JetBrains Mono" pitchFamily="34" charset="0"/>
                <a:ea typeface="JetBrains Mono" pitchFamily="34" charset="-122"/>
                <a:cs typeface="JetBrains Mono" pitchFamily="34" charset="-120"/>
              </a:rPr>
              <a:t>'list'</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 });</a:t>
            </a:r>
            <a:endParaRPr lang="en-US" sz="1000" dirty="0"/>
          </a:p>
          <a:p>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sleep</a:t>
            </a:r>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(3);                            </a:t>
            </a:r>
            <a:pPr indent="0" marL="0">
              <a:lnSpc>
                <a:spcPct val="105000"/>
              </a:lnSpc>
              <a:buNone/>
            </a:pPr>
            <a:r>
              <a:rPr lang="en-US" sz="1000" dirty="0">
                <a:solidFill>
                  <a:srgbClr val="8B8F97"/>
                </a:solidFill>
                <a:latin typeface="JetBrains Mono" pitchFamily="34" charset="0"/>
                <a:ea typeface="JetBrains Mono" pitchFamily="34" charset="-122"/>
                <a:cs typeface="JetBrains Mono" pitchFamily="34" charset="-120"/>
              </a:rPr>
              <a:t>// stays under 60 requests/minute</a:t>
            </a:r>
            <a:endParaRPr lang="en-US" sz="1000" dirty="0"/>
          </a:p>
          <a:p>
            <a:pPr indent="0" marL="0">
              <a:lnSpc>
                <a:spcPct val="105000"/>
              </a:lnSpc>
              <a:buNone/>
            </a:pPr>
            <a:r>
              <a:rPr lang="en-US" sz="1000" dirty="0">
                <a:solidFill>
                  <a:srgbClr val="E8E2D9"/>
                </a:solidFill>
                <a:latin typeface="JetBrains Mono" pitchFamily="34" charset="0"/>
                <a:ea typeface="JetBrains Mono" pitchFamily="34" charset="-122"/>
                <a:cs typeface="JetBrains Mono" pitchFamily="34" charset="-120"/>
              </a:rPr>
              <a:t>}</a:t>
            </a:r>
            <a:endParaRPr lang="en-US" sz="1000" dirty="0"/>
          </a:p>
        </p:txBody>
      </p:sp>
      <p:sp>
        <p:nvSpPr>
          <p:cNvPr id="8" name="Text 6"/>
          <p:cNvSpPr txBox="1"/>
          <p:nvPr/>
        </p:nvSpPr>
        <p:spPr>
          <a:xfrm>
            <a:off x="8275320" y="1783080"/>
            <a:ext cx="3367735" cy="43434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272827"/>
                </a:solidFill>
                <a:latin typeface="Inter" pitchFamily="34" charset="0"/>
                <a:ea typeface="Inter" pitchFamily="34" charset="-122"/>
                <a:cs typeface="Inter" pitchFamily="34" charset="-120"/>
              </a:rPr>
              <a:t>Ramp to </a:t>
            </a:r>
            <a:pPr indent="0" marL="0">
              <a:buNone/>
            </a:pPr>
            <a:r>
              <a:rPr lang="en-US" sz="1500" dirty="0">
                <a:solidFill>
                  <a:srgbClr val="C2410C"/>
                </a:solidFill>
                <a:latin typeface="JetBrains Mono" pitchFamily="34" charset="0"/>
                <a:ea typeface="JetBrains Mono" pitchFamily="34" charset="-122"/>
                <a:cs typeface="JetBrains Mono" pitchFamily="34" charset="-120"/>
              </a:rPr>
              <a:t>VUS</a:t>
            </a:r>
            <a:pPr indent="0" marL="0">
              <a:buNone/>
            </a:pPr>
            <a:r>
              <a:rPr lang="en-US" sz="1500" dirty="0">
                <a:solidFill>
                  <a:srgbClr val="272827"/>
                </a:solidFill>
                <a:latin typeface="Inter" pitchFamily="34" charset="0"/>
                <a:ea typeface="Inter" pitchFamily="34" charset="-122"/>
                <a:cs typeface="Inter" pitchFamily="34" charset="-120"/>
              </a:rPr>
              <a:t> users (default 20), hold for a minute</a:t>
            </a:r>
            <a:endParaRPr lang="en-US" sz="1500" dirty="0"/>
          </a:p>
          <a:p>
            <a:pPr marL="228600" indent="-228600">
              <a:spcAft>
                <a:spcPts val="1000"/>
              </a:spcAft>
              <a:buSzPct val="100000"/>
              <a:buChar char="•"/>
            </a:pPr>
            <a:r>
              <a:rPr lang="en-US" sz="1500" b="1" dirty="0">
                <a:solidFill>
                  <a:srgbClr val="272827"/>
                </a:solidFill>
                <a:latin typeface="Inter" pitchFamily="34" charset="0"/>
                <a:ea typeface="Inter" pitchFamily="34" charset="-122"/>
                <a:cs typeface="Inter" pitchFamily="34" charset="-120"/>
              </a:rPr>
              <a:t>Thresholds</a:t>
            </a:r>
            <a:pPr indent="0" marL="0">
              <a:buNone/>
            </a:pPr>
            <a:r>
              <a:rPr lang="en-US" sz="1500" dirty="0">
                <a:solidFill>
                  <a:srgbClr val="272827"/>
                </a:solidFill>
                <a:latin typeface="Inter" pitchFamily="34" charset="0"/>
                <a:ea typeface="Inter" pitchFamily="34" charset="-122"/>
                <a:cs typeface="Inter" pitchFamily="34" charset="-120"/>
              </a:rPr>
              <a:t>: &lt; 1% failed, list p95 &lt; 300 ms, book p95 &lt; 500 ms</a:t>
            </a:r>
            <a:endParaRPr lang="en-US" sz="1500" dirty="0"/>
          </a:p>
          <a:p>
            <a:pPr marL="228600" indent="-228600">
              <a:spcAft>
                <a:spcPts val="1000"/>
              </a:spcAft>
              <a:buSzPct val="100000"/>
              <a:buChar char="•"/>
            </a:pPr>
            <a:r>
              <a:rPr lang="en-US" sz="1500" dirty="0">
                <a:solidFill>
                  <a:srgbClr val="272827"/>
                </a:solidFill>
                <a:latin typeface="Inter" pitchFamily="34" charset="0"/>
                <a:ea typeface="Inter" pitchFamily="34" charset="-122"/>
                <a:cs typeface="Inter" pitchFamily="34" charset="-120"/>
              </a:rPr>
              <a:t>Own account per user, a fresh key per booking</a:t>
            </a:r>
            <a:endParaRPr lang="en-US" sz="1500" dirty="0"/>
          </a:p>
          <a:p>
            <a:pPr marL="228600" indent="-228600">
              <a:spcAft>
                <a:spcPts val="1000"/>
              </a:spcAft>
              <a:buSzPct val="100000"/>
              <a:buChar char="•"/>
            </a:pPr>
            <a:r>
              <a:rPr lang="en-US" sz="1500" dirty="0">
                <a:solidFill>
                  <a:srgbClr val="C2410C"/>
                </a:solidFill>
                <a:latin typeface="JetBrains Mono" pitchFamily="34" charset="0"/>
                <a:ea typeface="JetBrains Mono" pitchFamily="34" charset="-122"/>
                <a:cs typeface="JetBrains Mono" pitchFamily="34" charset="-120"/>
              </a:rPr>
              <a:t>k6 run -e VUS=50 load/booking.js</a:t>
            </a:r>
            <a:endParaRPr lang="en-US" sz="1500" dirty="0"/>
          </a:p>
        </p:txBody>
      </p:sp>
      <p:sp>
        <p:nvSpPr>
          <p:cNvPr id="25" name="Slide Number Placeholder 0"/>
          <p:cNvSpPr>
            <a:spLocks noGrp="1"/>
          </p:cNvSpPr>
          <p:nvPr>
            <p:ph type="sldNum" sz="quarter" idx="4294967295"/>
          </p:nvPr>
        </p:nvSpPr>
        <p:spPr>
          <a:xfrm>
            <a:off x="10911535" y="6419088"/>
            <a:ext cx="73152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280"/>
                </a:solidFill>
                <a:latin typeface="Inter"/>
                <a:ea typeface="Inter"/>
                <a:cs typeface="Inter"/>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94415" cy="640080"/>
          </a:xfrm>
          <a:prstGeom prst="rect">
            <a:avLst/>
          </a:prstGeom>
          <a:noFill/>
          <a:ln/>
        </p:spPr>
        <p:txBody>
          <a:bodyPr wrap="square" lIns="0" tIns="0" rIns="0" bIns="0" rtlCol="0" anchor="b"/>
          <a:lstStyle/>
          <a:p>
            <a:pPr algn="l" indent="0" marL="0">
              <a:buNone/>
            </a:pPr>
            <a:r>
              <a:rPr lang="en-US" sz="3200" b="1" dirty="0">
                <a:solidFill>
                  <a:srgbClr val="272827"/>
                </a:solidFill>
                <a:latin typeface="Playfair Display" pitchFamily="34" charset="0"/>
                <a:ea typeface="Playfair Display" pitchFamily="34" charset="-122"/>
                <a:cs typeface="Playfair Display" pitchFamily="34" charset="-120"/>
              </a:rPr>
              <a:t>Reading a k6 report</a:t>
            </a:r>
            <a:endParaRPr lang="en-US" sz="3200" dirty="0"/>
          </a:p>
        </p:txBody>
      </p:sp>
      <p:sp>
        <p:nvSpPr>
          <p:cNvPr id="3" name="Text 1"/>
          <p:cNvSpPr txBox="1"/>
          <p:nvPr/>
        </p:nvSpPr>
        <p:spPr>
          <a:xfrm>
            <a:off x="548640" y="1060704"/>
            <a:ext cx="8229600" cy="384048"/>
          </a:xfrm>
          <a:prstGeom prst="rect">
            <a:avLst/>
          </a:prstGeom>
          <a:noFill/>
          <a:ln/>
        </p:spPr>
        <p:txBody>
          <a:bodyPr wrap="square" lIns="0" tIns="0" rIns="0" bIns="0" rtlCol="0" anchor="t"/>
          <a:lstStyle/>
          <a:p>
            <a:pPr rtl="1" algn="l" indent="0" marL="0">
              <a:buNone/>
            </a:pPr>
            <a:r>
              <a:rPr lang="ar-LY" altLang="en-US" sz="1700" dirty="0">
                <a:solidFill>
                  <a:srgbClr val="FF5723"/>
                </a:solidFill>
                <a:latin typeface="Tajawal" pitchFamily="34" charset="0"/>
                <a:ea typeface="Tajawal" pitchFamily="34" charset="-122"/>
                <a:cs typeface="Tajawal" pitchFamily="34" charset="-120"/>
              </a:rPr>
              <a:t>قراءة تقرير k6</a:t>
            </a:r>
            <a:endParaRPr lang="ar-LY" sz="1700" dirty="0"/>
          </a:p>
        </p:txBody>
      </p:sp>
      <p:sp>
        <p:nvSpPr>
          <p:cNvPr id="4" name="Shape 2"/>
          <p:cNvSpPr/>
          <p:nvPr/>
        </p:nvSpPr>
        <p:spPr>
          <a:xfrm>
            <a:off x="548640" y="1874520"/>
            <a:ext cx="3515258" cy="3017520"/>
          </a:xfrm>
          <a:prstGeom prst="roundRect">
            <a:avLst>
              <a:gd name="adj" fmla="val 2424"/>
            </a:avLst>
          </a:prstGeom>
          <a:solidFill>
            <a:srgbClr val="272827"/>
          </a:solidFill>
          <a:ln w="12700">
            <a:solidFill>
              <a:srgbClr val="272827"/>
            </a:solidFill>
            <a:prstDash val="solid"/>
          </a:ln>
          <a:effectLst>
            <a:outerShdw sx="100000" sy="100000" kx="0" ky="0" algn="bl" rotWithShape="0" blurRad="76200" dist="25400" dir="5400000">
              <a:srgbClr val="000000">
                <a:alpha val="12000"/>
              </a:srgbClr>
            </a:outerShdw>
          </a:effectLst>
        </p:spPr>
      </p:sp>
      <p:sp>
        <p:nvSpPr>
          <p:cNvPr id="5" name="Text 3"/>
          <p:cNvSpPr txBox="1"/>
          <p:nvPr/>
        </p:nvSpPr>
        <p:spPr>
          <a:xfrm>
            <a:off x="822960" y="2148840"/>
            <a:ext cx="2966618" cy="1188720"/>
          </a:xfrm>
          <a:prstGeom prst="rect">
            <a:avLst/>
          </a:prstGeom>
          <a:noFill/>
          <a:ln/>
        </p:spPr>
        <p:txBody>
          <a:bodyPr wrap="square" lIns="0" tIns="0" rIns="0" bIns="0" rtlCol="0" anchor="ctr"/>
          <a:lstStyle/>
          <a:p>
            <a:pPr indent="0" marL="0">
              <a:buNone/>
            </a:pPr>
            <a:r>
              <a:rPr lang="en-US" sz="5400" b="1" dirty="0">
                <a:solidFill>
                  <a:srgbClr val="FF5723"/>
                </a:solidFill>
                <a:latin typeface="Playfair Display" pitchFamily="34" charset="0"/>
                <a:ea typeface="Playfair Display" pitchFamily="34" charset="-122"/>
                <a:cs typeface="Playfair Display" pitchFamily="34" charset="-120"/>
              </a:rPr>
              <a:t>p95</a:t>
            </a:r>
            <a:endParaRPr lang="en-US" sz="5400" dirty="0"/>
          </a:p>
        </p:txBody>
      </p:sp>
      <p:sp>
        <p:nvSpPr>
          <p:cNvPr id="6" name="Text 4"/>
          <p:cNvSpPr txBox="1"/>
          <p:nvPr/>
        </p:nvSpPr>
        <p:spPr>
          <a:xfrm>
            <a:off x="822960" y="3429000"/>
            <a:ext cx="2966618" cy="1280160"/>
          </a:xfrm>
          <a:prstGeom prst="rect">
            <a:avLst/>
          </a:prstGeom>
          <a:noFill/>
          <a:ln/>
        </p:spPr>
        <p:txBody>
          <a:bodyPr wrap="square" lIns="0" tIns="0" rIns="0" bIns="0" rtlCol="0" anchor="t"/>
          <a:lstStyle/>
          <a:p>
            <a:pPr indent="0" marL="0">
              <a:buNone/>
            </a:pPr>
            <a:r>
              <a:rPr lang="en-US" sz="1500" dirty="0">
                <a:solidFill>
                  <a:srgbClr val="E8E2D9"/>
                </a:solidFill>
                <a:latin typeface="Inter" pitchFamily="34" charset="0"/>
                <a:ea typeface="Inter" pitchFamily="34" charset="-122"/>
                <a:cs typeface="Inter" pitchFamily="34" charset="-120"/>
              </a:rPr>
              <a:t>95% of requests were faster than this. Watch it, not the </a:t>
            </a:r>
            <a:pPr indent="0" marL="0">
              <a:buNone/>
            </a:pPr>
            <a:r>
              <a:rPr lang="en-US" sz="1500" b="1" dirty="0">
                <a:solidFill>
                  <a:srgbClr val="E8E2D9"/>
                </a:solidFill>
                <a:latin typeface="Inter" pitchFamily="34" charset="0"/>
                <a:ea typeface="Inter" pitchFamily="34" charset="-122"/>
                <a:cs typeface="Inter" pitchFamily="34" charset="-120"/>
              </a:rPr>
              <a:t>average</a:t>
            </a:r>
            <a:pPr indent="0" marL="0">
              <a:buNone/>
            </a:pPr>
            <a:r>
              <a:rPr lang="en-US" sz="1500" dirty="0">
                <a:solidFill>
                  <a:srgbClr val="E8E2D9"/>
                </a:solidFill>
                <a:latin typeface="Inter" pitchFamily="34" charset="0"/>
                <a:ea typeface="Inter" pitchFamily="34" charset="-122"/>
                <a:cs typeface="Inter" pitchFamily="34" charset="-120"/>
              </a:rPr>
              <a:t>, which hides slow users.</a:t>
            </a:r>
            <a:endParaRPr lang="en-US" sz="1500" dirty="0"/>
          </a:p>
        </p:txBody>
      </p:sp>
      <p:sp>
        <p:nvSpPr>
          <p:cNvPr id="7" name="Shape 5"/>
          <p:cNvSpPr/>
          <p:nvPr/>
        </p:nvSpPr>
        <p:spPr>
          <a:xfrm>
            <a:off x="4338218" y="1874520"/>
            <a:ext cx="3515258" cy="3017520"/>
          </a:xfrm>
          <a:prstGeom prst="roundRect">
            <a:avLst>
              <a:gd name="adj" fmla="val 2424"/>
            </a:avLst>
          </a:prstGeom>
          <a:solidFill>
            <a:srgbClr val="F6F3EE"/>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8" name="Text 6"/>
          <p:cNvSpPr txBox="1"/>
          <p:nvPr/>
        </p:nvSpPr>
        <p:spPr>
          <a:xfrm>
            <a:off x="4612538" y="2148840"/>
            <a:ext cx="2966618" cy="1188720"/>
          </a:xfrm>
          <a:prstGeom prst="rect">
            <a:avLst/>
          </a:prstGeom>
          <a:noFill/>
          <a:ln/>
        </p:spPr>
        <p:txBody>
          <a:bodyPr wrap="square" lIns="0" tIns="0" rIns="0" bIns="0" rtlCol="0" anchor="ctr"/>
          <a:lstStyle/>
          <a:p>
            <a:pPr indent="0" marL="0">
              <a:buNone/>
            </a:pPr>
            <a:r>
              <a:rPr lang="en-US" sz="5400" b="1" dirty="0">
                <a:solidFill>
                  <a:srgbClr val="FF5723"/>
                </a:solidFill>
                <a:latin typeface="Playfair Display" pitchFamily="34" charset="0"/>
                <a:ea typeface="Playfair Display" pitchFamily="34" charset="-122"/>
                <a:cs typeface="Playfair Display" pitchFamily="34" charset="-120"/>
              </a:rPr>
              <a:t>req/s</a:t>
            </a:r>
            <a:endParaRPr lang="en-US" sz="5400" dirty="0"/>
          </a:p>
        </p:txBody>
      </p:sp>
      <p:sp>
        <p:nvSpPr>
          <p:cNvPr id="9" name="Text 7"/>
          <p:cNvSpPr txBox="1"/>
          <p:nvPr/>
        </p:nvSpPr>
        <p:spPr>
          <a:xfrm>
            <a:off x="4612538" y="3429000"/>
            <a:ext cx="2966618" cy="1280160"/>
          </a:xfrm>
          <a:prstGeom prst="rect">
            <a:avLst/>
          </a:prstGeom>
          <a:noFill/>
          <a:ln/>
        </p:spPr>
        <p:txBody>
          <a:bodyPr wrap="square" lIns="0" tIns="0" rIns="0" bIns="0" rtlCol="0" anchor="t"/>
          <a:lstStyle/>
          <a:p>
            <a:pPr indent="0" marL="0">
              <a:buNone/>
            </a:pPr>
            <a:r>
              <a:rPr lang="en-US" sz="1500" dirty="0">
                <a:solidFill>
                  <a:srgbClr val="3A3B3A"/>
                </a:solidFill>
                <a:latin typeface="Inter" pitchFamily="34" charset="0"/>
                <a:ea typeface="Inter" pitchFamily="34" charset="-122"/>
                <a:cs typeface="Inter" pitchFamily="34" charset="-120"/>
              </a:rPr>
              <a:t>Throughput the system </a:t>
            </a:r>
            <a:pPr indent="0" marL="0">
              <a:buNone/>
            </a:pPr>
            <a:r>
              <a:rPr lang="en-US" sz="1500" b="1" dirty="0">
                <a:solidFill>
                  <a:srgbClr val="3A3B3A"/>
                </a:solidFill>
                <a:latin typeface="Inter" pitchFamily="34" charset="0"/>
                <a:ea typeface="Inter" pitchFamily="34" charset="-122"/>
                <a:cs typeface="Inter" pitchFamily="34" charset="-120"/>
              </a:rPr>
              <a:t>sustained</a:t>
            </a:r>
            <a:pPr indent="0" marL="0">
              <a:buNone/>
            </a:pPr>
            <a:r>
              <a:rPr lang="en-US" sz="1500" dirty="0">
                <a:solidFill>
                  <a:srgbClr val="3A3B3A"/>
                </a:solidFill>
                <a:latin typeface="Inter" pitchFamily="34" charset="0"/>
                <a:ea typeface="Inter" pitchFamily="34" charset="-122"/>
                <a:cs typeface="Inter" pitchFamily="34" charset="-120"/>
              </a:rPr>
              <a:t> at a given number of virtual users.</a:t>
            </a:r>
            <a:endParaRPr lang="en-US" sz="1500" dirty="0"/>
          </a:p>
        </p:txBody>
      </p:sp>
      <p:sp>
        <p:nvSpPr>
          <p:cNvPr id="10" name="Shape 8"/>
          <p:cNvSpPr/>
          <p:nvPr/>
        </p:nvSpPr>
        <p:spPr>
          <a:xfrm>
            <a:off x="8127797" y="1874520"/>
            <a:ext cx="3515258" cy="3017520"/>
          </a:xfrm>
          <a:prstGeom prst="roundRect">
            <a:avLst>
              <a:gd name="adj" fmla="val 2424"/>
            </a:avLst>
          </a:prstGeom>
          <a:solidFill>
            <a:srgbClr val="F6F3EE"/>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11" name="Text 9"/>
          <p:cNvSpPr txBox="1"/>
          <p:nvPr/>
        </p:nvSpPr>
        <p:spPr>
          <a:xfrm>
            <a:off x="8402117" y="2148840"/>
            <a:ext cx="2966618" cy="1188720"/>
          </a:xfrm>
          <a:prstGeom prst="rect">
            <a:avLst/>
          </a:prstGeom>
          <a:noFill/>
          <a:ln/>
        </p:spPr>
        <p:txBody>
          <a:bodyPr wrap="square" lIns="0" tIns="0" rIns="0" bIns="0" rtlCol="0" anchor="ctr"/>
          <a:lstStyle/>
          <a:p>
            <a:pPr indent="0" marL="0">
              <a:buNone/>
            </a:pPr>
            <a:r>
              <a:rPr lang="en-US" sz="4800" b="1" dirty="0">
                <a:solidFill>
                  <a:srgbClr val="FF5723"/>
                </a:solidFill>
                <a:latin typeface="Playfair Display" pitchFamily="34" charset="0"/>
                <a:ea typeface="Playfair Display" pitchFamily="34" charset="-122"/>
                <a:cs typeface="Playfair Display" pitchFamily="34" charset="-120"/>
              </a:rPr>
              <a:t>failed</a:t>
            </a:r>
            <a:endParaRPr lang="en-US" sz="4800" dirty="0"/>
          </a:p>
        </p:txBody>
      </p:sp>
      <p:sp>
        <p:nvSpPr>
          <p:cNvPr id="12" name="Text 10"/>
          <p:cNvSpPr txBox="1"/>
          <p:nvPr/>
        </p:nvSpPr>
        <p:spPr>
          <a:xfrm>
            <a:off x="8402117" y="3429000"/>
            <a:ext cx="2966618" cy="1280160"/>
          </a:xfrm>
          <a:prstGeom prst="rect">
            <a:avLst/>
          </a:prstGeom>
          <a:noFill/>
          <a:ln/>
        </p:spPr>
        <p:txBody>
          <a:bodyPr wrap="square" lIns="0" tIns="0" rIns="0" bIns="0" rtlCol="0" anchor="t"/>
          <a:lstStyle/>
          <a:p>
            <a:pPr indent="0" marL="0">
              <a:buNone/>
            </a:pPr>
            <a:r>
              <a:rPr lang="en-US" sz="1500" dirty="0">
                <a:solidFill>
                  <a:srgbClr val="C2410C"/>
                </a:solidFill>
                <a:latin typeface="JetBrains Mono" pitchFamily="34" charset="0"/>
                <a:ea typeface="JetBrains Mono" pitchFamily="34" charset="-122"/>
                <a:cs typeface="JetBrains Mono" pitchFamily="34" charset="-120"/>
              </a:rPr>
              <a:t>http_req_failed</a:t>
            </a:r>
            <a:pPr indent="0" marL="0">
              <a:buNone/>
            </a:pPr>
            <a:r>
              <a:rPr lang="en-US" sz="1500" dirty="0">
                <a:solidFill>
                  <a:srgbClr val="3A3B3A"/>
                </a:solidFill>
                <a:latin typeface="Inter" pitchFamily="34" charset="0"/>
                <a:ea typeface="Inter" pitchFamily="34" charset="-122"/>
                <a:cs typeface="Inter" pitchFamily="34" charset="-120"/>
              </a:rPr>
              <a:t> rate. 429s and 500s land here: a fast error is still an error.</a:t>
            </a:r>
            <a:endParaRPr lang="en-US" sz="1500" dirty="0"/>
          </a:p>
        </p:txBody>
      </p:sp>
      <p:sp>
        <p:nvSpPr>
          <p:cNvPr id="13" name="Text 11"/>
          <p:cNvSpPr txBox="1"/>
          <p:nvPr/>
        </p:nvSpPr>
        <p:spPr>
          <a:xfrm>
            <a:off x="548640" y="5394960"/>
            <a:ext cx="11094415" cy="365760"/>
          </a:xfrm>
          <a:prstGeom prst="rect">
            <a:avLst/>
          </a:prstGeom>
          <a:noFill/>
          <a:ln/>
        </p:spPr>
        <p:txBody>
          <a:bodyPr wrap="square" lIns="0" tIns="0" rIns="0" bIns="0" rtlCol="0" anchor="ctr"/>
          <a:lstStyle/>
          <a:p>
            <a:pPr indent="0" marL="0">
              <a:buNone/>
            </a:pPr>
            <a:r>
              <a:rPr lang="en-US" sz="1400" i="1" dirty="0">
                <a:solidFill>
                  <a:srgbClr val="3A3B3A"/>
                </a:solidFill>
                <a:latin typeface="Inter" pitchFamily="34" charset="0"/>
                <a:ea typeface="Inter" pitchFamily="34" charset="-122"/>
                <a:cs typeface="Inter" pitchFamily="34" charset="-120"/>
              </a:rPr>
              <a:t>Same machine, same data, same script, at least 3 runs. Otherwise the comparison means nothing.</a:t>
            </a:r>
            <a:endParaRPr lang="en-US" sz="1400" dirty="0"/>
          </a:p>
        </p:txBody>
      </p:sp>
      <p:sp>
        <p:nvSpPr>
          <p:cNvPr id="25" name="Slide Number Placeholder 0"/>
          <p:cNvSpPr>
            <a:spLocks noGrp="1"/>
          </p:cNvSpPr>
          <p:nvPr>
            <p:ph type="sldNum" sz="quarter" idx="4294967295"/>
          </p:nvPr>
        </p:nvSpPr>
        <p:spPr>
          <a:xfrm>
            <a:off x="10911535" y="6419088"/>
            <a:ext cx="73152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280"/>
                </a:solidFill>
                <a:latin typeface="Inter"/>
                <a:ea typeface="Inter"/>
                <a:cs typeface="Inter"/>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94415" cy="640080"/>
          </a:xfrm>
          <a:prstGeom prst="rect">
            <a:avLst/>
          </a:prstGeom>
          <a:noFill/>
          <a:ln/>
        </p:spPr>
        <p:txBody>
          <a:bodyPr wrap="square" lIns="0" tIns="0" rIns="0" bIns="0" rtlCol="0" anchor="b"/>
          <a:lstStyle/>
          <a:p>
            <a:pPr algn="l" indent="0" marL="0">
              <a:buNone/>
            </a:pPr>
            <a:r>
              <a:rPr lang="en-US" sz="3200" b="1" dirty="0">
                <a:solidFill>
                  <a:srgbClr val="272827"/>
                </a:solidFill>
                <a:latin typeface="Playfair Display" pitchFamily="34" charset="0"/>
                <a:ea typeface="Playfair Display" pitchFamily="34" charset="-122"/>
                <a:cs typeface="Playfair Display" pitchFamily="34" charset="-120"/>
              </a:rPr>
              <a:t>Before and after: an example run</a:t>
            </a:r>
            <a:endParaRPr lang="en-US" sz="3200" dirty="0"/>
          </a:p>
        </p:txBody>
      </p:sp>
      <p:sp>
        <p:nvSpPr>
          <p:cNvPr id="3" name="Text 1"/>
          <p:cNvSpPr txBox="1"/>
          <p:nvPr/>
        </p:nvSpPr>
        <p:spPr>
          <a:xfrm>
            <a:off x="548640" y="1060704"/>
            <a:ext cx="8229600" cy="384048"/>
          </a:xfrm>
          <a:prstGeom prst="rect">
            <a:avLst/>
          </a:prstGeom>
          <a:noFill/>
          <a:ln/>
        </p:spPr>
        <p:txBody>
          <a:bodyPr wrap="square" lIns="0" tIns="0" rIns="0" bIns="0" rtlCol="0" anchor="t"/>
          <a:lstStyle/>
          <a:p>
            <a:pPr rtl="1" algn="l" indent="0" marL="0">
              <a:buNone/>
            </a:pPr>
            <a:r>
              <a:rPr lang="ar-LY" altLang="en-US" sz="1700" dirty="0">
                <a:solidFill>
                  <a:srgbClr val="FF5723"/>
                </a:solidFill>
                <a:latin typeface="Tajawal" pitchFamily="34" charset="0"/>
                <a:ea typeface="Tajawal" pitchFamily="34" charset="-122"/>
                <a:cs typeface="Tajawal" pitchFamily="34" charset="-120"/>
              </a:rPr>
              <a:t>قبل وبعد: مثال من تشغيل فعلي</a:t>
            </a:r>
            <a:endParaRPr lang="ar-LY" sz="17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11094415" cy="914400"/>
        </p:xfrm>
        <a:graphic>
          <a:graphicData uri="http://schemas.openxmlformats.org/drawingml/2006/table">
            <a:tbl>
              <a:tblPr/>
              <a:tblGrid>
                <a:gridCol w="3566160"/>
                <a:gridCol w="1554480"/>
                <a:gridCol w="1554480"/>
                <a:gridCol w="4416552"/>
              </a:tblGrid>
              <a:tr h="0">
                <a:tc>
                  <a:txBody>
                    <a:bodyPr/>
                    <a:lstStyle/>
                    <a:p>
                      <a:pPr indent="0" marL="0">
                        <a:buNone/>
                      </a:pPr>
                      <a:r>
                        <a:rPr lang="en-US" sz="1600" b="1" dirty="0">
                          <a:solidFill>
                            <a:srgbClr val="FFFFFF"/>
                          </a:solidFill>
                          <a:latin typeface="Inter" pitchFamily="34" charset="0"/>
                          <a:ea typeface="Inter" pitchFamily="34" charset="-122"/>
                          <a:cs typeface="Inter" pitchFamily="34" charset="-120"/>
                        </a:rPr>
                        <a:t>Metric</a:t>
                      </a:r>
                      <a:endParaRPr lang="en-US" sz="1600" dirty="0">
                        <a:latin typeface="Inter" charset="0"/>
                        <a:ea typeface="Inter" charset="0"/>
                        <a:cs typeface="Inter" charset="0"/>
                      </a:endParaRPr>
                    </a:p>
                  </a:txBody>
                  <a:tcPr marL="101600" marR="101600" marT="63500" marB="63500" anchor="ctr">
                    <a:lnL w="9525" cap="flat" cmpd="sng" algn="ctr">
                      <a:solidFill>
                        <a:srgbClr val="D0CBC0"/>
                      </a:solidFill>
                      <a:prstDash val="solid"/>
                      <a:round/>
                      <a:headEnd type="none" w="med" len="med"/>
                      <a:tailEnd type="none" w="med" len="med"/>
                    </a:lnL>
                    <a:lnR w="9525" cap="flat" cmpd="sng" algn="ctr">
                      <a:solidFill>
                        <a:srgbClr val="D0CBC0"/>
                      </a:solidFill>
                      <a:prstDash val="solid"/>
                      <a:round/>
                      <a:headEnd type="none" w="med" len="med"/>
                      <a:tailEnd type="none" w="med" len="med"/>
                    </a:lnR>
                    <a:lnT w="9525" cap="flat" cmpd="sng" algn="ctr">
                      <a:solidFill>
                        <a:srgbClr val="D0CBC0"/>
                      </a:solidFill>
                      <a:prstDash val="solid"/>
                      <a:round/>
                      <a:headEnd type="none" w="med" len="med"/>
                      <a:tailEnd type="none" w="med" len="med"/>
                    </a:lnT>
                    <a:lnB w="9525" cap="flat" cmpd="sng" algn="ctr">
                      <a:solidFill>
                        <a:srgbClr val="D0CBC0"/>
                      </a:solidFill>
                      <a:prstDash val="solid"/>
                      <a:round/>
                      <a:headEnd type="none" w="med" len="med"/>
                      <a:tailEnd type="none" w="med" len="med"/>
                    </a:lnB>
                    <a:solidFill>
                      <a:srgbClr val="272827"/>
                    </a:solidFill>
                  </a:tcPr>
                </a:tc>
                <a:tc>
                  <a:txBody>
                    <a:bodyPr/>
                    <a:lstStyle/>
                    <a:p>
                      <a:pPr indent="0" marL="0">
                        <a:buNone/>
                      </a:pPr>
                      <a:r>
                        <a:rPr lang="en-US" sz="1600" b="1" dirty="0">
                          <a:solidFill>
                            <a:srgbClr val="FFFFFF"/>
                          </a:solidFill>
                          <a:latin typeface="Inter" pitchFamily="34" charset="0"/>
                          <a:ea typeface="Inter" pitchFamily="34" charset="-122"/>
                          <a:cs typeface="Inter" pitchFamily="34" charset="-120"/>
                        </a:rPr>
                        <a:t>day2-end</a:t>
                      </a:r>
                      <a:endParaRPr lang="en-US" sz="1600" dirty="0">
                        <a:latin typeface="Inter" charset="0"/>
                        <a:ea typeface="Inter" charset="0"/>
                        <a:cs typeface="Inter" charset="0"/>
                      </a:endParaRPr>
                    </a:p>
                  </a:txBody>
                  <a:tcPr marL="101600" marR="101600" marT="63500" marB="63500" anchor="ctr">
                    <a:lnL w="9525" cap="flat" cmpd="sng" algn="ctr">
                      <a:solidFill>
                        <a:srgbClr val="D0CBC0"/>
                      </a:solidFill>
                      <a:prstDash val="solid"/>
                      <a:round/>
                      <a:headEnd type="none" w="med" len="med"/>
                      <a:tailEnd type="none" w="med" len="med"/>
                    </a:lnL>
                    <a:lnR w="9525" cap="flat" cmpd="sng" algn="ctr">
                      <a:solidFill>
                        <a:srgbClr val="D0CBC0"/>
                      </a:solidFill>
                      <a:prstDash val="solid"/>
                      <a:round/>
                      <a:headEnd type="none" w="med" len="med"/>
                      <a:tailEnd type="none" w="med" len="med"/>
                    </a:lnR>
                    <a:lnT w="9525" cap="flat" cmpd="sng" algn="ctr">
                      <a:solidFill>
                        <a:srgbClr val="D0CBC0"/>
                      </a:solidFill>
                      <a:prstDash val="solid"/>
                      <a:round/>
                      <a:headEnd type="none" w="med" len="med"/>
                      <a:tailEnd type="none" w="med" len="med"/>
                    </a:lnT>
                    <a:lnB w="9525" cap="flat" cmpd="sng" algn="ctr">
                      <a:solidFill>
                        <a:srgbClr val="D0CBC0"/>
                      </a:solidFill>
                      <a:prstDash val="solid"/>
                      <a:round/>
                      <a:headEnd type="none" w="med" len="med"/>
                      <a:tailEnd type="none" w="med" len="med"/>
                    </a:lnB>
                    <a:solidFill>
                      <a:srgbClr val="272827"/>
                    </a:solidFill>
                  </a:tcPr>
                </a:tc>
                <a:tc>
                  <a:txBody>
                    <a:bodyPr/>
                    <a:lstStyle/>
                    <a:p>
                      <a:pPr indent="0" marL="0">
                        <a:buNone/>
                      </a:pPr>
                      <a:r>
                        <a:rPr lang="en-US" sz="1600" b="1" dirty="0">
                          <a:solidFill>
                            <a:srgbClr val="FFFFFF"/>
                          </a:solidFill>
                          <a:latin typeface="Inter" pitchFamily="34" charset="0"/>
                          <a:ea typeface="Inter" pitchFamily="34" charset="-122"/>
                          <a:cs typeface="Inter" pitchFamily="34" charset="-120"/>
                        </a:rPr>
                        <a:t>day3-end</a:t>
                      </a:r>
                      <a:endParaRPr lang="en-US" sz="1600" dirty="0">
                        <a:latin typeface="Inter" charset="0"/>
                        <a:ea typeface="Inter" charset="0"/>
                        <a:cs typeface="Inter" charset="0"/>
                      </a:endParaRPr>
                    </a:p>
                  </a:txBody>
                  <a:tcPr marL="101600" marR="101600" marT="63500" marB="63500" anchor="ctr">
                    <a:lnL w="9525" cap="flat" cmpd="sng" algn="ctr">
                      <a:solidFill>
                        <a:srgbClr val="D0CBC0"/>
                      </a:solidFill>
                      <a:prstDash val="solid"/>
                      <a:round/>
                      <a:headEnd type="none" w="med" len="med"/>
                      <a:tailEnd type="none" w="med" len="med"/>
                    </a:lnL>
                    <a:lnR w="9525" cap="flat" cmpd="sng" algn="ctr">
                      <a:solidFill>
                        <a:srgbClr val="D0CBC0"/>
                      </a:solidFill>
                      <a:prstDash val="solid"/>
                      <a:round/>
                      <a:headEnd type="none" w="med" len="med"/>
                      <a:tailEnd type="none" w="med" len="med"/>
                    </a:lnR>
                    <a:lnT w="9525" cap="flat" cmpd="sng" algn="ctr">
                      <a:solidFill>
                        <a:srgbClr val="D0CBC0"/>
                      </a:solidFill>
                      <a:prstDash val="solid"/>
                      <a:round/>
                      <a:headEnd type="none" w="med" len="med"/>
                      <a:tailEnd type="none" w="med" len="med"/>
                    </a:lnT>
                    <a:lnB w="9525" cap="flat" cmpd="sng" algn="ctr">
                      <a:solidFill>
                        <a:srgbClr val="D0CBC0"/>
                      </a:solidFill>
                      <a:prstDash val="solid"/>
                      <a:round/>
                      <a:headEnd type="none" w="med" len="med"/>
                      <a:tailEnd type="none" w="med" len="med"/>
                    </a:lnB>
                    <a:solidFill>
                      <a:srgbClr val="272827"/>
                    </a:solidFill>
                  </a:tcPr>
                </a:tc>
                <a:tc>
                  <a:txBody>
                    <a:bodyPr/>
                    <a:lstStyle/>
                    <a:p>
                      <a:pPr indent="0" marL="0">
                        <a:buNone/>
                      </a:pPr>
                      <a:r>
                        <a:rPr lang="en-US" sz="1600" b="1" dirty="0">
                          <a:solidFill>
                            <a:srgbClr val="FFFFFF"/>
                          </a:solidFill>
                          <a:latin typeface="Inter" pitchFamily="34" charset="0"/>
                          <a:ea typeface="Inter" pitchFamily="34" charset="-122"/>
                          <a:cs typeface="Inter" pitchFamily="34" charset="-120"/>
                        </a:rPr>
                        <a:t>What changed</a:t>
                      </a:r>
                      <a:endParaRPr lang="en-US" sz="1600" dirty="0">
                        <a:latin typeface="Inter" charset="0"/>
                        <a:ea typeface="Inter" charset="0"/>
                        <a:cs typeface="Inter" charset="0"/>
                      </a:endParaRPr>
                    </a:p>
                  </a:txBody>
                  <a:tcPr marL="101600" marR="101600" marT="63500" marB="63500" anchor="ctr">
                    <a:lnL w="9525" cap="flat" cmpd="sng" algn="ctr">
                      <a:solidFill>
                        <a:srgbClr val="D0CBC0"/>
                      </a:solidFill>
                      <a:prstDash val="solid"/>
                      <a:round/>
                      <a:headEnd type="none" w="med" len="med"/>
                      <a:tailEnd type="none" w="med" len="med"/>
                    </a:lnL>
                    <a:lnR w="9525" cap="flat" cmpd="sng" algn="ctr">
                      <a:solidFill>
                        <a:srgbClr val="D0CBC0"/>
                      </a:solidFill>
                      <a:prstDash val="solid"/>
                      <a:round/>
                      <a:headEnd type="none" w="med" len="med"/>
                      <a:tailEnd type="none" w="med" len="med"/>
                    </a:lnR>
                    <a:lnT w="9525" cap="flat" cmpd="sng" algn="ctr">
                      <a:solidFill>
                        <a:srgbClr val="D0CBC0"/>
                      </a:solidFill>
                      <a:prstDash val="solid"/>
                      <a:round/>
                      <a:headEnd type="none" w="med" len="med"/>
                      <a:tailEnd type="none" w="med" len="med"/>
                    </a:lnT>
                    <a:lnB w="9525" cap="flat" cmpd="sng" algn="ctr">
                      <a:solidFill>
                        <a:srgbClr val="D0CBC0"/>
                      </a:solidFill>
                      <a:prstDash val="solid"/>
                      <a:round/>
                      <a:headEnd type="none" w="med" len="med"/>
                      <a:tailEnd type="none" w="med" len="med"/>
                    </a:lnB>
                    <a:solidFill>
                      <a:srgbClr val="272827"/>
                    </a:solidFill>
                  </a:tcPr>
                </a:tc>
              </a:tr>
              <a:tr h="0">
                <a:tc>
                  <a:txBody>
                    <a:bodyPr/>
                    <a:lstStyle/>
                    <a:p>
                      <a:pPr indent="0" marL="0">
                        <a:buNone/>
                      </a:pPr>
                      <a:r>
                        <a:rPr lang="en-US" sz="1600" b="1" dirty="0">
                          <a:solidFill>
                            <a:srgbClr val="272827"/>
                          </a:solidFill>
                          <a:latin typeface="Inter" pitchFamily="34" charset="0"/>
                          <a:ea typeface="Inter" pitchFamily="34" charset="-122"/>
                          <a:cs typeface="Inter" pitchFamily="34" charset="-120"/>
                        </a:rPr>
                        <a:t>GET /shipments p95</a:t>
                      </a:r>
                      <a:endParaRPr lang="en-US" sz="1600" dirty="0">
                        <a:latin typeface="Inter" charset="0"/>
                        <a:ea typeface="Inter" charset="0"/>
                        <a:cs typeface="Inter" charset="0"/>
                      </a:endParaRPr>
                    </a:p>
                  </a:txBody>
                  <a:tcPr marL="101600" marR="101600" marT="63500" marB="63500" anchor="ctr">
                    <a:lnL w="9525" cap="flat" cmpd="sng" algn="ctr">
                      <a:solidFill>
                        <a:srgbClr val="D0CBC0"/>
                      </a:solidFill>
                      <a:prstDash val="solid"/>
                      <a:round/>
                      <a:headEnd type="none" w="med" len="med"/>
                      <a:tailEnd type="none" w="med" len="med"/>
                    </a:lnL>
                    <a:lnR w="9525" cap="flat" cmpd="sng" algn="ctr">
                      <a:solidFill>
                        <a:srgbClr val="D0CBC0"/>
                      </a:solidFill>
                      <a:prstDash val="solid"/>
                      <a:round/>
                      <a:headEnd type="none" w="med" len="med"/>
                      <a:tailEnd type="none" w="med" len="med"/>
                    </a:lnR>
                    <a:lnT w="9525" cap="flat" cmpd="sng" algn="ctr">
                      <a:solidFill>
                        <a:srgbClr val="D0CBC0"/>
                      </a:solidFill>
                      <a:prstDash val="solid"/>
                      <a:round/>
                      <a:headEnd type="none" w="med" len="med"/>
                      <a:tailEnd type="none" w="med" len="med"/>
                    </a:lnT>
                    <a:lnB w="9525" cap="flat" cmpd="sng" algn="ctr">
                      <a:solidFill>
                        <a:srgbClr val="D0CBC0"/>
                      </a:solidFill>
                      <a:prstDash val="solid"/>
                      <a:round/>
                      <a:headEnd type="none" w="med" len="med"/>
                      <a:tailEnd type="none" w="med" len="med"/>
                    </a:lnB>
                    <a:solidFill>
                      <a:srgbClr val="FFFFFF"/>
                    </a:solidFill>
                  </a:tcPr>
                </a:tc>
                <a:tc>
                  <a:txBody>
                    <a:bodyPr/>
                    <a:lstStyle/>
                    <a:p>
                      <a:pPr indent="0" marL="0">
                        <a:buNone/>
                      </a:pPr>
                      <a:r>
                        <a:rPr lang="en-US" sz="1600" dirty="0">
                          <a:solidFill>
                            <a:srgbClr val="272827"/>
                          </a:solidFill>
                          <a:latin typeface="Inter" pitchFamily="34" charset="0"/>
                          <a:ea typeface="Inter" pitchFamily="34" charset="-122"/>
                          <a:cs typeface="Inter" pitchFamily="34" charset="-120"/>
                        </a:rPr>
                        <a:t>840 ms</a:t>
                      </a:r>
                      <a:endParaRPr lang="en-US" sz="1600" dirty="0">
                        <a:latin typeface="Inter" charset="0"/>
                        <a:ea typeface="Inter" charset="0"/>
                        <a:cs typeface="Inter" charset="0"/>
                      </a:endParaRPr>
                    </a:p>
                  </a:txBody>
                  <a:tcPr marL="101600" marR="101600" marT="63500" marB="63500" anchor="ctr">
                    <a:lnL w="9525" cap="flat" cmpd="sng" algn="ctr">
                      <a:solidFill>
                        <a:srgbClr val="D0CBC0"/>
                      </a:solidFill>
                      <a:prstDash val="solid"/>
                      <a:round/>
                      <a:headEnd type="none" w="med" len="med"/>
                      <a:tailEnd type="none" w="med" len="med"/>
                    </a:lnL>
                    <a:lnR w="9525" cap="flat" cmpd="sng" algn="ctr">
                      <a:solidFill>
                        <a:srgbClr val="D0CBC0"/>
                      </a:solidFill>
                      <a:prstDash val="solid"/>
                      <a:round/>
                      <a:headEnd type="none" w="med" len="med"/>
                      <a:tailEnd type="none" w="med" len="med"/>
                    </a:lnR>
                    <a:lnT w="9525" cap="flat" cmpd="sng" algn="ctr">
                      <a:solidFill>
                        <a:srgbClr val="D0CBC0"/>
                      </a:solidFill>
                      <a:prstDash val="solid"/>
                      <a:round/>
                      <a:headEnd type="none" w="med" len="med"/>
                      <a:tailEnd type="none" w="med" len="med"/>
                    </a:lnT>
                    <a:lnB w="9525" cap="flat" cmpd="sng" algn="ctr">
                      <a:solidFill>
                        <a:srgbClr val="D0CBC0"/>
                      </a:solidFill>
                      <a:prstDash val="solid"/>
                      <a:round/>
                      <a:headEnd type="none" w="med" len="med"/>
                      <a:tailEnd type="none" w="med" len="med"/>
                    </a:lnB>
                    <a:solidFill>
                      <a:srgbClr val="FFFFFF"/>
                    </a:solidFill>
                  </a:tcPr>
                </a:tc>
                <a:tc>
                  <a:txBody>
                    <a:bodyPr/>
                    <a:lstStyle/>
                    <a:p>
                      <a:pPr indent="0" marL="0">
                        <a:buNone/>
                      </a:pPr>
                      <a:r>
                        <a:rPr lang="en-US" sz="1600" dirty="0">
                          <a:solidFill>
                            <a:srgbClr val="272827"/>
                          </a:solidFill>
                          <a:latin typeface="Inter" pitchFamily="34" charset="0"/>
                          <a:ea typeface="Inter" pitchFamily="34" charset="-122"/>
                          <a:cs typeface="Inter" pitchFamily="34" charset="-120"/>
                        </a:rPr>
                        <a:t>120 ms</a:t>
                      </a:r>
                      <a:endParaRPr lang="en-US" sz="1600" dirty="0">
                        <a:latin typeface="Inter" charset="0"/>
                        <a:ea typeface="Inter" charset="0"/>
                        <a:cs typeface="Inter" charset="0"/>
                      </a:endParaRPr>
                    </a:p>
                  </a:txBody>
                  <a:tcPr marL="101600" marR="101600" marT="63500" marB="63500" anchor="ctr">
                    <a:lnL w="9525" cap="flat" cmpd="sng" algn="ctr">
                      <a:solidFill>
                        <a:srgbClr val="D0CBC0"/>
                      </a:solidFill>
                      <a:prstDash val="solid"/>
                      <a:round/>
                      <a:headEnd type="none" w="med" len="med"/>
                      <a:tailEnd type="none" w="med" len="med"/>
                    </a:lnL>
                    <a:lnR w="9525" cap="flat" cmpd="sng" algn="ctr">
                      <a:solidFill>
                        <a:srgbClr val="D0CBC0"/>
                      </a:solidFill>
                      <a:prstDash val="solid"/>
                      <a:round/>
                      <a:headEnd type="none" w="med" len="med"/>
                      <a:tailEnd type="none" w="med" len="med"/>
                    </a:lnR>
                    <a:lnT w="9525" cap="flat" cmpd="sng" algn="ctr">
                      <a:solidFill>
                        <a:srgbClr val="D0CBC0"/>
                      </a:solidFill>
                      <a:prstDash val="solid"/>
                      <a:round/>
                      <a:headEnd type="none" w="med" len="med"/>
                      <a:tailEnd type="none" w="med" len="med"/>
                    </a:lnT>
                    <a:lnB w="9525" cap="flat" cmpd="sng" algn="ctr">
                      <a:solidFill>
                        <a:srgbClr val="D0CBC0"/>
                      </a:solidFill>
                      <a:prstDash val="solid"/>
                      <a:round/>
                      <a:headEnd type="none" w="med" len="med"/>
                      <a:tailEnd type="none" w="med" len="med"/>
                    </a:lnB>
                    <a:solidFill>
                      <a:srgbClr val="FFFFFF"/>
                    </a:solidFill>
                  </a:tcPr>
                </a:tc>
                <a:tc>
                  <a:txBody>
                    <a:bodyPr/>
                    <a:lstStyle/>
                    <a:p>
                      <a:pPr indent="0" marL="0">
                        <a:buNone/>
                      </a:pPr>
                      <a:r>
                        <a:rPr lang="en-US" sz="1600" dirty="0">
                          <a:solidFill>
                            <a:srgbClr val="272827"/>
                          </a:solidFill>
                          <a:latin typeface="Inter" pitchFamily="34" charset="0"/>
                          <a:ea typeface="Inter" pitchFamily="34" charset="-122"/>
                          <a:cs typeface="Inter" pitchFamily="34" charset="-120"/>
                        </a:rPr>
                        <a:t>eager loading</a:t>
                      </a:r>
                      <a:endParaRPr lang="en-US" sz="1600" dirty="0">
                        <a:latin typeface="Inter" charset="0"/>
                        <a:ea typeface="Inter" charset="0"/>
                        <a:cs typeface="Inter" charset="0"/>
                      </a:endParaRPr>
                    </a:p>
                  </a:txBody>
                  <a:tcPr marL="101600" marR="101600" marT="63500" marB="63500" anchor="ctr">
                    <a:lnL w="9525" cap="flat" cmpd="sng" algn="ctr">
                      <a:solidFill>
                        <a:srgbClr val="D0CBC0"/>
                      </a:solidFill>
                      <a:prstDash val="solid"/>
                      <a:round/>
                      <a:headEnd type="none" w="med" len="med"/>
                      <a:tailEnd type="none" w="med" len="med"/>
                    </a:lnL>
                    <a:lnR w="9525" cap="flat" cmpd="sng" algn="ctr">
                      <a:solidFill>
                        <a:srgbClr val="D0CBC0"/>
                      </a:solidFill>
                      <a:prstDash val="solid"/>
                      <a:round/>
                      <a:headEnd type="none" w="med" len="med"/>
                      <a:tailEnd type="none" w="med" len="med"/>
                    </a:lnR>
                    <a:lnT w="9525" cap="flat" cmpd="sng" algn="ctr">
                      <a:solidFill>
                        <a:srgbClr val="D0CBC0"/>
                      </a:solidFill>
                      <a:prstDash val="solid"/>
                      <a:round/>
                      <a:headEnd type="none" w="med" len="med"/>
                      <a:tailEnd type="none" w="med" len="med"/>
                    </a:lnT>
                    <a:lnB w="9525" cap="flat" cmpd="sng" algn="ctr">
                      <a:solidFill>
                        <a:srgbClr val="D0CBC0"/>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272827"/>
                          </a:solidFill>
                          <a:latin typeface="Inter" pitchFamily="34" charset="0"/>
                          <a:ea typeface="Inter" pitchFamily="34" charset="-122"/>
                          <a:cs typeface="Inter" pitchFamily="34" charset="-120"/>
                        </a:rPr>
                        <a:t>Queries per list request</a:t>
                      </a:r>
                      <a:endParaRPr lang="en-US" sz="1600" dirty="0">
                        <a:latin typeface="Inter" charset="0"/>
                        <a:ea typeface="Inter" charset="0"/>
                        <a:cs typeface="Inter" charset="0"/>
                      </a:endParaRPr>
                    </a:p>
                  </a:txBody>
                  <a:tcPr marL="101600" marR="101600" marT="63500" marB="63500" anchor="ctr">
                    <a:lnL w="9525" cap="flat" cmpd="sng" algn="ctr">
                      <a:solidFill>
                        <a:srgbClr val="D0CBC0"/>
                      </a:solidFill>
                      <a:prstDash val="solid"/>
                      <a:round/>
                      <a:headEnd type="none" w="med" len="med"/>
                      <a:tailEnd type="none" w="med" len="med"/>
                    </a:lnL>
                    <a:lnR w="9525" cap="flat" cmpd="sng" algn="ctr">
                      <a:solidFill>
                        <a:srgbClr val="D0CBC0"/>
                      </a:solidFill>
                      <a:prstDash val="solid"/>
                      <a:round/>
                      <a:headEnd type="none" w="med" len="med"/>
                      <a:tailEnd type="none" w="med" len="med"/>
                    </a:lnR>
                    <a:lnT w="9525" cap="flat" cmpd="sng" algn="ctr">
                      <a:solidFill>
                        <a:srgbClr val="D0CBC0"/>
                      </a:solidFill>
                      <a:prstDash val="solid"/>
                      <a:round/>
                      <a:headEnd type="none" w="med" len="med"/>
                      <a:tailEnd type="none" w="med" len="med"/>
                    </a:lnT>
                    <a:lnB w="9525" cap="flat" cmpd="sng" algn="ctr">
                      <a:solidFill>
                        <a:srgbClr val="D0CBC0"/>
                      </a:solidFill>
                      <a:prstDash val="solid"/>
                      <a:round/>
                      <a:headEnd type="none" w="med" len="med"/>
                      <a:tailEnd type="none" w="med" len="med"/>
                    </a:lnB>
                    <a:solidFill>
                      <a:srgbClr val="F6F3EE"/>
                    </a:solidFill>
                  </a:tcPr>
                </a:tc>
                <a:tc>
                  <a:txBody>
                    <a:bodyPr/>
                    <a:lstStyle/>
                    <a:p>
                      <a:pPr indent="0" marL="0">
                        <a:buNone/>
                      </a:pPr>
                      <a:r>
                        <a:rPr lang="en-US" sz="1600" dirty="0">
                          <a:solidFill>
                            <a:srgbClr val="272827"/>
                          </a:solidFill>
                          <a:latin typeface="Inter" pitchFamily="34" charset="0"/>
                          <a:ea typeface="Inter" pitchFamily="34" charset="-122"/>
                          <a:cs typeface="Inter" pitchFamily="34" charset="-120"/>
                        </a:rPr>
                        <a:t>+3 per row</a:t>
                      </a:r>
                      <a:endParaRPr lang="en-US" sz="1600" dirty="0">
                        <a:latin typeface="Inter" charset="0"/>
                        <a:ea typeface="Inter" charset="0"/>
                        <a:cs typeface="Inter" charset="0"/>
                      </a:endParaRPr>
                    </a:p>
                  </a:txBody>
                  <a:tcPr marL="101600" marR="101600" marT="63500" marB="63500" anchor="ctr">
                    <a:lnL w="9525" cap="flat" cmpd="sng" algn="ctr">
                      <a:solidFill>
                        <a:srgbClr val="D0CBC0"/>
                      </a:solidFill>
                      <a:prstDash val="solid"/>
                      <a:round/>
                      <a:headEnd type="none" w="med" len="med"/>
                      <a:tailEnd type="none" w="med" len="med"/>
                    </a:lnL>
                    <a:lnR w="9525" cap="flat" cmpd="sng" algn="ctr">
                      <a:solidFill>
                        <a:srgbClr val="D0CBC0"/>
                      </a:solidFill>
                      <a:prstDash val="solid"/>
                      <a:round/>
                      <a:headEnd type="none" w="med" len="med"/>
                      <a:tailEnd type="none" w="med" len="med"/>
                    </a:lnR>
                    <a:lnT w="9525" cap="flat" cmpd="sng" algn="ctr">
                      <a:solidFill>
                        <a:srgbClr val="D0CBC0"/>
                      </a:solidFill>
                      <a:prstDash val="solid"/>
                      <a:round/>
                      <a:headEnd type="none" w="med" len="med"/>
                      <a:tailEnd type="none" w="med" len="med"/>
                    </a:lnT>
                    <a:lnB w="9525" cap="flat" cmpd="sng" algn="ctr">
                      <a:solidFill>
                        <a:srgbClr val="D0CBC0"/>
                      </a:solidFill>
                      <a:prstDash val="solid"/>
                      <a:round/>
                      <a:headEnd type="none" w="med" len="med"/>
                      <a:tailEnd type="none" w="med" len="med"/>
                    </a:lnB>
                    <a:solidFill>
                      <a:srgbClr val="F6F3EE"/>
                    </a:solidFill>
                  </a:tcPr>
                </a:tc>
                <a:tc>
                  <a:txBody>
                    <a:bodyPr/>
                    <a:lstStyle/>
                    <a:p>
                      <a:pPr indent="0" marL="0">
                        <a:buNone/>
                      </a:pPr>
                      <a:r>
                        <a:rPr lang="en-US" sz="1600" dirty="0">
                          <a:solidFill>
                            <a:srgbClr val="272827"/>
                          </a:solidFill>
                          <a:latin typeface="Inter" pitchFamily="34" charset="0"/>
                          <a:ea typeface="Inter" pitchFamily="34" charset="-122"/>
                          <a:cs typeface="Inter" pitchFamily="34" charset="-120"/>
                        </a:rPr>
                        <a:t>fixed</a:t>
                      </a:r>
                      <a:endParaRPr lang="en-US" sz="1600" dirty="0">
                        <a:latin typeface="Inter" charset="0"/>
                        <a:ea typeface="Inter" charset="0"/>
                        <a:cs typeface="Inter" charset="0"/>
                      </a:endParaRPr>
                    </a:p>
                  </a:txBody>
                  <a:tcPr marL="101600" marR="101600" marT="63500" marB="63500" anchor="ctr">
                    <a:lnL w="9525" cap="flat" cmpd="sng" algn="ctr">
                      <a:solidFill>
                        <a:srgbClr val="D0CBC0"/>
                      </a:solidFill>
                      <a:prstDash val="solid"/>
                      <a:round/>
                      <a:headEnd type="none" w="med" len="med"/>
                      <a:tailEnd type="none" w="med" len="med"/>
                    </a:lnL>
                    <a:lnR w="9525" cap="flat" cmpd="sng" algn="ctr">
                      <a:solidFill>
                        <a:srgbClr val="D0CBC0"/>
                      </a:solidFill>
                      <a:prstDash val="solid"/>
                      <a:round/>
                      <a:headEnd type="none" w="med" len="med"/>
                      <a:tailEnd type="none" w="med" len="med"/>
                    </a:lnR>
                    <a:lnT w="9525" cap="flat" cmpd="sng" algn="ctr">
                      <a:solidFill>
                        <a:srgbClr val="D0CBC0"/>
                      </a:solidFill>
                      <a:prstDash val="solid"/>
                      <a:round/>
                      <a:headEnd type="none" w="med" len="med"/>
                      <a:tailEnd type="none" w="med" len="med"/>
                    </a:lnT>
                    <a:lnB w="9525" cap="flat" cmpd="sng" algn="ctr">
                      <a:solidFill>
                        <a:srgbClr val="D0CBC0"/>
                      </a:solidFill>
                      <a:prstDash val="solid"/>
                      <a:round/>
                      <a:headEnd type="none" w="med" len="med"/>
                      <a:tailEnd type="none" w="med" len="med"/>
                    </a:lnB>
                    <a:solidFill>
                      <a:srgbClr val="F6F3EE"/>
                    </a:solidFill>
                  </a:tcPr>
                </a:tc>
                <a:tc>
                  <a:txBody>
                    <a:bodyPr/>
                    <a:lstStyle/>
                    <a:p>
                      <a:pPr indent="0" marL="0">
                        <a:buNone/>
                      </a:pPr>
                      <a:r>
                        <a:rPr lang="en-US" sz="1600" dirty="0">
                          <a:solidFill>
                            <a:srgbClr val="272827"/>
                          </a:solidFill>
                          <a:latin typeface="Inter" pitchFamily="34" charset="0"/>
                          <a:ea typeface="Inter" pitchFamily="34" charset="-122"/>
                          <a:cs typeface="Inter" pitchFamily="34" charset="-120"/>
                        </a:rPr>
                        <a:t>N+1 removed</a:t>
                      </a:r>
                      <a:endParaRPr lang="en-US" sz="1600" dirty="0">
                        <a:latin typeface="Inter" charset="0"/>
                        <a:ea typeface="Inter" charset="0"/>
                        <a:cs typeface="Inter" charset="0"/>
                      </a:endParaRPr>
                    </a:p>
                  </a:txBody>
                  <a:tcPr marL="101600" marR="101600" marT="63500" marB="63500" anchor="ctr">
                    <a:lnL w="9525" cap="flat" cmpd="sng" algn="ctr">
                      <a:solidFill>
                        <a:srgbClr val="D0CBC0"/>
                      </a:solidFill>
                      <a:prstDash val="solid"/>
                      <a:round/>
                      <a:headEnd type="none" w="med" len="med"/>
                      <a:tailEnd type="none" w="med" len="med"/>
                    </a:lnL>
                    <a:lnR w="9525" cap="flat" cmpd="sng" algn="ctr">
                      <a:solidFill>
                        <a:srgbClr val="D0CBC0"/>
                      </a:solidFill>
                      <a:prstDash val="solid"/>
                      <a:round/>
                      <a:headEnd type="none" w="med" len="med"/>
                      <a:tailEnd type="none" w="med" len="med"/>
                    </a:lnR>
                    <a:lnT w="9525" cap="flat" cmpd="sng" algn="ctr">
                      <a:solidFill>
                        <a:srgbClr val="D0CBC0"/>
                      </a:solidFill>
                      <a:prstDash val="solid"/>
                      <a:round/>
                      <a:headEnd type="none" w="med" len="med"/>
                      <a:tailEnd type="none" w="med" len="med"/>
                    </a:lnT>
                    <a:lnB w="9525" cap="flat" cmpd="sng" algn="ctr">
                      <a:solidFill>
                        <a:srgbClr val="D0CBC0"/>
                      </a:solidFill>
                      <a:prstDash val="solid"/>
                      <a:round/>
                      <a:headEnd type="none" w="med" len="med"/>
                      <a:tailEnd type="none" w="med" len="med"/>
                    </a:lnB>
                    <a:solidFill>
                      <a:srgbClr val="F6F3EE"/>
                    </a:solidFill>
                  </a:tcPr>
                </a:tc>
              </a:tr>
              <a:tr h="0">
                <a:tc>
                  <a:txBody>
                    <a:bodyPr/>
                    <a:lstStyle/>
                    <a:p>
                      <a:pPr indent="0" marL="0">
                        <a:buNone/>
                      </a:pPr>
                      <a:r>
                        <a:rPr lang="en-US" sz="1600" b="1" dirty="0">
                          <a:solidFill>
                            <a:srgbClr val="272827"/>
                          </a:solidFill>
                          <a:latin typeface="Inter" pitchFamily="34" charset="0"/>
                          <a:ea typeface="Inter" pitchFamily="34" charset="-122"/>
                          <a:cs typeface="Inter" pitchFamily="34" charset="-120"/>
                        </a:rPr>
                        <a:t>POST /shipments p95</a:t>
                      </a:r>
                      <a:endParaRPr lang="en-US" sz="1600" dirty="0">
                        <a:latin typeface="Inter" charset="0"/>
                        <a:ea typeface="Inter" charset="0"/>
                        <a:cs typeface="Inter" charset="0"/>
                      </a:endParaRPr>
                    </a:p>
                  </a:txBody>
                  <a:tcPr marL="101600" marR="101600" marT="63500" marB="63500" anchor="ctr">
                    <a:lnL w="9525" cap="flat" cmpd="sng" algn="ctr">
                      <a:solidFill>
                        <a:srgbClr val="D0CBC0"/>
                      </a:solidFill>
                      <a:prstDash val="solid"/>
                      <a:round/>
                      <a:headEnd type="none" w="med" len="med"/>
                      <a:tailEnd type="none" w="med" len="med"/>
                    </a:lnL>
                    <a:lnR w="9525" cap="flat" cmpd="sng" algn="ctr">
                      <a:solidFill>
                        <a:srgbClr val="D0CBC0"/>
                      </a:solidFill>
                      <a:prstDash val="solid"/>
                      <a:round/>
                      <a:headEnd type="none" w="med" len="med"/>
                      <a:tailEnd type="none" w="med" len="med"/>
                    </a:lnR>
                    <a:lnT w="9525" cap="flat" cmpd="sng" algn="ctr">
                      <a:solidFill>
                        <a:srgbClr val="D0CBC0"/>
                      </a:solidFill>
                      <a:prstDash val="solid"/>
                      <a:round/>
                      <a:headEnd type="none" w="med" len="med"/>
                      <a:tailEnd type="none" w="med" len="med"/>
                    </a:lnT>
                    <a:lnB w="9525" cap="flat" cmpd="sng" algn="ctr">
                      <a:solidFill>
                        <a:srgbClr val="D0CBC0"/>
                      </a:solidFill>
                      <a:prstDash val="solid"/>
                      <a:round/>
                      <a:headEnd type="none" w="med" len="med"/>
                      <a:tailEnd type="none" w="med" len="med"/>
                    </a:lnB>
                    <a:solidFill>
                      <a:srgbClr val="FFFFFF"/>
                    </a:solidFill>
                  </a:tcPr>
                </a:tc>
                <a:tc>
                  <a:txBody>
                    <a:bodyPr/>
                    <a:lstStyle/>
                    <a:p>
                      <a:pPr indent="0" marL="0">
                        <a:buNone/>
                      </a:pPr>
                      <a:r>
                        <a:rPr lang="en-US" sz="1600" dirty="0">
                          <a:solidFill>
                            <a:srgbClr val="272827"/>
                          </a:solidFill>
                          <a:latin typeface="Inter" pitchFamily="34" charset="0"/>
                          <a:ea typeface="Inter" pitchFamily="34" charset="-122"/>
                          <a:cs typeface="Inter" pitchFamily="34" charset="-120"/>
                        </a:rPr>
                        <a:t>1.9 s</a:t>
                      </a:r>
                      <a:endParaRPr lang="en-US" sz="1600" dirty="0">
                        <a:latin typeface="Inter" charset="0"/>
                        <a:ea typeface="Inter" charset="0"/>
                        <a:cs typeface="Inter" charset="0"/>
                      </a:endParaRPr>
                    </a:p>
                  </a:txBody>
                  <a:tcPr marL="101600" marR="101600" marT="63500" marB="63500" anchor="ctr">
                    <a:lnL w="9525" cap="flat" cmpd="sng" algn="ctr">
                      <a:solidFill>
                        <a:srgbClr val="D0CBC0"/>
                      </a:solidFill>
                      <a:prstDash val="solid"/>
                      <a:round/>
                      <a:headEnd type="none" w="med" len="med"/>
                      <a:tailEnd type="none" w="med" len="med"/>
                    </a:lnL>
                    <a:lnR w="9525" cap="flat" cmpd="sng" algn="ctr">
                      <a:solidFill>
                        <a:srgbClr val="D0CBC0"/>
                      </a:solidFill>
                      <a:prstDash val="solid"/>
                      <a:round/>
                      <a:headEnd type="none" w="med" len="med"/>
                      <a:tailEnd type="none" w="med" len="med"/>
                    </a:lnR>
                    <a:lnT w="9525" cap="flat" cmpd="sng" algn="ctr">
                      <a:solidFill>
                        <a:srgbClr val="D0CBC0"/>
                      </a:solidFill>
                      <a:prstDash val="solid"/>
                      <a:round/>
                      <a:headEnd type="none" w="med" len="med"/>
                      <a:tailEnd type="none" w="med" len="med"/>
                    </a:lnT>
                    <a:lnB w="9525" cap="flat" cmpd="sng" algn="ctr">
                      <a:solidFill>
                        <a:srgbClr val="D0CBC0"/>
                      </a:solidFill>
                      <a:prstDash val="solid"/>
                      <a:round/>
                      <a:headEnd type="none" w="med" len="med"/>
                      <a:tailEnd type="none" w="med" len="med"/>
                    </a:lnB>
                    <a:solidFill>
                      <a:srgbClr val="FFFFFF"/>
                    </a:solidFill>
                  </a:tcPr>
                </a:tc>
                <a:tc>
                  <a:txBody>
                    <a:bodyPr/>
                    <a:lstStyle/>
                    <a:p>
                      <a:pPr indent="0" marL="0">
                        <a:buNone/>
                      </a:pPr>
                      <a:r>
                        <a:rPr lang="en-US" sz="1600" dirty="0">
                          <a:solidFill>
                            <a:srgbClr val="272827"/>
                          </a:solidFill>
                          <a:latin typeface="Inter" pitchFamily="34" charset="0"/>
                          <a:ea typeface="Inter" pitchFamily="34" charset="-122"/>
                          <a:cs typeface="Inter" pitchFamily="34" charset="-120"/>
                        </a:rPr>
                        <a:t>180 ms</a:t>
                      </a:r>
                      <a:endParaRPr lang="en-US" sz="1600" dirty="0">
                        <a:latin typeface="Inter" charset="0"/>
                        <a:ea typeface="Inter" charset="0"/>
                        <a:cs typeface="Inter" charset="0"/>
                      </a:endParaRPr>
                    </a:p>
                  </a:txBody>
                  <a:tcPr marL="101600" marR="101600" marT="63500" marB="63500" anchor="ctr">
                    <a:lnL w="9525" cap="flat" cmpd="sng" algn="ctr">
                      <a:solidFill>
                        <a:srgbClr val="D0CBC0"/>
                      </a:solidFill>
                      <a:prstDash val="solid"/>
                      <a:round/>
                      <a:headEnd type="none" w="med" len="med"/>
                      <a:tailEnd type="none" w="med" len="med"/>
                    </a:lnL>
                    <a:lnR w="9525" cap="flat" cmpd="sng" algn="ctr">
                      <a:solidFill>
                        <a:srgbClr val="D0CBC0"/>
                      </a:solidFill>
                      <a:prstDash val="solid"/>
                      <a:round/>
                      <a:headEnd type="none" w="med" len="med"/>
                      <a:tailEnd type="none" w="med" len="med"/>
                    </a:lnR>
                    <a:lnT w="9525" cap="flat" cmpd="sng" algn="ctr">
                      <a:solidFill>
                        <a:srgbClr val="D0CBC0"/>
                      </a:solidFill>
                      <a:prstDash val="solid"/>
                      <a:round/>
                      <a:headEnd type="none" w="med" len="med"/>
                      <a:tailEnd type="none" w="med" len="med"/>
                    </a:lnT>
                    <a:lnB w="9525" cap="flat" cmpd="sng" algn="ctr">
                      <a:solidFill>
                        <a:srgbClr val="D0CBC0"/>
                      </a:solidFill>
                      <a:prstDash val="solid"/>
                      <a:round/>
                      <a:headEnd type="none" w="med" len="med"/>
                      <a:tailEnd type="none" w="med" len="med"/>
                    </a:lnB>
                    <a:solidFill>
                      <a:srgbClr val="FFFFFF"/>
                    </a:solidFill>
                  </a:tcPr>
                </a:tc>
                <a:tc>
                  <a:txBody>
                    <a:bodyPr/>
                    <a:lstStyle/>
                    <a:p>
                      <a:pPr indent="0" marL="0">
                        <a:buNone/>
                      </a:pPr>
                      <a:r>
                        <a:rPr lang="en-US" sz="1600" dirty="0">
                          <a:solidFill>
                            <a:srgbClr val="272827"/>
                          </a:solidFill>
                          <a:latin typeface="Inter" pitchFamily="34" charset="0"/>
                          <a:ea typeface="Inter" pitchFamily="34" charset="-122"/>
                          <a:cs typeface="Inter" pitchFamily="34" charset="-120"/>
                        </a:rPr>
                        <a:t>assignment + email moved to queues</a:t>
                      </a:r>
                      <a:endParaRPr lang="en-US" sz="1600" dirty="0">
                        <a:latin typeface="Inter" charset="0"/>
                        <a:ea typeface="Inter" charset="0"/>
                        <a:cs typeface="Inter" charset="0"/>
                      </a:endParaRPr>
                    </a:p>
                  </a:txBody>
                  <a:tcPr marL="101600" marR="101600" marT="63500" marB="63500" anchor="ctr">
                    <a:lnL w="9525" cap="flat" cmpd="sng" algn="ctr">
                      <a:solidFill>
                        <a:srgbClr val="D0CBC0"/>
                      </a:solidFill>
                      <a:prstDash val="solid"/>
                      <a:round/>
                      <a:headEnd type="none" w="med" len="med"/>
                      <a:tailEnd type="none" w="med" len="med"/>
                    </a:lnL>
                    <a:lnR w="9525" cap="flat" cmpd="sng" algn="ctr">
                      <a:solidFill>
                        <a:srgbClr val="D0CBC0"/>
                      </a:solidFill>
                      <a:prstDash val="solid"/>
                      <a:round/>
                      <a:headEnd type="none" w="med" len="med"/>
                      <a:tailEnd type="none" w="med" len="med"/>
                    </a:lnR>
                    <a:lnT w="9525" cap="flat" cmpd="sng" algn="ctr">
                      <a:solidFill>
                        <a:srgbClr val="D0CBC0"/>
                      </a:solidFill>
                      <a:prstDash val="solid"/>
                      <a:round/>
                      <a:headEnd type="none" w="med" len="med"/>
                      <a:tailEnd type="none" w="med" len="med"/>
                    </a:lnT>
                    <a:lnB w="9525" cap="flat" cmpd="sng" algn="ctr">
                      <a:solidFill>
                        <a:srgbClr val="D0CBC0"/>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272827"/>
                          </a:solidFill>
                          <a:latin typeface="Inter" pitchFamily="34" charset="0"/>
                          <a:ea typeface="Inter" pitchFamily="34" charset="-122"/>
                          <a:cs typeface="Inter" pitchFamily="34" charset="-120"/>
                        </a:rPr>
                        <a:t>Retried booking</a:t>
                      </a:r>
                      <a:endParaRPr lang="en-US" sz="1600" dirty="0">
                        <a:latin typeface="Inter" charset="0"/>
                        <a:ea typeface="Inter" charset="0"/>
                        <a:cs typeface="Inter" charset="0"/>
                      </a:endParaRPr>
                    </a:p>
                  </a:txBody>
                  <a:tcPr marL="101600" marR="101600" marT="63500" marB="63500" anchor="ctr">
                    <a:lnL w="9525" cap="flat" cmpd="sng" algn="ctr">
                      <a:solidFill>
                        <a:srgbClr val="D0CBC0"/>
                      </a:solidFill>
                      <a:prstDash val="solid"/>
                      <a:round/>
                      <a:headEnd type="none" w="med" len="med"/>
                      <a:tailEnd type="none" w="med" len="med"/>
                    </a:lnL>
                    <a:lnR w="9525" cap="flat" cmpd="sng" algn="ctr">
                      <a:solidFill>
                        <a:srgbClr val="D0CBC0"/>
                      </a:solidFill>
                      <a:prstDash val="solid"/>
                      <a:round/>
                      <a:headEnd type="none" w="med" len="med"/>
                      <a:tailEnd type="none" w="med" len="med"/>
                    </a:lnR>
                    <a:lnT w="9525" cap="flat" cmpd="sng" algn="ctr">
                      <a:solidFill>
                        <a:srgbClr val="D0CBC0"/>
                      </a:solidFill>
                      <a:prstDash val="solid"/>
                      <a:round/>
                      <a:headEnd type="none" w="med" len="med"/>
                      <a:tailEnd type="none" w="med" len="med"/>
                    </a:lnT>
                    <a:lnB w="9525" cap="flat" cmpd="sng" algn="ctr">
                      <a:solidFill>
                        <a:srgbClr val="D0CBC0"/>
                      </a:solidFill>
                      <a:prstDash val="solid"/>
                      <a:round/>
                      <a:headEnd type="none" w="med" len="med"/>
                      <a:tailEnd type="none" w="med" len="med"/>
                    </a:lnB>
                    <a:solidFill>
                      <a:srgbClr val="F6F3EE"/>
                    </a:solidFill>
                  </a:tcPr>
                </a:tc>
                <a:tc>
                  <a:txBody>
                    <a:bodyPr/>
                    <a:lstStyle/>
                    <a:p>
                      <a:pPr indent="0" marL="0">
                        <a:buNone/>
                      </a:pPr>
                      <a:r>
                        <a:rPr lang="en-US" sz="1600" dirty="0">
                          <a:solidFill>
                            <a:srgbClr val="272827"/>
                          </a:solidFill>
                          <a:latin typeface="Inter" pitchFamily="34" charset="0"/>
                          <a:ea typeface="Inter" pitchFamily="34" charset="-122"/>
                          <a:cs typeface="Inter" pitchFamily="34" charset="-120"/>
                        </a:rPr>
                        <a:t>422 already booked</a:t>
                      </a:r>
                      <a:endParaRPr lang="en-US" sz="1600" dirty="0">
                        <a:latin typeface="Inter" charset="0"/>
                        <a:ea typeface="Inter" charset="0"/>
                        <a:cs typeface="Inter" charset="0"/>
                      </a:endParaRPr>
                    </a:p>
                  </a:txBody>
                  <a:tcPr marL="101600" marR="101600" marT="63500" marB="63500" anchor="ctr">
                    <a:lnL w="9525" cap="flat" cmpd="sng" algn="ctr">
                      <a:solidFill>
                        <a:srgbClr val="D0CBC0"/>
                      </a:solidFill>
                      <a:prstDash val="solid"/>
                      <a:round/>
                      <a:headEnd type="none" w="med" len="med"/>
                      <a:tailEnd type="none" w="med" len="med"/>
                    </a:lnL>
                    <a:lnR w="9525" cap="flat" cmpd="sng" algn="ctr">
                      <a:solidFill>
                        <a:srgbClr val="D0CBC0"/>
                      </a:solidFill>
                      <a:prstDash val="solid"/>
                      <a:round/>
                      <a:headEnd type="none" w="med" len="med"/>
                      <a:tailEnd type="none" w="med" len="med"/>
                    </a:lnR>
                    <a:lnT w="9525" cap="flat" cmpd="sng" algn="ctr">
                      <a:solidFill>
                        <a:srgbClr val="D0CBC0"/>
                      </a:solidFill>
                      <a:prstDash val="solid"/>
                      <a:round/>
                      <a:headEnd type="none" w="med" len="med"/>
                      <a:tailEnd type="none" w="med" len="med"/>
                    </a:lnT>
                    <a:lnB w="9525" cap="flat" cmpd="sng" algn="ctr">
                      <a:solidFill>
                        <a:srgbClr val="D0CBC0"/>
                      </a:solidFill>
                      <a:prstDash val="solid"/>
                      <a:round/>
                      <a:headEnd type="none" w="med" len="med"/>
                      <a:tailEnd type="none" w="med" len="med"/>
                    </a:lnB>
                    <a:solidFill>
                      <a:srgbClr val="F6F3EE"/>
                    </a:solidFill>
                  </a:tcPr>
                </a:tc>
                <a:tc>
                  <a:txBody>
                    <a:bodyPr/>
                    <a:lstStyle/>
                    <a:p>
                      <a:pPr indent="0" marL="0">
                        <a:buNone/>
                      </a:pPr>
                      <a:r>
                        <a:rPr lang="en-US" sz="1600" dirty="0">
                          <a:solidFill>
                            <a:srgbClr val="272827"/>
                          </a:solidFill>
                          <a:latin typeface="Inter" pitchFamily="34" charset="0"/>
                          <a:ea typeface="Inter" pitchFamily="34" charset="-122"/>
                          <a:cs typeface="Inter" pitchFamily="34" charset="-120"/>
                        </a:rPr>
                        <a:t>same 201, replayed</a:t>
                      </a:r>
                      <a:endParaRPr lang="en-US" sz="1600" dirty="0">
                        <a:latin typeface="Inter" charset="0"/>
                        <a:ea typeface="Inter" charset="0"/>
                        <a:cs typeface="Inter" charset="0"/>
                      </a:endParaRPr>
                    </a:p>
                  </a:txBody>
                  <a:tcPr marL="101600" marR="101600" marT="63500" marB="63500" anchor="ctr">
                    <a:lnL w="9525" cap="flat" cmpd="sng" algn="ctr">
                      <a:solidFill>
                        <a:srgbClr val="D0CBC0"/>
                      </a:solidFill>
                      <a:prstDash val="solid"/>
                      <a:round/>
                      <a:headEnd type="none" w="med" len="med"/>
                      <a:tailEnd type="none" w="med" len="med"/>
                    </a:lnL>
                    <a:lnR w="9525" cap="flat" cmpd="sng" algn="ctr">
                      <a:solidFill>
                        <a:srgbClr val="D0CBC0"/>
                      </a:solidFill>
                      <a:prstDash val="solid"/>
                      <a:round/>
                      <a:headEnd type="none" w="med" len="med"/>
                      <a:tailEnd type="none" w="med" len="med"/>
                    </a:lnR>
                    <a:lnT w="9525" cap="flat" cmpd="sng" algn="ctr">
                      <a:solidFill>
                        <a:srgbClr val="D0CBC0"/>
                      </a:solidFill>
                      <a:prstDash val="solid"/>
                      <a:round/>
                      <a:headEnd type="none" w="med" len="med"/>
                      <a:tailEnd type="none" w="med" len="med"/>
                    </a:lnT>
                    <a:lnB w="9525" cap="flat" cmpd="sng" algn="ctr">
                      <a:solidFill>
                        <a:srgbClr val="D0CBC0"/>
                      </a:solidFill>
                      <a:prstDash val="solid"/>
                      <a:round/>
                      <a:headEnd type="none" w="med" len="med"/>
                      <a:tailEnd type="none" w="med" len="med"/>
                    </a:lnB>
                    <a:solidFill>
                      <a:srgbClr val="F6F3EE"/>
                    </a:solidFill>
                  </a:tcPr>
                </a:tc>
                <a:tc>
                  <a:txBody>
                    <a:bodyPr/>
                    <a:lstStyle/>
                    <a:p>
                      <a:pPr indent="0" marL="0">
                        <a:buNone/>
                      </a:pPr>
                      <a:r>
                        <a:rPr lang="en-US" sz="1600" dirty="0">
                          <a:solidFill>
                            <a:srgbClr val="272827"/>
                          </a:solidFill>
                          <a:latin typeface="Inter" pitchFamily="34" charset="0"/>
                          <a:ea typeface="Inter" pitchFamily="34" charset="-122"/>
                          <a:cs typeface="Inter" pitchFamily="34" charset="-120"/>
                        </a:rPr>
                        <a:t>idempotency key</a:t>
                      </a:r>
                      <a:endParaRPr lang="en-US" sz="1600" dirty="0">
                        <a:latin typeface="Inter" charset="0"/>
                        <a:ea typeface="Inter" charset="0"/>
                        <a:cs typeface="Inter" charset="0"/>
                      </a:endParaRPr>
                    </a:p>
                  </a:txBody>
                  <a:tcPr marL="101600" marR="101600" marT="63500" marB="63500" anchor="ctr">
                    <a:lnL w="9525" cap="flat" cmpd="sng" algn="ctr">
                      <a:solidFill>
                        <a:srgbClr val="D0CBC0"/>
                      </a:solidFill>
                      <a:prstDash val="solid"/>
                      <a:round/>
                      <a:headEnd type="none" w="med" len="med"/>
                      <a:tailEnd type="none" w="med" len="med"/>
                    </a:lnL>
                    <a:lnR w="9525" cap="flat" cmpd="sng" algn="ctr">
                      <a:solidFill>
                        <a:srgbClr val="D0CBC0"/>
                      </a:solidFill>
                      <a:prstDash val="solid"/>
                      <a:round/>
                      <a:headEnd type="none" w="med" len="med"/>
                      <a:tailEnd type="none" w="med" len="med"/>
                    </a:lnR>
                    <a:lnT w="9525" cap="flat" cmpd="sng" algn="ctr">
                      <a:solidFill>
                        <a:srgbClr val="D0CBC0"/>
                      </a:solidFill>
                      <a:prstDash val="solid"/>
                      <a:round/>
                      <a:headEnd type="none" w="med" len="med"/>
                      <a:tailEnd type="none" w="med" len="med"/>
                    </a:lnT>
                    <a:lnB w="9525" cap="flat" cmpd="sng" algn="ctr">
                      <a:solidFill>
                        <a:srgbClr val="D0CBC0"/>
                      </a:solidFill>
                      <a:prstDash val="solid"/>
                      <a:round/>
                      <a:headEnd type="none" w="med" len="med"/>
                      <a:tailEnd type="none" w="med" len="med"/>
                    </a:lnB>
                    <a:solidFill>
                      <a:srgbClr val="F6F3EE"/>
                    </a:solidFill>
                  </a:tcPr>
                </a:tc>
              </a:tr>
              <a:tr h="0">
                <a:tc>
                  <a:txBody>
                    <a:bodyPr/>
                    <a:lstStyle/>
                    <a:p>
                      <a:pPr indent="0" marL="0">
                        <a:buNone/>
                      </a:pPr>
                      <a:r>
                        <a:rPr lang="en-US" sz="1600" b="1" dirty="0">
                          <a:solidFill>
                            <a:srgbClr val="272827"/>
                          </a:solidFill>
                          <a:latin typeface="Inter" pitchFamily="34" charset="0"/>
                          <a:ea typeface="Inter" pitchFamily="34" charset="-122"/>
                          <a:cs typeface="Inter" pitchFamily="34" charset="-120"/>
                        </a:rPr>
                        <a:t>Error rate at 50 VUs</a:t>
                      </a:r>
                      <a:endParaRPr lang="en-US" sz="1600" dirty="0">
                        <a:latin typeface="Inter" charset="0"/>
                        <a:ea typeface="Inter" charset="0"/>
                        <a:cs typeface="Inter" charset="0"/>
                      </a:endParaRPr>
                    </a:p>
                  </a:txBody>
                  <a:tcPr marL="101600" marR="101600" marT="63500" marB="63500" anchor="ctr">
                    <a:lnL w="9525" cap="flat" cmpd="sng" algn="ctr">
                      <a:solidFill>
                        <a:srgbClr val="D0CBC0"/>
                      </a:solidFill>
                      <a:prstDash val="solid"/>
                      <a:round/>
                      <a:headEnd type="none" w="med" len="med"/>
                      <a:tailEnd type="none" w="med" len="med"/>
                    </a:lnL>
                    <a:lnR w="9525" cap="flat" cmpd="sng" algn="ctr">
                      <a:solidFill>
                        <a:srgbClr val="D0CBC0"/>
                      </a:solidFill>
                      <a:prstDash val="solid"/>
                      <a:round/>
                      <a:headEnd type="none" w="med" len="med"/>
                      <a:tailEnd type="none" w="med" len="med"/>
                    </a:lnR>
                    <a:lnT w="9525" cap="flat" cmpd="sng" algn="ctr">
                      <a:solidFill>
                        <a:srgbClr val="D0CBC0"/>
                      </a:solidFill>
                      <a:prstDash val="solid"/>
                      <a:round/>
                      <a:headEnd type="none" w="med" len="med"/>
                      <a:tailEnd type="none" w="med" len="med"/>
                    </a:lnT>
                    <a:lnB w="9525" cap="flat" cmpd="sng" algn="ctr">
                      <a:solidFill>
                        <a:srgbClr val="D0CBC0"/>
                      </a:solidFill>
                      <a:prstDash val="solid"/>
                      <a:round/>
                      <a:headEnd type="none" w="med" len="med"/>
                      <a:tailEnd type="none" w="med" len="med"/>
                    </a:lnB>
                    <a:solidFill>
                      <a:srgbClr val="FFFFFF"/>
                    </a:solidFill>
                  </a:tcPr>
                </a:tc>
                <a:tc>
                  <a:txBody>
                    <a:bodyPr/>
                    <a:lstStyle/>
                    <a:p>
                      <a:pPr indent="0" marL="0">
                        <a:buNone/>
                      </a:pPr>
                      <a:r>
                        <a:rPr lang="en-US" sz="1600" dirty="0">
                          <a:solidFill>
                            <a:srgbClr val="272827"/>
                          </a:solidFill>
                          <a:latin typeface="Inter" pitchFamily="34" charset="0"/>
                          <a:ea typeface="Inter" pitchFamily="34" charset="-122"/>
                          <a:cs typeface="Inter" pitchFamily="34" charset="-120"/>
                        </a:rPr>
                        <a:t>4.2%</a:t>
                      </a:r>
                      <a:endParaRPr lang="en-US" sz="1600" dirty="0">
                        <a:latin typeface="Inter" charset="0"/>
                        <a:ea typeface="Inter" charset="0"/>
                        <a:cs typeface="Inter" charset="0"/>
                      </a:endParaRPr>
                    </a:p>
                  </a:txBody>
                  <a:tcPr marL="101600" marR="101600" marT="63500" marB="63500" anchor="ctr">
                    <a:lnL w="9525" cap="flat" cmpd="sng" algn="ctr">
                      <a:solidFill>
                        <a:srgbClr val="D0CBC0"/>
                      </a:solidFill>
                      <a:prstDash val="solid"/>
                      <a:round/>
                      <a:headEnd type="none" w="med" len="med"/>
                      <a:tailEnd type="none" w="med" len="med"/>
                    </a:lnL>
                    <a:lnR w="9525" cap="flat" cmpd="sng" algn="ctr">
                      <a:solidFill>
                        <a:srgbClr val="D0CBC0"/>
                      </a:solidFill>
                      <a:prstDash val="solid"/>
                      <a:round/>
                      <a:headEnd type="none" w="med" len="med"/>
                      <a:tailEnd type="none" w="med" len="med"/>
                    </a:lnR>
                    <a:lnT w="9525" cap="flat" cmpd="sng" algn="ctr">
                      <a:solidFill>
                        <a:srgbClr val="D0CBC0"/>
                      </a:solidFill>
                      <a:prstDash val="solid"/>
                      <a:round/>
                      <a:headEnd type="none" w="med" len="med"/>
                      <a:tailEnd type="none" w="med" len="med"/>
                    </a:lnT>
                    <a:lnB w="9525" cap="flat" cmpd="sng" algn="ctr">
                      <a:solidFill>
                        <a:srgbClr val="D0CBC0"/>
                      </a:solidFill>
                      <a:prstDash val="solid"/>
                      <a:round/>
                      <a:headEnd type="none" w="med" len="med"/>
                      <a:tailEnd type="none" w="med" len="med"/>
                    </a:lnB>
                    <a:solidFill>
                      <a:srgbClr val="FFFFFF"/>
                    </a:solidFill>
                  </a:tcPr>
                </a:tc>
                <a:tc>
                  <a:txBody>
                    <a:bodyPr/>
                    <a:lstStyle/>
                    <a:p>
                      <a:pPr indent="0" marL="0">
                        <a:buNone/>
                      </a:pPr>
                      <a:r>
                        <a:rPr lang="en-US" sz="1600" dirty="0">
                          <a:solidFill>
                            <a:srgbClr val="272827"/>
                          </a:solidFill>
                          <a:latin typeface="Inter" pitchFamily="34" charset="0"/>
                          <a:ea typeface="Inter" pitchFamily="34" charset="-122"/>
                          <a:cs typeface="Inter" pitchFamily="34" charset="-120"/>
                        </a:rPr>
                        <a:t>0.3%</a:t>
                      </a:r>
                      <a:endParaRPr lang="en-US" sz="1600" dirty="0">
                        <a:latin typeface="Inter" charset="0"/>
                        <a:ea typeface="Inter" charset="0"/>
                        <a:cs typeface="Inter" charset="0"/>
                      </a:endParaRPr>
                    </a:p>
                  </a:txBody>
                  <a:tcPr marL="101600" marR="101600" marT="63500" marB="63500" anchor="ctr">
                    <a:lnL w="9525" cap="flat" cmpd="sng" algn="ctr">
                      <a:solidFill>
                        <a:srgbClr val="D0CBC0"/>
                      </a:solidFill>
                      <a:prstDash val="solid"/>
                      <a:round/>
                      <a:headEnd type="none" w="med" len="med"/>
                      <a:tailEnd type="none" w="med" len="med"/>
                    </a:lnL>
                    <a:lnR w="9525" cap="flat" cmpd="sng" algn="ctr">
                      <a:solidFill>
                        <a:srgbClr val="D0CBC0"/>
                      </a:solidFill>
                      <a:prstDash val="solid"/>
                      <a:round/>
                      <a:headEnd type="none" w="med" len="med"/>
                      <a:tailEnd type="none" w="med" len="med"/>
                    </a:lnR>
                    <a:lnT w="9525" cap="flat" cmpd="sng" algn="ctr">
                      <a:solidFill>
                        <a:srgbClr val="D0CBC0"/>
                      </a:solidFill>
                      <a:prstDash val="solid"/>
                      <a:round/>
                      <a:headEnd type="none" w="med" len="med"/>
                      <a:tailEnd type="none" w="med" len="med"/>
                    </a:lnT>
                    <a:lnB w="9525" cap="flat" cmpd="sng" algn="ctr">
                      <a:solidFill>
                        <a:srgbClr val="D0CBC0"/>
                      </a:solidFill>
                      <a:prstDash val="solid"/>
                      <a:round/>
                      <a:headEnd type="none" w="med" len="med"/>
                      <a:tailEnd type="none" w="med" len="med"/>
                    </a:lnB>
                    <a:solidFill>
                      <a:srgbClr val="FFFFFF"/>
                    </a:solidFill>
                  </a:tcPr>
                </a:tc>
                <a:tc>
                  <a:txBody>
                    <a:bodyPr/>
                    <a:lstStyle/>
                    <a:p>
                      <a:pPr indent="0" marL="0">
                        <a:buNone/>
                      </a:pPr>
                      <a:r>
                        <a:rPr lang="en-US" sz="1600" dirty="0">
                          <a:solidFill>
                            <a:srgbClr val="272827"/>
                          </a:solidFill>
                          <a:latin typeface="Inter" pitchFamily="34" charset="0"/>
                          <a:ea typeface="Inter" pitchFamily="34" charset="-122"/>
                          <a:cs typeface="Inter" pitchFamily="34" charset="-120"/>
                        </a:rPr>
                        <a:t>fewer slow requests timing out</a:t>
                      </a:r>
                      <a:endParaRPr lang="en-US" sz="1600" dirty="0">
                        <a:latin typeface="Inter" charset="0"/>
                        <a:ea typeface="Inter" charset="0"/>
                        <a:cs typeface="Inter" charset="0"/>
                      </a:endParaRPr>
                    </a:p>
                  </a:txBody>
                  <a:tcPr marL="101600" marR="101600" marT="63500" marB="63500" anchor="ctr">
                    <a:lnL w="9525" cap="flat" cmpd="sng" algn="ctr">
                      <a:solidFill>
                        <a:srgbClr val="D0CBC0"/>
                      </a:solidFill>
                      <a:prstDash val="solid"/>
                      <a:round/>
                      <a:headEnd type="none" w="med" len="med"/>
                      <a:tailEnd type="none" w="med" len="med"/>
                    </a:lnL>
                    <a:lnR w="9525" cap="flat" cmpd="sng" algn="ctr">
                      <a:solidFill>
                        <a:srgbClr val="D0CBC0"/>
                      </a:solidFill>
                      <a:prstDash val="solid"/>
                      <a:round/>
                      <a:headEnd type="none" w="med" len="med"/>
                      <a:tailEnd type="none" w="med" len="med"/>
                    </a:lnR>
                    <a:lnT w="9525" cap="flat" cmpd="sng" algn="ctr">
                      <a:solidFill>
                        <a:srgbClr val="D0CBC0"/>
                      </a:solidFill>
                      <a:prstDash val="solid"/>
                      <a:round/>
                      <a:headEnd type="none" w="med" len="med"/>
                      <a:tailEnd type="none" w="med" len="med"/>
                    </a:lnT>
                    <a:lnB w="9525" cap="flat" cmpd="sng" algn="ctr">
                      <a:solidFill>
                        <a:srgbClr val="D0CBC0"/>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48640" y="5760720"/>
            <a:ext cx="11094415" cy="365760"/>
          </a:xfrm>
          <a:prstGeom prst="rect">
            <a:avLst/>
          </a:prstGeom>
          <a:noFill/>
          <a:ln/>
        </p:spPr>
        <p:txBody>
          <a:bodyPr wrap="square" lIns="0" tIns="0" rIns="0" bIns="0" rtlCol="0" anchor="ctr"/>
          <a:lstStyle/>
          <a:p>
            <a:pPr indent="0" marL="0">
              <a:buNone/>
            </a:pPr>
            <a:r>
              <a:rPr lang="en-US" sz="1400" i="1" dirty="0">
                <a:solidFill>
                  <a:srgbClr val="3A3B3A"/>
                </a:solidFill>
                <a:latin typeface="Inter" pitchFamily="34" charset="0"/>
                <a:ea typeface="Inter" pitchFamily="34" charset="-122"/>
                <a:cs typeface="Inter" pitchFamily="34" charset="-120"/>
              </a:rPr>
              <a:t>Instructor laptop numbers, for illustration. Your table must contain </a:t>
            </a:r>
            <a:pPr indent="0" marL="0">
              <a:buNone/>
            </a:pPr>
            <a:r>
              <a:rPr lang="en-US" sz="1400" b="1" i="1" dirty="0">
                <a:solidFill>
                  <a:srgbClr val="3A3B3A"/>
                </a:solidFill>
                <a:latin typeface="Inter" pitchFamily="34" charset="0"/>
                <a:ea typeface="Inter" pitchFamily="34" charset="-122"/>
                <a:cs typeface="Inter" pitchFamily="34" charset="-120"/>
              </a:rPr>
              <a:t>your</a:t>
            </a:r>
            <a:pPr indent="0" marL="0">
              <a:buNone/>
            </a:pPr>
            <a:r>
              <a:rPr lang="en-US" sz="1400" i="1" dirty="0">
                <a:solidFill>
                  <a:srgbClr val="3A3B3A"/>
                </a:solidFill>
                <a:latin typeface="Inter" pitchFamily="34" charset="0"/>
                <a:ea typeface="Inter" pitchFamily="34" charset="-122"/>
                <a:cs typeface="Inter" pitchFamily="34" charset="-120"/>
              </a:rPr>
              <a:t> measurements.</a:t>
            </a:r>
            <a:endParaRPr lang="en-US" sz="1400" dirty="0"/>
          </a:p>
        </p:txBody>
      </p:sp>
      <p:sp>
        <p:nvSpPr>
          <p:cNvPr id="25" name="Slide Number Placeholder 0"/>
          <p:cNvSpPr>
            <a:spLocks noGrp="1"/>
          </p:cNvSpPr>
          <p:nvPr>
            <p:ph type="sldNum" sz="quarter" idx="4294967295"/>
          </p:nvPr>
        </p:nvSpPr>
        <p:spPr>
          <a:xfrm>
            <a:off x="10911535" y="6419088"/>
            <a:ext cx="73152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280"/>
                </a:solidFill>
                <a:latin typeface="Inter"/>
                <a:ea typeface="Inter"/>
                <a:cs typeface="Inter"/>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94415" cy="640080"/>
          </a:xfrm>
          <a:prstGeom prst="rect">
            <a:avLst/>
          </a:prstGeom>
          <a:noFill/>
          <a:ln/>
        </p:spPr>
        <p:txBody>
          <a:bodyPr wrap="square" lIns="0" tIns="0" rIns="0" bIns="0" rtlCol="0" anchor="b"/>
          <a:lstStyle/>
          <a:p>
            <a:pPr algn="l" indent="0" marL="0">
              <a:buNone/>
            </a:pPr>
            <a:r>
              <a:rPr lang="en-US" sz="3200" b="1" dirty="0">
                <a:solidFill>
                  <a:srgbClr val="FFFFFF"/>
                </a:solidFill>
                <a:latin typeface="Playfair Display" pitchFamily="34" charset="0"/>
                <a:ea typeface="Playfair Display" pitchFamily="34" charset="-122"/>
                <a:cs typeface="Playfair Display" pitchFamily="34" charset="-120"/>
              </a:rPr>
              <a:t>Ask your agent: profile, then prove it</a:t>
            </a:r>
            <a:endParaRPr lang="en-US" sz="3200" dirty="0"/>
          </a:p>
        </p:txBody>
      </p:sp>
      <p:sp>
        <p:nvSpPr>
          <p:cNvPr id="3" name="Text 1"/>
          <p:cNvSpPr txBox="1"/>
          <p:nvPr/>
        </p:nvSpPr>
        <p:spPr>
          <a:xfrm>
            <a:off x="548640" y="1060704"/>
            <a:ext cx="8229600" cy="384048"/>
          </a:xfrm>
          <a:prstGeom prst="rect">
            <a:avLst/>
          </a:prstGeom>
          <a:noFill/>
          <a:ln/>
        </p:spPr>
        <p:txBody>
          <a:bodyPr wrap="square" lIns="0" tIns="0" rIns="0" bIns="0" rtlCol="0" anchor="t"/>
          <a:lstStyle/>
          <a:p>
            <a:pPr rtl="1" algn="l" indent="0" marL="0">
              <a:buNone/>
            </a:pPr>
            <a:r>
              <a:rPr lang="ar-LY" altLang="en-US" sz="1700" dirty="0">
                <a:solidFill>
                  <a:srgbClr val="9CA3AF"/>
                </a:solidFill>
                <a:latin typeface="Tajawal" pitchFamily="34" charset="0"/>
                <a:ea typeface="Tajawal" pitchFamily="34" charset="-122"/>
                <a:cs typeface="Tajawal" pitchFamily="34" charset="-120"/>
              </a:rPr>
              <a:t>اسأل وكيلك</a:t>
            </a:r>
            <a:endParaRPr lang="ar-LY" sz="1700" dirty="0"/>
          </a:p>
        </p:txBody>
      </p:sp>
      <p:sp>
        <p:nvSpPr>
          <p:cNvPr id="4" name="Shape 2"/>
          <p:cNvSpPr/>
          <p:nvPr/>
        </p:nvSpPr>
        <p:spPr>
          <a:xfrm>
            <a:off x="548640" y="1691640"/>
            <a:ext cx="7315200" cy="4434840"/>
          </a:xfrm>
          <a:prstGeom prst="roundRect">
            <a:avLst>
              <a:gd name="adj" fmla="val 1649"/>
            </a:avLst>
          </a:prstGeom>
          <a:solidFill>
            <a:srgbClr val="3A3B3A"/>
          </a:solidFill>
          <a:ln w="12700">
            <a:solidFill>
              <a:srgbClr val="4A4B4A"/>
            </a:solidFill>
            <a:prstDash val="solid"/>
          </a:ln>
        </p:spPr>
      </p:sp>
      <p:sp>
        <p:nvSpPr>
          <p:cNvPr id="5" name="Text 3"/>
          <p:cNvSpPr txBox="1"/>
          <p:nvPr/>
        </p:nvSpPr>
        <p:spPr>
          <a:xfrm>
            <a:off x="822960" y="1856232"/>
            <a:ext cx="6766560" cy="274320"/>
          </a:xfrm>
          <a:prstGeom prst="rect">
            <a:avLst/>
          </a:prstGeom>
          <a:noFill/>
          <a:ln/>
        </p:spPr>
        <p:txBody>
          <a:bodyPr wrap="square" lIns="0" tIns="0" rIns="0" bIns="0" rtlCol="0" anchor="ctr"/>
          <a:lstStyle/>
          <a:p>
            <a:pPr indent="0" marL="0">
              <a:buNone/>
            </a:pPr>
            <a:r>
              <a:rPr lang="en-US" sz="1200" b="1" dirty="0">
                <a:solidFill>
                  <a:srgbClr val="FF5723"/>
                </a:solidFill>
                <a:latin typeface="JetBrains Mono" pitchFamily="34" charset="0"/>
                <a:ea typeface="JetBrains Mono" pitchFamily="34" charset="-122"/>
                <a:cs typeface="JetBrains Mono" pitchFamily="34" charset="-120"/>
              </a:rPr>
              <a:t>claude </a:t>
            </a:r>
            <a:pPr indent="0" marL="0">
              <a:buNone/>
            </a:pPr>
            <a:r>
              <a:rPr lang="en-US" sz="1200" dirty="0">
                <a:solidFill>
                  <a:srgbClr val="9CA3AF"/>
                </a:solidFill>
                <a:latin typeface="JetBrains Mono" pitchFamily="34" charset="0"/>
                <a:ea typeface="JetBrains Mono" pitchFamily="34" charset="-122"/>
                <a:cs typeface="JetBrains Mono" pitchFamily="34" charset="-120"/>
              </a:rPr>
              <a:t>›  default mode</a:t>
            </a:r>
            <a:endParaRPr lang="en-US" sz="1200" dirty="0"/>
          </a:p>
        </p:txBody>
      </p:sp>
      <p:sp>
        <p:nvSpPr>
          <p:cNvPr id="6" name="Text 4"/>
          <p:cNvSpPr txBox="1"/>
          <p:nvPr/>
        </p:nvSpPr>
        <p:spPr>
          <a:xfrm>
            <a:off x="822960" y="2286000"/>
            <a:ext cx="6766560" cy="3657600"/>
          </a:xfrm>
          <a:prstGeom prst="rect">
            <a:avLst/>
          </a:prstGeom>
          <a:noFill/>
          <a:ln/>
        </p:spPr>
        <p:txBody>
          <a:bodyPr wrap="square" lIns="0" tIns="0" rIns="0" bIns="0" rtlCol="0" anchor="t"/>
          <a:lstStyle/>
          <a:p>
            <a:pPr indent="0" marL="0">
              <a:spcAft>
                <a:spcPts val="600"/>
              </a:spcAft>
              <a:buNone/>
            </a:pPr>
            <a:r>
              <a:rPr lang="en-US" sz="1400" dirty="0">
                <a:solidFill>
                  <a:srgbClr val="FFFFFF"/>
                </a:solidFill>
                <a:latin typeface="JetBrains Mono" pitchFamily="34" charset="0"/>
                <a:ea typeface="JetBrains Mono" pitchFamily="34" charset="-122"/>
                <a:cs typeface="JetBrains Mono" pitchFamily="34" charset="-120"/>
              </a:rPr>
              <a:t>GET /api/shipments is slow under load.</a:t>
            </a:r>
            <a:endParaRPr lang="en-US" sz="1400" dirty="0"/>
          </a:p>
          <a:p>
            <a:pPr indent="0" marL="0">
              <a:spcAft>
                <a:spcPts val="600"/>
              </a:spcAft>
              <a:buNone/>
            </a:pPr>
            <a:r>
              <a:rPr lang="en-US" sz="1400" dirty="0">
                <a:solidFill>
                  <a:srgbClr val="FFFFFF"/>
                </a:solidFill>
                <a:latin typeface="JetBrains Mono" pitchFamily="34" charset="0"/>
                <a:ea typeface="JetBrains Mono" pitchFamily="34" charset="-122"/>
                <a:cs typeface="JetBrains Mono" pitchFamily="34" charset="-120"/>
              </a:rPr>
              <a:t> </a:t>
            </a:r>
            <a:endParaRPr lang="en-US" sz="1400" dirty="0"/>
          </a:p>
          <a:p>
            <a:pPr indent="0" marL="0">
              <a:spcAft>
                <a:spcPts val="600"/>
              </a:spcAft>
              <a:buNone/>
            </a:pPr>
            <a:r>
              <a:rPr lang="en-US" sz="1400" dirty="0">
                <a:solidFill>
                  <a:srgbClr val="FFFFFF"/>
                </a:solidFill>
                <a:latin typeface="JetBrains Mono" pitchFamily="34" charset="0"/>
                <a:ea typeface="JetBrains Mono" pitchFamily="34" charset="-122"/>
                <a:cs typeface="JetBrains Mono" pitchFamily="34" charset="-120"/>
              </a:rPr>
              <a:t>1. Count the queries for one request (DB::enableQueryLog, like PerformanceTest) and show me the raw numbers.</a:t>
            </a:r>
            <a:endParaRPr lang="en-US" sz="1400" dirty="0"/>
          </a:p>
          <a:p>
            <a:pPr indent="0" marL="0">
              <a:spcAft>
                <a:spcPts val="600"/>
              </a:spcAft>
              <a:buNone/>
            </a:pPr>
            <a:r>
              <a:rPr lang="en-US" sz="1400" dirty="0">
                <a:solidFill>
                  <a:srgbClr val="FFFFFF"/>
                </a:solidFill>
                <a:latin typeface="JetBrains Mono" pitchFamily="34" charset="0"/>
                <a:ea typeface="JetBrains Mono" pitchFamily="34" charset="-122"/>
                <a:cs typeface="JetBrains Mono" pitchFamily="34" charset="-120"/>
              </a:rPr>
              <a:t>2. Propose at most 3 fixes, ranked by expected impact.</a:t>
            </a:r>
            <a:endParaRPr lang="en-US" sz="1400" dirty="0"/>
          </a:p>
          <a:p>
            <a:pPr indent="0" marL="0">
              <a:spcAft>
                <a:spcPts val="600"/>
              </a:spcAft>
              <a:buNone/>
            </a:pPr>
            <a:r>
              <a:rPr lang="en-US" sz="1400" dirty="0">
                <a:solidFill>
                  <a:srgbClr val="FFFFFF"/>
                </a:solidFill>
                <a:latin typeface="JetBrains Mono" pitchFamily="34" charset="0"/>
                <a:ea typeface="JetBrains Mono" pitchFamily="34" charset="-122"/>
                <a:cs typeface="JetBrains Mono" pitchFamily="34" charset="-120"/>
              </a:rPr>
              <a:t>3. Implement </a:t>
            </a:r>
            <a:pPr indent="0" marL="0">
              <a:spcAft>
                <a:spcPts val="600"/>
              </a:spcAft>
              <a:buNone/>
            </a:pPr>
            <a:r>
              <a:rPr lang="en-US" sz="1400" b="1" dirty="0">
                <a:solidFill>
                  <a:srgbClr val="FF5723"/>
                </a:solidFill>
                <a:latin typeface="JetBrains Mono" pitchFamily="34" charset="0"/>
                <a:ea typeface="JetBrains Mono" pitchFamily="34" charset="-122"/>
                <a:cs typeface="JetBrains Mono" pitchFamily="34" charset="-120"/>
              </a:rPr>
              <a:t>only the top one</a:t>
            </a:r>
            <a:pPr indent="0" marL="0">
              <a:spcAft>
                <a:spcPts val="600"/>
              </a:spcAft>
              <a:buNone/>
            </a:pPr>
            <a:r>
              <a:rPr lang="en-US" sz="1400" dirty="0">
                <a:solidFill>
                  <a:srgbClr val="FFFFFF"/>
                </a:solidFill>
                <a:latin typeface="JetBrains Mono" pitchFamily="34" charset="0"/>
                <a:ea typeface="JetBrains Mono" pitchFamily="34" charset="-122"/>
                <a:cs typeface="JetBrains Mono" pitchFamily="34" charset="-120"/>
              </a:rPr>
              <a:t>.</a:t>
            </a:r>
            <a:endParaRPr lang="en-US" sz="1400" dirty="0"/>
          </a:p>
          <a:p>
            <a:pPr indent="0" marL="0">
              <a:spcAft>
                <a:spcPts val="600"/>
              </a:spcAft>
              <a:buNone/>
            </a:pPr>
            <a:r>
              <a:rPr lang="en-US" sz="1400" dirty="0">
                <a:solidFill>
                  <a:srgbClr val="FFFFFF"/>
                </a:solidFill>
                <a:latin typeface="JetBrains Mono" pitchFamily="34" charset="0"/>
                <a:ea typeface="JetBrains Mono" pitchFamily="34" charset="-122"/>
                <a:cs typeface="JetBrains Mono" pitchFamily="34" charset="-120"/>
              </a:rPr>
              <a:t>4. Re-run </a:t>
            </a:r>
            <a:pPr indent="0" marL="0">
              <a:spcAft>
                <a:spcPts val="600"/>
              </a:spcAft>
              <a:buNone/>
            </a:pPr>
            <a:r>
              <a:rPr lang="en-US" sz="1400" dirty="0">
                <a:solidFill>
                  <a:srgbClr val="FFB59C"/>
                </a:solidFill>
                <a:latin typeface="JetBrains Mono" pitchFamily="34" charset="0"/>
                <a:ea typeface="JetBrains Mono" pitchFamily="34" charset="-122"/>
                <a:cs typeface="JetBrains Mono" pitchFamily="34" charset="-120"/>
              </a:rPr>
              <a:t>k6 run load/booking.js</a:t>
            </a:r>
            <a:pPr indent="0" marL="0">
              <a:spcAft>
                <a:spcPts val="600"/>
              </a:spcAft>
              <a:buNone/>
            </a:pPr>
            <a:r>
              <a:rPr lang="en-US" sz="1400" dirty="0">
                <a:solidFill>
                  <a:srgbClr val="FFFFFF"/>
                </a:solidFill>
                <a:latin typeface="JetBrains Mono" pitchFamily="34" charset="0"/>
                <a:ea typeface="JetBrains Mono" pitchFamily="34" charset="-122"/>
                <a:cs typeface="JetBrains Mono" pitchFamily="34" charset="-120"/>
              </a:rPr>
              <a:t> and give me p95 before and after in a table.</a:t>
            </a:r>
            <a:endParaRPr lang="en-US" sz="1400" dirty="0"/>
          </a:p>
          <a:p>
            <a:pPr indent="0" marL="0">
              <a:spcAft>
                <a:spcPts val="600"/>
              </a:spcAft>
              <a:buNone/>
            </a:pPr>
            <a:r>
              <a:rPr lang="en-US" sz="1400" dirty="0">
                <a:solidFill>
                  <a:srgbClr val="FFFFFF"/>
                </a:solidFill>
                <a:latin typeface="JetBrains Mono" pitchFamily="34" charset="0"/>
                <a:ea typeface="JetBrains Mono" pitchFamily="34" charset="-122"/>
                <a:cs typeface="JetBrains Mono" pitchFamily="34" charset="-120"/>
              </a:rPr>
              <a:t>5. If the number did not improve, say so. Do not guess.</a:t>
            </a:r>
            <a:endParaRPr lang="en-US" sz="1400" dirty="0"/>
          </a:p>
        </p:txBody>
      </p:sp>
      <p:sp>
        <p:nvSpPr>
          <p:cNvPr id="7" name="Text 5"/>
          <p:cNvSpPr txBox="1"/>
          <p:nvPr/>
        </p:nvSpPr>
        <p:spPr>
          <a:xfrm>
            <a:off x="8275320" y="1783080"/>
            <a:ext cx="3367735" cy="274320"/>
          </a:xfrm>
          <a:prstGeom prst="rect">
            <a:avLst/>
          </a:prstGeom>
          <a:noFill/>
          <a:ln/>
        </p:spPr>
        <p:txBody>
          <a:bodyPr wrap="square" lIns="0" tIns="0" rIns="0" bIns="0" rtlCol="0" anchor="ctr"/>
          <a:lstStyle/>
          <a:p>
            <a:pPr indent="0" marL="0">
              <a:buNone/>
            </a:pPr>
            <a:r>
              <a:rPr lang="en-US" sz="1100" b="1" spc="300" kern="0" dirty="0">
                <a:solidFill>
                  <a:srgbClr val="FF5723"/>
                </a:solidFill>
                <a:latin typeface="Inter" pitchFamily="34" charset="0"/>
                <a:ea typeface="Inter" pitchFamily="34" charset="-122"/>
                <a:cs typeface="Inter" pitchFamily="34" charset="-120"/>
              </a:rPr>
              <a:t>WHY THIS WORKS</a:t>
            </a:r>
            <a:endParaRPr lang="en-US" sz="1100" dirty="0"/>
          </a:p>
        </p:txBody>
      </p:sp>
      <p:sp>
        <p:nvSpPr>
          <p:cNvPr id="8" name="Text 6"/>
          <p:cNvSpPr txBox="1"/>
          <p:nvPr/>
        </p:nvSpPr>
        <p:spPr>
          <a:xfrm>
            <a:off x="8275320" y="2194560"/>
            <a:ext cx="3367735" cy="38862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FFFFFF"/>
                </a:solidFill>
                <a:latin typeface="Inter" pitchFamily="34" charset="0"/>
                <a:ea typeface="Inter" pitchFamily="34" charset="-122"/>
                <a:cs typeface="Inter" pitchFamily="34" charset="-120"/>
              </a:rPr>
              <a:t>Evidence </a:t>
            </a:r>
            <a:pPr indent="0" marL="0">
              <a:buNone/>
            </a:pPr>
            <a:r>
              <a:rPr lang="en-US" sz="1500" b="1" dirty="0">
                <a:solidFill>
                  <a:srgbClr val="FFFFFF"/>
                </a:solidFill>
                <a:latin typeface="Inter" pitchFamily="34" charset="0"/>
                <a:ea typeface="Inter" pitchFamily="34" charset="-122"/>
                <a:cs typeface="Inter" pitchFamily="34" charset="-120"/>
              </a:rPr>
              <a:t>before</a:t>
            </a:r>
            <a:pPr indent="0" marL="0">
              <a:buNone/>
            </a:pPr>
            <a:r>
              <a:rPr lang="en-US" sz="1500" dirty="0">
                <a:solidFill>
                  <a:srgbClr val="FFFFFF"/>
                </a:solidFill>
                <a:latin typeface="Inter" pitchFamily="34" charset="0"/>
                <a:ea typeface="Inter" pitchFamily="34" charset="-122"/>
                <a:cs typeface="Inter" pitchFamily="34" charset="-120"/>
              </a:rPr>
              <a:t> a fix, not after</a:t>
            </a:r>
            <a:endParaRPr lang="en-US" sz="1500" dirty="0"/>
          </a:p>
          <a:p>
            <a:pPr marL="228600" indent="-228600">
              <a:spcAft>
                <a:spcPts val="1000"/>
              </a:spcAft>
              <a:buSzPct val="100000"/>
              <a:buChar char="•"/>
            </a:pPr>
            <a:r>
              <a:rPr lang="en-US" sz="1500" dirty="0">
                <a:solidFill>
                  <a:srgbClr val="FFFFFF"/>
                </a:solidFill>
                <a:latin typeface="Inter" pitchFamily="34" charset="0"/>
                <a:ea typeface="Inter" pitchFamily="34" charset="-122"/>
                <a:cs typeface="Inter" pitchFamily="34" charset="-120"/>
              </a:rPr>
              <a:t>One change at a time, so the cause is clear</a:t>
            </a:r>
            <a:endParaRPr lang="en-US" sz="1500" dirty="0"/>
          </a:p>
          <a:p>
            <a:pPr marL="228600" indent="-228600">
              <a:spcAft>
                <a:spcPts val="1000"/>
              </a:spcAft>
              <a:buSzPct val="100000"/>
              <a:buChar char="•"/>
            </a:pPr>
            <a:r>
              <a:rPr lang="en-US" sz="1500" dirty="0">
                <a:solidFill>
                  <a:srgbClr val="FFFFFF"/>
                </a:solidFill>
                <a:latin typeface="Inter" pitchFamily="34" charset="0"/>
                <a:ea typeface="Inter" pitchFamily="34" charset="-122"/>
                <a:cs typeface="Inter" pitchFamily="34" charset="-120"/>
              </a:rPr>
              <a:t>Same script before and after</a:t>
            </a:r>
            <a:endParaRPr lang="en-US" sz="1500" dirty="0"/>
          </a:p>
          <a:p>
            <a:pPr marL="228600" indent="-228600">
              <a:spcAft>
                <a:spcPts val="1000"/>
              </a:spcAft>
              <a:buSzPct val="100000"/>
              <a:buChar char="•"/>
            </a:pPr>
            <a:r>
              <a:rPr lang="en-US" sz="1500" dirty="0">
                <a:solidFill>
                  <a:srgbClr val="FFFFFF"/>
                </a:solidFill>
                <a:latin typeface="Inter" pitchFamily="34" charset="0"/>
                <a:ea typeface="Inter" pitchFamily="34" charset="-122"/>
                <a:cs typeface="Inter" pitchFamily="34" charset="-120"/>
              </a:rPr>
              <a:t>Explicit permission to report no gain</a:t>
            </a:r>
            <a:endParaRPr lang="en-US" sz="1500" dirty="0"/>
          </a:p>
        </p:txBody>
      </p:sp>
      <p:sp>
        <p:nvSpPr>
          <p:cNvPr id="25" name="Slide Number Placeholder 0"/>
          <p:cNvSpPr>
            <a:spLocks noGrp="1"/>
          </p:cNvSpPr>
          <p:nvPr>
            <p:ph type="sldNum" sz="quarter" idx="4294967295"/>
          </p:nvPr>
        </p:nvSpPr>
        <p:spPr>
          <a:xfrm>
            <a:off x="10911535" y="6419088"/>
            <a:ext cx="73152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9CA3AF"/>
                </a:solidFill>
                <a:latin typeface="Inter"/>
                <a:ea typeface="Inter"/>
                <a:cs typeface="Inter"/>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94415" cy="640080"/>
          </a:xfrm>
          <a:prstGeom prst="rect">
            <a:avLst/>
          </a:prstGeom>
          <a:noFill/>
          <a:ln/>
        </p:spPr>
        <p:txBody>
          <a:bodyPr wrap="square" lIns="0" tIns="0" rIns="0" bIns="0" rtlCol="0" anchor="b"/>
          <a:lstStyle/>
          <a:p>
            <a:pPr algn="l" indent="0" marL="0">
              <a:buNone/>
            </a:pPr>
            <a:r>
              <a:rPr lang="en-US" sz="3200" b="1" dirty="0">
                <a:solidFill>
                  <a:srgbClr val="272827"/>
                </a:solidFill>
                <a:latin typeface="Playfair Display" pitchFamily="34" charset="0"/>
                <a:ea typeface="Playfair Display" pitchFamily="34" charset="-122"/>
                <a:cs typeface="Playfair Display" pitchFamily="34" charset="-120"/>
              </a:rPr>
              <a:t>Agent claims vs evidence</a:t>
            </a:r>
            <a:endParaRPr lang="en-US" sz="3200" dirty="0"/>
          </a:p>
        </p:txBody>
      </p:sp>
      <p:sp>
        <p:nvSpPr>
          <p:cNvPr id="3" name="Text 1"/>
          <p:cNvSpPr txBox="1"/>
          <p:nvPr/>
        </p:nvSpPr>
        <p:spPr>
          <a:xfrm>
            <a:off x="548640" y="1060704"/>
            <a:ext cx="8229600" cy="384048"/>
          </a:xfrm>
          <a:prstGeom prst="rect">
            <a:avLst/>
          </a:prstGeom>
          <a:noFill/>
          <a:ln/>
        </p:spPr>
        <p:txBody>
          <a:bodyPr wrap="square" lIns="0" tIns="0" rIns="0" bIns="0" rtlCol="0" anchor="t"/>
          <a:lstStyle/>
          <a:p>
            <a:pPr rtl="1" algn="l" indent="0" marL="0">
              <a:buNone/>
            </a:pPr>
            <a:r>
              <a:rPr lang="ar-LY" altLang="en-US" sz="1700" dirty="0">
                <a:solidFill>
                  <a:srgbClr val="FF5723"/>
                </a:solidFill>
                <a:latin typeface="Tajawal" pitchFamily="34" charset="0"/>
                <a:ea typeface="Tajawal" pitchFamily="34" charset="-122"/>
                <a:cs typeface="Tajawal" pitchFamily="34" charset="-120"/>
              </a:rPr>
              <a:t>ادعاءات الوكيل مقابل الدليل</a:t>
            </a:r>
            <a:endParaRPr lang="ar-LY" sz="1700" dirty="0"/>
          </a:p>
        </p:txBody>
      </p:sp>
      <p:sp>
        <p:nvSpPr>
          <p:cNvPr id="4" name="Shape 2"/>
          <p:cNvSpPr/>
          <p:nvPr/>
        </p:nvSpPr>
        <p:spPr>
          <a:xfrm>
            <a:off x="548640" y="1737360"/>
            <a:ext cx="5364328" cy="4206240"/>
          </a:xfrm>
          <a:prstGeom prst="roundRect">
            <a:avLst>
              <a:gd name="adj" fmla="val 1739"/>
            </a:avLst>
          </a:prstGeom>
          <a:solidFill>
            <a:srgbClr val="F6F3EE"/>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5" name="Text 3"/>
          <p:cNvSpPr txBox="1"/>
          <p:nvPr/>
        </p:nvSpPr>
        <p:spPr>
          <a:xfrm>
            <a:off x="868680" y="1965960"/>
            <a:ext cx="4724248" cy="411480"/>
          </a:xfrm>
          <a:prstGeom prst="rect">
            <a:avLst/>
          </a:prstGeom>
          <a:noFill/>
          <a:ln/>
        </p:spPr>
        <p:txBody>
          <a:bodyPr wrap="square" lIns="0" tIns="0" rIns="0" bIns="0" rtlCol="0" anchor="ctr"/>
          <a:lstStyle/>
          <a:p>
            <a:pPr indent="0" marL="0">
              <a:buNone/>
            </a:pPr>
            <a:r>
              <a:rPr lang="en-US" sz="2200" b="1" dirty="0">
                <a:solidFill>
                  <a:srgbClr val="272827"/>
                </a:solidFill>
                <a:latin typeface="Playfair Display" pitchFamily="34" charset="0"/>
                <a:ea typeface="Playfair Display" pitchFamily="34" charset="-122"/>
                <a:cs typeface="Playfair Display" pitchFamily="34" charset="-120"/>
              </a:rPr>
              <a:t>Claims</a:t>
            </a:r>
            <a:endParaRPr lang="en-US" sz="2200" dirty="0"/>
          </a:p>
        </p:txBody>
      </p:sp>
      <p:sp>
        <p:nvSpPr>
          <p:cNvPr id="6" name="Text 4"/>
          <p:cNvSpPr txBox="1"/>
          <p:nvPr/>
        </p:nvSpPr>
        <p:spPr>
          <a:xfrm>
            <a:off x="868680" y="2560320"/>
            <a:ext cx="4724248" cy="3200400"/>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rgbClr val="272827"/>
                </a:solidFill>
                <a:latin typeface="Inter" pitchFamily="34" charset="0"/>
                <a:ea typeface="Inter" pitchFamily="34" charset="-122"/>
                <a:cs typeface="Inter" pitchFamily="34" charset="-120"/>
              </a:rPr>
              <a:t>"This should be much faster"</a:t>
            </a:r>
            <a:endParaRPr lang="en-US" sz="1600" dirty="0"/>
          </a:p>
          <a:p>
            <a:pPr marL="228600" indent="-228600">
              <a:spcAft>
                <a:spcPts val="800"/>
              </a:spcAft>
              <a:buSzPct val="100000"/>
              <a:buChar char="•"/>
            </a:pPr>
            <a:r>
              <a:rPr lang="en-US" sz="1600" dirty="0">
                <a:solidFill>
                  <a:srgbClr val="272827"/>
                </a:solidFill>
                <a:latin typeface="Inter" pitchFamily="34" charset="0"/>
                <a:ea typeface="Inter" pitchFamily="34" charset="-122"/>
                <a:cs typeface="Inter" pitchFamily="34" charset="-120"/>
              </a:rPr>
              <a:t>"I added an index, it is fixed"</a:t>
            </a:r>
            <a:endParaRPr lang="en-US" sz="1600" dirty="0"/>
          </a:p>
          <a:p>
            <a:pPr marL="228600" indent="-228600">
              <a:spcAft>
                <a:spcPts val="800"/>
              </a:spcAft>
              <a:buSzPct val="100000"/>
              <a:buChar char="•"/>
            </a:pPr>
            <a:r>
              <a:rPr lang="en-US" sz="1600" dirty="0">
                <a:solidFill>
                  <a:srgbClr val="272827"/>
                </a:solidFill>
                <a:latin typeface="Inter" pitchFamily="34" charset="0"/>
                <a:ea typeface="Inter" pitchFamily="34" charset="-122"/>
                <a:cs typeface="Inter" pitchFamily="34" charset="-120"/>
              </a:rPr>
              <a:t>"Caching will solve it"</a:t>
            </a:r>
            <a:endParaRPr lang="en-US" sz="1600" dirty="0"/>
          </a:p>
          <a:p>
            <a:pPr marL="228600" indent="-228600">
              <a:spcAft>
                <a:spcPts val="800"/>
              </a:spcAft>
              <a:buSzPct val="100000"/>
              <a:buChar char="•"/>
            </a:pPr>
            <a:r>
              <a:rPr lang="en-US" sz="1600" dirty="0">
                <a:solidFill>
                  <a:srgbClr val="272827"/>
                </a:solidFill>
                <a:latin typeface="Inter" pitchFamily="34" charset="0"/>
                <a:ea typeface="Inter" pitchFamily="34" charset="-122"/>
                <a:cs typeface="Inter" pitchFamily="34" charset="-120"/>
              </a:rPr>
              <a:t>"No N+1 queries remain"</a:t>
            </a:r>
            <a:endParaRPr lang="en-US" sz="1600" dirty="0"/>
          </a:p>
        </p:txBody>
      </p:sp>
      <p:sp>
        <p:nvSpPr>
          <p:cNvPr id="7" name="Shape 5"/>
          <p:cNvSpPr/>
          <p:nvPr/>
        </p:nvSpPr>
        <p:spPr>
          <a:xfrm>
            <a:off x="6278728" y="1737360"/>
            <a:ext cx="5364328" cy="4206240"/>
          </a:xfrm>
          <a:prstGeom prst="roundRect">
            <a:avLst>
              <a:gd name="adj" fmla="val 1739"/>
            </a:avLst>
          </a:prstGeom>
          <a:solidFill>
            <a:srgbClr val="272827"/>
          </a:solidFill>
          <a:ln w="12700">
            <a:solidFill>
              <a:srgbClr val="272827"/>
            </a:solidFill>
            <a:prstDash val="solid"/>
          </a:ln>
          <a:effectLst>
            <a:outerShdw sx="100000" sy="100000" kx="0" ky="0" algn="bl" rotWithShape="0" blurRad="76200" dist="25400" dir="5400000">
              <a:srgbClr val="000000">
                <a:alpha val="12000"/>
              </a:srgbClr>
            </a:outerShdw>
          </a:effectLst>
        </p:spPr>
      </p:sp>
      <p:sp>
        <p:nvSpPr>
          <p:cNvPr id="8" name="Text 6"/>
          <p:cNvSpPr txBox="1"/>
          <p:nvPr/>
        </p:nvSpPr>
        <p:spPr>
          <a:xfrm>
            <a:off x="6598768" y="1965960"/>
            <a:ext cx="4724248" cy="411480"/>
          </a:xfrm>
          <a:prstGeom prst="rect">
            <a:avLst/>
          </a:prstGeom>
          <a:noFill/>
          <a:ln/>
        </p:spPr>
        <p:txBody>
          <a:bodyPr wrap="square" lIns="0" tIns="0" rIns="0" bIns="0" rtlCol="0" anchor="ctr"/>
          <a:lstStyle/>
          <a:p>
            <a:pPr indent="0" marL="0">
              <a:buNone/>
            </a:pPr>
            <a:r>
              <a:rPr lang="en-US" sz="2200" b="1" dirty="0">
                <a:solidFill>
                  <a:srgbClr val="FF5723"/>
                </a:solidFill>
                <a:latin typeface="Playfair Display" pitchFamily="34" charset="0"/>
                <a:ea typeface="Playfair Display" pitchFamily="34" charset="-122"/>
                <a:cs typeface="Playfair Display" pitchFamily="34" charset="-120"/>
              </a:rPr>
              <a:t>Evidence</a:t>
            </a:r>
            <a:endParaRPr lang="en-US" sz="2200" dirty="0"/>
          </a:p>
        </p:txBody>
      </p:sp>
      <p:sp>
        <p:nvSpPr>
          <p:cNvPr id="9" name="Text 7"/>
          <p:cNvSpPr txBox="1"/>
          <p:nvPr/>
        </p:nvSpPr>
        <p:spPr>
          <a:xfrm>
            <a:off x="6598768" y="2560320"/>
            <a:ext cx="4724248" cy="3200400"/>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rgbClr val="FFFFFF"/>
                </a:solidFill>
                <a:latin typeface="Inter" pitchFamily="34" charset="0"/>
                <a:ea typeface="Inter" pitchFamily="34" charset="-122"/>
                <a:cs typeface="Inter" pitchFamily="34" charset="-120"/>
              </a:rPr>
              <a:t>p95 before and after, same k6 script</a:t>
            </a:r>
            <a:endParaRPr lang="en-US" sz="1600" dirty="0"/>
          </a:p>
          <a:p>
            <a:pPr marL="228600" indent="-228600">
              <a:spcAft>
                <a:spcPts val="800"/>
              </a:spcAft>
              <a:buSzPct val="100000"/>
              <a:buChar char="•"/>
            </a:pPr>
            <a:r>
              <a:rPr lang="en-US" sz="1600" dirty="0">
                <a:solidFill>
                  <a:srgbClr val="FFB59C"/>
                </a:solidFill>
                <a:latin typeface="JetBrains Mono" pitchFamily="34" charset="0"/>
                <a:ea typeface="JetBrains Mono" pitchFamily="34" charset="-122"/>
                <a:cs typeface="JetBrains Mono" pitchFamily="34" charset="-120"/>
              </a:rPr>
              <a:t>EXPLAIN ANALYZE</a:t>
            </a:r>
            <a:pPr indent="0" marL="0">
              <a:buNone/>
            </a:pPr>
            <a:r>
              <a:rPr lang="en-US" sz="1600" dirty="0">
                <a:solidFill>
                  <a:srgbClr val="FFFFFF"/>
                </a:solidFill>
                <a:latin typeface="Inter" pitchFamily="34" charset="0"/>
                <a:ea typeface="Inter" pitchFamily="34" charset="-122"/>
                <a:cs typeface="Inter" pitchFamily="34" charset="-120"/>
              </a:rPr>
              <a:t> shows an index scan</a:t>
            </a:r>
            <a:endParaRPr lang="en-US" sz="1600" dirty="0"/>
          </a:p>
          <a:p>
            <a:pPr marL="228600" indent="-228600">
              <a:spcAft>
                <a:spcPts val="800"/>
              </a:spcAft>
              <a:buSzPct val="100000"/>
              <a:buChar char="•"/>
            </a:pPr>
            <a:r>
              <a:rPr lang="en-US" sz="1600" dirty="0">
                <a:solidFill>
                  <a:srgbClr val="FFFFFF"/>
                </a:solidFill>
                <a:latin typeface="Inter" pitchFamily="34" charset="0"/>
                <a:ea typeface="Inter" pitchFamily="34" charset="-122"/>
                <a:cs typeface="Inter" pitchFamily="34" charset="-120"/>
              </a:rPr>
              <a:t>Hit rate and a tested invalidation path</a:t>
            </a:r>
            <a:endParaRPr lang="en-US" sz="1600" dirty="0"/>
          </a:p>
          <a:p>
            <a:pPr marL="228600" indent="-228600">
              <a:spcAft>
                <a:spcPts val="800"/>
              </a:spcAft>
              <a:buSzPct val="100000"/>
              <a:buChar char="•"/>
            </a:pPr>
            <a:r>
              <a:rPr lang="en-US" sz="1600" dirty="0">
                <a:solidFill>
                  <a:srgbClr val="FFFFFF"/>
                </a:solidFill>
                <a:latin typeface="Inter" pitchFamily="34" charset="0"/>
                <a:ea typeface="Inter" pitchFamily="34" charset="-122"/>
                <a:cs typeface="Inter" pitchFamily="34" charset="-120"/>
              </a:rPr>
              <a:t>A query-count test that stays flat</a:t>
            </a:r>
            <a:endParaRPr lang="en-US" sz="1600" dirty="0"/>
          </a:p>
          <a:p>
            <a:pPr marL="228600" indent="-228600">
              <a:spcAft>
                <a:spcPts val="800"/>
              </a:spcAft>
              <a:buSzPct val="100000"/>
              <a:buChar char="•"/>
            </a:pPr>
            <a:r>
              <a:rPr lang="en-US" sz="1600" dirty="0">
                <a:solidFill>
                  <a:srgbClr val="FFFFFF"/>
                </a:solidFill>
                <a:latin typeface="Inter" pitchFamily="34" charset="0"/>
                <a:ea typeface="Inter" pitchFamily="34" charset="-122"/>
                <a:cs typeface="Inter" pitchFamily="34" charset="-120"/>
              </a:rPr>
              <a:t>Three runs on the same machine</a:t>
            </a:r>
            <a:endParaRPr lang="en-US" sz="1600" dirty="0"/>
          </a:p>
        </p:txBody>
      </p:sp>
      <p:sp>
        <p:nvSpPr>
          <p:cNvPr id="25" name="Slide Number Placeholder 0"/>
          <p:cNvSpPr>
            <a:spLocks noGrp="1"/>
          </p:cNvSpPr>
          <p:nvPr>
            <p:ph type="sldNum" sz="quarter" idx="4294967295"/>
          </p:nvPr>
        </p:nvSpPr>
        <p:spPr>
          <a:xfrm>
            <a:off x="10911535" y="6419088"/>
            <a:ext cx="73152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280"/>
                </a:solidFill>
                <a:latin typeface="Inter"/>
                <a:ea typeface="Inter"/>
                <a:cs typeface="Inter"/>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94415" cy="640080"/>
          </a:xfrm>
          <a:prstGeom prst="rect">
            <a:avLst/>
          </a:prstGeom>
          <a:noFill/>
          <a:ln/>
        </p:spPr>
        <p:txBody>
          <a:bodyPr wrap="square" lIns="0" tIns="0" rIns="0" bIns="0" rtlCol="0" anchor="b"/>
          <a:lstStyle/>
          <a:p>
            <a:pPr algn="l" indent="0" marL="0">
              <a:buNone/>
            </a:pPr>
            <a:r>
              <a:rPr lang="en-US" sz="3200" b="1" dirty="0">
                <a:solidFill>
                  <a:srgbClr val="272827"/>
                </a:solidFill>
                <a:latin typeface="Playfair Display" pitchFamily="34" charset="0"/>
                <a:ea typeface="Playfair Display" pitchFamily="34" charset="-122"/>
                <a:cs typeface="Playfair Display" pitchFamily="34" charset="-120"/>
              </a:rPr>
              <a:t>Pitfalls to watch</a:t>
            </a:r>
            <a:endParaRPr lang="en-US" sz="3200" dirty="0"/>
          </a:p>
        </p:txBody>
      </p:sp>
      <p:sp>
        <p:nvSpPr>
          <p:cNvPr id="3" name="Text 1"/>
          <p:cNvSpPr txBox="1"/>
          <p:nvPr/>
        </p:nvSpPr>
        <p:spPr>
          <a:xfrm>
            <a:off x="548640" y="1060704"/>
            <a:ext cx="8229600" cy="384048"/>
          </a:xfrm>
          <a:prstGeom prst="rect">
            <a:avLst/>
          </a:prstGeom>
          <a:noFill/>
          <a:ln/>
        </p:spPr>
        <p:txBody>
          <a:bodyPr wrap="square" lIns="0" tIns="0" rIns="0" bIns="0" rtlCol="0" anchor="t"/>
          <a:lstStyle/>
          <a:p>
            <a:pPr rtl="1" algn="l" indent="0" marL="0">
              <a:buNone/>
            </a:pPr>
            <a:r>
              <a:rPr lang="ar-LY" altLang="en-US" sz="1700" dirty="0">
                <a:solidFill>
                  <a:srgbClr val="FF5723"/>
                </a:solidFill>
                <a:latin typeface="Tajawal" pitchFamily="34" charset="0"/>
                <a:ea typeface="Tajawal" pitchFamily="34" charset="-122"/>
                <a:cs typeface="Tajawal" pitchFamily="34" charset="-120"/>
              </a:rPr>
              <a:t>أخطاء شائعة</a:t>
            </a:r>
            <a:endParaRPr lang="ar-LY" sz="1700" dirty="0"/>
          </a:p>
        </p:txBody>
      </p:sp>
      <p:sp>
        <p:nvSpPr>
          <p:cNvPr id="4" name="Text 2"/>
          <p:cNvSpPr txBox="1"/>
          <p:nvPr/>
        </p:nvSpPr>
        <p:spPr>
          <a:xfrm>
            <a:off x="1234440" y="1691640"/>
            <a:ext cx="2743200" cy="274320"/>
          </a:xfrm>
          <a:prstGeom prst="rect">
            <a:avLst/>
          </a:prstGeom>
          <a:noFill/>
          <a:ln/>
        </p:spPr>
        <p:txBody>
          <a:bodyPr wrap="square" lIns="0" tIns="0" rIns="0" bIns="0" rtlCol="0" anchor="ctr"/>
          <a:lstStyle/>
          <a:p>
            <a:pPr indent="0" marL="0">
              <a:buNone/>
            </a:pPr>
            <a:r>
              <a:rPr lang="en-US" sz="1100" b="1" spc="300" kern="0" dirty="0">
                <a:solidFill>
                  <a:srgbClr val="6B7280"/>
                </a:solidFill>
                <a:latin typeface="Inter" pitchFamily="34" charset="0"/>
                <a:ea typeface="Inter" pitchFamily="34" charset="-122"/>
                <a:cs typeface="Inter" pitchFamily="34" charset="-120"/>
              </a:rPr>
              <a:t>PITFALL</a:t>
            </a:r>
            <a:endParaRPr lang="en-US" sz="1100" dirty="0"/>
          </a:p>
        </p:txBody>
      </p:sp>
      <p:sp>
        <p:nvSpPr>
          <p:cNvPr id="5" name="Text 3"/>
          <p:cNvSpPr txBox="1"/>
          <p:nvPr/>
        </p:nvSpPr>
        <p:spPr>
          <a:xfrm>
            <a:off x="6126480" y="1691640"/>
            <a:ext cx="3657600" cy="274320"/>
          </a:xfrm>
          <a:prstGeom prst="rect">
            <a:avLst/>
          </a:prstGeom>
          <a:noFill/>
          <a:ln/>
        </p:spPr>
        <p:txBody>
          <a:bodyPr wrap="square" lIns="0" tIns="0" rIns="0" bIns="0" rtlCol="0" anchor="ctr"/>
          <a:lstStyle/>
          <a:p>
            <a:pPr indent="0" marL="0">
              <a:buNone/>
            </a:pPr>
            <a:r>
              <a:rPr lang="en-US" sz="1100" b="1" spc="300" kern="0" dirty="0">
                <a:solidFill>
                  <a:srgbClr val="FF5723"/>
                </a:solidFill>
                <a:latin typeface="Inter" pitchFamily="34" charset="0"/>
                <a:ea typeface="Inter" pitchFamily="34" charset="-122"/>
                <a:cs typeface="Inter" pitchFamily="34" charset="-120"/>
              </a:rPr>
              <a:t>DO THIS INSTEAD</a:t>
            </a:r>
            <a:endParaRPr lang="en-US" sz="1100" dirty="0"/>
          </a:p>
        </p:txBody>
      </p:sp>
      <p:sp>
        <p:nvSpPr>
          <p:cNvPr id="6" name="Shape 4"/>
          <p:cNvSpPr/>
          <p:nvPr/>
        </p:nvSpPr>
        <p:spPr>
          <a:xfrm>
            <a:off x="548640" y="2057400"/>
            <a:ext cx="11094415" cy="866394"/>
          </a:xfrm>
          <a:prstGeom prst="roundRect">
            <a:avLst>
              <a:gd name="adj" fmla="val 8443"/>
            </a:avLst>
          </a:prstGeom>
          <a:solidFill>
            <a:srgbClr val="F6F3EE"/>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7" name="Shape 5"/>
          <p:cNvSpPr/>
          <p:nvPr/>
        </p:nvSpPr>
        <p:spPr>
          <a:xfrm>
            <a:off x="731520" y="2307717"/>
            <a:ext cx="365760" cy="365760"/>
          </a:xfrm>
          <a:prstGeom prst="ellipse">
            <a:avLst/>
          </a:prstGeom>
          <a:solidFill>
            <a:srgbClr val="272827"/>
          </a:solidFill>
          <a:ln w="12700">
            <a:solidFill>
              <a:srgbClr val="272827"/>
            </a:solidFill>
            <a:prstDash val="solid"/>
          </a:ln>
        </p:spPr>
      </p:sp>
      <p:sp>
        <p:nvSpPr>
          <p:cNvPr id="8" name="Text 6"/>
          <p:cNvSpPr txBox="1"/>
          <p:nvPr/>
        </p:nvSpPr>
        <p:spPr>
          <a:xfrm>
            <a:off x="731520" y="2307717"/>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Inter" pitchFamily="34" charset="0"/>
                <a:ea typeface="Inter" pitchFamily="34" charset="-122"/>
                <a:cs typeface="Inter" pitchFamily="34" charset="-120"/>
              </a:rPr>
              <a:t>✕</a:t>
            </a:r>
            <a:endParaRPr lang="en-US" sz="1100" dirty="0"/>
          </a:p>
        </p:txBody>
      </p:sp>
      <p:sp>
        <p:nvSpPr>
          <p:cNvPr id="9" name="Text 7"/>
          <p:cNvSpPr txBox="1"/>
          <p:nvPr/>
        </p:nvSpPr>
        <p:spPr>
          <a:xfrm>
            <a:off x="1234440" y="2130552"/>
            <a:ext cx="4297680" cy="720090"/>
          </a:xfrm>
          <a:prstGeom prst="rect">
            <a:avLst/>
          </a:prstGeom>
          <a:noFill/>
          <a:ln/>
        </p:spPr>
        <p:txBody>
          <a:bodyPr wrap="square" lIns="0" tIns="0" rIns="0" bIns="0" rtlCol="0" anchor="ctr"/>
          <a:lstStyle/>
          <a:p>
            <a:pPr indent="0" marL="0">
              <a:buNone/>
            </a:pPr>
            <a:r>
              <a:rPr lang="en-US" sz="1500" b="1" dirty="0">
                <a:solidFill>
                  <a:srgbClr val="272827"/>
                </a:solidFill>
                <a:latin typeface="Inter" pitchFamily="34" charset="0"/>
                <a:ea typeface="Inter" pitchFamily="34" charset="-122"/>
                <a:cs typeface="Inter" pitchFamily="34" charset="-120"/>
              </a:rPr>
              <a:t>Personal data cached under a shared key</a:t>
            </a:r>
            <a:endParaRPr lang="en-US" sz="1500" dirty="0"/>
          </a:p>
        </p:txBody>
      </p:sp>
      <p:sp>
        <p:nvSpPr>
          <p:cNvPr id="10" name="Shape 8"/>
          <p:cNvSpPr/>
          <p:nvPr/>
        </p:nvSpPr>
        <p:spPr>
          <a:xfrm>
            <a:off x="5623560" y="2307717"/>
            <a:ext cx="365760" cy="365760"/>
          </a:xfrm>
          <a:prstGeom prst="ellipse">
            <a:avLst/>
          </a:prstGeom>
          <a:solidFill>
            <a:srgbClr val="FF5723"/>
          </a:solidFill>
          <a:ln w="12700">
            <a:solidFill>
              <a:srgbClr val="FF5723"/>
            </a:solidFill>
            <a:prstDash val="solid"/>
          </a:ln>
        </p:spPr>
      </p:sp>
      <p:sp>
        <p:nvSpPr>
          <p:cNvPr id="11" name="Text 9"/>
          <p:cNvSpPr txBox="1"/>
          <p:nvPr/>
        </p:nvSpPr>
        <p:spPr>
          <a:xfrm>
            <a:off x="5623560" y="2307717"/>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Inter" pitchFamily="34" charset="0"/>
                <a:ea typeface="Inter" pitchFamily="34" charset="-122"/>
                <a:cs typeface="Inter" pitchFamily="34" charset="-120"/>
              </a:rPr>
              <a:t>✓</a:t>
            </a:r>
            <a:endParaRPr lang="en-US" sz="1100" dirty="0"/>
          </a:p>
        </p:txBody>
      </p:sp>
      <p:sp>
        <p:nvSpPr>
          <p:cNvPr id="12" name="Text 10"/>
          <p:cNvSpPr txBox="1"/>
          <p:nvPr/>
        </p:nvSpPr>
        <p:spPr>
          <a:xfrm>
            <a:off x="6126480" y="2130552"/>
            <a:ext cx="5333695" cy="720090"/>
          </a:xfrm>
          <a:prstGeom prst="rect">
            <a:avLst/>
          </a:prstGeom>
          <a:noFill/>
          <a:ln/>
        </p:spPr>
        <p:txBody>
          <a:bodyPr wrap="square" lIns="0" tIns="0" rIns="0" bIns="0" rtlCol="0" anchor="ctr"/>
          <a:lstStyle/>
          <a:p>
            <a:pPr indent="0" marL="0">
              <a:buNone/>
            </a:pPr>
            <a:r>
              <a:rPr lang="en-US" sz="1500" dirty="0">
                <a:solidFill>
                  <a:srgbClr val="3A3B3A"/>
                </a:solidFill>
                <a:latin typeface="Inter" pitchFamily="34" charset="0"/>
                <a:ea typeface="Inter" pitchFamily="34" charset="-122"/>
                <a:cs typeface="Inter" pitchFamily="34" charset="-120"/>
              </a:rPr>
              <a:t>Cache only shared data, or put the user ID </a:t>
            </a:r>
            <a:pPr indent="0" marL="0">
              <a:buNone/>
            </a:pPr>
            <a:r>
              <a:rPr lang="en-US" sz="1500" b="1" dirty="0">
                <a:solidFill>
                  <a:srgbClr val="3A3B3A"/>
                </a:solidFill>
                <a:latin typeface="Inter" pitchFamily="34" charset="0"/>
                <a:ea typeface="Inter" pitchFamily="34" charset="-122"/>
                <a:cs typeface="Inter" pitchFamily="34" charset="-120"/>
              </a:rPr>
              <a:t>in the key</a:t>
            </a:r>
            <a:endParaRPr lang="en-US" sz="1500" dirty="0"/>
          </a:p>
        </p:txBody>
      </p:sp>
      <p:sp>
        <p:nvSpPr>
          <p:cNvPr id="13" name="Shape 11"/>
          <p:cNvSpPr/>
          <p:nvPr/>
        </p:nvSpPr>
        <p:spPr>
          <a:xfrm>
            <a:off x="548640" y="3124962"/>
            <a:ext cx="11094415" cy="866394"/>
          </a:xfrm>
          <a:prstGeom prst="roundRect">
            <a:avLst>
              <a:gd name="adj" fmla="val 8443"/>
            </a:avLst>
          </a:prstGeom>
          <a:solidFill>
            <a:srgbClr val="F6F3EE"/>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14" name="Shape 12"/>
          <p:cNvSpPr/>
          <p:nvPr/>
        </p:nvSpPr>
        <p:spPr>
          <a:xfrm>
            <a:off x="731520" y="3375279"/>
            <a:ext cx="365760" cy="365760"/>
          </a:xfrm>
          <a:prstGeom prst="ellipse">
            <a:avLst/>
          </a:prstGeom>
          <a:solidFill>
            <a:srgbClr val="272827"/>
          </a:solidFill>
          <a:ln w="12700">
            <a:solidFill>
              <a:srgbClr val="272827"/>
            </a:solidFill>
            <a:prstDash val="solid"/>
          </a:ln>
        </p:spPr>
      </p:sp>
      <p:sp>
        <p:nvSpPr>
          <p:cNvPr id="15" name="Text 13"/>
          <p:cNvSpPr txBox="1"/>
          <p:nvPr/>
        </p:nvSpPr>
        <p:spPr>
          <a:xfrm>
            <a:off x="731520" y="3375279"/>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Inter" pitchFamily="34" charset="0"/>
                <a:ea typeface="Inter" pitchFamily="34" charset="-122"/>
                <a:cs typeface="Inter" pitchFamily="34" charset="-120"/>
              </a:rPr>
              <a:t>✕</a:t>
            </a:r>
            <a:endParaRPr lang="en-US" sz="1100" dirty="0"/>
          </a:p>
        </p:txBody>
      </p:sp>
      <p:sp>
        <p:nvSpPr>
          <p:cNvPr id="16" name="Text 14"/>
          <p:cNvSpPr txBox="1"/>
          <p:nvPr/>
        </p:nvSpPr>
        <p:spPr>
          <a:xfrm>
            <a:off x="1234440" y="3198114"/>
            <a:ext cx="4297680" cy="720090"/>
          </a:xfrm>
          <a:prstGeom prst="rect">
            <a:avLst/>
          </a:prstGeom>
          <a:noFill/>
          <a:ln/>
        </p:spPr>
        <p:txBody>
          <a:bodyPr wrap="square" lIns="0" tIns="0" rIns="0" bIns="0" rtlCol="0" anchor="ctr"/>
          <a:lstStyle/>
          <a:p>
            <a:pPr indent="0" marL="0">
              <a:buNone/>
            </a:pPr>
            <a:r>
              <a:rPr lang="en-US" sz="1500" b="1" dirty="0">
                <a:solidFill>
                  <a:srgbClr val="272827"/>
                </a:solidFill>
                <a:latin typeface="Inter" pitchFamily="34" charset="0"/>
                <a:ea typeface="Inter" pitchFamily="34" charset="-122"/>
                <a:cs typeface="Inter" pitchFamily="34" charset="-120"/>
              </a:rPr>
              <a:t>Jobs that are not safe to retry: a retry assigns twice</a:t>
            </a:r>
            <a:endParaRPr lang="en-US" sz="1500" dirty="0"/>
          </a:p>
        </p:txBody>
      </p:sp>
      <p:sp>
        <p:nvSpPr>
          <p:cNvPr id="17" name="Shape 15"/>
          <p:cNvSpPr/>
          <p:nvPr/>
        </p:nvSpPr>
        <p:spPr>
          <a:xfrm>
            <a:off x="5623560" y="3375279"/>
            <a:ext cx="365760" cy="365760"/>
          </a:xfrm>
          <a:prstGeom prst="ellipse">
            <a:avLst/>
          </a:prstGeom>
          <a:solidFill>
            <a:srgbClr val="FF5723"/>
          </a:solidFill>
          <a:ln w="12700">
            <a:solidFill>
              <a:srgbClr val="FF5723"/>
            </a:solidFill>
            <a:prstDash val="solid"/>
          </a:ln>
        </p:spPr>
      </p:sp>
      <p:sp>
        <p:nvSpPr>
          <p:cNvPr id="18" name="Text 16"/>
          <p:cNvSpPr txBox="1"/>
          <p:nvPr/>
        </p:nvSpPr>
        <p:spPr>
          <a:xfrm>
            <a:off x="5623560" y="3375279"/>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Inter" pitchFamily="34" charset="0"/>
                <a:ea typeface="Inter" pitchFamily="34" charset="-122"/>
                <a:cs typeface="Inter" pitchFamily="34" charset="-120"/>
              </a:rPr>
              <a:t>✓</a:t>
            </a:r>
            <a:endParaRPr lang="en-US" sz="1100" dirty="0"/>
          </a:p>
        </p:txBody>
      </p:sp>
      <p:sp>
        <p:nvSpPr>
          <p:cNvPr id="19" name="Text 17"/>
          <p:cNvSpPr txBox="1"/>
          <p:nvPr/>
        </p:nvSpPr>
        <p:spPr>
          <a:xfrm>
            <a:off x="6126480" y="3198114"/>
            <a:ext cx="5333695" cy="720090"/>
          </a:xfrm>
          <a:prstGeom prst="rect">
            <a:avLst/>
          </a:prstGeom>
          <a:noFill/>
          <a:ln/>
        </p:spPr>
        <p:txBody>
          <a:bodyPr wrap="square" lIns="0" tIns="0" rIns="0" bIns="0" rtlCol="0" anchor="ctr"/>
          <a:lstStyle/>
          <a:p>
            <a:pPr indent="0" marL="0">
              <a:buNone/>
            </a:pPr>
            <a:r>
              <a:rPr lang="en-US" sz="1500" dirty="0">
                <a:solidFill>
                  <a:srgbClr val="3A3B3A"/>
                </a:solidFill>
                <a:latin typeface="Inter" pitchFamily="34" charset="0"/>
                <a:ea typeface="Inter" pitchFamily="34" charset="-122"/>
                <a:cs typeface="Inter" pitchFamily="34" charset="-120"/>
              </a:rPr>
              <a:t>Check status first; make every job </a:t>
            </a:r>
            <a:pPr indent="0" marL="0">
              <a:buNone/>
            </a:pPr>
            <a:r>
              <a:rPr lang="en-US" sz="1500" b="1" dirty="0">
                <a:solidFill>
                  <a:srgbClr val="3A3B3A"/>
                </a:solidFill>
                <a:latin typeface="Inter" pitchFamily="34" charset="0"/>
                <a:ea typeface="Inter" pitchFamily="34" charset="-122"/>
                <a:cs typeface="Inter" pitchFamily="34" charset="-120"/>
              </a:rPr>
              <a:t>idempotent</a:t>
            </a:r>
            <a:endParaRPr lang="en-US" sz="1500" dirty="0"/>
          </a:p>
        </p:txBody>
      </p:sp>
      <p:sp>
        <p:nvSpPr>
          <p:cNvPr id="20" name="Shape 18"/>
          <p:cNvSpPr/>
          <p:nvPr/>
        </p:nvSpPr>
        <p:spPr>
          <a:xfrm>
            <a:off x="548640" y="4192524"/>
            <a:ext cx="11094415" cy="866394"/>
          </a:xfrm>
          <a:prstGeom prst="roundRect">
            <a:avLst>
              <a:gd name="adj" fmla="val 8443"/>
            </a:avLst>
          </a:prstGeom>
          <a:solidFill>
            <a:srgbClr val="F6F3EE"/>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21" name="Shape 19"/>
          <p:cNvSpPr/>
          <p:nvPr/>
        </p:nvSpPr>
        <p:spPr>
          <a:xfrm>
            <a:off x="731520" y="4442841"/>
            <a:ext cx="365760" cy="365760"/>
          </a:xfrm>
          <a:prstGeom prst="ellipse">
            <a:avLst/>
          </a:prstGeom>
          <a:solidFill>
            <a:srgbClr val="272827"/>
          </a:solidFill>
          <a:ln w="12700">
            <a:solidFill>
              <a:srgbClr val="272827"/>
            </a:solidFill>
            <a:prstDash val="solid"/>
          </a:ln>
        </p:spPr>
      </p:sp>
      <p:sp>
        <p:nvSpPr>
          <p:cNvPr id="22" name="Text 20"/>
          <p:cNvSpPr txBox="1"/>
          <p:nvPr/>
        </p:nvSpPr>
        <p:spPr>
          <a:xfrm>
            <a:off x="731520" y="4442841"/>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Inter" pitchFamily="34" charset="0"/>
                <a:ea typeface="Inter" pitchFamily="34" charset="-122"/>
                <a:cs typeface="Inter" pitchFamily="34" charset="-120"/>
              </a:rPr>
              <a:t>✕</a:t>
            </a:r>
            <a:endParaRPr lang="en-US" sz="1100" dirty="0"/>
          </a:p>
        </p:txBody>
      </p:sp>
      <p:sp>
        <p:nvSpPr>
          <p:cNvPr id="23" name="Text 21"/>
          <p:cNvSpPr txBox="1"/>
          <p:nvPr/>
        </p:nvSpPr>
        <p:spPr>
          <a:xfrm>
            <a:off x="1234440" y="4265676"/>
            <a:ext cx="4297680" cy="720090"/>
          </a:xfrm>
          <a:prstGeom prst="rect">
            <a:avLst/>
          </a:prstGeom>
          <a:noFill/>
          <a:ln/>
        </p:spPr>
        <p:txBody>
          <a:bodyPr wrap="square" lIns="0" tIns="0" rIns="0" bIns="0" rtlCol="0" anchor="ctr"/>
          <a:lstStyle/>
          <a:p>
            <a:pPr indent="0" marL="0">
              <a:buNone/>
            </a:pPr>
            <a:r>
              <a:rPr lang="en-US" sz="1500" b="1" dirty="0">
                <a:solidFill>
                  <a:srgbClr val="C2410C"/>
                </a:solidFill>
                <a:latin typeface="JetBrains Mono" pitchFamily="34" charset="0"/>
                <a:ea typeface="JetBrains Mono" pitchFamily="34" charset="-122"/>
                <a:cs typeface="JetBrains Mono" pitchFamily="34" charset="-120"/>
              </a:rPr>
              <a:t>lockForUpdate()</a:t>
            </a:r>
            <a:pPr indent="0" marL="0">
              <a:buNone/>
            </a:pPr>
            <a:r>
              <a:rPr lang="en-US" sz="1500" b="1" dirty="0">
                <a:solidFill>
                  <a:srgbClr val="272827"/>
                </a:solidFill>
                <a:latin typeface="Inter" pitchFamily="34" charset="0"/>
                <a:ea typeface="Inter" pitchFamily="34" charset="-122"/>
                <a:cs typeface="Inter" pitchFamily="34" charset="-120"/>
              </a:rPr>
              <a:t> outside a transaction</a:t>
            </a:r>
            <a:endParaRPr lang="en-US" sz="1500" dirty="0"/>
          </a:p>
        </p:txBody>
      </p:sp>
      <p:sp>
        <p:nvSpPr>
          <p:cNvPr id="24" name="Shape 22"/>
          <p:cNvSpPr/>
          <p:nvPr/>
        </p:nvSpPr>
        <p:spPr>
          <a:xfrm>
            <a:off x="5623560" y="4442841"/>
            <a:ext cx="365760" cy="365760"/>
          </a:xfrm>
          <a:prstGeom prst="ellipse">
            <a:avLst/>
          </a:prstGeom>
          <a:solidFill>
            <a:srgbClr val="FF5723"/>
          </a:solidFill>
          <a:ln w="12700">
            <a:solidFill>
              <a:srgbClr val="FF5723"/>
            </a:solidFill>
            <a:prstDash val="solid"/>
          </a:ln>
        </p:spPr>
      </p:sp>
      <p:sp>
        <p:nvSpPr>
          <p:cNvPr id="25" name="Text 23"/>
          <p:cNvSpPr txBox="1"/>
          <p:nvPr/>
        </p:nvSpPr>
        <p:spPr>
          <a:xfrm>
            <a:off x="5623560" y="4442841"/>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Inter" pitchFamily="34" charset="0"/>
                <a:ea typeface="Inter" pitchFamily="34" charset="-122"/>
                <a:cs typeface="Inter" pitchFamily="34" charset="-120"/>
              </a:rPr>
              <a:t>✓</a:t>
            </a:r>
            <a:endParaRPr lang="en-US" sz="1100" dirty="0"/>
          </a:p>
        </p:txBody>
      </p:sp>
      <p:sp>
        <p:nvSpPr>
          <p:cNvPr id="26" name="Text 24"/>
          <p:cNvSpPr txBox="1"/>
          <p:nvPr/>
        </p:nvSpPr>
        <p:spPr>
          <a:xfrm>
            <a:off x="6126480" y="4265676"/>
            <a:ext cx="5333695" cy="720090"/>
          </a:xfrm>
          <a:prstGeom prst="rect">
            <a:avLst/>
          </a:prstGeom>
          <a:noFill/>
          <a:ln/>
        </p:spPr>
        <p:txBody>
          <a:bodyPr wrap="square" lIns="0" tIns="0" rIns="0" bIns="0" rtlCol="0" anchor="ctr"/>
          <a:lstStyle/>
          <a:p>
            <a:pPr indent="0" marL="0">
              <a:buNone/>
            </a:pPr>
            <a:r>
              <a:rPr lang="en-US" sz="1500" dirty="0">
                <a:solidFill>
                  <a:srgbClr val="3A3B3A"/>
                </a:solidFill>
                <a:latin typeface="Inter" pitchFamily="34" charset="0"/>
                <a:ea typeface="Inter" pitchFamily="34" charset="-122"/>
                <a:cs typeface="Inter" pitchFamily="34" charset="-120"/>
              </a:rPr>
              <a:t>Wrap read + update in </a:t>
            </a:r>
            <a:pPr indent="0" marL="0">
              <a:buNone/>
            </a:pPr>
            <a:r>
              <a:rPr lang="en-US" sz="1500" dirty="0">
                <a:solidFill>
                  <a:srgbClr val="C2410C"/>
                </a:solidFill>
                <a:latin typeface="JetBrains Mono" pitchFamily="34" charset="0"/>
                <a:ea typeface="JetBrains Mono" pitchFamily="34" charset="-122"/>
                <a:cs typeface="JetBrains Mono" pitchFamily="34" charset="-120"/>
              </a:rPr>
              <a:t>DB::transaction()</a:t>
            </a:r>
            <a:endParaRPr lang="en-US" sz="1500" dirty="0"/>
          </a:p>
        </p:txBody>
      </p:sp>
      <p:sp>
        <p:nvSpPr>
          <p:cNvPr id="27" name="Shape 25"/>
          <p:cNvSpPr/>
          <p:nvPr/>
        </p:nvSpPr>
        <p:spPr>
          <a:xfrm>
            <a:off x="548640" y="5260086"/>
            <a:ext cx="11094415" cy="866394"/>
          </a:xfrm>
          <a:prstGeom prst="roundRect">
            <a:avLst>
              <a:gd name="adj" fmla="val 8443"/>
            </a:avLst>
          </a:prstGeom>
          <a:solidFill>
            <a:srgbClr val="F6F3EE"/>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28" name="Shape 26"/>
          <p:cNvSpPr/>
          <p:nvPr/>
        </p:nvSpPr>
        <p:spPr>
          <a:xfrm>
            <a:off x="731520" y="5510403"/>
            <a:ext cx="365760" cy="365760"/>
          </a:xfrm>
          <a:prstGeom prst="ellipse">
            <a:avLst/>
          </a:prstGeom>
          <a:solidFill>
            <a:srgbClr val="272827"/>
          </a:solidFill>
          <a:ln w="12700">
            <a:solidFill>
              <a:srgbClr val="272827"/>
            </a:solidFill>
            <a:prstDash val="solid"/>
          </a:ln>
        </p:spPr>
      </p:sp>
      <p:sp>
        <p:nvSpPr>
          <p:cNvPr id="29" name="Text 27"/>
          <p:cNvSpPr txBox="1"/>
          <p:nvPr/>
        </p:nvSpPr>
        <p:spPr>
          <a:xfrm>
            <a:off x="731520" y="5510403"/>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Inter" pitchFamily="34" charset="0"/>
                <a:ea typeface="Inter" pitchFamily="34" charset="-122"/>
                <a:cs typeface="Inter" pitchFamily="34" charset="-120"/>
              </a:rPr>
              <a:t>✕</a:t>
            </a:r>
            <a:endParaRPr lang="en-US" sz="1100" dirty="0"/>
          </a:p>
        </p:txBody>
      </p:sp>
      <p:sp>
        <p:nvSpPr>
          <p:cNvPr id="30" name="Text 28"/>
          <p:cNvSpPr txBox="1"/>
          <p:nvPr/>
        </p:nvSpPr>
        <p:spPr>
          <a:xfrm>
            <a:off x="1234440" y="5333238"/>
            <a:ext cx="4297680" cy="720090"/>
          </a:xfrm>
          <a:prstGeom prst="rect">
            <a:avLst/>
          </a:prstGeom>
          <a:noFill/>
          <a:ln/>
        </p:spPr>
        <p:txBody>
          <a:bodyPr wrap="square" lIns="0" tIns="0" rIns="0" bIns="0" rtlCol="0" anchor="ctr"/>
          <a:lstStyle/>
          <a:p>
            <a:pPr indent="0" marL="0">
              <a:buNone/>
            </a:pPr>
            <a:r>
              <a:rPr lang="en-US" sz="1500" b="1" dirty="0">
                <a:solidFill>
                  <a:srgbClr val="272827"/>
                </a:solidFill>
                <a:latin typeface="Inter" pitchFamily="34" charset="0"/>
                <a:ea typeface="Inter" pitchFamily="34" charset="-122"/>
                <a:cs typeface="Inter" pitchFamily="34" charset="-120"/>
              </a:rPr>
              <a:t>Dispatching a job before the insert is committed</a:t>
            </a:r>
            <a:endParaRPr lang="en-US" sz="1500" dirty="0"/>
          </a:p>
        </p:txBody>
      </p:sp>
      <p:sp>
        <p:nvSpPr>
          <p:cNvPr id="31" name="Shape 29"/>
          <p:cNvSpPr/>
          <p:nvPr/>
        </p:nvSpPr>
        <p:spPr>
          <a:xfrm>
            <a:off x="5623560" y="5510403"/>
            <a:ext cx="365760" cy="365760"/>
          </a:xfrm>
          <a:prstGeom prst="ellipse">
            <a:avLst/>
          </a:prstGeom>
          <a:solidFill>
            <a:srgbClr val="FF5723"/>
          </a:solidFill>
          <a:ln w="12700">
            <a:solidFill>
              <a:srgbClr val="FF5723"/>
            </a:solidFill>
            <a:prstDash val="solid"/>
          </a:ln>
        </p:spPr>
      </p:sp>
      <p:sp>
        <p:nvSpPr>
          <p:cNvPr id="32" name="Text 30"/>
          <p:cNvSpPr txBox="1"/>
          <p:nvPr/>
        </p:nvSpPr>
        <p:spPr>
          <a:xfrm>
            <a:off x="5623560" y="5510403"/>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Inter" pitchFamily="34" charset="0"/>
                <a:ea typeface="Inter" pitchFamily="34" charset="-122"/>
                <a:cs typeface="Inter" pitchFamily="34" charset="-120"/>
              </a:rPr>
              <a:t>✓</a:t>
            </a:r>
            <a:endParaRPr lang="en-US" sz="1100" dirty="0"/>
          </a:p>
        </p:txBody>
      </p:sp>
      <p:sp>
        <p:nvSpPr>
          <p:cNvPr id="33" name="Text 31"/>
          <p:cNvSpPr txBox="1"/>
          <p:nvPr/>
        </p:nvSpPr>
        <p:spPr>
          <a:xfrm>
            <a:off x="6126480" y="5333238"/>
            <a:ext cx="5333695" cy="720090"/>
          </a:xfrm>
          <a:prstGeom prst="rect">
            <a:avLst/>
          </a:prstGeom>
          <a:noFill/>
          <a:ln/>
        </p:spPr>
        <p:txBody>
          <a:bodyPr wrap="square" lIns="0" tIns="0" rIns="0" bIns="0" rtlCol="0" anchor="ctr"/>
          <a:lstStyle/>
          <a:p>
            <a:pPr indent="0" marL="0">
              <a:buNone/>
            </a:pPr>
            <a:r>
              <a:rPr lang="en-US" sz="1500" dirty="0">
                <a:solidFill>
                  <a:srgbClr val="C2410C"/>
                </a:solidFill>
                <a:latin typeface="JetBrains Mono" pitchFamily="34" charset="0"/>
                <a:ea typeface="JetBrains Mono" pitchFamily="34" charset="-122"/>
                <a:cs typeface="JetBrains Mono" pitchFamily="34" charset="-120"/>
              </a:rPr>
              <a:t>ShouldDispatchAfterCommit</a:t>
            </a:r>
            <a:pPr indent="0" marL="0">
              <a:buNone/>
            </a:pPr>
            <a:r>
              <a:rPr lang="en-US" sz="1500" dirty="0">
                <a:solidFill>
                  <a:srgbClr val="3A3B3A"/>
                </a:solidFill>
                <a:latin typeface="Inter" pitchFamily="34" charset="0"/>
                <a:ea typeface="Inter" pitchFamily="34" charset="-122"/>
                <a:cs typeface="Inter" pitchFamily="34" charset="-120"/>
              </a:rPr>
              <a:t> on the event; test with real workers</a:t>
            </a:r>
            <a:endParaRPr lang="en-US" sz="1500" dirty="0"/>
          </a:p>
        </p:txBody>
      </p:sp>
      <p:sp>
        <p:nvSpPr>
          <p:cNvPr id="25" name="Slide Number Placeholder 0"/>
          <p:cNvSpPr>
            <a:spLocks noGrp="1"/>
          </p:cNvSpPr>
          <p:nvPr>
            <p:ph type="sldNum" sz="quarter" idx="4294967295"/>
          </p:nvPr>
        </p:nvSpPr>
        <p:spPr>
          <a:xfrm>
            <a:off x="10911535" y="6419088"/>
            <a:ext cx="73152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280"/>
                </a:solidFill>
                <a:latin typeface="Inter"/>
                <a:ea typeface="Inter"/>
                <a:cs typeface="Inter"/>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pic>
        <p:nvPicPr>
          <p:cNvPr id="2" name="Image 0" descr="NAQLA icon">    </p:cNvPr>
          <p:cNvPicPr>
            <a:picLocks noChangeAspect="1"/>
          </p:cNvPicPr>
          <p:nvPr/>
        </p:nvPicPr>
        <p:blipFill>
          <a:blip r:embed="rId1"/>
          <a:stretch>
            <a:fillRect/>
          </a:stretch>
        </p:blipFill>
        <p:spPr>
          <a:xfrm>
            <a:off x="548640" y="914400"/>
            <a:ext cx="341535" cy="502920"/>
          </a:xfrm>
          <a:prstGeom prst="rect">
            <a:avLst/>
          </a:prstGeom>
        </p:spPr>
      </p:pic>
      <p:sp>
        <p:nvSpPr>
          <p:cNvPr id="3" name="Text 0"/>
          <p:cNvSpPr txBox="1"/>
          <p:nvPr/>
        </p:nvSpPr>
        <p:spPr>
          <a:xfrm>
            <a:off x="548640" y="1828800"/>
            <a:ext cx="10058400" cy="2743200"/>
          </a:xfrm>
          <a:prstGeom prst="rect">
            <a:avLst/>
          </a:prstGeom>
          <a:noFill/>
          <a:ln/>
        </p:spPr>
        <p:txBody>
          <a:bodyPr wrap="square" lIns="0" tIns="0" rIns="0" bIns="0" rtlCol="0" anchor="ctr"/>
          <a:lstStyle/>
          <a:p>
            <a:pPr indent="0" marL="0">
              <a:buNone/>
            </a:pPr>
            <a:r>
              <a:rPr lang="en-US" sz="4000" b="1" dirty="0">
                <a:solidFill>
                  <a:srgbClr val="FFFFFF"/>
                </a:solidFill>
                <a:latin typeface="Playfair Display" pitchFamily="34" charset="0"/>
                <a:ea typeface="Playfair Display" pitchFamily="34" charset="-122"/>
                <a:cs typeface="Playfair Display" pitchFamily="34" charset="-120"/>
              </a:rPr>
              <a:t>If you did not </a:t>
            </a:r>
            <a:pPr indent="0" marL="0">
              <a:buNone/>
            </a:pPr>
            <a:r>
              <a:rPr lang="en-US" sz="4000" b="1" dirty="0">
                <a:solidFill>
                  <a:srgbClr val="FF5723"/>
                </a:solidFill>
                <a:latin typeface="Playfair Display" pitchFamily="34" charset="0"/>
                <a:ea typeface="Playfair Display" pitchFamily="34" charset="-122"/>
                <a:cs typeface="Playfair Display" pitchFamily="34" charset="-120"/>
              </a:rPr>
              <a:t>measure</a:t>
            </a:r>
            <a:pPr indent="0" marL="0">
              <a:buNone/>
            </a:pPr>
            <a:r>
              <a:rPr lang="en-US" sz="4000" b="1" dirty="0">
                <a:solidFill>
                  <a:srgbClr val="FFFFFF"/>
                </a:solidFill>
                <a:latin typeface="Playfair Display" pitchFamily="34" charset="0"/>
                <a:ea typeface="Playfair Display" pitchFamily="34" charset="-122"/>
                <a:cs typeface="Playfair Display" pitchFamily="34" charset="-120"/>
              </a:rPr>
              <a:t> it,</a:t>
            </a:r>
            <a:endParaRPr lang="en-US" sz="4000" dirty="0"/>
          </a:p>
          <a:p>
            <a:pPr indent="0" marL="0">
              <a:buNone/>
            </a:pPr>
            <a:r>
              <a:rPr lang="en-US" sz="4000" b="1" dirty="0">
                <a:solidFill>
                  <a:srgbClr val="FFFFFF"/>
                </a:solidFill>
                <a:latin typeface="Playfair Display" pitchFamily="34" charset="0"/>
                <a:ea typeface="Playfair Display" pitchFamily="34" charset="-122"/>
                <a:cs typeface="Playfair Display" pitchFamily="34" charset="-120"/>
              </a:rPr>
              <a:t>you did not </a:t>
            </a:r>
            <a:pPr indent="0" marL="0">
              <a:buNone/>
            </a:pPr>
            <a:r>
              <a:rPr lang="en-US" sz="4000" b="1" dirty="0">
                <a:solidFill>
                  <a:srgbClr val="FF5723"/>
                </a:solidFill>
                <a:latin typeface="Playfair Display" pitchFamily="34" charset="0"/>
                <a:ea typeface="Playfair Display" pitchFamily="34" charset="-122"/>
                <a:cs typeface="Playfair Display" pitchFamily="34" charset="-120"/>
              </a:rPr>
              <a:t>fix</a:t>
            </a:r>
            <a:pPr indent="0" marL="0">
              <a:buNone/>
            </a:pPr>
            <a:r>
              <a:rPr lang="en-US" sz="4000" b="1" dirty="0">
                <a:solidFill>
                  <a:srgbClr val="FFFFFF"/>
                </a:solidFill>
                <a:latin typeface="Playfair Display" pitchFamily="34" charset="0"/>
                <a:ea typeface="Playfair Display" pitchFamily="34" charset="-122"/>
                <a:cs typeface="Playfair Display" pitchFamily="34" charset="-120"/>
              </a:rPr>
              <a:t> it.</a:t>
            </a:r>
            <a:endParaRPr lang="en-US" sz="4000" dirty="0"/>
          </a:p>
        </p:txBody>
      </p:sp>
      <p:sp>
        <p:nvSpPr>
          <p:cNvPr id="4" name="Text 1"/>
          <p:cNvSpPr txBox="1"/>
          <p:nvPr/>
        </p:nvSpPr>
        <p:spPr>
          <a:xfrm>
            <a:off x="548640" y="4709160"/>
            <a:ext cx="10058400" cy="502920"/>
          </a:xfrm>
          <a:prstGeom prst="rect">
            <a:avLst/>
          </a:prstGeom>
          <a:noFill/>
          <a:ln/>
        </p:spPr>
        <p:txBody>
          <a:bodyPr wrap="square" lIns="0" tIns="0" rIns="0" bIns="0" rtlCol="0" anchor="t"/>
          <a:lstStyle/>
          <a:p>
            <a:pPr rtl="1" algn="l" indent="0" marL="0">
              <a:buNone/>
            </a:pPr>
            <a:r>
              <a:rPr lang="ar-LY" altLang="en-US" sz="2200" dirty="0">
                <a:solidFill>
                  <a:srgbClr val="9CA3AF"/>
                </a:solidFill>
                <a:latin typeface="Tajawal" pitchFamily="34" charset="0"/>
                <a:ea typeface="Tajawal" pitchFamily="34" charset="-122"/>
                <a:cs typeface="Tajawal" pitchFamily="34" charset="-120"/>
              </a:rPr>
              <a:t>ما لم تقِسه، فأنت لم تُصلحه</a:t>
            </a:r>
            <a:endParaRPr lang="ar-LY" sz="2200" dirty="0"/>
          </a:p>
        </p:txBody>
      </p:sp>
      <p:sp>
        <p:nvSpPr>
          <p:cNvPr id="5" name="Text 2"/>
          <p:cNvSpPr txBox="1"/>
          <p:nvPr/>
        </p:nvSpPr>
        <p:spPr>
          <a:xfrm>
            <a:off x="548640" y="5349240"/>
            <a:ext cx="10058400" cy="457200"/>
          </a:xfrm>
          <a:prstGeom prst="rect">
            <a:avLst/>
          </a:prstGeom>
          <a:noFill/>
          <a:ln/>
        </p:spPr>
        <p:txBody>
          <a:bodyPr wrap="square" lIns="0" tIns="0" rIns="0" bIns="0" rtlCol="0" anchor="ctr"/>
          <a:lstStyle/>
          <a:p>
            <a:pPr indent="0" marL="0">
              <a:buNone/>
            </a:pPr>
            <a:r>
              <a:rPr lang="en-US" sz="1600" dirty="0">
                <a:solidFill>
                  <a:srgbClr val="9CA3AF"/>
                </a:solidFill>
                <a:latin typeface="Inter" pitchFamily="34" charset="0"/>
                <a:ea typeface="Inter" pitchFamily="34" charset="-122"/>
                <a:cs typeface="Inter" pitchFamily="34" charset="-120"/>
              </a:rPr>
              <a:t>Baseline, one change, measure again.</a:t>
            </a:r>
            <a:endParaRPr lang="en-US" sz="1600" dirty="0"/>
          </a:p>
        </p:txBody>
      </p:sp>
      <p:sp>
        <p:nvSpPr>
          <p:cNvPr id="25" name="Slide Number Placeholder 0"/>
          <p:cNvSpPr>
            <a:spLocks noGrp="1"/>
          </p:cNvSpPr>
          <p:nvPr>
            <p:ph type="sldNum" sz="quarter" idx="4294967295"/>
          </p:nvPr>
        </p:nvSpPr>
        <p:spPr>
          <a:xfrm>
            <a:off x="10911535" y="6419088"/>
            <a:ext cx="73152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9CA3AF"/>
                </a:solidFill>
                <a:latin typeface="Inter"/>
                <a:ea typeface="Inter"/>
                <a:cs typeface="Inter"/>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94415" cy="640080"/>
          </a:xfrm>
          <a:prstGeom prst="rect">
            <a:avLst/>
          </a:prstGeom>
          <a:noFill/>
          <a:ln/>
        </p:spPr>
        <p:txBody>
          <a:bodyPr wrap="square" lIns="0" tIns="0" rIns="0" bIns="0" rtlCol="0" anchor="b"/>
          <a:lstStyle/>
          <a:p>
            <a:pPr algn="l" indent="0" marL="0">
              <a:buNone/>
            </a:pPr>
            <a:r>
              <a:rPr lang="en-US" sz="3200" b="1" dirty="0">
                <a:solidFill>
                  <a:srgbClr val="272827"/>
                </a:solidFill>
                <a:latin typeface="Playfair Display" pitchFamily="34" charset="0"/>
                <a:ea typeface="Playfair Display" pitchFamily="34" charset="-122"/>
                <a:cs typeface="Playfair Display" pitchFamily="34" charset="-120"/>
              </a:rPr>
              <a:t>Lab briefing — Ship it async</a:t>
            </a:r>
            <a:endParaRPr lang="en-US" sz="3200" dirty="0"/>
          </a:p>
        </p:txBody>
      </p:sp>
      <p:sp>
        <p:nvSpPr>
          <p:cNvPr id="3" name="Text 1"/>
          <p:cNvSpPr txBox="1"/>
          <p:nvPr/>
        </p:nvSpPr>
        <p:spPr>
          <a:xfrm>
            <a:off x="548640" y="1060704"/>
            <a:ext cx="8229600" cy="384048"/>
          </a:xfrm>
          <a:prstGeom prst="rect">
            <a:avLst/>
          </a:prstGeom>
          <a:noFill/>
          <a:ln/>
        </p:spPr>
        <p:txBody>
          <a:bodyPr wrap="square" lIns="0" tIns="0" rIns="0" bIns="0" rtlCol="0" anchor="t"/>
          <a:lstStyle/>
          <a:p>
            <a:pPr rtl="1" algn="l" indent="0" marL="0">
              <a:buNone/>
            </a:pPr>
            <a:r>
              <a:rPr lang="ar-LY" altLang="en-US" sz="1700" dirty="0">
                <a:solidFill>
                  <a:srgbClr val="FF5723"/>
                </a:solidFill>
                <a:latin typeface="Tajawal" pitchFamily="34" charset="0"/>
                <a:ea typeface="Tajawal" pitchFamily="34" charset="-122"/>
                <a:cs typeface="Tajawal" pitchFamily="34" charset="-120"/>
              </a:rPr>
              <a:t>المختبر الثالث: القياس والتحسين</a:t>
            </a:r>
            <a:endParaRPr lang="ar-LY" sz="1700" dirty="0"/>
          </a:p>
        </p:txBody>
      </p:sp>
      <p:sp>
        <p:nvSpPr>
          <p:cNvPr id="4" name="Shape 2"/>
          <p:cNvSpPr/>
          <p:nvPr/>
        </p:nvSpPr>
        <p:spPr>
          <a:xfrm>
            <a:off x="548640" y="1691640"/>
            <a:ext cx="3749040" cy="4434840"/>
          </a:xfrm>
          <a:prstGeom prst="roundRect">
            <a:avLst>
              <a:gd name="adj" fmla="val 1951"/>
            </a:avLst>
          </a:prstGeom>
          <a:solidFill>
            <a:srgbClr val="272827"/>
          </a:solidFill>
          <a:ln w="12700">
            <a:solidFill>
              <a:srgbClr val="272827"/>
            </a:solidFill>
            <a:prstDash val="solid"/>
          </a:ln>
        </p:spPr>
      </p:sp>
      <p:sp>
        <p:nvSpPr>
          <p:cNvPr id="5" name="Text 3"/>
          <p:cNvSpPr txBox="1"/>
          <p:nvPr/>
        </p:nvSpPr>
        <p:spPr>
          <a:xfrm>
            <a:off x="868680" y="2011680"/>
            <a:ext cx="3108960" cy="274320"/>
          </a:xfrm>
          <a:prstGeom prst="rect">
            <a:avLst/>
          </a:prstGeom>
          <a:noFill/>
          <a:ln/>
        </p:spPr>
        <p:txBody>
          <a:bodyPr wrap="square" lIns="0" tIns="0" rIns="0" bIns="0" rtlCol="0" anchor="ctr"/>
          <a:lstStyle/>
          <a:p>
            <a:pPr indent="0" marL="0">
              <a:buNone/>
            </a:pPr>
            <a:r>
              <a:rPr lang="en-US" sz="1200" b="1" spc="300" kern="0" dirty="0">
                <a:solidFill>
                  <a:srgbClr val="FF5723"/>
                </a:solidFill>
                <a:latin typeface="Inter" pitchFamily="34" charset="0"/>
                <a:ea typeface="Inter" pitchFamily="34" charset="-122"/>
                <a:cs typeface="Inter" pitchFamily="34" charset="-120"/>
              </a:rPr>
              <a:t>LAB 3 · PART 2</a:t>
            </a:r>
            <a:endParaRPr lang="en-US" sz="1200" dirty="0"/>
          </a:p>
        </p:txBody>
      </p:sp>
      <p:sp>
        <p:nvSpPr>
          <p:cNvPr id="6" name="Text 4"/>
          <p:cNvSpPr txBox="1"/>
          <p:nvPr/>
        </p:nvSpPr>
        <p:spPr>
          <a:xfrm>
            <a:off x="868680" y="2377440"/>
            <a:ext cx="3108960" cy="1005840"/>
          </a:xfrm>
          <a:prstGeom prst="rect">
            <a:avLst/>
          </a:prstGeom>
          <a:noFill/>
          <a:ln/>
        </p:spPr>
        <p:txBody>
          <a:bodyPr wrap="square" lIns="0" tIns="0" rIns="0" bIns="0" rtlCol="0" anchor="t"/>
          <a:lstStyle/>
          <a:p>
            <a:pPr indent="0" marL="0">
              <a:buNone/>
            </a:pPr>
            <a:r>
              <a:rPr lang="en-US" sz="2800" b="1" dirty="0">
                <a:solidFill>
                  <a:srgbClr val="FFFFFF"/>
                </a:solidFill>
                <a:latin typeface="Playfair Display" pitchFamily="34" charset="0"/>
                <a:ea typeface="Playfair Display" pitchFamily="34" charset="-122"/>
                <a:cs typeface="Playfair Display" pitchFamily="34" charset="-120"/>
              </a:rPr>
              <a:t>Ship it async</a:t>
            </a:r>
            <a:endParaRPr lang="en-US" sz="2800" dirty="0"/>
          </a:p>
        </p:txBody>
      </p:sp>
      <p:sp>
        <p:nvSpPr>
          <p:cNvPr id="7" name="Text 5"/>
          <p:cNvSpPr txBox="1"/>
          <p:nvPr/>
        </p:nvSpPr>
        <p:spPr>
          <a:xfrm>
            <a:off x="868680" y="3474720"/>
            <a:ext cx="3108960" cy="1280160"/>
          </a:xfrm>
          <a:prstGeom prst="rect">
            <a:avLst/>
          </a:prstGeom>
          <a:noFill/>
          <a:ln/>
        </p:spPr>
        <p:txBody>
          <a:bodyPr wrap="square" lIns="0" tIns="0" rIns="0" bIns="0" rtlCol="0" anchor="t"/>
          <a:lstStyle/>
          <a:p>
            <a:pPr indent="0" marL="0">
              <a:buNone/>
            </a:pPr>
            <a:r>
              <a:rPr lang="en-US" sz="1400" dirty="0">
                <a:solidFill>
                  <a:srgbClr val="E8E2D9"/>
                </a:solidFill>
                <a:latin typeface="Inter" pitchFamily="34" charset="0"/>
                <a:ea typeface="Inter" pitchFamily="34" charset="-122"/>
                <a:cs typeface="Inter" pitchFamily="34" charset="-120"/>
              </a:rPr>
              <a:t>Take a baseline, fix the slow paths one at a time, and prove each fix with k6 numbers.</a:t>
            </a:r>
            <a:endParaRPr lang="en-US" sz="1400" dirty="0"/>
          </a:p>
        </p:txBody>
      </p:sp>
      <p:sp>
        <p:nvSpPr>
          <p:cNvPr id="8" name="Text 6"/>
          <p:cNvSpPr txBox="1"/>
          <p:nvPr/>
        </p:nvSpPr>
        <p:spPr>
          <a:xfrm>
            <a:off x="868680" y="4892040"/>
            <a:ext cx="3108960" cy="1005840"/>
          </a:xfrm>
          <a:prstGeom prst="rect">
            <a:avLst/>
          </a:prstGeom>
          <a:noFill/>
          <a:ln/>
        </p:spPr>
        <p:txBody>
          <a:bodyPr wrap="square" lIns="0" tIns="0" rIns="0" bIns="0" rtlCol="0" anchor="b"/>
          <a:lstStyle/>
          <a:p>
            <a:pPr indent="0" marL="0">
              <a:spcAft>
                <a:spcPts val="500"/>
              </a:spcAft>
              <a:buNone/>
            </a:pPr>
            <a:r>
              <a:rPr lang="en-US" sz="1200" b="1" dirty="0">
                <a:solidFill>
                  <a:srgbClr val="9CA3AF"/>
                </a:solidFill>
                <a:latin typeface="Inter" pitchFamily="34" charset="0"/>
                <a:ea typeface="Inter" pitchFamily="34" charset="-122"/>
                <a:cs typeface="Inter" pitchFamily="34" charset="-120"/>
              </a:rPr>
              <a:t>TIME  </a:t>
            </a:r>
            <a:pPr indent="0" marL="0">
              <a:spcAft>
                <a:spcPts val="500"/>
              </a:spcAft>
              <a:buNone/>
            </a:pPr>
            <a:r>
              <a:rPr lang="en-US" sz="1200" dirty="0">
                <a:solidFill>
                  <a:srgbClr val="FFFFFF"/>
                </a:solidFill>
                <a:latin typeface="Inter" pitchFamily="34" charset="0"/>
                <a:ea typeface="Inter" pitchFamily="34" charset="-122"/>
                <a:cs typeface="Inter" pitchFamily="34" charset="-120"/>
              </a:rPr>
              <a:t>14:15–15:45</a:t>
            </a:r>
            <a:endParaRPr lang="en-US" sz="1200" dirty="0"/>
          </a:p>
          <a:p>
            <a:pPr indent="0" marL="0">
              <a:spcAft>
                <a:spcPts val="500"/>
              </a:spcAft>
              <a:buNone/>
            </a:pPr>
            <a:r>
              <a:rPr lang="en-US" sz="1200" b="1" dirty="0">
                <a:solidFill>
                  <a:srgbClr val="9CA3AF"/>
                </a:solidFill>
                <a:latin typeface="Inter" pitchFamily="34" charset="0"/>
                <a:ea typeface="Inter" pitchFamily="34" charset="-122"/>
                <a:cs typeface="Inter" pitchFamily="34" charset="-120"/>
              </a:rPr>
              <a:t>HANDOUT  </a:t>
            </a:r>
            <a:pPr indent="0" marL="0">
              <a:spcAft>
                <a:spcPts val="500"/>
              </a:spcAft>
              <a:buNone/>
            </a:pPr>
            <a:r>
              <a:rPr lang="en-US" sz="1200" dirty="0">
                <a:solidFill>
                  <a:srgbClr val="FFFFFF"/>
                </a:solidFill>
                <a:latin typeface="JetBrains Mono" pitchFamily="34" charset="0"/>
                <a:ea typeface="JetBrains Mono" pitchFamily="34" charset="-122"/>
                <a:cs typeface="JetBrains Mono" pitchFamily="34" charset="-120"/>
              </a:rPr>
              <a:t>labs/lab3.md</a:t>
            </a:r>
            <a:endParaRPr lang="en-US" sz="1200" dirty="0"/>
          </a:p>
          <a:p>
            <a:pPr indent="0" marL="0">
              <a:spcAft>
                <a:spcPts val="500"/>
              </a:spcAft>
              <a:buNone/>
            </a:pPr>
            <a:r>
              <a:rPr lang="en-US" sz="1200" b="1" dirty="0">
                <a:solidFill>
                  <a:srgbClr val="9CA3AF"/>
                </a:solidFill>
                <a:latin typeface="Inter" pitchFamily="34" charset="0"/>
                <a:ea typeface="Inter" pitchFamily="34" charset="-122"/>
                <a:cs typeface="Inter" pitchFamily="34" charset="-120"/>
              </a:rPr>
              <a:t>CHECKPOINT  </a:t>
            </a:r>
            <a:pPr indent="0" marL="0">
              <a:spcAft>
                <a:spcPts val="500"/>
              </a:spcAft>
              <a:buNone/>
            </a:pPr>
            <a:r>
              <a:rPr lang="en-US" sz="1200" b="1" dirty="0">
                <a:solidFill>
                  <a:srgbClr val="FF5723"/>
                </a:solidFill>
                <a:latin typeface="JetBrains Mono" pitchFamily="34" charset="0"/>
                <a:ea typeface="JetBrains Mono" pitchFamily="34" charset="-122"/>
                <a:cs typeface="JetBrains Mono" pitchFamily="34" charset="-120"/>
              </a:rPr>
              <a:t>day3-end</a:t>
            </a:r>
            <a:endParaRPr lang="en-US" sz="1200" dirty="0"/>
          </a:p>
        </p:txBody>
      </p:sp>
      <p:sp>
        <p:nvSpPr>
          <p:cNvPr id="9" name="Text 7"/>
          <p:cNvSpPr txBox="1"/>
          <p:nvPr/>
        </p:nvSpPr>
        <p:spPr>
          <a:xfrm>
            <a:off x="4754880" y="1737360"/>
            <a:ext cx="2743200" cy="274320"/>
          </a:xfrm>
          <a:prstGeom prst="rect">
            <a:avLst/>
          </a:prstGeom>
          <a:noFill/>
          <a:ln/>
        </p:spPr>
        <p:txBody>
          <a:bodyPr wrap="square" lIns="0" tIns="0" rIns="0" bIns="0" rtlCol="0" anchor="ctr"/>
          <a:lstStyle/>
          <a:p>
            <a:pPr indent="0" marL="0">
              <a:buNone/>
            </a:pPr>
            <a:r>
              <a:rPr lang="en-US" sz="1100" b="1" spc="300" kern="0" dirty="0">
                <a:solidFill>
                  <a:srgbClr val="FF5723"/>
                </a:solidFill>
                <a:latin typeface="Inter" pitchFamily="34" charset="0"/>
                <a:ea typeface="Inter" pitchFamily="34" charset="-122"/>
                <a:cs typeface="Inter" pitchFamily="34" charset="-120"/>
              </a:rPr>
              <a:t>STEPS</a:t>
            </a:r>
            <a:endParaRPr lang="en-US" sz="1100" dirty="0"/>
          </a:p>
        </p:txBody>
      </p:sp>
      <p:sp>
        <p:nvSpPr>
          <p:cNvPr id="10" name="Shape 8"/>
          <p:cNvSpPr/>
          <p:nvPr/>
        </p:nvSpPr>
        <p:spPr>
          <a:xfrm>
            <a:off x="4754880" y="2121408"/>
            <a:ext cx="329184" cy="329184"/>
          </a:xfrm>
          <a:prstGeom prst="ellipse">
            <a:avLst/>
          </a:prstGeom>
          <a:solidFill>
            <a:srgbClr val="FF5723"/>
          </a:solidFill>
          <a:ln w="12700">
            <a:solidFill>
              <a:srgbClr val="FF5723"/>
            </a:solidFill>
            <a:prstDash val="solid"/>
          </a:ln>
        </p:spPr>
      </p:sp>
      <p:sp>
        <p:nvSpPr>
          <p:cNvPr id="11" name="Text 9"/>
          <p:cNvSpPr txBox="1"/>
          <p:nvPr/>
        </p:nvSpPr>
        <p:spPr>
          <a:xfrm>
            <a:off x="4754880" y="212140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Inter" pitchFamily="34" charset="0"/>
                <a:ea typeface="Inter" pitchFamily="34" charset="-122"/>
                <a:cs typeface="Inter" pitchFamily="34" charset="-120"/>
              </a:rPr>
              <a:t>1</a:t>
            </a:r>
            <a:endParaRPr lang="en-US" sz="1100" dirty="0"/>
          </a:p>
        </p:txBody>
      </p:sp>
      <p:sp>
        <p:nvSpPr>
          <p:cNvPr id="12" name="Text 10"/>
          <p:cNvSpPr txBox="1"/>
          <p:nvPr/>
        </p:nvSpPr>
        <p:spPr>
          <a:xfrm>
            <a:off x="5257800" y="2103120"/>
            <a:ext cx="6385255" cy="502920"/>
          </a:xfrm>
          <a:prstGeom prst="rect">
            <a:avLst/>
          </a:prstGeom>
          <a:noFill/>
          <a:ln/>
        </p:spPr>
        <p:txBody>
          <a:bodyPr wrap="square" lIns="0" tIns="0" rIns="0" bIns="0" rtlCol="0" anchor="t"/>
          <a:lstStyle/>
          <a:p>
            <a:pPr indent="0" marL="0">
              <a:buNone/>
            </a:pPr>
            <a:r>
              <a:rPr lang="en-US" sz="1500" dirty="0">
                <a:solidFill>
                  <a:srgbClr val="272827"/>
                </a:solidFill>
                <a:latin typeface="Inter" pitchFamily="34" charset="0"/>
                <a:ea typeface="Inter" pitchFamily="34" charset="-122"/>
                <a:cs typeface="Inter" pitchFamily="34" charset="-120"/>
              </a:rPr>
              <a:t>Baseline: </a:t>
            </a:r>
            <a:pPr indent="0" marL="0">
              <a:buNone/>
            </a:pPr>
            <a:r>
              <a:rPr lang="en-US" sz="1500" dirty="0">
                <a:solidFill>
                  <a:srgbClr val="C2410C"/>
                </a:solidFill>
                <a:latin typeface="JetBrains Mono" pitchFamily="34" charset="0"/>
                <a:ea typeface="JetBrains Mono" pitchFamily="34" charset="-122"/>
                <a:cs typeface="JetBrains Mono" pitchFamily="34" charset="-120"/>
              </a:rPr>
              <a:t>k6 run load/booking.js</a:t>
            </a:r>
            <a:pPr indent="0" marL="0">
              <a:buNone/>
            </a:pPr>
            <a:r>
              <a:rPr lang="en-US" sz="1500" dirty="0">
                <a:solidFill>
                  <a:srgbClr val="272827"/>
                </a:solidFill>
                <a:latin typeface="Inter" pitchFamily="34" charset="0"/>
                <a:ea typeface="Inter" pitchFamily="34" charset="-122"/>
                <a:cs typeface="Inter" pitchFamily="34" charset="-120"/>
              </a:rPr>
              <a:t>, save the summary</a:t>
            </a:r>
            <a:endParaRPr lang="en-US" sz="1500" dirty="0"/>
          </a:p>
        </p:txBody>
      </p:sp>
      <p:sp>
        <p:nvSpPr>
          <p:cNvPr id="13" name="Shape 11"/>
          <p:cNvSpPr/>
          <p:nvPr/>
        </p:nvSpPr>
        <p:spPr>
          <a:xfrm>
            <a:off x="4754880" y="2624328"/>
            <a:ext cx="329184" cy="329184"/>
          </a:xfrm>
          <a:prstGeom prst="ellipse">
            <a:avLst/>
          </a:prstGeom>
          <a:solidFill>
            <a:srgbClr val="FF5723"/>
          </a:solidFill>
          <a:ln w="12700">
            <a:solidFill>
              <a:srgbClr val="FF5723"/>
            </a:solidFill>
            <a:prstDash val="solid"/>
          </a:ln>
        </p:spPr>
      </p:sp>
      <p:sp>
        <p:nvSpPr>
          <p:cNvPr id="14" name="Text 12"/>
          <p:cNvSpPr txBox="1"/>
          <p:nvPr/>
        </p:nvSpPr>
        <p:spPr>
          <a:xfrm>
            <a:off x="4754880" y="262432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Inter" pitchFamily="34" charset="0"/>
                <a:ea typeface="Inter" pitchFamily="34" charset="-122"/>
                <a:cs typeface="Inter" pitchFamily="34" charset="-120"/>
              </a:rPr>
              <a:t>2</a:t>
            </a:r>
            <a:endParaRPr lang="en-US" sz="1100" dirty="0"/>
          </a:p>
        </p:txBody>
      </p:sp>
      <p:sp>
        <p:nvSpPr>
          <p:cNvPr id="15" name="Text 13"/>
          <p:cNvSpPr txBox="1"/>
          <p:nvPr/>
        </p:nvSpPr>
        <p:spPr>
          <a:xfrm>
            <a:off x="5257800" y="2606040"/>
            <a:ext cx="6385255" cy="502920"/>
          </a:xfrm>
          <a:prstGeom prst="rect">
            <a:avLst/>
          </a:prstGeom>
          <a:noFill/>
          <a:ln/>
        </p:spPr>
        <p:txBody>
          <a:bodyPr wrap="square" lIns="0" tIns="0" rIns="0" bIns="0" rtlCol="0" anchor="t"/>
          <a:lstStyle/>
          <a:p>
            <a:pPr indent="0" marL="0">
              <a:buNone/>
            </a:pPr>
            <a:r>
              <a:rPr lang="en-US" sz="1500" dirty="0">
                <a:solidFill>
                  <a:srgbClr val="272827"/>
                </a:solidFill>
                <a:latin typeface="Inter" pitchFamily="34" charset="0"/>
                <a:ea typeface="Inter" pitchFamily="34" charset="-122"/>
                <a:cs typeface="Inter" pitchFamily="34" charset="-120"/>
              </a:rPr>
              <a:t>Cache cities and distances with </a:t>
            </a:r>
            <a:pPr indent="0" marL="0">
              <a:buNone/>
            </a:pPr>
            <a:r>
              <a:rPr lang="en-US" sz="1500" dirty="0">
                <a:solidFill>
                  <a:srgbClr val="C2410C"/>
                </a:solidFill>
                <a:latin typeface="JetBrains Mono" pitchFamily="34" charset="0"/>
                <a:ea typeface="JetBrains Mono" pitchFamily="34" charset="-122"/>
                <a:cs typeface="JetBrains Mono" pitchFamily="34" charset="-120"/>
              </a:rPr>
              <a:t>Cache::remember</a:t>
            </a:r>
            <a:pPr indent="0" marL="0">
              <a:buNone/>
            </a:pPr>
            <a:r>
              <a:rPr lang="en-US" sz="1500" dirty="0">
                <a:solidFill>
                  <a:srgbClr val="272827"/>
                </a:solidFill>
                <a:latin typeface="Inter" pitchFamily="34" charset="0"/>
                <a:ea typeface="Inter" pitchFamily="34" charset="-122"/>
                <a:cs typeface="Inter" pitchFamily="34" charset="-120"/>
              </a:rPr>
              <a:t>; clear on change</a:t>
            </a:r>
            <a:endParaRPr lang="en-US" sz="1500" dirty="0"/>
          </a:p>
        </p:txBody>
      </p:sp>
      <p:sp>
        <p:nvSpPr>
          <p:cNvPr id="16" name="Shape 14"/>
          <p:cNvSpPr/>
          <p:nvPr/>
        </p:nvSpPr>
        <p:spPr>
          <a:xfrm>
            <a:off x="4754880" y="3127248"/>
            <a:ext cx="329184" cy="329184"/>
          </a:xfrm>
          <a:prstGeom prst="ellipse">
            <a:avLst/>
          </a:prstGeom>
          <a:solidFill>
            <a:srgbClr val="FF5723"/>
          </a:solidFill>
          <a:ln w="12700">
            <a:solidFill>
              <a:srgbClr val="FF5723"/>
            </a:solidFill>
            <a:prstDash val="solid"/>
          </a:ln>
        </p:spPr>
      </p:sp>
      <p:sp>
        <p:nvSpPr>
          <p:cNvPr id="17" name="Text 15"/>
          <p:cNvSpPr txBox="1"/>
          <p:nvPr/>
        </p:nvSpPr>
        <p:spPr>
          <a:xfrm>
            <a:off x="4754880" y="312724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Inter" pitchFamily="34" charset="0"/>
                <a:ea typeface="Inter" pitchFamily="34" charset="-122"/>
                <a:cs typeface="Inter" pitchFamily="34" charset="-120"/>
              </a:rPr>
              <a:t>3</a:t>
            </a:r>
            <a:endParaRPr lang="en-US" sz="1100" dirty="0"/>
          </a:p>
        </p:txBody>
      </p:sp>
      <p:sp>
        <p:nvSpPr>
          <p:cNvPr id="18" name="Text 16"/>
          <p:cNvSpPr txBox="1"/>
          <p:nvPr/>
        </p:nvSpPr>
        <p:spPr>
          <a:xfrm>
            <a:off x="5257800" y="3108960"/>
            <a:ext cx="6385255" cy="502920"/>
          </a:xfrm>
          <a:prstGeom prst="rect">
            <a:avLst/>
          </a:prstGeom>
          <a:noFill/>
          <a:ln/>
        </p:spPr>
        <p:txBody>
          <a:bodyPr wrap="square" lIns="0" tIns="0" rIns="0" bIns="0" rtlCol="0" anchor="t"/>
          <a:lstStyle/>
          <a:p>
            <a:pPr indent="0" marL="0">
              <a:buNone/>
            </a:pPr>
            <a:r>
              <a:rPr lang="en-US" sz="1500" dirty="0">
                <a:solidFill>
                  <a:srgbClr val="272827"/>
                </a:solidFill>
                <a:latin typeface="Inter" pitchFamily="34" charset="0"/>
                <a:ea typeface="Inter" pitchFamily="34" charset="-122"/>
                <a:cs typeface="Inter" pitchFamily="34" charset="-120"/>
              </a:rPr>
              <a:t>Fix the N+1 in </a:t>
            </a:r>
            <a:pPr indent="0" marL="0">
              <a:buNone/>
            </a:pPr>
            <a:r>
              <a:rPr lang="en-US" sz="1500" dirty="0">
                <a:solidFill>
                  <a:srgbClr val="C2410C"/>
                </a:solidFill>
                <a:latin typeface="JetBrains Mono" pitchFamily="34" charset="0"/>
                <a:ea typeface="JetBrains Mono" pitchFamily="34" charset="-122"/>
                <a:cs typeface="JetBrains Mono" pitchFamily="34" charset="-120"/>
              </a:rPr>
              <a:t>GET /shipments</a:t>
            </a:r>
            <a:pPr indent="0" marL="0">
              <a:buNone/>
            </a:pPr>
            <a:r>
              <a:rPr lang="en-US" sz="1500" dirty="0">
                <a:solidFill>
                  <a:srgbClr val="272827"/>
                </a:solidFill>
                <a:latin typeface="Inter" pitchFamily="34" charset="0"/>
                <a:ea typeface="Inter" pitchFamily="34" charset="-122"/>
                <a:cs typeface="Inter" pitchFamily="34" charset="-120"/>
              </a:rPr>
              <a:t>; add a query-count test</a:t>
            </a:r>
            <a:endParaRPr lang="en-US" sz="1500" dirty="0"/>
          </a:p>
        </p:txBody>
      </p:sp>
      <p:sp>
        <p:nvSpPr>
          <p:cNvPr id="19" name="Shape 17"/>
          <p:cNvSpPr/>
          <p:nvPr/>
        </p:nvSpPr>
        <p:spPr>
          <a:xfrm>
            <a:off x="4754880" y="3630168"/>
            <a:ext cx="329184" cy="329184"/>
          </a:xfrm>
          <a:prstGeom prst="ellipse">
            <a:avLst/>
          </a:prstGeom>
          <a:solidFill>
            <a:srgbClr val="FF5723"/>
          </a:solidFill>
          <a:ln w="12700">
            <a:solidFill>
              <a:srgbClr val="FF5723"/>
            </a:solidFill>
            <a:prstDash val="solid"/>
          </a:ln>
        </p:spPr>
      </p:sp>
      <p:sp>
        <p:nvSpPr>
          <p:cNvPr id="20" name="Text 18"/>
          <p:cNvSpPr txBox="1"/>
          <p:nvPr/>
        </p:nvSpPr>
        <p:spPr>
          <a:xfrm>
            <a:off x="4754880" y="363016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Inter" pitchFamily="34" charset="0"/>
                <a:ea typeface="Inter" pitchFamily="34" charset="-122"/>
                <a:cs typeface="Inter" pitchFamily="34" charset="-120"/>
              </a:rPr>
              <a:t>4</a:t>
            </a:r>
            <a:endParaRPr lang="en-US" sz="1100" dirty="0"/>
          </a:p>
        </p:txBody>
      </p:sp>
      <p:sp>
        <p:nvSpPr>
          <p:cNvPr id="21" name="Text 19"/>
          <p:cNvSpPr txBox="1"/>
          <p:nvPr/>
        </p:nvSpPr>
        <p:spPr>
          <a:xfrm>
            <a:off x="5257800" y="3611880"/>
            <a:ext cx="6385255" cy="502920"/>
          </a:xfrm>
          <a:prstGeom prst="rect">
            <a:avLst/>
          </a:prstGeom>
          <a:noFill/>
          <a:ln/>
        </p:spPr>
        <p:txBody>
          <a:bodyPr wrap="square" lIns="0" tIns="0" rIns="0" bIns="0" rtlCol="0" anchor="t"/>
          <a:lstStyle/>
          <a:p>
            <a:pPr indent="0" marL="0">
              <a:buNone/>
            </a:pPr>
            <a:r>
              <a:rPr lang="en-US" sz="1500" dirty="0">
                <a:solidFill>
                  <a:srgbClr val="272827"/>
                </a:solidFill>
                <a:latin typeface="Inter" pitchFamily="34" charset="0"/>
                <a:ea typeface="Inter" pitchFamily="34" charset="-122"/>
                <a:cs typeface="Inter" pitchFamily="34" charset="-120"/>
              </a:rPr>
              <a:t>Add the </a:t>
            </a:r>
            <a:pPr indent="0" marL="0">
              <a:buNone/>
            </a:pPr>
            <a:r>
              <a:rPr lang="en-US" sz="1500" dirty="0">
                <a:solidFill>
                  <a:srgbClr val="C2410C"/>
                </a:solidFill>
                <a:latin typeface="JetBrains Mono" pitchFamily="34" charset="0"/>
                <a:ea typeface="JetBrains Mono" pitchFamily="34" charset="-122"/>
                <a:cs typeface="JetBrains Mono" pitchFamily="34" charset="-120"/>
              </a:rPr>
              <a:t>api</a:t>
            </a:r>
            <a:pPr indent="0" marL="0">
              <a:buNone/>
            </a:pPr>
            <a:r>
              <a:rPr lang="en-US" sz="1500" dirty="0">
                <a:solidFill>
                  <a:srgbClr val="272827"/>
                </a:solidFill>
                <a:latin typeface="Inter" pitchFamily="34" charset="0"/>
                <a:ea typeface="Inter" pitchFamily="34" charset="-122"/>
                <a:cs typeface="Inter" pitchFamily="34" charset="-120"/>
              </a:rPr>
              <a:t> 60/min limiter and </a:t>
            </a:r>
            <a:pPr indent="0" marL="0">
              <a:buNone/>
            </a:pPr>
            <a:r>
              <a:rPr lang="en-US" sz="1500" dirty="0">
                <a:solidFill>
                  <a:srgbClr val="C2410C"/>
                </a:solidFill>
                <a:latin typeface="JetBrains Mono" pitchFamily="34" charset="0"/>
                <a:ea typeface="JetBrains Mono" pitchFamily="34" charset="-122"/>
                <a:cs typeface="JetBrains Mono" pitchFamily="34" charset="-120"/>
              </a:rPr>
              <a:t>X-Request-Id</a:t>
            </a:r>
            <a:pPr indent="0" marL="0">
              <a:buNone/>
            </a:pPr>
            <a:r>
              <a:rPr lang="en-US" sz="1500" dirty="0">
                <a:solidFill>
                  <a:srgbClr val="272827"/>
                </a:solidFill>
                <a:latin typeface="Inter" pitchFamily="34" charset="0"/>
                <a:ea typeface="Inter" pitchFamily="34" charset="-122"/>
                <a:cs typeface="Inter" pitchFamily="34" charset="-120"/>
              </a:rPr>
              <a:t>; test the </a:t>
            </a:r>
            <a:pPr indent="0" marL="0">
              <a:buNone/>
            </a:pPr>
            <a:r>
              <a:rPr lang="en-US" sz="1500" dirty="0">
                <a:solidFill>
                  <a:srgbClr val="C2410C"/>
                </a:solidFill>
                <a:latin typeface="JetBrains Mono" pitchFamily="34" charset="0"/>
                <a:ea typeface="JetBrains Mono" pitchFamily="34" charset="-122"/>
                <a:cs typeface="JetBrains Mono" pitchFamily="34" charset="-120"/>
              </a:rPr>
              <a:t>429</a:t>
            </a:r>
            <a:endParaRPr lang="en-US" sz="1500" dirty="0"/>
          </a:p>
        </p:txBody>
      </p:sp>
      <p:sp>
        <p:nvSpPr>
          <p:cNvPr id="22" name="Shape 20"/>
          <p:cNvSpPr/>
          <p:nvPr/>
        </p:nvSpPr>
        <p:spPr>
          <a:xfrm>
            <a:off x="4754880" y="4133088"/>
            <a:ext cx="329184" cy="329184"/>
          </a:xfrm>
          <a:prstGeom prst="ellipse">
            <a:avLst/>
          </a:prstGeom>
          <a:solidFill>
            <a:srgbClr val="FF5723"/>
          </a:solidFill>
          <a:ln w="12700">
            <a:solidFill>
              <a:srgbClr val="FF5723"/>
            </a:solidFill>
            <a:prstDash val="solid"/>
          </a:ln>
        </p:spPr>
      </p:sp>
      <p:sp>
        <p:nvSpPr>
          <p:cNvPr id="23" name="Text 21"/>
          <p:cNvSpPr txBox="1"/>
          <p:nvPr/>
        </p:nvSpPr>
        <p:spPr>
          <a:xfrm>
            <a:off x="4754880" y="413308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Inter" pitchFamily="34" charset="0"/>
                <a:ea typeface="Inter" pitchFamily="34" charset="-122"/>
                <a:cs typeface="Inter" pitchFamily="34" charset="-120"/>
              </a:rPr>
              <a:t>5</a:t>
            </a:r>
            <a:endParaRPr lang="en-US" sz="1100" dirty="0"/>
          </a:p>
        </p:txBody>
      </p:sp>
      <p:sp>
        <p:nvSpPr>
          <p:cNvPr id="24" name="Text 22"/>
          <p:cNvSpPr txBox="1"/>
          <p:nvPr/>
        </p:nvSpPr>
        <p:spPr>
          <a:xfrm>
            <a:off x="5257800" y="4114800"/>
            <a:ext cx="6385255" cy="502920"/>
          </a:xfrm>
          <a:prstGeom prst="rect">
            <a:avLst/>
          </a:prstGeom>
          <a:noFill/>
          <a:ln/>
        </p:spPr>
        <p:txBody>
          <a:bodyPr wrap="square" lIns="0" tIns="0" rIns="0" bIns="0" rtlCol="0" anchor="t"/>
          <a:lstStyle/>
          <a:p>
            <a:pPr indent="0" marL="0">
              <a:buNone/>
            </a:pPr>
            <a:r>
              <a:rPr lang="en-US" sz="1500" dirty="0">
                <a:solidFill>
                  <a:srgbClr val="272827"/>
                </a:solidFill>
                <a:latin typeface="Inter" pitchFamily="34" charset="0"/>
                <a:ea typeface="Inter" pitchFamily="34" charset="-122"/>
                <a:cs typeface="Inter" pitchFamily="34" charset="-120"/>
              </a:rPr>
              <a:t>Re-run k6 and fill the before/after table with your numbers</a:t>
            </a:r>
            <a:endParaRPr lang="en-US" sz="1500" dirty="0"/>
          </a:p>
        </p:txBody>
      </p:sp>
      <p:sp>
        <p:nvSpPr>
          <p:cNvPr id="25" name="Shape 23"/>
          <p:cNvSpPr/>
          <p:nvPr/>
        </p:nvSpPr>
        <p:spPr>
          <a:xfrm>
            <a:off x="4754880" y="4636008"/>
            <a:ext cx="329184" cy="329184"/>
          </a:xfrm>
          <a:prstGeom prst="ellipse">
            <a:avLst/>
          </a:prstGeom>
          <a:solidFill>
            <a:srgbClr val="272827"/>
          </a:solidFill>
          <a:ln w="12700">
            <a:solidFill>
              <a:srgbClr val="272827"/>
            </a:solidFill>
            <a:prstDash val="solid"/>
          </a:ln>
        </p:spPr>
      </p:sp>
      <p:sp>
        <p:nvSpPr>
          <p:cNvPr id="26" name="Text 24"/>
          <p:cNvSpPr txBox="1"/>
          <p:nvPr/>
        </p:nvSpPr>
        <p:spPr>
          <a:xfrm>
            <a:off x="4754880" y="463600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Inter" pitchFamily="34" charset="0"/>
                <a:ea typeface="Inter" pitchFamily="34" charset="-122"/>
                <a:cs typeface="Inter" pitchFamily="34" charset="-120"/>
              </a:rPr>
              <a:t>6</a:t>
            </a:r>
            <a:endParaRPr lang="en-US" sz="1100" dirty="0"/>
          </a:p>
        </p:txBody>
      </p:sp>
      <p:sp>
        <p:nvSpPr>
          <p:cNvPr id="27" name="Text 25"/>
          <p:cNvSpPr txBox="1"/>
          <p:nvPr/>
        </p:nvSpPr>
        <p:spPr>
          <a:xfrm>
            <a:off x="5257800" y="4617720"/>
            <a:ext cx="6385255" cy="502920"/>
          </a:xfrm>
          <a:prstGeom prst="rect">
            <a:avLst/>
          </a:prstGeom>
          <a:noFill/>
          <a:ln/>
        </p:spPr>
        <p:txBody>
          <a:bodyPr wrap="square" lIns="0" tIns="0" rIns="0" bIns="0" rtlCol="0" anchor="t"/>
          <a:lstStyle/>
          <a:p>
            <a:pPr indent="0" marL="0">
              <a:buNone/>
            </a:pPr>
            <a:r>
              <a:rPr lang="en-US" sz="1500" dirty="0">
                <a:solidFill>
                  <a:srgbClr val="272827"/>
                </a:solidFill>
                <a:latin typeface="Inter" pitchFamily="34" charset="0"/>
                <a:ea typeface="Inter" pitchFamily="34" charset="-122"/>
                <a:cs typeface="Inter" pitchFamily="34" charset="-120"/>
              </a:rPr>
              <a:t>Commit, then compare with </a:t>
            </a:r>
            <a:pPr indent="0" marL="0">
              <a:buNone/>
            </a:pPr>
            <a:r>
              <a:rPr lang="en-US" sz="1500" dirty="0">
                <a:solidFill>
                  <a:srgbClr val="C2410C"/>
                </a:solidFill>
                <a:latin typeface="JetBrains Mono" pitchFamily="34" charset="0"/>
                <a:ea typeface="JetBrains Mono" pitchFamily="34" charset="-122"/>
                <a:cs typeface="JetBrains Mono" pitchFamily="34" charset="-120"/>
              </a:rPr>
              <a:t>git diff day3-end</a:t>
            </a:r>
            <a:endParaRPr lang="en-US" sz="1500" dirty="0"/>
          </a:p>
        </p:txBody>
      </p:sp>
      <p:sp>
        <p:nvSpPr>
          <p:cNvPr id="28" name="Shape 26"/>
          <p:cNvSpPr/>
          <p:nvPr/>
        </p:nvSpPr>
        <p:spPr>
          <a:xfrm>
            <a:off x="4754880" y="5212080"/>
            <a:ext cx="6888175" cy="914400"/>
          </a:xfrm>
          <a:prstGeom prst="roundRect">
            <a:avLst>
              <a:gd name="adj" fmla="val 8000"/>
            </a:avLst>
          </a:prstGeom>
          <a:solidFill>
            <a:srgbClr val="F6F3EE"/>
          </a:solidFill>
          <a:ln w="12700">
            <a:solidFill>
              <a:srgbClr val="D0CBC0"/>
            </a:solidFill>
            <a:prstDash val="solid"/>
          </a:ln>
        </p:spPr>
      </p:sp>
      <p:sp>
        <p:nvSpPr>
          <p:cNvPr id="29" name="Text 27"/>
          <p:cNvSpPr txBox="1"/>
          <p:nvPr/>
        </p:nvSpPr>
        <p:spPr>
          <a:xfrm>
            <a:off x="4983480" y="5257800"/>
            <a:ext cx="6430975" cy="822960"/>
          </a:xfrm>
          <a:prstGeom prst="rect">
            <a:avLst/>
          </a:prstGeom>
          <a:noFill/>
          <a:ln/>
        </p:spPr>
        <p:txBody>
          <a:bodyPr wrap="square" lIns="0" tIns="0" rIns="0" bIns="0" rtlCol="0" anchor="ctr"/>
          <a:lstStyle/>
          <a:p>
            <a:pPr indent="0" marL="0">
              <a:buNone/>
            </a:pPr>
            <a:r>
              <a:rPr lang="en-US" sz="1400" b="1" spc="200" kern="0" dirty="0">
                <a:solidFill>
                  <a:srgbClr val="FF5723"/>
                </a:solidFill>
                <a:latin typeface="Inter" pitchFamily="34" charset="0"/>
                <a:ea typeface="Inter" pitchFamily="34" charset="-122"/>
                <a:cs typeface="Inter" pitchFamily="34" charset="-120"/>
              </a:rPr>
              <a:t>DONE WHEN  </a:t>
            </a:r>
            <a:pPr indent="0" marL="0">
              <a:buNone/>
            </a:pPr>
            <a:r>
              <a:rPr lang="en-US" sz="1400" dirty="0">
                <a:solidFill>
                  <a:srgbClr val="272827"/>
                </a:solidFill>
                <a:latin typeface="Inter" pitchFamily="34" charset="0"/>
                <a:ea typeface="Inter" pitchFamily="34" charset="-122"/>
                <a:cs typeface="Inter" pitchFamily="34" charset="-120"/>
              </a:rPr>
              <a:t>real before/after numbers, a flat query count for the list, 80 tests green.</a:t>
            </a:r>
            <a:endParaRPr lang="en-US" sz="1400" dirty="0"/>
          </a:p>
        </p:txBody>
      </p:sp>
      <p:sp>
        <p:nvSpPr>
          <p:cNvPr id="25" name="Slide Number Placeholder 0"/>
          <p:cNvSpPr>
            <a:spLocks noGrp="1"/>
          </p:cNvSpPr>
          <p:nvPr>
            <p:ph type="sldNum" sz="quarter" idx="4294967295"/>
          </p:nvPr>
        </p:nvSpPr>
        <p:spPr>
          <a:xfrm>
            <a:off x="10911535" y="6419088"/>
            <a:ext cx="73152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280"/>
                </a:solidFill>
                <a:latin typeface="Inter"/>
                <a:ea typeface="Inter"/>
                <a:cs typeface="Inter"/>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94415" cy="640080"/>
          </a:xfrm>
          <a:prstGeom prst="rect">
            <a:avLst/>
          </a:prstGeom>
          <a:noFill/>
          <a:ln/>
        </p:spPr>
        <p:txBody>
          <a:bodyPr wrap="square" lIns="0" tIns="0" rIns="0" bIns="0" rtlCol="0" anchor="b"/>
          <a:lstStyle/>
          <a:p>
            <a:pPr algn="l" indent="0" marL="0">
              <a:buNone/>
            </a:pPr>
            <a:r>
              <a:rPr lang="en-US" sz="3200" b="1" dirty="0">
                <a:solidFill>
                  <a:srgbClr val="272827"/>
                </a:solidFill>
                <a:latin typeface="Playfair Display" pitchFamily="34" charset="0"/>
                <a:ea typeface="Playfair Display" pitchFamily="34" charset="-122"/>
                <a:cs typeface="Playfair Display" pitchFamily="34" charset="-120"/>
              </a:rPr>
              <a:t>Recap</a:t>
            </a:r>
            <a:endParaRPr lang="en-US" sz="3200" dirty="0"/>
          </a:p>
        </p:txBody>
      </p:sp>
      <p:sp>
        <p:nvSpPr>
          <p:cNvPr id="3" name="Text 1"/>
          <p:cNvSpPr txBox="1"/>
          <p:nvPr/>
        </p:nvSpPr>
        <p:spPr>
          <a:xfrm>
            <a:off x="548640" y="1060704"/>
            <a:ext cx="8229600" cy="384048"/>
          </a:xfrm>
          <a:prstGeom prst="rect">
            <a:avLst/>
          </a:prstGeom>
          <a:noFill/>
          <a:ln/>
        </p:spPr>
        <p:txBody>
          <a:bodyPr wrap="square" lIns="0" tIns="0" rIns="0" bIns="0" rtlCol="0" anchor="t"/>
          <a:lstStyle/>
          <a:p>
            <a:pPr rtl="1" algn="l" indent="0" marL="0">
              <a:buNone/>
            </a:pPr>
            <a:r>
              <a:rPr lang="ar-LY" altLang="en-US" sz="1700" dirty="0">
                <a:solidFill>
                  <a:srgbClr val="FF5723"/>
                </a:solidFill>
                <a:latin typeface="Tajawal" pitchFamily="34" charset="0"/>
                <a:ea typeface="Tajawal" pitchFamily="34" charset="-122"/>
                <a:cs typeface="Tajawal" pitchFamily="34" charset="-120"/>
              </a:rPr>
              <a:t>خلاصة اليوم</a:t>
            </a:r>
            <a:endParaRPr lang="ar-LY" sz="1700" dirty="0"/>
          </a:p>
        </p:txBody>
      </p:sp>
      <p:sp>
        <p:nvSpPr>
          <p:cNvPr id="4" name="Shape 2"/>
          <p:cNvSpPr/>
          <p:nvPr/>
        </p:nvSpPr>
        <p:spPr>
          <a:xfrm>
            <a:off x="548640" y="1810512"/>
            <a:ext cx="365760" cy="365760"/>
          </a:xfrm>
          <a:prstGeom prst="ellipse">
            <a:avLst/>
          </a:prstGeom>
          <a:solidFill>
            <a:srgbClr val="FF5723"/>
          </a:solidFill>
          <a:ln w="12700">
            <a:solidFill>
              <a:srgbClr val="FF5723"/>
            </a:solidFill>
            <a:prstDash val="solid"/>
          </a:ln>
        </p:spPr>
      </p:sp>
      <p:sp>
        <p:nvSpPr>
          <p:cNvPr id="5" name="Text 3"/>
          <p:cNvSpPr txBox="1"/>
          <p:nvPr/>
        </p:nvSpPr>
        <p:spPr>
          <a:xfrm>
            <a:off x="548640" y="1810512"/>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Inter" pitchFamily="34" charset="0"/>
                <a:ea typeface="Inter" pitchFamily="34" charset="-122"/>
                <a:cs typeface="Inter" pitchFamily="34" charset="-120"/>
              </a:rPr>
              <a:t>✓</a:t>
            </a:r>
            <a:endParaRPr lang="en-US" sz="1100" dirty="0"/>
          </a:p>
        </p:txBody>
      </p:sp>
      <p:sp>
        <p:nvSpPr>
          <p:cNvPr id="6" name="Text 4"/>
          <p:cNvSpPr txBox="1"/>
          <p:nvPr/>
        </p:nvSpPr>
        <p:spPr>
          <a:xfrm>
            <a:off x="1097280" y="1783080"/>
            <a:ext cx="5486400" cy="640080"/>
          </a:xfrm>
          <a:prstGeom prst="rect">
            <a:avLst/>
          </a:prstGeom>
          <a:noFill/>
          <a:ln/>
        </p:spPr>
        <p:txBody>
          <a:bodyPr wrap="square" lIns="0" tIns="0" rIns="0" bIns="0" rtlCol="0" anchor="t"/>
          <a:lstStyle/>
          <a:p>
            <a:pPr indent="0" marL="0">
              <a:buNone/>
            </a:pPr>
            <a:r>
              <a:rPr lang="en-US" sz="1600" dirty="0">
                <a:solidFill>
                  <a:srgbClr val="272827"/>
                </a:solidFill>
                <a:latin typeface="Inter" pitchFamily="34" charset="0"/>
                <a:ea typeface="Inter" pitchFamily="34" charset="-122"/>
                <a:cs typeface="Inter" pitchFamily="34" charset="-120"/>
              </a:rPr>
              <a:t>Stateless app servers scale out; the </a:t>
            </a:r>
            <a:pPr indent="0" marL="0">
              <a:buNone/>
            </a:pPr>
            <a:r>
              <a:rPr lang="en-US" sz="1600" b="1" dirty="0">
                <a:solidFill>
                  <a:srgbClr val="272827"/>
                </a:solidFill>
                <a:latin typeface="Inter" pitchFamily="34" charset="0"/>
                <a:ea typeface="Inter" pitchFamily="34" charset="-122"/>
                <a:cs typeface="Inter" pitchFamily="34" charset="-120"/>
              </a:rPr>
              <a:t>database</a:t>
            </a:r>
            <a:pPr indent="0" marL="0">
              <a:buNone/>
            </a:pPr>
            <a:r>
              <a:rPr lang="en-US" sz="1600" dirty="0">
                <a:solidFill>
                  <a:srgbClr val="272827"/>
                </a:solidFill>
                <a:latin typeface="Inter" pitchFamily="34" charset="0"/>
                <a:ea typeface="Inter" pitchFamily="34" charset="-122"/>
                <a:cs typeface="Inter" pitchFamily="34" charset="-120"/>
              </a:rPr>
              <a:t> is the bottleneck</a:t>
            </a:r>
            <a:endParaRPr lang="en-US" sz="1600" dirty="0"/>
          </a:p>
        </p:txBody>
      </p:sp>
      <p:sp>
        <p:nvSpPr>
          <p:cNvPr id="7" name="Shape 5"/>
          <p:cNvSpPr/>
          <p:nvPr/>
        </p:nvSpPr>
        <p:spPr>
          <a:xfrm>
            <a:off x="548640" y="2542032"/>
            <a:ext cx="365760" cy="365760"/>
          </a:xfrm>
          <a:prstGeom prst="ellipse">
            <a:avLst/>
          </a:prstGeom>
          <a:solidFill>
            <a:srgbClr val="FF5723"/>
          </a:solidFill>
          <a:ln w="12700">
            <a:solidFill>
              <a:srgbClr val="FF5723"/>
            </a:solidFill>
            <a:prstDash val="solid"/>
          </a:ln>
        </p:spPr>
      </p:sp>
      <p:sp>
        <p:nvSpPr>
          <p:cNvPr id="8" name="Text 6"/>
          <p:cNvSpPr txBox="1"/>
          <p:nvPr/>
        </p:nvSpPr>
        <p:spPr>
          <a:xfrm>
            <a:off x="548640" y="2542032"/>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Inter" pitchFamily="34" charset="0"/>
                <a:ea typeface="Inter" pitchFamily="34" charset="-122"/>
                <a:cs typeface="Inter" pitchFamily="34" charset="-120"/>
              </a:rPr>
              <a:t>✓</a:t>
            </a:r>
            <a:endParaRPr lang="en-US" sz="1100" dirty="0"/>
          </a:p>
        </p:txBody>
      </p:sp>
      <p:sp>
        <p:nvSpPr>
          <p:cNvPr id="9" name="Text 7"/>
          <p:cNvSpPr txBox="1"/>
          <p:nvPr/>
        </p:nvSpPr>
        <p:spPr>
          <a:xfrm>
            <a:off x="1097280" y="2514600"/>
            <a:ext cx="5486400" cy="640080"/>
          </a:xfrm>
          <a:prstGeom prst="rect">
            <a:avLst/>
          </a:prstGeom>
          <a:noFill/>
          <a:ln/>
        </p:spPr>
        <p:txBody>
          <a:bodyPr wrap="square" lIns="0" tIns="0" rIns="0" bIns="0" rtlCol="0" anchor="t"/>
          <a:lstStyle/>
          <a:p>
            <a:pPr indent="0" marL="0">
              <a:buNone/>
            </a:pPr>
            <a:r>
              <a:rPr lang="en-US" sz="1600" dirty="0">
                <a:solidFill>
                  <a:srgbClr val="272827"/>
                </a:solidFill>
                <a:latin typeface="Inter" pitchFamily="34" charset="0"/>
                <a:ea typeface="Inter" pitchFamily="34" charset="-122"/>
                <a:cs typeface="Inter" pitchFamily="34" charset="-120"/>
              </a:rPr>
              <a:t>Slow work goes to </a:t>
            </a:r>
            <a:pPr indent="0" marL="0">
              <a:buNone/>
            </a:pPr>
            <a:r>
              <a:rPr lang="en-US" sz="1600" b="1" dirty="0">
                <a:solidFill>
                  <a:srgbClr val="272827"/>
                </a:solidFill>
                <a:latin typeface="Inter" pitchFamily="34" charset="0"/>
                <a:ea typeface="Inter" pitchFamily="34" charset="-122"/>
                <a:cs typeface="Inter" pitchFamily="34" charset="-120"/>
              </a:rPr>
              <a:t>queues</a:t>
            </a:r>
            <a:pPr indent="0" marL="0">
              <a:buNone/>
            </a:pPr>
            <a:r>
              <a:rPr lang="en-US" sz="1600" dirty="0">
                <a:solidFill>
                  <a:srgbClr val="272827"/>
                </a:solidFill>
                <a:latin typeface="Inter" pitchFamily="34" charset="0"/>
                <a:ea typeface="Inter" pitchFamily="34" charset="-122"/>
                <a:cs typeface="Inter" pitchFamily="34" charset="-120"/>
              </a:rPr>
              <a:t>; Horizon runs and watches the workers</a:t>
            </a:r>
            <a:endParaRPr lang="en-US" sz="1600" dirty="0"/>
          </a:p>
        </p:txBody>
      </p:sp>
      <p:sp>
        <p:nvSpPr>
          <p:cNvPr id="10" name="Shape 8"/>
          <p:cNvSpPr/>
          <p:nvPr/>
        </p:nvSpPr>
        <p:spPr>
          <a:xfrm>
            <a:off x="548640" y="3273552"/>
            <a:ext cx="365760" cy="365760"/>
          </a:xfrm>
          <a:prstGeom prst="ellipse">
            <a:avLst/>
          </a:prstGeom>
          <a:solidFill>
            <a:srgbClr val="FF5723"/>
          </a:solidFill>
          <a:ln w="12700">
            <a:solidFill>
              <a:srgbClr val="FF5723"/>
            </a:solidFill>
            <a:prstDash val="solid"/>
          </a:ln>
        </p:spPr>
      </p:sp>
      <p:sp>
        <p:nvSpPr>
          <p:cNvPr id="11" name="Text 9"/>
          <p:cNvSpPr txBox="1"/>
          <p:nvPr/>
        </p:nvSpPr>
        <p:spPr>
          <a:xfrm>
            <a:off x="548640" y="3273552"/>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Inter" pitchFamily="34" charset="0"/>
                <a:ea typeface="Inter" pitchFamily="34" charset="-122"/>
                <a:cs typeface="Inter" pitchFamily="34" charset="-120"/>
              </a:rPr>
              <a:t>✓</a:t>
            </a:r>
            <a:endParaRPr lang="en-US" sz="1100" dirty="0"/>
          </a:p>
        </p:txBody>
      </p:sp>
      <p:sp>
        <p:nvSpPr>
          <p:cNvPr id="12" name="Text 10"/>
          <p:cNvSpPr txBox="1"/>
          <p:nvPr/>
        </p:nvSpPr>
        <p:spPr>
          <a:xfrm>
            <a:off x="1097280" y="3246120"/>
            <a:ext cx="5486400" cy="640080"/>
          </a:xfrm>
          <a:prstGeom prst="rect">
            <a:avLst/>
          </a:prstGeom>
          <a:noFill/>
          <a:ln/>
        </p:spPr>
        <p:txBody>
          <a:bodyPr wrap="square" lIns="0" tIns="0" rIns="0" bIns="0" rtlCol="0" anchor="t"/>
          <a:lstStyle/>
          <a:p>
            <a:pPr indent="0" marL="0">
              <a:buNone/>
            </a:pPr>
            <a:r>
              <a:rPr lang="en-US" sz="1600" dirty="0">
                <a:solidFill>
                  <a:srgbClr val="272827"/>
                </a:solidFill>
                <a:latin typeface="Inter" pitchFamily="34" charset="0"/>
                <a:ea typeface="Inter" pitchFamily="34" charset="-122"/>
                <a:cs typeface="Inter" pitchFamily="34" charset="-120"/>
              </a:rPr>
              <a:t>Double booking: unique constraint + </a:t>
            </a:r>
            <a:pPr indent="0" marL="0">
              <a:buNone/>
            </a:pPr>
            <a:r>
              <a:rPr lang="en-US" sz="1600" b="1" dirty="0">
                <a:solidFill>
                  <a:srgbClr val="272827"/>
                </a:solidFill>
                <a:latin typeface="Inter" pitchFamily="34" charset="0"/>
                <a:ea typeface="Inter" pitchFamily="34" charset="-122"/>
                <a:cs typeface="Inter" pitchFamily="34" charset="-120"/>
              </a:rPr>
              <a:t>idempotency key</a:t>
            </a:r>
            <a:pPr indent="0" marL="0">
              <a:buNone/>
            </a:pPr>
            <a:r>
              <a:rPr lang="en-US" sz="1600" dirty="0">
                <a:solidFill>
                  <a:srgbClr val="272827"/>
                </a:solidFill>
                <a:latin typeface="Inter" pitchFamily="34" charset="0"/>
                <a:ea typeface="Inter" pitchFamily="34" charset="-122"/>
                <a:cs typeface="Inter" pitchFamily="34" charset="-120"/>
              </a:rPr>
              <a:t> + row locks</a:t>
            </a:r>
            <a:endParaRPr lang="en-US" sz="1600" dirty="0"/>
          </a:p>
        </p:txBody>
      </p:sp>
      <p:sp>
        <p:nvSpPr>
          <p:cNvPr id="13" name="Shape 11"/>
          <p:cNvSpPr/>
          <p:nvPr/>
        </p:nvSpPr>
        <p:spPr>
          <a:xfrm>
            <a:off x="548640" y="4005072"/>
            <a:ext cx="365760" cy="365760"/>
          </a:xfrm>
          <a:prstGeom prst="ellipse">
            <a:avLst/>
          </a:prstGeom>
          <a:solidFill>
            <a:srgbClr val="FF5723"/>
          </a:solidFill>
          <a:ln w="12700">
            <a:solidFill>
              <a:srgbClr val="FF5723"/>
            </a:solidFill>
            <a:prstDash val="solid"/>
          </a:ln>
        </p:spPr>
      </p:sp>
      <p:sp>
        <p:nvSpPr>
          <p:cNvPr id="14" name="Text 12"/>
          <p:cNvSpPr txBox="1"/>
          <p:nvPr/>
        </p:nvSpPr>
        <p:spPr>
          <a:xfrm>
            <a:off x="548640" y="4005072"/>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Inter" pitchFamily="34" charset="0"/>
                <a:ea typeface="Inter" pitchFamily="34" charset="-122"/>
                <a:cs typeface="Inter" pitchFamily="34" charset="-120"/>
              </a:rPr>
              <a:t>✓</a:t>
            </a:r>
            <a:endParaRPr lang="en-US" sz="1100" dirty="0"/>
          </a:p>
        </p:txBody>
      </p:sp>
      <p:sp>
        <p:nvSpPr>
          <p:cNvPr id="15" name="Text 13"/>
          <p:cNvSpPr txBox="1"/>
          <p:nvPr/>
        </p:nvSpPr>
        <p:spPr>
          <a:xfrm>
            <a:off x="1097280" y="3977640"/>
            <a:ext cx="5486400" cy="640080"/>
          </a:xfrm>
          <a:prstGeom prst="rect">
            <a:avLst/>
          </a:prstGeom>
          <a:noFill/>
          <a:ln/>
        </p:spPr>
        <p:txBody>
          <a:bodyPr wrap="square" lIns="0" tIns="0" rIns="0" bIns="0" rtlCol="0" anchor="t"/>
          <a:lstStyle/>
          <a:p>
            <a:pPr indent="0" marL="0">
              <a:buNone/>
            </a:pPr>
            <a:r>
              <a:rPr lang="en-US" sz="1600" dirty="0">
                <a:solidFill>
                  <a:srgbClr val="272827"/>
                </a:solidFill>
                <a:latin typeface="Inter" pitchFamily="34" charset="0"/>
                <a:ea typeface="Inter" pitchFamily="34" charset="-122"/>
                <a:cs typeface="Inter" pitchFamily="34" charset="-120"/>
              </a:rPr>
              <a:t>Cache shared, rarely-changing data, with a clear invalidation path</a:t>
            </a:r>
            <a:endParaRPr lang="en-US" sz="1600" dirty="0"/>
          </a:p>
        </p:txBody>
      </p:sp>
      <p:sp>
        <p:nvSpPr>
          <p:cNvPr id="16" name="Shape 14"/>
          <p:cNvSpPr/>
          <p:nvPr/>
        </p:nvSpPr>
        <p:spPr>
          <a:xfrm>
            <a:off x="548640" y="4736592"/>
            <a:ext cx="365760" cy="365760"/>
          </a:xfrm>
          <a:prstGeom prst="ellipse">
            <a:avLst/>
          </a:prstGeom>
          <a:solidFill>
            <a:srgbClr val="FF5723"/>
          </a:solidFill>
          <a:ln w="12700">
            <a:solidFill>
              <a:srgbClr val="FF5723"/>
            </a:solidFill>
            <a:prstDash val="solid"/>
          </a:ln>
        </p:spPr>
      </p:sp>
      <p:sp>
        <p:nvSpPr>
          <p:cNvPr id="17" name="Text 15"/>
          <p:cNvSpPr txBox="1"/>
          <p:nvPr/>
        </p:nvSpPr>
        <p:spPr>
          <a:xfrm>
            <a:off x="548640" y="4736592"/>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Inter" pitchFamily="34" charset="0"/>
                <a:ea typeface="Inter" pitchFamily="34" charset="-122"/>
                <a:cs typeface="Inter" pitchFamily="34" charset="-120"/>
              </a:rPr>
              <a:t>✓</a:t>
            </a:r>
            <a:endParaRPr lang="en-US" sz="1100" dirty="0"/>
          </a:p>
        </p:txBody>
      </p:sp>
      <p:sp>
        <p:nvSpPr>
          <p:cNvPr id="18" name="Text 16"/>
          <p:cNvSpPr txBox="1"/>
          <p:nvPr/>
        </p:nvSpPr>
        <p:spPr>
          <a:xfrm>
            <a:off x="1097280" y="4709160"/>
            <a:ext cx="5486400" cy="640080"/>
          </a:xfrm>
          <a:prstGeom prst="rect">
            <a:avLst/>
          </a:prstGeom>
          <a:noFill/>
          <a:ln/>
        </p:spPr>
        <p:txBody>
          <a:bodyPr wrap="square" lIns="0" tIns="0" rIns="0" bIns="0" rtlCol="0" anchor="t"/>
          <a:lstStyle/>
          <a:p>
            <a:pPr indent="0" marL="0">
              <a:buNone/>
            </a:pPr>
            <a:r>
              <a:rPr lang="en-US" sz="1600" dirty="0">
                <a:solidFill>
                  <a:srgbClr val="272827"/>
                </a:solidFill>
                <a:latin typeface="Inter" pitchFamily="34" charset="0"/>
                <a:ea typeface="Inter" pitchFamily="34" charset="-122"/>
                <a:cs typeface="Inter" pitchFamily="34" charset="-120"/>
              </a:rPr>
              <a:t>Rate limit per user; log with request IDs; count queries in tests</a:t>
            </a:r>
            <a:endParaRPr lang="en-US" sz="1600" dirty="0"/>
          </a:p>
        </p:txBody>
      </p:sp>
      <p:sp>
        <p:nvSpPr>
          <p:cNvPr id="19" name="Shape 17"/>
          <p:cNvSpPr/>
          <p:nvPr/>
        </p:nvSpPr>
        <p:spPr>
          <a:xfrm>
            <a:off x="548640" y="5468112"/>
            <a:ext cx="365760" cy="365760"/>
          </a:xfrm>
          <a:prstGeom prst="ellipse">
            <a:avLst/>
          </a:prstGeom>
          <a:solidFill>
            <a:srgbClr val="FF5723"/>
          </a:solidFill>
          <a:ln w="12700">
            <a:solidFill>
              <a:srgbClr val="FF5723"/>
            </a:solidFill>
            <a:prstDash val="solid"/>
          </a:ln>
        </p:spPr>
      </p:sp>
      <p:sp>
        <p:nvSpPr>
          <p:cNvPr id="20" name="Text 18"/>
          <p:cNvSpPr txBox="1"/>
          <p:nvPr/>
        </p:nvSpPr>
        <p:spPr>
          <a:xfrm>
            <a:off x="548640" y="5468112"/>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Inter" pitchFamily="34" charset="0"/>
                <a:ea typeface="Inter" pitchFamily="34" charset="-122"/>
                <a:cs typeface="Inter" pitchFamily="34" charset="-120"/>
              </a:rPr>
              <a:t>✓</a:t>
            </a:r>
            <a:endParaRPr lang="en-US" sz="1100" dirty="0"/>
          </a:p>
        </p:txBody>
      </p:sp>
      <p:sp>
        <p:nvSpPr>
          <p:cNvPr id="21" name="Text 19"/>
          <p:cNvSpPr txBox="1"/>
          <p:nvPr/>
        </p:nvSpPr>
        <p:spPr>
          <a:xfrm>
            <a:off x="1097280" y="5440680"/>
            <a:ext cx="5486400" cy="640080"/>
          </a:xfrm>
          <a:prstGeom prst="rect">
            <a:avLst/>
          </a:prstGeom>
          <a:noFill/>
          <a:ln/>
        </p:spPr>
        <p:txBody>
          <a:bodyPr wrap="square" lIns="0" tIns="0" rIns="0" bIns="0" rtlCol="0" anchor="t"/>
          <a:lstStyle/>
          <a:p>
            <a:pPr indent="0" marL="0">
              <a:buNone/>
            </a:pPr>
            <a:r>
              <a:rPr lang="en-US" sz="1600" dirty="0">
                <a:solidFill>
                  <a:srgbClr val="272827"/>
                </a:solidFill>
                <a:latin typeface="Inter" pitchFamily="34" charset="0"/>
                <a:ea typeface="Inter" pitchFamily="34" charset="-122"/>
                <a:cs typeface="Inter" pitchFamily="34" charset="-120"/>
              </a:rPr>
              <a:t>No number, no fix: verify every claim with k6</a:t>
            </a:r>
            <a:endParaRPr lang="en-US" sz="1600" dirty="0"/>
          </a:p>
        </p:txBody>
      </p:sp>
      <p:sp>
        <p:nvSpPr>
          <p:cNvPr id="22" name="Shape 20"/>
          <p:cNvSpPr/>
          <p:nvPr/>
        </p:nvSpPr>
        <p:spPr>
          <a:xfrm>
            <a:off x="6949440" y="1691640"/>
            <a:ext cx="4693615" cy="4434840"/>
          </a:xfrm>
          <a:prstGeom prst="roundRect">
            <a:avLst>
              <a:gd name="adj" fmla="val 1649"/>
            </a:avLst>
          </a:prstGeom>
          <a:solidFill>
            <a:srgbClr val="272827"/>
          </a:solidFill>
          <a:ln w="12700">
            <a:solidFill>
              <a:srgbClr val="272827"/>
            </a:solidFill>
            <a:prstDash val="solid"/>
          </a:ln>
        </p:spPr>
      </p:sp>
      <p:sp>
        <p:nvSpPr>
          <p:cNvPr id="23" name="Text 21"/>
          <p:cNvSpPr txBox="1"/>
          <p:nvPr/>
        </p:nvSpPr>
        <p:spPr>
          <a:xfrm>
            <a:off x="7269480" y="1965960"/>
            <a:ext cx="4053535" cy="274320"/>
          </a:xfrm>
          <a:prstGeom prst="rect">
            <a:avLst/>
          </a:prstGeom>
          <a:noFill/>
          <a:ln/>
        </p:spPr>
        <p:txBody>
          <a:bodyPr wrap="square" lIns="0" tIns="0" rIns="0" bIns="0" rtlCol="0" anchor="ctr"/>
          <a:lstStyle/>
          <a:p>
            <a:pPr indent="0" marL="0">
              <a:buNone/>
            </a:pPr>
            <a:r>
              <a:rPr lang="en-US" sz="1100" b="1" spc="300" kern="0" dirty="0">
                <a:solidFill>
                  <a:srgbClr val="FF5723"/>
                </a:solidFill>
                <a:latin typeface="Inter" pitchFamily="34" charset="0"/>
                <a:ea typeface="Inter" pitchFamily="34" charset="-122"/>
                <a:cs typeface="Inter" pitchFamily="34" charset="-120"/>
              </a:rPr>
              <a:t>EXIT TICKET TEASER · 15:45</a:t>
            </a:r>
            <a:endParaRPr lang="en-US" sz="1100" dirty="0"/>
          </a:p>
        </p:txBody>
      </p:sp>
      <p:sp>
        <p:nvSpPr>
          <p:cNvPr id="24" name="Text 22"/>
          <p:cNvSpPr txBox="1"/>
          <p:nvPr/>
        </p:nvSpPr>
        <p:spPr>
          <a:xfrm>
            <a:off x="7269480" y="2377440"/>
            <a:ext cx="4053535" cy="1097280"/>
          </a:xfrm>
          <a:prstGeom prst="rect">
            <a:avLst/>
          </a:prstGeom>
          <a:noFill/>
          <a:ln/>
        </p:spPr>
        <p:txBody>
          <a:bodyPr wrap="square" lIns="0" tIns="0" rIns="0" bIns="0" rtlCol="0" anchor="t"/>
          <a:lstStyle/>
          <a:p>
            <a:pPr indent="0" marL="0">
              <a:buNone/>
            </a:pPr>
            <a:r>
              <a:rPr lang="en-US" sz="1700" b="1" dirty="0">
                <a:solidFill>
                  <a:srgbClr val="FFFFFF"/>
                </a:solidFill>
                <a:latin typeface="Inter" pitchFamily="34" charset="0"/>
                <a:ea typeface="Inter" pitchFamily="34" charset="-122"/>
                <a:cs typeface="Inter" pitchFamily="34" charset="-120"/>
              </a:rPr>
              <a:t>A client retries </a:t>
            </a:r>
            <a:pPr indent="0" marL="0">
              <a:buNone/>
            </a:pPr>
            <a:r>
              <a:rPr lang="en-US" sz="1700" b="1" dirty="0">
                <a:solidFill>
                  <a:srgbClr val="FFB59C"/>
                </a:solidFill>
                <a:latin typeface="JetBrains Mono" pitchFamily="34" charset="0"/>
                <a:ea typeface="JetBrains Mono" pitchFamily="34" charset="-122"/>
                <a:cs typeface="JetBrains Mono" pitchFamily="34" charset="-120"/>
              </a:rPr>
              <a:t>POST /shipments</a:t>
            </a:r>
            <a:pPr indent="0" marL="0">
              <a:buNone/>
            </a:pPr>
            <a:r>
              <a:rPr lang="en-US" sz="1700" b="1" dirty="0">
                <a:solidFill>
                  <a:srgbClr val="FFFFFF"/>
                </a:solidFill>
                <a:latin typeface="Inter" pitchFamily="34" charset="0"/>
                <a:ea typeface="Inter" pitchFamily="34" charset="-122"/>
                <a:cs typeface="Inter" pitchFamily="34" charset="-120"/>
              </a:rPr>
              <a:t> with the same Idempotency-Key. What should it get?</a:t>
            </a:r>
            <a:endParaRPr lang="en-US" sz="1700" dirty="0"/>
          </a:p>
        </p:txBody>
      </p:sp>
      <p:sp>
        <p:nvSpPr>
          <p:cNvPr id="25" name="Shape 23"/>
          <p:cNvSpPr/>
          <p:nvPr/>
        </p:nvSpPr>
        <p:spPr>
          <a:xfrm>
            <a:off x="7269480" y="3566160"/>
            <a:ext cx="365760" cy="365760"/>
          </a:xfrm>
          <a:prstGeom prst="ellipse">
            <a:avLst/>
          </a:prstGeom>
          <a:solidFill>
            <a:srgbClr val="3A3B3A"/>
          </a:solidFill>
          <a:ln w="12700">
            <a:solidFill>
              <a:srgbClr val="3A3B3A"/>
            </a:solidFill>
            <a:prstDash val="solid"/>
          </a:ln>
        </p:spPr>
      </p:sp>
      <p:sp>
        <p:nvSpPr>
          <p:cNvPr id="26" name="Text 24"/>
          <p:cNvSpPr txBox="1"/>
          <p:nvPr/>
        </p:nvSpPr>
        <p:spPr>
          <a:xfrm>
            <a:off x="7269480" y="3566160"/>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Inter" pitchFamily="34" charset="0"/>
                <a:ea typeface="Inter" pitchFamily="34" charset="-122"/>
                <a:cs typeface="Inter" pitchFamily="34" charset="-120"/>
              </a:rPr>
              <a:t>A</a:t>
            </a:r>
            <a:endParaRPr lang="en-US" sz="1100" dirty="0"/>
          </a:p>
        </p:txBody>
      </p:sp>
      <p:sp>
        <p:nvSpPr>
          <p:cNvPr id="27" name="Text 25"/>
          <p:cNvSpPr txBox="1"/>
          <p:nvPr/>
        </p:nvSpPr>
        <p:spPr>
          <a:xfrm>
            <a:off x="7772400" y="3520440"/>
            <a:ext cx="3550615" cy="457200"/>
          </a:xfrm>
          <a:prstGeom prst="rect">
            <a:avLst/>
          </a:prstGeom>
          <a:noFill/>
          <a:ln/>
        </p:spPr>
        <p:txBody>
          <a:bodyPr wrap="square" lIns="0" tIns="0" rIns="0" bIns="0" rtlCol="0" anchor="ctr"/>
          <a:lstStyle/>
          <a:p>
            <a:pPr indent="0" marL="0">
              <a:buNone/>
            </a:pPr>
            <a:r>
              <a:rPr lang="en-US" sz="1400" dirty="0">
                <a:solidFill>
                  <a:srgbClr val="E8E2D9"/>
                </a:solidFill>
                <a:latin typeface="Inter" pitchFamily="34" charset="0"/>
                <a:ea typeface="Inter" pitchFamily="34" charset="-122"/>
                <a:cs typeface="Inter" pitchFamily="34" charset="-120"/>
              </a:rPr>
              <a:t>A second shipment</a:t>
            </a:r>
            <a:endParaRPr lang="en-US" sz="1400" dirty="0"/>
          </a:p>
        </p:txBody>
      </p:sp>
      <p:sp>
        <p:nvSpPr>
          <p:cNvPr id="28" name="Shape 26"/>
          <p:cNvSpPr/>
          <p:nvPr/>
        </p:nvSpPr>
        <p:spPr>
          <a:xfrm>
            <a:off x="7269480" y="4133088"/>
            <a:ext cx="365760" cy="365760"/>
          </a:xfrm>
          <a:prstGeom prst="ellipse">
            <a:avLst/>
          </a:prstGeom>
          <a:solidFill>
            <a:srgbClr val="3A3B3A"/>
          </a:solidFill>
          <a:ln w="12700">
            <a:solidFill>
              <a:srgbClr val="3A3B3A"/>
            </a:solidFill>
            <a:prstDash val="solid"/>
          </a:ln>
        </p:spPr>
      </p:sp>
      <p:sp>
        <p:nvSpPr>
          <p:cNvPr id="29" name="Text 27"/>
          <p:cNvSpPr txBox="1"/>
          <p:nvPr/>
        </p:nvSpPr>
        <p:spPr>
          <a:xfrm>
            <a:off x="7269480" y="4133088"/>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Inter" pitchFamily="34" charset="0"/>
                <a:ea typeface="Inter" pitchFamily="34" charset="-122"/>
                <a:cs typeface="Inter" pitchFamily="34" charset="-120"/>
              </a:rPr>
              <a:t>B</a:t>
            </a:r>
            <a:endParaRPr lang="en-US" sz="1100" dirty="0"/>
          </a:p>
        </p:txBody>
      </p:sp>
      <p:sp>
        <p:nvSpPr>
          <p:cNvPr id="30" name="Text 28"/>
          <p:cNvSpPr txBox="1"/>
          <p:nvPr/>
        </p:nvSpPr>
        <p:spPr>
          <a:xfrm>
            <a:off x="7772400" y="4087368"/>
            <a:ext cx="3550615" cy="457200"/>
          </a:xfrm>
          <a:prstGeom prst="rect">
            <a:avLst/>
          </a:prstGeom>
          <a:noFill/>
          <a:ln/>
        </p:spPr>
        <p:txBody>
          <a:bodyPr wrap="square" lIns="0" tIns="0" rIns="0" bIns="0" rtlCol="0" anchor="ctr"/>
          <a:lstStyle/>
          <a:p>
            <a:pPr indent="0" marL="0">
              <a:buNone/>
            </a:pPr>
            <a:r>
              <a:rPr lang="en-US" sz="1400" dirty="0">
                <a:solidFill>
                  <a:srgbClr val="FFB59C"/>
                </a:solidFill>
                <a:latin typeface="JetBrains Mono" pitchFamily="34" charset="0"/>
                <a:ea typeface="JetBrains Mono" pitchFamily="34" charset="-122"/>
                <a:cs typeface="JetBrains Mono" pitchFamily="34" charset="-120"/>
              </a:rPr>
              <a:t>409 Conflict</a:t>
            </a:r>
            <a:pPr indent="0" marL="0">
              <a:buNone/>
            </a:pPr>
            <a:r>
              <a:rPr lang="en-US" sz="1400" dirty="0">
                <a:solidFill>
                  <a:srgbClr val="E8E2D9"/>
                </a:solidFill>
                <a:latin typeface="Inter" pitchFamily="34" charset="0"/>
                <a:ea typeface="Inter" pitchFamily="34" charset="-122"/>
                <a:cs typeface="Inter" pitchFamily="34" charset="-120"/>
              </a:rPr>
              <a:t> every time</a:t>
            </a:r>
            <a:endParaRPr lang="en-US" sz="1400" dirty="0"/>
          </a:p>
        </p:txBody>
      </p:sp>
      <p:sp>
        <p:nvSpPr>
          <p:cNvPr id="31" name="Shape 29"/>
          <p:cNvSpPr/>
          <p:nvPr/>
        </p:nvSpPr>
        <p:spPr>
          <a:xfrm>
            <a:off x="7269480" y="4700016"/>
            <a:ext cx="365760" cy="365760"/>
          </a:xfrm>
          <a:prstGeom prst="ellipse">
            <a:avLst/>
          </a:prstGeom>
          <a:solidFill>
            <a:srgbClr val="3A3B3A"/>
          </a:solidFill>
          <a:ln w="12700">
            <a:solidFill>
              <a:srgbClr val="3A3B3A"/>
            </a:solidFill>
            <a:prstDash val="solid"/>
          </a:ln>
        </p:spPr>
      </p:sp>
      <p:sp>
        <p:nvSpPr>
          <p:cNvPr id="32" name="Text 30"/>
          <p:cNvSpPr txBox="1"/>
          <p:nvPr/>
        </p:nvSpPr>
        <p:spPr>
          <a:xfrm>
            <a:off x="7269480" y="4700016"/>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Inter" pitchFamily="34" charset="0"/>
                <a:ea typeface="Inter" pitchFamily="34" charset="-122"/>
                <a:cs typeface="Inter" pitchFamily="34" charset="-120"/>
              </a:rPr>
              <a:t>C</a:t>
            </a:r>
            <a:endParaRPr lang="en-US" sz="1100" dirty="0"/>
          </a:p>
        </p:txBody>
      </p:sp>
      <p:sp>
        <p:nvSpPr>
          <p:cNvPr id="33" name="Text 31"/>
          <p:cNvSpPr txBox="1"/>
          <p:nvPr/>
        </p:nvSpPr>
        <p:spPr>
          <a:xfrm>
            <a:off x="7772400" y="4654296"/>
            <a:ext cx="3550615" cy="457200"/>
          </a:xfrm>
          <a:prstGeom prst="rect">
            <a:avLst/>
          </a:prstGeom>
          <a:noFill/>
          <a:ln/>
        </p:spPr>
        <p:txBody>
          <a:bodyPr wrap="square" lIns="0" tIns="0" rIns="0" bIns="0" rtlCol="0" anchor="ctr"/>
          <a:lstStyle/>
          <a:p>
            <a:pPr indent="0" marL="0">
              <a:buNone/>
            </a:pPr>
            <a:r>
              <a:rPr lang="en-US" sz="1400" dirty="0">
                <a:solidFill>
                  <a:srgbClr val="E8E2D9"/>
                </a:solidFill>
                <a:latin typeface="Inter" pitchFamily="34" charset="0"/>
                <a:ea typeface="Inter" pitchFamily="34" charset="-122"/>
                <a:cs typeface="Inter" pitchFamily="34" charset="-120"/>
              </a:rPr>
              <a:t>The same response as the first call</a:t>
            </a:r>
            <a:endParaRPr lang="en-US" sz="1400" dirty="0"/>
          </a:p>
        </p:txBody>
      </p:sp>
      <p:sp>
        <p:nvSpPr>
          <p:cNvPr id="34" name="Shape 32"/>
          <p:cNvSpPr/>
          <p:nvPr/>
        </p:nvSpPr>
        <p:spPr>
          <a:xfrm>
            <a:off x="7269480" y="5266944"/>
            <a:ext cx="365760" cy="365760"/>
          </a:xfrm>
          <a:prstGeom prst="ellipse">
            <a:avLst/>
          </a:prstGeom>
          <a:solidFill>
            <a:srgbClr val="3A3B3A"/>
          </a:solidFill>
          <a:ln w="12700">
            <a:solidFill>
              <a:srgbClr val="3A3B3A"/>
            </a:solidFill>
            <a:prstDash val="solid"/>
          </a:ln>
        </p:spPr>
      </p:sp>
      <p:sp>
        <p:nvSpPr>
          <p:cNvPr id="35" name="Text 33"/>
          <p:cNvSpPr txBox="1"/>
          <p:nvPr/>
        </p:nvSpPr>
        <p:spPr>
          <a:xfrm>
            <a:off x="7269480" y="5266944"/>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Inter" pitchFamily="34" charset="0"/>
                <a:ea typeface="Inter" pitchFamily="34" charset="-122"/>
                <a:cs typeface="Inter" pitchFamily="34" charset="-120"/>
              </a:rPr>
              <a:t>D</a:t>
            </a:r>
            <a:endParaRPr lang="en-US" sz="1100" dirty="0"/>
          </a:p>
        </p:txBody>
      </p:sp>
      <p:sp>
        <p:nvSpPr>
          <p:cNvPr id="36" name="Text 34"/>
          <p:cNvSpPr txBox="1"/>
          <p:nvPr/>
        </p:nvSpPr>
        <p:spPr>
          <a:xfrm>
            <a:off x="7772400" y="5221224"/>
            <a:ext cx="3550615" cy="457200"/>
          </a:xfrm>
          <a:prstGeom prst="rect">
            <a:avLst/>
          </a:prstGeom>
          <a:noFill/>
          <a:ln/>
        </p:spPr>
        <p:txBody>
          <a:bodyPr wrap="square" lIns="0" tIns="0" rIns="0" bIns="0" rtlCol="0" anchor="ctr"/>
          <a:lstStyle/>
          <a:p>
            <a:pPr indent="0" marL="0">
              <a:buNone/>
            </a:pPr>
            <a:r>
              <a:rPr lang="en-US" sz="1400" dirty="0">
                <a:solidFill>
                  <a:srgbClr val="FFB59C"/>
                </a:solidFill>
                <a:latin typeface="JetBrains Mono" pitchFamily="34" charset="0"/>
                <a:ea typeface="JetBrains Mono" pitchFamily="34" charset="-122"/>
                <a:cs typeface="JetBrains Mono" pitchFamily="34" charset="-120"/>
              </a:rPr>
              <a:t>500</a:t>
            </a:r>
            <a:pPr indent="0" marL="0">
              <a:buNone/>
            </a:pPr>
            <a:r>
              <a:rPr lang="en-US" sz="1400" dirty="0">
                <a:solidFill>
                  <a:srgbClr val="E8E2D9"/>
                </a:solidFill>
                <a:latin typeface="Inter" pitchFamily="34" charset="0"/>
                <a:ea typeface="Inter" pitchFamily="34" charset="-122"/>
                <a:cs typeface="Inter" pitchFamily="34" charset="-120"/>
              </a:rPr>
              <a:t> from the unique constraint</a:t>
            </a:r>
            <a:endParaRPr lang="en-US" sz="1400" dirty="0"/>
          </a:p>
        </p:txBody>
      </p:sp>
      <p:sp>
        <p:nvSpPr>
          <p:cNvPr id="37" name="Text 35"/>
          <p:cNvSpPr txBox="1"/>
          <p:nvPr/>
        </p:nvSpPr>
        <p:spPr>
          <a:xfrm>
            <a:off x="7269480" y="5623560"/>
            <a:ext cx="4053535" cy="274320"/>
          </a:xfrm>
          <a:prstGeom prst="rect">
            <a:avLst/>
          </a:prstGeom>
          <a:noFill/>
          <a:ln/>
        </p:spPr>
        <p:txBody>
          <a:bodyPr wrap="square" lIns="0" tIns="0" rIns="0" bIns="0" rtlCol="0" anchor="ctr"/>
          <a:lstStyle/>
          <a:p>
            <a:pPr indent="0" marL="0">
              <a:buNone/>
            </a:pPr>
            <a:r>
              <a:rPr lang="en-US" sz="1100" dirty="0">
                <a:solidFill>
                  <a:srgbClr val="9CA3AF"/>
                </a:solidFill>
                <a:latin typeface="Inter" pitchFamily="34" charset="0"/>
                <a:ea typeface="Inter" pitchFamily="34" charset="-122"/>
                <a:cs typeface="Inter" pitchFamily="34" charset="-120"/>
              </a:rPr>
              <a:t>5 MCQ + 1 short answer · answer key with your instructor</a:t>
            </a:r>
            <a:endParaRPr lang="en-US" sz="1100" dirty="0"/>
          </a:p>
        </p:txBody>
      </p:sp>
      <p:sp>
        <p:nvSpPr>
          <p:cNvPr id="25" name="Slide Number Placeholder 0"/>
          <p:cNvSpPr>
            <a:spLocks noGrp="1"/>
          </p:cNvSpPr>
          <p:nvPr>
            <p:ph type="sldNum" sz="quarter" idx="4294967295"/>
          </p:nvPr>
        </p:nvSpPr>
        <p:spPr>
          <a:xfrm>
            <a:off x="10911535" y="6419088"/>
            <a:ext cx="73152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280"/>
                </a:solidFill>
                <a:latin typeface="Inter"/>
                <a:ea typeface="Inter"/>
                <a:cs typeface="Inter"/>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pic>
        <p:nvPicPr>
          <p:cNvPr id="2" name="Image 0" descr="NAQLA pattern">    </p:cNvPr>
          <p:cNvPicPr>
            <a:picLocks noChangeAspect="1"/>
          </p:cNvPicPr>
          <p:nvPr/>
        </p:nvPicPr>
        <p:blipFill>
          <a:blip r:embed="rId1"/>
          <a:srcRect l="0" r="0" t="0" b="0"/>
          <a:stretch/>
        </p:blipFill>
        <p:spPr>
          <a:xfrm>
            <a:off x="7498080" y="0"/>
            <a:ext cx="4693615" cy="6858000"/>
          </a:xfrm>
          <a:prstGeom prst="rect">
            <a:avLst/>
          </a:prstGeom>
        </p:spPr>
      </p:pic>
      <p:pic>
        <p:nvPicPr>
          <p:cNvPr id="3" name="Image 1" descr="NAQLA logo">    </p:cNvPr>
          <p:cNvPicPr>
            <a:picLocks noChangeAspect="1"/>
          </p:cNvPicPr>
          <p:nvPr/>
        </p:nvPicPr>
        <p:blipFill>
          <a:blip r:embed="rId2"/>
          <a:stretch>
            <a:fillRect/>
          </a:stretch>
        </p:blipFill>
        <p:spPr>
          <a:xfrm>
            <a:off x="548640" y="548640"/>
            <a:ext cx="1781169" cy="566928"/>
          </a:xfrm>
          <a:prstGeom prst="rect">
            <a:avLst/>
          </a:prstGeom>
        </p:spPr>
      </p:pic>
      <p:sp>
        <p:nvSpPr>
          <p:cNvPr id="4" name="Text 0"/>
          <p:cNvSpPr txBox="1"/>
          <p:nvPr/>
        </p:nvSpPr>
        <p:spPr>
          <a:xfrm>
            <a:off x="548640" y="1828800"/>
            <a:ext cx="6675120" cy="1737360"/>
          </a:xfrm>
          <a:prstGeom prst="rect">
            <a:avLst/>
          </a:prstGeom>
          <a:noFill/>
          <a:ln/>
        </p:spPr>
        <p:txBody>
          <a:bodyPr wrap="square" lIns="0" tIns="0" rIns="0" bIns="0" rtlCol="0" anchor="t"/>
          <a:lstStyle/>
          <a:p>
            <a:pPr indent="0" marL="0">
              <a:buNone/>
            </a:pPr>
            <a:r>
              <a:rPr lang="en-US" sz="4800" b="1" dirty="0">
                <a:solidFill>
                  <a:srgbClr val="FFFFFF"/>
                </a:solidFill>
                <a:latin typeface="Playfair Display" pitchFamily="34" charset="0"/>
                <a:ea typeface="Playfair Display" pitchFamily="34" charset="-122"/>
                <a:cs typeface="Playfair Display" pitchFamily="34" charset="-120"/>
              </a:rPr>
              <a:t>Thank you</a:t>
            </a:r>
            <a:endParaRPr lang="en-US" sz="4800" dirty="0"/>
          </a:p>
          <a:p>
            <a:pPr indent="0" marL="0">
              <a:buNone/>
            </a:pPr>
            <a:r>
              <a:rPr lang="en-US" sz="4800" b="1" dirty="0">
                <a:solidFill>
                  <a:srgbClr val="FF5723"/>
                </a:solidFill>
                <a:latin typeface="Playfair Display" pitchFamily="34" charset="0"/>
                <a:ea typeface="Playfair Display" pitchFamily="34" charset="-122"/>
                <a:cs typeface="Playfair Display" pitchFamily="34" charset="-120"/>
              </a:rPr>
              <a:t>Day 3 done.</a:t>
            </a:r>
            <a:endParaRPr lang="en-US" sz="4800" dirty="0"/>
          </a:p>
        </p:txBody>
      </p:sp>
      <p:sp>
        <p:nvSpPr>
          <p:cNvPr id="5" name="Text 1"/>
          <p:cNvSpPr txBox="1"/>
          <p:nvPr/>
        </p:nvSpPr>
        <p:spPr>
          <a:xfrm>
            <a:off x="548640" y="3611880"/>
            <a:ext cx="6675120" cy="548640"/>
          </a:xfrm>
          <a:prstGeom prst="rect">
            <a:avLst/>
          </a:prstGeom>
          <a:noFill/>
          <a:ln/>
        </p:spPr>
        <p:txBody>
          <a:bodyPr wrap="square" lIns="0" tIns="0" rIns="0" bIns="0" rtlCol="0" anchor="t"/>
          <a:lstStyle/>
          <a:p>
            <a:pPr rtl="1" algn="l" indent="0" marL="0">
              <a:buNone/>
            </a:pPr>
            <a:r>
              <a:rPr lang="ar-LY" altLang="en-US" sz="2800" dirty="0">
                <a:solidFill>
                  <a:srgbClr val="D0CBC0"/>
                </a:solidFill>
                <a:latin typeface="Tajawal ExtraBold" pitchFamily="34" charset="0"/>
                <a:ea typeface="Tajawal ExtraBold" pitchFamily="34" charset="-122"/>
                <a:cs typeface="Tajawal ExtraBold" pitchFamily="34" charset="-120"/>
              </a:rPr>
              <a:t>شكراً لكم</a:t>
            </a:r>
            <a:endParaRPr lang="ar-LY" sz="2800" dirty="0"/>
          </a:p>
        </p:txBody>
      </p:sp>
      <p:sp>
        <p:nvSpPr>
          <p:cNvPr id="6" name="Text 2"/>
          <p:cNvSpPr txBox="1"/>
          <p:nvPr/>
        </p:nvSpPr>
        <p:spPr>
          <a:xfrm>
            <a:off x="548640" y="4389120"/>
            <a:ext cx="6675120" cy="914400"/>
          </a:xfrm>
          <a:prstGeom prst="rect">
            <a:avLst/>
          </a:prstGeom>
          <a:noFill/>
          <a:ln/>
        </p:spPr>
        <p:txBody>
          <a:bodyPr wrap="square" lIns="0" tIns="0" rIns="0" bIns="0" rtlCol="0" anchor="t"/>
          <a:lstStyle/>
          <a:p>
            <a:pPr indent="0" marL="0">
              <a:buNone/>
            </a:pPr>
            <a:r>
              <a:rPr lang="en-US" sz="1700" b="1" dirty="0">
                <a:solidFill>
                  <a:srgbClr val="FF5723"/>
                </a:solidFill>
                <a:latin typeface="Inter" pitchFamily="34" charset="0"/>
                <a:ea typeface="Inter" pitchFamily="34" charset="-122"/>
                <a:cs typeface="Inter" pitchFamily="34" charset="-120"/>
              </a:rPr>
              <a:t>Tomorrow, Day 4:</a:t>
            </a:r>
            <a:pPr indent="0" marL="0">
              <a:buNone/>
            </a:pPr>
            <a:r>
              <a:rPr lang="en-US" sz="1700" dirty="0">
                <a:solidFill>
                  <a:srgbClr val="E8E2D9"/>
                </a:solidFill>
                <a:latin typeface="Inter" pitchFamily="34" charset="0"/>
                <a:ea typeface="Inter" pitchFamily="34" charset="-122"/>
                <a:cs typeface="Inter" pitchFamily="34" charset="-120"/>
              </a:rPr>
              <a:t> AI inside the backend. Prism, structured output, tools and the Shahna Assistant. Start from </a:t>
            </a:r>
            <a:pPr indent="0" marL="0">
              <a:buNone/>
            </a:pPr>
            <a:r>
              <a:rPr lang="en-US" sz="1700" dirty="0">
                <a:solidFill>
                  <a:srgbClr val="FFB59C"/>
                </a:solidFill>
                <a:latin typeface="JetBrains Mono" pitchFamily="34" charset="0"/>
                <a:ea typeface="JetBrains Mono" pitchFamily="34" charset="-122"/>
                <a:cs typeface="JetBrains Mono" pitchFamily="34" charset="-120"/>
              </a:rPr>
              <a:t>day3-end</a:t>
            </a:r>
            <a:pPr indent="0" marL="0">
              <a:buNone/>
            </a:pPr>
            <a:r>
              <a:rPr lang="en-US" sz="1700" dirty="0">
                <a:solidFill>
                  <a:srgbClr val="E8E2D9"/>
                </a:solidFill>
                <a:latin typeface="Inter" pitchFamily="34" charset="0"/>
                <a:ea typeface="Inter" pitchFamily="34" charset="-122"/>
                <a:cs typeface="Inter" pitchFamily="34" charset="-120"/>
              </a:rPr>
              <a:t>.</a:t>
            </a:r>
            <a:endParaRPr lang="en-US" sz="1700" dirty="0"/>
          </a:p>
        </p:txBody>
      </p:sp>
      <p:sp>
        <p:nvSpPr>
          <p:cNvPr id="7" name="Text 3"/>
          <p:cNvSpPr txBox="1"/>
          <p:nvPr/>
        </p:nvSpPr>
        <p:spPr>
          <a:xfrm>
            <a:off x="548640" y="6172200"/>
            <a:ext cx="6675120" cy="274320"/>
          </a:xfrm>
          <a:prstGeom prst="rect">
            <a:avLst/>
          </a:prstGeom>
          <a:noFill/>
          <a:ln/>
        </p:spPr>
        <p:txBody>
          <a:bodyPr wrap="square" lIns="0" tIns="0" rIns="0" bIns="0" rtlCol="0" anchor="ctr"/>
          <a:lstStyle/>
          <a:p>
            <a:pPr indent="0" marL="0">
              <a:buNone/>
            </a:pPr>
            <a:r>
              <a:rPr lang="en-US" sz="1000" spc="100" kern="0" dirty="0">
                <a:solidFill>
                  <a:srgbClr val="9CA3AF"/>
                </a:solidFill>
                <a:latin typeface="Inter" pitchFamily="34" charset="0"/>
                <a:ea typeface="Inter" pitchFamily="34" charset="-122"/>
                <a:cs typeface="Inter" pitchFamily="34" charset="-120"/>
              </a:rPr>
              <a:t>NAQLA TRAINING CENTER  ·  naqlaa.ly  ·  contact@naqlaa.ly</a:t>
            </a:r>
            <a:endParaRPr lang="en-US" sz="1000" dirty="0"/>
          </a:p>
        </p:txBody>
      </p:sp>
    </p:spTree>
  </p:cSld>
  <p:clrMapOvr>
    <a:masterClrMapping/>
  </p:clrMapOvr>
</p:sld>
</file>

<file path=ppt/theme/theme1.xml><?xml version="1.0" encoding="utf-8"?>
<a:theme xmlns:a="http://schemas.openxmlformats.org/drawingml/2006/main" name="NAQLA">
  <a:themeElements>
    <a:clrScheme name="NAQLA">
      <a:dk1>
        <a:srgbClr val="272827"/>
      </a:dk1>
      <a:lt1>
        <a:srgbClr val="FFFFFF"/>
      </a:lt1>
      <a:dk2>
        <a:srgbClr val="3A3B3A"/>
      </a:dk2>
      <a:lt2>
        <a:srgbClr val="E8E2D9"/>
      </a:lt2>
      <a:accent1>
        <a:srgbClr val="FF5723"/>
      </a:accent1>
      <a:accent2>
        <a:srgbClr val="3A3B3A"/>
      </a:accent2>
      <a:accent3>
        <a:srgbClr val="6B7280"/>
      </a:accent3>
      <a:accent4>
        <a:srgbClr val="9CA3AF"/>
      </a:accent4>
      <a:accent5>
        <a:srgbClr val="D0CBC0"/>
      </a:accent5>
      <a:accent6>
        <a:srgbClr val="FF8A65"/>
      </a:accent6>
      <a:hlink>
        <a:srgbClr val="FF5723"/>
      </a:hlink>
      <a:folHlink>
        <a:srgbClr val="6B7280"/>
      </a:folHlink>
    </a:clrScheme>
    <a:fontScheme name="NAQLA">
      <a:majorFont>
        <a:latin typeface="Playfair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33</Slides>
  <Notes>33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vector>
  </TitlesOfParts>
  <Company>NAQLA Training Center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Agentic Backend Engineering — Day 3: Making It Scale</dc:title>
  <dc:subject>Agentic Backend Engineering</dc:subject>
  <dc:creator>NAQLA Training Center</dc:creator>
  <cp:lastModifiedBy>NAQLA Training Center</cp:lastModifiedBy>
  <cp:revision>1</cp:revision>
  <dcterms:created xsi:type="dcterms:W3CDTF">2026-10-20T14:52:25Z</dcterms:created>
  <dcterms:modified xsi:type="dcterms:W3CDTF">2026-10-20T14:52:25Z</dcterms:modified>
</cp:coreProperties>
</file>